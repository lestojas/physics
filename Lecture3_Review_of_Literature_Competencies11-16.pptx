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converts the Lecture 3 slide script into presentation form. Source key: Textbook-Based = adapted from Creswell &amp; Creswell (2023), Research Design, SAGE; Instructor-Created = created or adapted by the instructor to fill a gap in the source material; Supplementary = widely used practice beyond the excerpted textbook chapters. A single running case study (coastal plastic-waste management in a Philippine barangay) threads the whole lecture, with dengue prevention and a school recycling program used for practice/application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destination before the details: by the end of this lecture, every group will walk away with a complete, defensible research problem package — not just a topic. Frame the six stops as a single pipeline, not six unrelated skills, because that is precisely the mistake students make when problem statements feel disconnected from their literature review. Tell them we will use one running example (coastal plastic waste) so they can watch the same piece of research evolve through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whole section in a problem students will genuinely face the moment they start their own capstone research: information overload. Emphasize that having more sources is not the same as having better sources, and that a paper built on weak sources collapses no matter how well it’s written afterward. This sets up the need for a deliberate, criteria-based way of judging sources rather than just grabbing whatever appears first in a search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distinction practical, not just definitional: primary vs. secondary is about how close the source is to the original data, while scholarly vs. popular is about whether the source went through expert vetting before publication. These are two separate sliders, not one — a news article can be secondary and still reasonably reliable, while a blog post can be primary (a firsthand account) but still not scholarly. Students often collapse these into one “good vs. bad” category; keeping the two dimensions separate produces sharper source judgments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these four side-by-side so students see that credibility is not binary — Source B is not “scholarly” in the peer-review sense, but it’s still highly authoritative because it comes from the mandated data-collecting agency itself. This nuance matters: SHS students often assume “not a journal article” automatically means “not usable,” when in fact government and institutional reports are frequently the backbone of applied research. Source D is the clear example of a source to exclude entirely — no author accountability, no evidence, no traceable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criteria come directly from how the textbook describes evaluating literature quality — looking at whether a journal has a refereed editorial board, whether a publisher is well-established, and whether the work is recent. Frame currency carefully: older sources aren’t automatically disqualified, especially if they’re foundational or still widely cited, but a 10-year-old statistic on plastic waste volumes is far less reliable than one from the past two or three years given how fast environmental data changes. Have students notice that no single criterion is sufficient on its own — a source can be current and biased, or authoritative but irrelevant to their specific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switch the topic away from plastic waste here so students practice transferring the skill rather than just recalling the coastal-waste examples from the previous slides. Circulate while pairs work and listen for whether they’re citing a specific criterion (e.g., “the blog post fails currency”) rather than a vague gut feeling (“it just seems unreliable”). This is the checkpoint that confirms competency 11 has actually landed before moving into synthesis.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point of the whole lecture. Having good sources (Part 1) is necessary but not sufficient — the real intellectual work of a literature review happens when a student stops describing individual studies and starts comparing them against each other. Preview that this comparison is exactly what will reveal the “gap” they need for their own study.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frames a literature review’s purpose as connecting a study to the larger, ongoing dialogue in the field — not simply reporting what each source said. Make explicit that summarizing is a necessary first step (you must understand each source before you can compare them), but a review that stops at summarizing every source back-to-back reads like a list, not an argument. The synthesis skill is specifically about drawing connections across the row, not down each column.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synthesis matrix first because it’s the more approachable entry point for SHS-level work — a simple table students can build directly from their reading notes. Then connect it to the textbook’s literature map concept, which does the same organizing work visually, arranging literature into broad topic categories with the proposed study placed at the point where it extends existing work. Frame the two as complementary, not competing: the matrix is what you build while reading; the map is often what you can build after, once the categories become clear.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class down each row first, then across — that shift from vertical to horizontal reading is the entire synthesis skill in miniature. Point out that no single source in this table answers the question “why do plastic-segregation behaviors fail specifically in coastal barangay households,” even though every source touches a piece of it. That absence — visible only once the sources sit side by side — is what a gap looks like in practice, and it directly sets up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gap-signaling phrases are drawn directly from how published researchers write about deficiencies in prior literature — students will start noticing this exact language once they read real journal introductions. Reinforce that a gap is not “nobody has ever studied plastic waste” (far too broad to be true) — it’s a specific, narrow absence, like the coastal-household angle in Slide 10’s matrix. The narrower and more precisely stated the gap, the easier the next step (writing the problem statement) becomes.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sentence frame is deliberately modeled on the real “what remains to be explored” language researchers use, scaffolded down to a fill-in-the-blank a first-time researcher can manage. Watch for students who fill in something too broad (“few studies have looked at plastic waste”) — push them to make the third blank as specific as the matrix allows, since that specificity is exactly what will make their eventual problem statement researchable rather than vague.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transition brief but explicit, since students often treat the gap statement and the problem statement as the same thing. The gap statement is diagnostic — it’s about the literature. The problem statement is directive — it’s about this study. That shift in ownership (“few studies examine…” → “this study will examine…”) is the whole content of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funnel is one of the most useful mental models in the whole lecture because it diagnoses a very common student error: presenting a topic (“I’m researching plastic waste”) when a problem or a question is required. Have students test any given sentence by asking, “Could someone write an entire book just on this?” — if yes, it’s still a topic, not a problem.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tell students this is the same four-point checklist from Lecture 1, just being reapplied at the moment a problem statement is actually being written rather than evaluated in the abstract. Reusing a known checklist here reduces cognitive load — they’re not learning a new framework, they’re finally putting a familiar one to use on their own material.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“bad draft first” deliberately — students learn the checklist faster by seeing it fail on a real (if slightly exaggerated) weak example before seeing it succeed. Walk through Draft 2 criterion by criterion using the checklist from Slide 15, out loud, so the evaluation process itself becomes visible and repeatable for their own writing.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Switching to the dengue scenario here forces transfer rather than imitation. A common pitfall to watch for: students narrow the population but forget to narrow the variable (“how people feel” is still vague even once you specify a city). Prompt groups stuck on this with, “What specifically about how they feel — their behavior, their knowledge, their trust in health workers?”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its only job is to signal that the problem statement, while necessary, is still not “actionable” on its own. Preview that the next few slides will show two different ways of making it actionable, depending on whether the study is qualitative or quantitative in nature.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fill-in-the-blank scripts come directly from how the textbook teaches question-writing to graduate researchers, simplified here for first-time use. Emphasize the word scaffold — professional researchers eventually write these questions without the blanks, but using the script explicitly at first prevents the two most common errors: forgetting to name the participants, and forgetting to specify the actual relationship or phenomenon being studied.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aligned criterion is the one students skip most often — they write a technically clear, researchable question that has quietly drifted away from the problem statement they spent the last few slides building. Make this explicit: alignment isn’t optional polish, it’s the entire point of writing the question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in the textbook’s own reasoning: qualitative researchers deliberately avoid hypotheses because they don’t want to predict a direction before hearing from participants — the goal is exploration, not confirmation. Quantitative researchers do the opposite: they state a predicted relationship up front because their whole design is built around testing it. Neither approach is “better” — the choice depends entirely on what the problem statement actually calls for.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plain-language, directional-prediction level only — formal null/alternative notation and significance testing belong to a later statistics-focused lesson, not here. The goal at this stage is simply for students to recognize a hypothesis as a specific, direction-stated guess the study is designed to check, not a certainty.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slide for Part 4 — showing the same problem statement branching into two legitimate but different research paths makes the qualitative/quantitative distinction concrete rather than abstract. Ask students which approach they’d choose if their group only had time for interviews with 10 households versus a survey of 200 households — the practical constraint, not just the “feel” of the topic, often decides the approach.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Letting pairs choose (a) or (b) rather than assigning it mirrors a real design decision researchers make, and surfaces useful whole-class discussion about why different groups chose differently for the same problem. Collect a few examples of each on the board before moving on, specifically flagging any question that drifted from the given problem statement (the alignment criterion from Slide 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to reframe research writing as persuasive, not just descriptive — students often think a problem statement “speaks for itself,” but reviewers and panels expect the researcher to actively build a case. Preview that the next several slides introduce a simple three-part structure for building exactly that case.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with students about where this framework comes from — it isn’t in the Creswell textbook by name, but it maps closely onto how the textbook actually describes a strong introduction (stating the problem, reviewing evidence, and explaining why that evidence matters). Presenting CER as a translation of that same logic into a format students may already recognize from science class builds confidence rather than introducing something entirely foreign.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explicitly back to Part 2 — the synthesis matrix and gap statement students already built are not separate assignments, they are literally the “Evidence” component of this argument. This is the moment several earlier lecture stages converge into one paragraph, which is worth stating outright so students see the lecture as cumulative rather than a series of disconnected worksheets.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paragraph aloud as one continuous piece before breaking it back into its three labeled parts — the goal is for students to hear it as a natural, persuasive paragraph, not a fill-in-the-blank exercise. Note explicitly that the specific figures referenced here are illustrative for teaching purposes; when students write their own, they must cite their actual sources and real data.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Providing the evidence bullets removes the research-lookup burden so the activity isolates exactly the skill being taught — turning existing evidence into an argument, not finding new evidence. Listen for pairs whose “Reasoning” sentence simply restates the “Evidence” sentence in different words; push them toward explaining why the evidence supports the claim, not just repeating that it exists.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not as a weakness to hide but as a standard, expected part of any honest research proposal — every professional study includes this kind of self-accounting. This framing matters because SHS students sometimes worry that naming a limitation will make their proposal look weak, when in fact its absence is what actually signals inexperience to a reader.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clearly that this specific distinction wasn’t part of the assigned textbook chapters, so it’s being introduced as standard, widely accepted research-methods practice rather than a direct textbook citation. The clearest way to help students tell these apart: an assumption is something you’re choosing to believe without checking; a limitation is something you can’t change even if you wanted to.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guiding question here is the practical tool students should walk away with — it’s a question they can ask of any study design, not just this example. Emphasize that assumptions aren’t flaws to fix; they’re simply conditions the researcher is knowingly relying on, and naming them shows methodological self-awareness.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this directly against Slide 32 so students see the two guiding questions side by side: “What am I assuming?” versus “What can’t I control?” Point out that stating a limitation (e.g., single-semester timeframe) doesn’t weaken the study — it precisely tells the reader how to correctly interpret the findings, which is itself a mark of rigor.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recycling-program scenario is intentionally close to students’ own school life, making it easy for them to generate realistic assumptions and limitations without needing outside research. A common confusion to watch for: students sometimes list a limitation as an assumption (e.g., “the program was implemented correctly” is closer to an assumption, not a limitation) — use any such mix-up as a live teaching moment against the Slide 31 table.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walking the class back through the entire vertical spine of the lecture using the one running example — this single recap slide is often the most valuable five minutes of the lesson, because it’s the first time students see all six pieces as one finished, coherent product rather than six separate worksheets. End by explicitly telling students that their own capstone topic will follow this exact same path, stop by stop, starting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062A3B"/>
              </a:gs>
              <a:gs pos="100000">
                <a:srgbClr val="0D5A74"/>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35440" y="-548640"/>
            <a:ext cx="2926080" cy="2926080"/>
          </a:xfrm>
          <a:prstGeom prst="ellipse">
            <a:avLst/>
          </a:prstGeom>
          <a:solidFill>
            <a:srgbClr val="2EC4B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5120640"/>
            <a:ext cx="2011680" cy="2011680"/>
          </a:xfrm>
          <a:prstGeom prst="ellipse">
            <a:avLst/>
          </a:prstGeom>
          <a:solidFill>
            <a:srgbClr val="2EC4B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 y="5577840"/>
            <a:ext cx="1463040" cy="1463040"/>
          </a:xfrm>
          <a:prstGeom prst="ellipse">
            <a:avLst/>
          </a:prstGeom>
          <a:solidFill>
            <a:srgbClr val="1F8A8A">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ave 5"/>
          <p:cNvSpPr/>
          <p:nvPr/>
        </p:nvSpPr>
        <p:spPr>
          <a:xfrm>
            <a:off x="-914400" y="6537960"/>
            <a:ext cx="14173200" cy="822960"/>
          </a:xfrm>
          <a:prstGeom prst="wave">
            <a:avLst/>
          </a:prstGeom>
          <a:solidFill>
            <a:srgbClr val="2EC4B6">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51560"/>
            <a:ext cx="8686800" cy="365760"/>
          </a:xfrm>
          <a:prstGeom prst="rect">
            <a:avLst/>
          </a:prstGeom>
          <a:noFill/>
        </p:spPr>
        <p:txBody>
          <a:bodyPr wrap="square" anchor="t" lIns="0" rIns="0" tIns="0" bIns="0">
            <a:noAutofit/>
          </a:bodyPr>
          <a:lstStyle/>
          <a:p>
            <a:pPr algn="l">
              <a:lnSpc>
                <a:spcPct val="100000"/>
              </a:lnSpc>
              <a:spcBef>
                <a:spcPts val="0"/>
              </a:spcBef>
              <a:spcAft>
                <a:spcPts val="600"/>
              </a:spcAft>
            </a:pPr>
            <a:r>
              <a:rPr sz="1300" b="1" i="0">
                <a:solidFill>
                  <a:srgbClr val="2EC4B6"/>
                </a:solidFill>
                <a:latin typeface="Calibri"/>
              </a:rPr>
              <a:t>STEM SENIOR HIGH SCHOOL RESEARCH</a:t>
            </a:r>
          </a:p>
        </p:txBody>
      </p:sp>
      <p:sp>
        <p:nvSpPr>
          <p:cNvPr id="8" name="TextBox 7"/>
          <p:cNvSpPr txBox="1"/>
          <p:nvPr/>
        </p:nvSpPr>
        <p:spPr>
          <a:xfrm>
            <a:off x="804672" y="1463040"/>
            <a:ext cx="9875520" cy="2011680"/>
          </a:xfrm>
          <a:prstGeom prst="rect">
            <a:avLst/>
          </a:prstGeom>
          <a:noFill/>
        </p:spPr>
        <p:txBody>
          <a:bodyPr wrap="square" anchor="t" lIns="0" rIns="0" tIns="0" bIns="0">
            <a:noAutofit/>
          </a:bodyPr>
          <a:lstStyle/>
          <a:p>
            <a:pPr algn="l">
              <a:lnSpc>
                <a:spcPct val="100000"/>
              </a:lnSpc>
              <a:spcBef>
                <a:spcPts val="0"/>
              </a:spcBef>
              <a:spcAft>
                <a:spcPts val="600"/>
              </a:spcAft>
            </a:pPr>
            <a:r>
              <a:rPr sz="4000" b="1" i="0">
                <a:solidFill>
                  <a:srgbClr val="FFFFFF"/>
                </a:solidFill>
                <a:latin typeface="Calibri Light"/>
              </a:rPr>
              <a:t>Review of Literature for</a:t>
            </a:r>
          </a:p>
          <a:p>
            <a:pPr algn="l">
              <a:lnSpc>
                <a:spcPct val="100000"/>
              </a:lnSpc>
              <a:spcBef>
                <a:spcPts val="0"/>
              </a:spcBef>
              <a:spcAft>
                <a:spcPts val="600"/>
              </a:spcAft>
            </a:pPr>
            <a:r>
              <a:rPr sz="4000" b="1" i="0">
                <a:solidFill>
                  <a:srgbClr val="FFFFFF"/>
                </a:solidFill>
                <a:latin typeface="Calibri"/>
              </a:rPr>
              <a:t>Identifying Research Problems</a:t>
            </a:r>
          </a:p>
        </p:txBody>
      </p:sp>
      <p:sp>
        <p:nvSpPr>
          <p:cNvPr id="9" name="Rounded Rectangle 8"/>
          <p:cNvSpPr/>
          <p:nvPr/>
        </p:nvSpPr>
        <p:spPr>
          <a:xfrm>
            <a:off x="822960" y="502920"/>
            <a:ext cx="1737360" cy="38404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i="0">
                <a:solidFill>
                  <a:srgbClr val="FFFFFF"/>
                </a:solidFill>
                <a:latin typeface="Calibri"/>
              </a:rPr>
              <a:t>LECTURE 3</a:t>
            </a:r>
          </a:p>
        </p:txBody>
      </p:sp>
      <p:sp>
        <p:nvSpPr>
          <p:cNvPr id="10" name="TextBox 9"/>
          <p:cNvSpPr txBox="1"/>
          <p:nvPr/>
        </p:nvSpPr>
        <p:spPr>
          <a:xfrm>
            <a:off x="822960" y="3200400"/>
            <a:ext cx="9601200" cy="548640"/>
          </a:xfrm>
          <a:prstGeom prst="rect">
            <a:avLst/>
          </a:prstGeom>
          <a:noFill/>
        </p:spPr>
        <p:txBody>
          <a:bodyPr wrap="square" anchor="t" lIns="0" rIns="0" tIns="0" bIns="0">
            <a:noAutofit/>
          </a:bodyPr>
          <a:lstStyle/>
          <a:p>
            <a:pPr algn="l">
              <a:lnSpc>
                <a:spcPct val="100000"/>
              </a:lnSpc>
              <a:spcBef>
                <a:spcPts val="0"/>
              </a:spcBef>
              <a:spcAft>
                <a:spcPts val="600"/>
              </a:spcAft>
            </a:pPr>
            <a:r>
              <a:rPr sz="1800" b="0" i="1">
                <a:solidFill>
                  <a:srgbClr val="CFE8E6"/>
                </a:solidFill>
                <a:latin typeface="Calibri"/>
              </a:rPr>
              <a:t>Slide-by-Slide Content — Competencies 11–16</a:t>
            </a:r>
          </a:p>
        </p:txBody>
      </p:sp>
      <p:sp>
        <p:nvSpPr>
          <p:cNvPr id="11" name="TextBox 10"/>
          <p:cNvSpPr txBox="1"/>
          <p:nvPr/>
        </p:nvSpPr>
        <p:spPr>
          <a:xfrm>
            <a:off x="822960" y="3977639"/>
            <a:ext cx="5486400" cy="310896"/>
          </a:xfrm>
          <a:prstGeom prst="rect">
            <a:avLst/>
          </a:prstGeom>
          <a:noFill/>
        </p:spPr>
        <p:txBody>
          <a:bodyPr wrap="square" anchor="t" lIns="0" rIns="0" tIns="0" bIns="0">
            <a:noAutofit/>
          </a:bodyPr>
          <a:lstStyle/>
          <a:p>
            <a:pPr algn="l">
              <a:lnSpc>
                <a:spcPct val="100000"/>
              </a:lnSpc>
              <a:spcBef>
                <a:spcPts val="0"/>
              </a:spcBef>
              <a:spcAft>
                <a:spcPts val="600"/>
              </a:spcAft>
            </a:pPr>
            <a:r>
              <a:rPr sz="1150" b="1" i="0">
                <a:solidFill>
                  <a:srgbClr val="2EC4B6"/>
                </a:solidFill>
                <a:latin typeface="Calibri"/>
              </a:rPr>
              <a:t>SOURCE KEY</a:t>
            </a:r>
          </a:p>
        </p:txBody>
      </p:sp>
      <p:sp>
        <p:nvSpPr>
          <p:cNvPr id="12" name="Rounded Rectangle 11"/>
          <p:cNvSpPr/>
          <p:nvPr/>
        </p:nvSpPr>
        <p:spPr>
          <a:xfrm>
            <a:off x="822960" y="4315968"/>
            <a:ext cx="2011680" cy="310896"/>
          </a:xfrm>
          <a:prstGeom prst="roundRect">
            <a:avLst>
              <a:gd name="adj" fmla="val 5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i="0">
                <a:solidFill>
                  <a:srgbClr val="FFFFFF"/>
                </a:solidFill>
                <a:latin typeface="Calibri"/>
              </a:rPr>
              <a:t>TEXTBOOK-BASED</a:t>
            </a:r>
          </a:p>
        </p:txBody>
      </p:sp>
      <p:sp>
        <p:nvSpPr>
          <p:cNvPr id="13" name="TextBox 12"/>
          <p:cNvSpPr txBox="1"/>
          <p:nvPr/>
        </p:nvSpPr>
        <p:spPr>
          <a:xfrm>
            <a:off x="2971800" y="4315968"/>
            <a:ext cx="5943600" cy="310896"/>
          </a:xfrm>
          <a:prstGeom prst="rect">
            <a:avLst/>
          </a:prstGeom>
          <a:noFill/>
        </p:spPr>
        <p:txBody>
          <a:bodyPr wrap="square" anchor="ctr" lIns="0" rIns="0" tIns="0" bIns="0">
            <a:noAutofit/>
          </a:bodyPr>
          <a:lstStyle/>
          <a:p>
            <a:pPr algn="l">
              <a:lnSpc>
                <a:spcPct val="100000"/>
              </a:lnSpc>
              <a:spcBef>
                <a:spcPts val="0"/>
              </a:spcBef>
              <a:spcAft>
                <a:spcPts val="600"/>
              </a:spcAft>
            </a:pPr>
            <a:r>
              <a:rPr sz="1200" b="0" i="0">
                <a:solidFill>
                  <a:srgbClr val="D8ECEA"/>
                </a:solidFill>
                <a:latin typeface="Calibri"/>
              </a:rPr>
              <a:t>Creswell &amp; Creswell, 2023, SAGE</a:t>
            </a:r>
          </a:p>
        </p:txBody>
      </p:sp>
      <p:sp>
        <p:nvSpPr>
          <p:cNvPr id="14" name="Rounded Rectangle 13"/>
          <p:cNvSpPr/>
          <p:nvPr/>
        </p:nvSpPr>
        <p:spPr>
          <a:xfrm>
            <a:off x="822960" y="4736592"/>
            <a:ext cx="2011680" cy="310896"/>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i="0">
                <a:solidFill>
                  <a:srgbClr val="FFFFFF"/>
                </a:solidFill>
                <a:latin typeface="Calibri"/>
              </a:rPr>
              <a:t>INSTRUCTOR-CREATED</a:t>
            </a:r>
          </a:p>
        </p:txBody>
      </p:sp>
      <p:sp>
        <p:nvSpPr>
          <p:cNvPr id="15" name="TextBox 14"/>
          <p:cNvSpPr txBox="1"/>
          <p:nvPr/>
        </p:nvSpPr>
        <p:spPr>
          <a:xfrm>
            <a:off x="2971800" y="4736592"/>
            <a:ext cx="5943600" cy="310896"/>
          </a:xfrm>
          <a:prstGeom prst="rect">
            <a:avLst/>
          </a:prstGeom>
          <a:noFill/>
        </p:spPr>
        <p:txBody>
          <a:bodyPr wrap="square" anchor="ctr" lIns="0" rIns="0" tIns="0" bIns="0">
            <a:noAutofit/>
          </a:bodyPr>
          <a:lstStyle/>
          <a:p>
            <a:pPr algn="l">
              <a:lnSpc>
                <a:spcPct val="100000"/>
              </a:lnSpc>
              <a:spcBef>
                <a:spcPts val="0"/>
              </a:spcBef>
              <a:spcAft>
                <a:spcPts val="600"/>
              </a:spcAft>
            </a:pPr>
            <a:r>
              <a:rPr sz="1200" b="0" i="0">
                <a:solidFill>
                  <a:srgbClr val="D8ECEA"/>
                </a:solidFill>
                <a:latin typeface="Calibri"/>
              </a:rPr>
              <a:t>created / adapted to fill a gap</a:t>
            </a:r>
          </a:p>
        </p:txBody>
      </p:sp>
      <p:sp>
        <p:nvSpPr>
          <p:cNvPr id="16" name="Rounded Rectangle 15"/>
          <p:cNvSpPr/>
          <p:nvPr/>
        </p:nvSpPr>
        <p:spPr>
          <a:xfrm>
            <a:off x="822960" y="5157216"/>
            <a:ext cx="2011680" cy="310896"/>
          </a:xfrm>
          <a:prstGeom prst="roundRect">
            <a:avLst>
              <a:gd name="adj" fmla="val 5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i="0">
                <a:solidFill>
                  <a:srgbClr val="FFFFFF"/>
                </a:solidFill>
                <a:latin typeface="Calibri"/>
              </a:rPr>
              <a:t>SUPPLEMENTARY</a:t>
            </a:r>
          </a:p>
        </p:txBody>
      </p:sp>
      <p:sp>
        <p:nvSpPr>
          <p:cNvPr id="17" name="TextBox 16"/>
          <p:cNvSpPr txBox="1"/>
          <p:nvPr/>
        </p:nvSpPr>
        <p:spPr>
          <a:xfrm>
            <a:off x="2971800" y="5157216"/>
            <a:ext cx="5943600" cy="310896"/>
          </a:xfrm>
          <a:prstGeom prst="rect">
            <a:avLst/>
          </a:prstGeom>
          <a:noFill/>
        </p:spPr>
        <p:txBody>
          <a:bodyPr wrap="square" anchor="ctr" lIns="0" rIns="0" tIns="0" bIns="0">
            <a:noAutofit/>
          </a:bodyPr>
          <a:lstStyle/>
          <a:p>
            <a:pPr algn="l">
              <a:lnSpc>
                <a:spcPct val="100000"/>
              </a:lnSpc>
              <a:spcBef>
                <a:spcPts val="0"/>
              </a:spcBef>
              <a:spcAft>
                <a:spcPts val="600"/>
              </a:spcAft>
            </a:pPr>
            <a:r>
              <a:rPr sz="1200" b="0" i="0">
                <a:solidFill>
                  <a:srgbClr val="D8ECEA"/>
                </a:solidFill>
                <a:latin typeface="Calibri"/>
              </a:rPr>
              <a:t>widely used, beyond the excerpted text</a:t>
            </a:r>
          </a:p>
        </p:txBody>
      </p:sp>
      <p:sp>
        <p:nvSpPr>
          <p:cNvPr id="18" name="Rounded Rectangle 17"/>
          <p:cNvSpPr/>
          <p:nvPr/>
        </p:nvSpPr>
        <p:spPr>
          <a:xfrm>
            <a:off x="822960" y="5806440"/>
            <a:ext cx="10515600" cy="658368"/>
          </a:xfrm>
          <a:prstGeom prst="roundRect">
            <a:avLst>
              <a:gd name="adj" fmla="val 12000"/>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897880"/>
            <a:ext cx="10149840" cy="502920"/>
          </a:xfrm>
          <a:prstGeom prst="rect">
            <a:avLst/>
          </a:prstGeom>
          <a:noFill/>
        </p:spPr>
        <p:txBody>
          <a:bodyPr wrap="square" anchor="ctr" lIns="0" rIns="0" tIns="0" bIns="0">
            <a:noAutofit/>
          </a:bodyPr>
          <a:lstStyle/>
          <a:p>
            <a:pPr algn="l">
              <a:lnSpc>
                <a:spcPct val="100000"/>
              </a:lnSpc>
              <a:spcBef>
                <a:spcPts val="0"/>
              </a:spcBef>
              <a:spcAft>
                <a:spcPts val="600"/>
              </a:spcAft>
            </a:pPr>
            <a:r>
              <a:rPr sz="1250" b="1" i="0">
                <a:solidFill>
                  <a:srgbClr val="2EC4B6"/>
                </a:solidFill>
                <a:latin typeface="Calibri"/>
              </a:rPr>
              <a:t>Running case study:  </a:t>
            </a:r>
            <a:r>
              <a:rPr sz="1250" b="0" i="1">
                <a:solidFill>
                  <a:srgbClr val="E6F2F1"/>
                </a:solidFill>
                <a:latin typeface="Calibri"/>
              </a:rPr>
              <a:t>one thread — a SHS STEM group investigating plastic-waste management in a coastal Philippine barangay — carries students through every stage.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0C536B"/>
                </a:solidFill>
                <a:latin typeface="Calibri"/>
              </a:rPr>
              <a:t>LECTURE OVERVIEW</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The Research Problem Journey</a:t>
            </a:r>
          </a:p>
        </p:txBody>
      </p:sp>
      <p:sp>
        <p:nvSpPr>
          <p:cNvPr id="6" name="Rectangle 5"/>
          <p:cNvSpPr/>
          <p:nvPr/>
        </p:nvSpPr>
        <p:spPr>
          <a:xfrm>
            <a:off x="566928" y="1389888"/>
            <a:ext cx="2834640" cy="41148"/>
          </a:xfrm>
          <a:prstGeom prst="rect">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Overview</a:t>
            </a:r>
          </a:p>
        </p:txBody>
      </p:sp>
      <p:sp>
        <p:nvSpPr>
          <p:cNvPr id="10" name="TextBox 9"/>
          <p:cNvSpPr txBox="1"/>
          <p:nvPr/>
        </p:nvSpPr>
        <p:spPr>
          <a:xfrm>
            <a:off x="566928" y="1591056"/>
            <a:ext cx="11064240" cy="365760"/>
          </a:xfrm>
          <a:prstGeom prst="rect">
            <a:avLst/>
          </a:prstGeom>
          <a:noFill/>
        </p:spPr>
        <p:txBody>
          <a:bodyPr wrap="square" anchor="t" lIns="0" rIns="0" tIns="0" bIns="0">
            <a:noAutofit/>
          </a:bodyPr>
          <a:lstStyle/>
          <a:p>
            <a:pPr algn="l">
              <a:lnSpc>
                <a:spcPct val="100000"/>
              </a:lnSpc>
              <a:spcBef>
                <a:spcPts val="0"/>
              </a:spcBef>
              <a:spcAft>
                <a:spcPts val="600"/>
              </a:spcAft>
            </a:pPr>
            <a:r>
              <a:rPr sz="1600" b="1" i="0">
                <a:solidFill>
                  <a:srgbClr val="112B34"/>
                </a:solidFill>
                <a:latin typeface="Calibri"/>
              </a:rPr>
              <a:t>Today’s journey — six stops. </a:t>
            </a:r>
            <a:r>
              <a:rPr sz="1600" b="0" i="1">
                <a:solidFill>
                  <a:srgbClr val="5C747D"/>
                </a:solidFill>
                <a:latin typeface="Calibri"/>
              </a:rPr>
              <a:t>Each stop builds on the one before it.</a:t>
            </a:r>
          </a:p>
        </p:txBody>
      </p:sp>
      <p:sp>
        <p:nvSpPr>
          <p:cNvPr id="11" name="Rounded Rectangle 10"/>
          <p:cNvSpPr/>
          <p:nvPr/>
        </p:nvSpPr>
        <p:spPr>
          <a:xfrm>
            <a:off x="566928" y="2606040"/>
            <a:ext cx="1591056" cy="1783080"/>
          </a:xfrm>
          <a:prstGeom prst="roundRect">
            <a:avLst>
              <a:gd name="adj" fmla="val 9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606040"/>
            <a:ext cx="1591056" cy="128016"/>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6424" y="2916936"/>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a:t>
            </a:r>
          </a:p>
        </p:txBody>
      </p:sp>
      <p:sp>
        <p:nvSpPr>
          <p:cNvPr id="14" name="TextBox 13"/>
          <p:cNvSpPr txBox="1"/>
          <p:nvPr/>
        </p:nvSpPr>
        <p:spPr>
          <a:xfrm>
            <a:off x="566928" y="3538728"/>
            <a:ext cx="1591056" cy="777240"/>
          </a:xfrm>
          <a:prstGeom prst="rect">
            <a:avLst/>
          </a:prstGeom>
          <a:noFill/>
        </p:spPr>
        <p:txBody>
          <a:bodyPr wrap="square" anchor="t" lIns="0" rIns="0" tIns="0" bIns="0">
            <a:noAutofit/>
          </a:bodyPr>
          <a:lstStyle/>
          <a:p>
            <a:pPr algn="ctr">
              <a:lnSpc>
                <a:spcPct val="98000"/>
              </a:lnSpc>
              <a:spcBef>
                <a:spcPts val="0"/>
              </a:spcBef>
              <a:spcAft>
                <a:spcPts val="600"/>
              </a:spcAft>
            </a:pPr>
            <a:r>
              <a:rPr sz="1400" b="1" i="0">
                <a:solidFill>
                  <a:srgbClr val="112B34"/>
                </a:solidFill>
                <a:latin typeface="Calibri"/>
              </a:rPr>
              <a:t>EVALUATE</a:t>
            </a:r>
          </a:p>
          <a:p>
            <a:pPr algn="ctr">
              <a:lnSpc>
                <a:spcPct val="98000"/>
              </a:lnSpc>
              <a:spcBef>
                <a:spcPts val="100"/>
              </a:spcBef>
              <a:spcAft>
                <a:spcPts val="600"/>
              </a:spcAft>
            </a:pPr>
            <a:r>
              <a:rPr sz="1100" b="0" i="0">
                <a:solidFill>
                  <a:srgbClr val="5C747D"/>
                </a:solidFill>
                <a:latin typeface="Calibri"/>
              </a:rPr>
              <a:t>sources</a:t>
            </a:r>
          </a:p>
        </p:txBody>
      </p:sp>
      <p:sp>
        <p:nvSpPr>
          <p:cNvPr id="15" name="Right Arrow 14"/>
          <p:cNvSpPr/>
          <p:nvPr/>
        </p:nvSpPr>
        <p:spPr>
          <a:xfrm>
            <a:off x="2185416" y="3387852"/>
            <a:ext cx="246888" cy="219456"/>
          </a:xfrm>
          <a:prstGeom prst="rightArrow">
            <a:avLst/>
          </a:prstGeom>
          <a:solidFill>
            <a:srgbClr val="B4C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59736" y="2606040"/>
            <a:ext cx="1591056" cy="1783080"/>
          </a:xfrm>
          <a:prstGeom prst="roundRect">
            <a:avLst>
              <a:gd name="adj" fmla="val 9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459736" y="2606040"/>
            <a:ext cx="1591056" cy="128016"/>
          </a:xfrm>
          <a:prstGeom prst="roundRect">
            <a:avLst>
              <a:gd name="adj" fmla="val 50000"/>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99232" y="2916936"/>
            <a:ext cx="512064" cy="512064"/>
          </a:xfrm>
          <a:prstGeom prst="ellipse">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a:t>
            </a:r>
          </a:p>
        </p:txBody>
      </p:sp>
      <p:sp>
        <p:nvSpPr>
          <p:cNvPr id="19" name="TextBox 18"/>
          <p:cNvSpPr txBox="1"/>
          <p:nvPr/>
        </p:nvSpPr>
        <p:spPr>
          <a:xfrm>
            <a:off x="2459736" y="3538728"/>
            <a:ext cx="1591056" cy="777240"/>
          </a:xfrm>
          <a:prstGeom prst="rect">
            <a:avLst/>
          </a:prstGeom>
          <a:noFill/>
        </p:spPr>
        <p:txBody>
          <a:bodyPr wrap="square" anchor="t" lIns="0" rIns="0" tIns="0" bIns="0">
            <a:noAutofit/>
          </a:bodyPr>
          <a:lstStyle/>
          <a:p>
            <a:pPr algn="ctr">
              <a:lnSpc>
                <a:spcPct val="98000"/>
              </a:lnSpc>
              <a:spcBef>
                <a:spcPts val="0"/>
              </a:spcBef>
              <a:spcAft>
                <a:spcPts val="600"/>
              </a:spcAft>
            </a:pPr>
            <a:r>
              <a:rPr sz="1400" b="1" i="0">
                <a:solidFill>
                  <a:srgbClr val="112B34"/>
                </a:solidFill>
                <a:latin typeface="Calibri"/>
              </a:rPr>
              <a:t>SYNTHESIZE</a:t>
            </a:r>
          </a:p>
          <a:p>
            <a:pPr algn="ctr">
              <a:lnSpc>
                <a:spcPct val="98000"/>
              </a:lnSpc>
              <a:spcBef>
                <a:spcPts val="100"/>
              </a:spcBef>
              <a:spcAft>
                <a:spcPts val="600"/>
              </a:spcAft>
            </a:pPr>
            <a:r>
              <a:rPr sz="1100" b="0" i="0">
                <a:solidFill>
                  <a:srgbClr val="5C747D"/>
                </a:solidFill>
                <a:latin typeface="Calibri"/>
              </a:rPr>
              <a:t>literature</a:t>
            </a:r>
          </a:p>
        </p:txBody>
      </p:sp>
      <p:sp>
        <p:nvSpPr>
          <p:cNvPr id="20" name="Right Arrow 19"/>
          <p:cNvSpPr/>
          <p:nvPr/>
        </p:nvSpPr>
        <p:spPr>
          <a:xfrm>
            <a:off x="4078224" y="3387852"/>
            <a:ext cx="246888" cy="219456"/>
          </a:xfrm>
          <a:prstGeom prst="rightArrow">
            <a:avLst/>
          </a:prstGeom>
          <a:solidFill>
            <a:srgbClr val="B4C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52544" y="2606040"/>
            <a:ext cx="1591056" cy="1783080"/>
          </a:xfrm>
          <a:prstGeom prst="roundRect">
            <a:avLst>
              <a:gd name="adj" fmla="val 9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52544" y="2606040"/>
            <a:ext cx="1591056" cy="128016"/>
          </a:xfrm>
          <a:prstGeom prst="roundRect">
            <a:avLst>
              <a:gd name="adj" fmla="val 50000"/>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040" y="2916936"/>
            <a:ext cx="512064" cy="512064"/>
          </a:xfrm>
          <a:prstGeom prst="ellipse">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3</a:t>
            </a:r>
          </a:p>
        </p:txBody>
      </p:sp>
      <p:sp>
        <p:nvSpPr>
          <p:cNvPr id="24" name="TextBox 23"/>
          <p:cNvSpPr txBox="1"/>
          <p:nvPr/>
        </p:nvSpPr>
        <p:spPr>
          <a:xfrm>
            <a:off x="4352544" y="3538728"/>
            <a:ext cx="1591056" cy="777240"/>
          </a:xfrm>
          <a:prstGeom prst="rect">
            <a:avLst/>
          </a:prstGeom>
          <a:noFill/>
        </p:spPr>
        <p:txBody>
          <a:bodyPr wrap="square" anchor="t" lIns="0" rIns="0" tIns="0" bIns="0">
            <a:noAutofit/>
          </a:bodyPr>
          <a:lstStyle/>
          <a:p>
            <a:pPr algn="ctr">
              <a:lnSpc>
                <a:spcPct val="98000"/>
              </a:lnSpc>
              <a:spcBef>
                <a:spcPts val="0"/>
              </a:spcBef>
              <a:spcAft>
                <a:spcPts val="600"/>
              </a:spcAft>
            </a:pPr>
            <a:r>
              <a:rPr sz="1400" b="1" i="0">
                <a:solidFill>
                  <a:srgbClr val="112B34"/>
                </a:solidFill>
                <a:latin typeface="Calibri"/>
              </a:rPr>
              <a:t>FORMULATE</a:t>
            </a:r>
          </a:p>
          <a:p>
            <a:pPr algn="ctr">
              <a:lnSpc>
                <a:spcPct val="98000"/>
              </a:lnSpc>
              <a:spcBef>
                <a:spcPts val="100"/>
              </a:spcBef>
              <a:spcAft>
                <a:spcPts val="600"/>
              </a:spcAft>
            </a:pPr>
            <a:r>
              <a:rPr sz="1100" b="0" i="0">
                <a:solidFill>
                  <a:srgbClr val="5C747D"/>
                </a:solidFill>
                <a:latin typeface="Calibri"/>
              </a:rPr>
              <a:t>the problem</a:t>
            </a:r>
          </a:p>
        </p:txBody>
      </p:sp>
      <p:sp>
        <p:nvSpPr>
          <p:cNvPr id="25" name="Right Arrow 24"/>
          <p:cNvSpPr/>
          <p:nvPr/>
        </p:nvSpPr>
        <p:spPr>
          <a:xfrm>
            <a:off x="5971032" y="3387852"/>
            <a:ext cx="246888" cy="219456"/>
          </a:xfrm>
          <a:prstGeom prst="rightArrow">
            <a:avLst/>
          </a:prstGeom>
          <a:solidFill>
            <a:srgbClr val="B4C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45352" y="2606040"/>
            <a:ext cx="1591056" cy="1783080"/>
          </a:xfrm>
          <a:prstGeom prst="roundRect">
            <a:avLst>
              <a:gd name="adj" fmla="val 9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45352" y="2606040"/>
            <a:ext cx="1591056" cy="128016"/>
          </a:xfrm>
          <a:prstGeom prst="roundRect">
            <a:avLst>
              <a:gd name="adj" fmla="val 50000"/>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84848" y="2916936"/>
            <a:ext cx="512064" cy="512064"/>
          </a:xfrm>
          <a:prstGeom prst="ellipse">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4</a:t>
            </a:r>
          </a:p>
        </p:txBody>
      </p:sp>
      <p:sp>
        <p:nvSpPr>
          <p:cNvPr id="29" name="TextBox 28"/>
          <p:cNvSpPr txBox="1"/>
          <p:nvPr/>
        </p:nvSpPr>
        <p:spPr>
          <a:xfrm>
            <a:off x="6245352" y="3538728"/>
            <a:ext cx="1591056" cy="777240"/>
          </a:xfrm>
          <a:prstGeom prst="rect">
            <a:avLst/>
          </a:prstGeom>
          <a:noFill/>
        </p:spPr>
        <p:txBody>
          <a:bodyPr wrap="square" anchor="t" lIns="0" rIns="0" tIns="0" bIns="0">
            <a:noAutofit/>
          </a:bodyPr>
          <a:lstStyle/>
          <a:p>
            <a:pPr algn="ctr">
              <a:lnSpc>
                <a:spcPct val="98000"/>
              </a:lnSpc>
              <a:spcBef>
                <a:spcPts val="0"/>
              </a:spcBef>
              <a:spcAft>
                <a:spcPts val="600"/>
              </a:spcAft>
            </a:pPr>
            <a:r>
              <a:rPr sz="1400" b="1" i="0">
                <a:solidFill>
                  <a:srgbClr val="112B34"/>
                </a:solidFill>
                <a:latin typeface="Calibri"/>
              </a:rPr>
              <a:t>DEVELOP</a:t>
            </a:r>
          </a:p>
          <a:p>
            <a:pPr algn="ctr">
              <a:lnSpc>
                <a:spcPct val="98000"/>
              </a:lnSpc>
              <a:spcBef>
                <a:spcPts val="100"/>
              </a:spcBef>
              <a:spcAft>
                <a:spcPts val="600"/>
              </a:spcAft>
            </a:pPr>
            <a:r>
              <a:rPr sz="1100" b="0" i="0">
                <a:solidFill>
                  <a:srgbClr val="5C747D"/>
                </a:solidFill>
                <a:latin typeface="Calibri"/>
              </a:rPr>
              <a:t>questions / hypotheses</a:t>
            </a:r>
          </a:p>
        </p:txBody>
      </p:sp>
      <p:sp>
        <p:nvSpPr>
          <p:cNvPr id="30" name="Right Arrow 29"/>
          <p:cNvSpPr/>
          <p:nvPr/>
        </p:nvSpPr>
        <p:spPr>
          <a:xfrm>
            <a:off x="7863840" y="3387852"/>
            <a:ext cx="246888" cy="219456"/>
          </a:xfrm>
          <a:prstGeom prst="rightArrow">
            <a:avLst/>
          </a:prstGeom>
          <a:solidFill>
            <a:srgbClr val="B4C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38160" y="2606040"/>
            <a:ext cx="1591056" cy="1783080"/>
          </a:xfrm>
          <a:prstGeom prst="roundRect">
            <a:avLst>
              <a:gd name="adj" fmla="val 9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38160" y="2606040"/>
            <a:ext cx="1591056" cy="128016"/>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77656" y="2916936"/>
            <a:ext cx="512064" cy="512064"/>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5</a:t>
            </a:r>
          </a:p>
        </p:txBody>
      </p:sp>
      <p:sp>
        <p:nvSpPr>
          <p:cNvPr id="34" name="TextBox 33"/>
          <p:cNvSpPr txBox="1"/>
          <p:nvPr/>
        </p:nvSpPr>
        <p:spPr>
          <a:xfrm>
            <a:off x="8138160" y="3538728"/>
            <a:ext cx="1591056" cy="777240"/>
          </a:xfrm>
          <a:prstGeom prst="rect">
            <a:avLst/>
          </a:prstGeom>
          <a:noFill/>
        </p:spPr>
        <p:txBody>
          <a:bodyPr wrap="square" anchor="t" lIns="0" rIns="0" tIns="0" bIns="0">
            <a:noAutofit/>
          </a:bodyPr>
          <a:lstStyle/>
          <a:p>
            <a:pPr algn="ctr">
              <a:lnSpc>
                <a:spcPct val="98000"/>
              </a:lnSpc>
              <a:spcBef>
                <a:spcPts val="0"/>
              </a:spcBef>
              <a:spcAft>
                <a:spcPts val="600"/>
              </a:spcAft>
            </a:pPr>
            <a:r>
              <a:rPr sz="1400" b="1" i="0">
                <a:solidFill>
                  <a:srgbClr val="112B34"/>
                </a:solidFill>
                <a:latin typeface="Calibri"/>
              </a:rPr>
              <a:t>JUSTIFY</a:t>
            </a:r>
          </a:p>
          <a:p>
            <a:pPr algn="ctr">
              <a:lnSpc>
                <a:spcPct val="98000"/>
              </a:lnSpc>
              <a:spcBef>
                <a:spcPts val="100"/>
              </a:spcBef>
              <a:spcAft>
                <a:spcPts val="600"/>
              </a:spcAft>
            </a:pPr>
            <a:r>
              <a:rPr sz="1100" b="0" i="0">
                <a:solidFill>
                  <a:srgbClr val="5C747D"/>
                </a:solidFill>
                <a:latin typeface="Calibri"/>
              </a:rPr>
              <a:t>the problem (CER)</a:t>
            </a:r>
          </a:p>
        </p:txBody>
      </p:sp>
      <p:sp>
        <p:nvSpPr>
          <p:cNvPr id="35" name="Right Arrow 34"/>
          <p:cNvSpPr/>
          <p:nvPr/>
        </p:nvSpPr>
        <p:spPr>
          <a:xfrm>
            <a:off x="9756648" y="3387852"/>
            <a:ext cx="246888" cy="219456"/>
          </a:xfrm>
          <a:prstGeom prst="rightArrow">
            <a:avLst/>
          </a:prstGeom>
          <a:solidFill>
            <a:srgbClr val="B4C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30968" y="2606040"/>
            <a:ext cx="1591056" cy="1783080"/>
          </a:xfrm>
          <a:prstGeom prst="roundRect">
            <a:avLst>
              <a:gd name="adj" fmla="val 9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030968" y="2606040"/>
            <a:ext cx="1591056" cy="128016"/>
          </a:xfrm>
          <a:prstGeom prst="roundRect">
            <a:avLst>
              <a:gd name="adj" fmla="val 50000"/>
            </a:avLst>
          </a:prstGeom>
          <a:solidFill>
            <a:srgbClr val="C0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570464" y="2916936"/>
            <a:ext cx="512064" cy="512064"/>
          </a:xfrm>
          <a:prstGeom prst="ellipse">
            <a:avLst/>
          </a:prstGeom>
          <a:solidFill>
            <a:srgbClr val="C07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6</a:t>
            </a:r>
          </a:p>
        </p:txBody>
      </p:sp>
      <p:sp>
        <p:nvSpPr>
          <p:cNvPr id="39" name="TextBox 38"/>
          <p:cNvSpPr txBox="1"/>
          <p:nvPr/>
        </p:nvSpPr>
        <p:spPr>
          <a:xfrm>
            <a:off x="10030968" y="3538728"/>
            <a:ext cx="1591056" cy="777240"/>
          </a:xfrm>
          <a:prstGeom prst="rect">
            <a:avLst/>
          </a:prstGeom>
          <a:noFill/>
        </p:spPr>
        <p:txBody>
          <a:bodyPr wrap="square" anchor="t" lIns="0" rIns="0" tIns="0" bIns="0">
            <a:noAutofit/>
          </a:bodyPr>
          <a:lstStyle/>
          <a:p>
            <a:pPr algn="ctr">
              <a:lnSpc>
                <a:spcPct val="98000"/>
              </a:lnSpc>
              <a:spcBef>
                <a:spcPts val="0"/>
              </a:spcBef>
              <a:spcAft>
                <a:spcPts val="600"/>
              </a:spcAft>
            </a:pPr>
            <a:r>
              <a:rPr sz="1400" b="1" i="0">
                <a:solidFill>
                  <a:srgbClr val="112B34"/>
                </a:solidFill>
                <a:latin typeface="Calibri"/>
              </a:rPr>
              <a:t>DEFINE</a:t>
            </a:r>
          </a:p>
          <a:p>
            <a:pPr algn="ctr">
              <a:lnSpc>
                <a:spcPct val="98000"/>
              </a:lnSpc>
              <a:spcBef>
                <a:spcPts val="100"/>
              </a:spcBef>
              <a:spcAft>
                <a:spcPts val="600"/>
              </a:spcAft>
            </a:pPr>
            <a:r>
              <a:rPr sz="1100" b="0" i="0">
                <a:solidFill>
                  <a:srgbClr val="5C747D"/>
                </a:solidFill>
                <a:latin typeface="Calibri"/>
              </a:rPr>
              <a:t>assumptions &amp; limitations</a:t>
            </a:r>
          </a:p>
        </p:txBody>
      </p:sp>
      <p:sp>
        <p:nvSpPr>
          <p:cNvPr id="40" name="Rounded Rectangle 39"/>
          <p:cNvSpPr/>
          <p:nvPr/>
        </p:nvSpPr>
        <p:spPr>
          <a:xfrm>
            <a:off x="566928" y="4892040"/>
            <a:ext cx="11055096" cy="841248"/>
          </a:xfrm>
          <a:prstGeom prst="roundRect">
            <a:avLst>
              <a:gd name="adj" fmla="val 12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4983480"/>
            <a:ext cx="10424160" cy="658368"/>
          </a:xfrm>
          <a:prstGeom prst="rect">
            <a:avLst/>
          </a:prstGeom>
          <a:noFill/>
        </p:spPr>
        <p:txBody>
          <a:bodyPr wrap="square" anchor="ctr" lIns="0" rIns="0" tIns="0" bIns="0">
            <a:noAutofit/>
          </a:bodyPr>
          <a:lstStyle/>
          <a:p>
            <a:pPr algn="l">
              <a:lnSpc>
                <a:spcPct val="105000"/>
              </a:lnSpc>
              <a:spcBef>
                <a:spcPts val="0"/>
              </a:spcBef>
              <a:spcAft>
                <a:spcPts val="600"/>
              </a:spcAft>
            </a:pPr>
            <a:r>
              <a:rPr sz="1600" b="1" i="1">
                <a:solidFill>
                  <a:srgbClr val="083D54"/>
                </a:solidFill>
                <a:latin typeface="Calibri"/>
              </a:rPr>
              <a:t>You cannot skip a step and still end up with a defensible research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F8A8A"/>
                </a:solidFill>
                <a:latin typeface="Calibri"/>
              </a:rPr>
              <a:t>PART 1 · EVALUATING SOURCES — COMPETENCY 11</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Too Many Sources, Too Little Time</a:t>
            </a:r>
          </a:p>
        </p:txBody>
      </p:sp>
      <p:sp>
        <p:nvSpPr>
          <p:cNvPr id="6" name="Rectangle 5"/>
          <p:cNvSpPr/>
          <p:nvPr/>
        </p:nvSpPr>
        <p:spPr>
          <a:xfrm>
            <a:off x="566928" y="1389888"/>
            <a:ext cx="2834640"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1 · Competency 11</a:t>
            </a:r>
          </a:p>
        </p:txBody>
      </p:sp>
      <p:sp>
        <p:nvSpPr>
          <p:cNvPr id="10" name="TextBox 9"/>
          <p:cNvSpPr txBox="1"/>
          <p:nvPr/>
        </p:nvSpPr>
        <p:spPr>
          <a:xfrm>
            <a:off x="566928" y="1783080"/>
            <a:ext cx="5669280" cy="3108960"/>
          </a:xfrm>
          <a:prstGeom prst="rect">
            <a:avLst/>
          </a:prstGeom>
          <a:noFill/>
        </p:spPr>
        <p:txBody>
          <a:bodyPr wrap="square" anchor="t" lIns="0" rIns="0" tIns="0" bIns="0">
            <a:noAutofit/>
          </a:bodyPr>
          <a:lstStyle/>
          <a:p>
            <a:pPr algn="l" marL="274320" indent="-274320">
              <a:lnSpc>
                <a:spcPct val="106000"/>
              </a:lnSpc>
              <a:spcBef>
                <a:spcPts val="0"/>
              </a:spcBef>
              <a:spcAft>
                <a:spcPts val="1200"/>
              </a:spcAft>
              <a:buClr>
                <a:srgbClr val="1F8A8A"/>
              </a:buClr>
              <a:buSzPct val="110000"/>
              <a:buFont typeface="Calibri"/>
              <a:buChar char="•"/>
            </a:pPr>
            <a:r>
              <a:rPr sz="1650" b="0" i="0">
                <a:solidFill>
                  <a:srgbClr val="112B34"/>
                </a:solidFill>
                <a:latin typeface="Calibri"/>
              </a:rPr>
              <a:t>A STEM research group wants to study </a:t>
            </a:r>
            <a:r>
              <a:rPr sz="1650" b="1" i="0">
                <a:solidFill>
                  <a:srgbClr val="112B34"/>
                </a:solidFill>
                <a:latin typeface="Calibri"/>
              </a:rPr>
              <a:t>plastic waste in a coastal barangay.</a:t>
            </a:r>
          </a:p>
          <a:p>
            <a:pPr algn="l" marL="274320" indent="-274320">
              <a:lnSpc>
                <a:spcPct val="112000"/>
              </a:lnSpc>
              <a:spcBef>
                <a:spcPts val="0"/>
              </a:spcBef>
              <a:spcAft>
                <a:spcPts val="1200"/>
              </a:spcAft>
              <a:buClr>
                <a:srgbClr val="1F8A8A"/>
              </a:buClr>
              <a:buSzPct val="110000"/>
              <a:buFont typeface="Calibri"/>
              <a:buChar char="•"/>
            </a:pPr>
            <a:r>
              <a:rPr sz="1650" b="0" i="0">
                <a:solidFill>
                  <a:srgbClr val="112B34"/>
                </a:solidFill>
                <a:latin typeface="Calibri"/>
              </a:rPr>
              <a:t>A search turns up: 3 government reports, 4 peer-reviewed journal articles, 12 news articles, 20+ blog posts and social media threads.</a:t>
            </a:r>
          </a:p>
          <a:p>
            <a:pPr algn="l" marL="274320" indent="-274320">
              <a:lnSpc>
                <a:spcPct val="106000"/>
              </a:lnSpc>
              <a:spcBef>
                <a:spcPts val="0"/>
              </a:spcBef>
              <a:spcAft>
                <a:spcPts val="600"/>
              </a:spcAft>
              <a:buClr>
                <a:srgbClr val="1F8A8A"/>
              </a:buClr>
              <a:buSzPct val="110000"/>
              <a:buFont typeface="Calibri"/>
              <a:buChar char="•"/>
            </a:pPr>
            <a:r>
              <a:rPr sz="1650" b="0" i="0">
                <a:solidFill>
                  <a:srgbClr val="112B34"/>
                </a:solidFill>
                <a:latin typeface="Calibri"/>
              </a:rPr>
              <a:t>The real question isn’t </a:t>
            </a:r>
            <a:r>
              <a:rPr sz="1650" b="0" i="1">
                <a:solidFill>
                  <a:srgbClr val="5C747D"/>
                </a:solidFill>
                <a:latin typeface="Calibri"/>
              </a:rPr>
              <a:t>“How much can I find?”</a:t>
            </a:r>
            <a:r>
              <a:rPr sz="1650" b="0" i="0">
                <a:solidFill>
                  <a:srgbClr val="112B34"/>
                </a:solidFill>
                <a:latin typeface="Calibri"/>
              </a:rPr>
              <a:t> — it’s </a:t>
            </a:r>
            <a:r>
              <a:rPr sz="1650" b="1" i="1">
                <a:solidFill>
                  <a:srgbClr val="1F8A8A"/>
                </a:solidFill>
                <a:latin typeface="Calibri"/>
              </a:rPr>
              <a:t>“Which of these can I actually trust and use?”</a:t>
            </a:r>
          </a:p>
        </p:txBody>
      </p:sp>
      <p:sp>
        <p:nvSpPr>
          <p:cNvPr id="11" name="Rounded Rectangle 10"/>
          <p:cNvSpPr/>
          <p:nvPr/>
        </p:nvSpPr>
        <p:spPr>
          <a:xfrm>
            <a:off x="6537960" y="1737360"/>
            <a:ext cx="5074920" cy="4160520"/>
          </a:xfrm>
          <a:prstGeom prst="roundRect">
            <a:avLst>
              <a:gd name="adj" fmla="val 5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1737360"/>
            <a:ext cx="5074920" cy="566928"/>
          </a:xfrm>
          <a:prstGeom prst="roundRect">
            <a:avLst>
              <a:gd name="adj" fmla="val 5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737360"/>
            <a:ext cx="4023360" cy="566928"/>
          </a:xfrm>
          <a:prstGeom prst="rect">
            <a:avLst/>
          </a:prstGeom>
          <a:noFill/>
        </p:spPr>
        <p:txBody>
          <a:bodyPr wrap="square" anchor="ctr" lIns="0" rIns="0" tIns="0" bIns="0">
            <a:noAutofit/>
          </a:bodyPr>
          <a:lstStyle/>
          <a:p>
            <a:pPr algn="l">
              <a:lnSpc>
                <a:spcPct val="100000"/>
              </a:lnSpc>
              <a:spcBef>
                <a:spcPts val="0"/>
              </a:spcBef>
              <a:spcAft>
                <a:spcPts val="600"/>
              </a:spcAft>
            </a:pPr>
            <a:r>
              <a:rPr sz="1400" b="1" i="0">
                <a:solidFill>
                  <a:srgbClr val="FFFFFF"/>
                </a:solidFill>
                <a:latin typeface="Calibri"/>
              </a:rPr>
              <a:t>Search results  —  “plastic waste”</a:t>
            </a:r>
          </a:p>
        </p:txBody>
      </p:sp>
      <p:sp>
        <p:nvSpPr>
          <p:cNvPr id="14" name="Oval 13"/>
          <p:cNvSpPr/>
          <p:nvPr/>
        </p:nvSpPr>
        <p:spPr>
          <a:xfrm>
            <a:off x="6903720" y="1901952"/>
            <a:ext cx="201168" cy="201168"/>
          </a:xfrm>
          <a:prstGeom prst="ellipse">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rot="2700000">
            <a:off x="7068312" y="2066543"/>
            <a:ext cx="128016" cy="502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84848" y="2487168"/>
            <a:ext cx="4572000" cy="713232"/>
          </a:xfrm>
          <a:prstGeom prst="roundRect">
            <a:avLst>
              <a:gd name="adj" fmla="val 12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31152" y="2596896"/>
            <a:ext cx="841248" cy="493776"/>
          </a:xfrm>
          <a:prstGeom prst="roundRect">
            <a:avLst>
              <a:gd name="adj" fmla="val 18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900" b="1" i="0">
                <a:solidFill>
                  <a:srgbClr val="FFFFFF"/>
                </a:solidFill>
                <a:latin typeface="Calibri"/>
              </a:rPr>
              <a:t>3</a:t>
            </a:r>
          </a:p>
        </p:txBody>
      </p:sp>
      <p:sp>
        <p:nvSpPr>
          <p:cNvPr id="18" name="TextBox 17"/>
          <p:cNvSpPr txBox="1"/>
          <p:nvPr/>
        </p:nvSpPr>
        <p:spPr>
          <a:xfrm>
            <a:off x="7936992" y="2487168"/>
            <a:ext cx="3383280" cy="713232"/>
          </a:xfrm>
          <a:prstGeom prst="rect">
            <a:avLst/>
          </a:prstGeom>
          <a:noFill/>
        </p:spPr>
        <p:txBody>
          <a:bodyPr wrap="square" anchor="ctr" lIns="0" rIns="0" tIns="0" bIns="0">
            <a:noAutofit/>
          </a:bodyPr>
          <a:lstStyle/>
          <a:p>
            <a:pPr algn="l">
              <a:lnSpc>
                <a:spcPct val="98000"/>
              </a:lnSpc>
              <a:spcBef>
                <a:spcPts val="0"/>
              </a:spcBef>
              <a:spcAft>
                <a:spcPts val="600"/>
              </a:spcAft>
            </a:pPr>
            <a:r>
              <a:rPr sz="1350" b="1" i="0">
                <a:solidFill>
                  <a:srgbClr val="112B34"/>
                </a:solidFill>
                <a:latin typeface="Calibri"/>
              </a:rPr>
              <a:t>Government reports</a:t>
            </a:r>
          </a:p>
          <a:p>
            <a:pPr algn="l">
              <a:lnSpc>
                <a:spcPct val="98000"/>
              </a:lnSpc>
              <a:spcBef>
                <a:spcPts val="100"/>
              </a:spcBef>
              <a:spcAft>
                <a:spcPts val="600"/>
              </a:spcAft>
            </a:pPr>
            <a:r>
              <a:rPr sz="1100" b="0" i="1">
                <a:solidFill>
                  <a:srgbClr val="5C747D"/>
                </a:solidFill>
                <a:latin typeface="Calibri"/>
              </a:rPr>
              <a:t>authoritative</a:t>
            </a:r>
          </a:p>
        </p:txBody>
      </p:sp>
      <p:sp>
        <p:nvSpPr>
          <p:cNvPr id="19" name="Rounded Rectangle 18"/>
          <p:cNvSpPr/>
          <p:nvPr/>
        </p:nvSpPr>
        <p:spPr>
          <a:xfrm>
            <a:off x="6784848" y="3310128"/>
            <a:ext cx="4572000" cy="713232"/>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31152" y="3419856"/>
            <a:ext cx="841248" cy="493776"/>
          </a:xfrm>
          <a:prstGeom prst="roundRect">
            <a:avLst>
              <a:gd name="adj" fmla="val 18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900" b="1" i="0">
                <a:solidFill>
                  <a:srgbClr val="FFFFFF"/>
                </a:solidFill>
                <a:latin typeface="Calibri"/>
              </a:rPr>
              <a:t>4</a:t>
            </a:r>
          </a:p>
        </p:txBody>
      </p:sp>
      <p:sp>
        <p:nvSpPr>
          <p:cNvPr id="21" name="TextBox 20"/>
          <p:cNvSpPr txBox="1"/>
          <p:nvPr/>
        </p:nvSpPr>
        <p:spPr>
          <a:xfrm>
            <a:off x="7936992" y="3310128"/>
            <a:ext cx="3383280" cy="713232"/>
          </a:xfrm>
          <a:prstGeom prst="rect">
            <a:avLst/>
          </a:prstGeom>
          <a:noFill/>
        </p:spPr>
        <p:txBody>
          <a:bodyPr wrap="square" anchor="ctr" lIns="0" rIns="0" tIns="0" bIns="0">
            <a:noAutofit/>
          </a:bodyPr>
          <a:lstStyle/>
          <a:p>
            <a:pPr algn="l">
              <a:lnSpc>
                <a:spcPct val="98000"/>
              </a:lnSpc>
              <a:spcBef>
                <a:spcPts val="0"/>
              </a:spcBef>
              <a:spcAft>
                <a:spcPts val="600"/>
              </a:spcAft>
            </a:pPr>
            <a:r>
              <a:rPr sz="1350" b="1" i="0">
                <a:solidFill>
                  <a:srgbClr val="112B34"/>
                </a:solidFill>
                <a:latin typeface="Calibri"/>
              </a:rPr>
              <a:t>Peer-reviewed journal articles</a:t>
            </a:r>
          </a:p>
          <a:p>
            <a:pPr algn="l">
              <a:lnSpc>
                <a:spcPct val="98000"/>
              </a:lnSpc>
              <a:spcBef>
                <a:spcPts val="100"/>
              </a:spcBef>
              <a:spcAft>
                <a:spcPts val="600"/>
              </a:spcAft>
            </a:pPr>
            <a:r>
              <a:rPr sz="1100" b="0" i="1">
                <a:solidFill>
                  <a:srgbClr val="5C747D"/>
                </a:solidFill>
                <a:latin typeface="Calibri"/>
              </a:rPr>
              <a:t>scholarly</a:t>
            </a:r>
          </a:p>
        </p:txBody>
      </p:sp>
      <p:sp>
        <p:nvSpPr>
          <p:cNvPr id="22" name="Rounded Rectangle 21"/>
          <p:cNvSpPr/>
          <p:nvPr/>
        </p:nvSpPr>
        <p:spPr>
          <a:xfrm>
            <a:off x="6784848" y="4133088"/>
            <a:ext cx="4572000" cy="713232"/>
          </a:xfrm>
          <a:prstGeom prst="roundRect">
            <a:avLst>
              <a:gd name="adj" fmla="val 12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931152" y="4242816"/>
            <a:ext cx="841248" cy="493776"/>
          </a:xfrm>
          <a:prstGeom prst="roundRect">
            <a:avLst>
              <a:gd name="adj" fmla="val 18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900" b="1" i="0">
                <a:solidFill>
                  <a:srgbClr val="FFFFFF"/>
                </a:solidFill>
                <a:latin typeface="Calibri"/>
              </a:rPr>
              <a:t>12</a:t>
            </a:r>
          </a:p>
        </p:txBody>
      </p:sp>
      <p:sp>
        <p:nvSpPr>
          <p:cNvPr id="24" name="TextBox 23"/>
          <p:cNvSpPr txBox="1"/>
          <p:nvPr/>
        </p:nvSpPr>
        <p:spPr>
          <a:xfrm>
            <a:off x="7936992" y="4133088"/>
            <a:ext cx="3383280" cy="713232"/>
          </a:xfrm>
          <a:prstGeom prst="rect">
            <a:avLst/>
          </a:prstGeom>
          <a:noFill/>
        </p:spPr>
        <p:txBody>
          <a:bodyPr wrap="square" anchor="ctr" lIns="0" rIns="0" tIns="0" bIns="0">
            <a:noAutofit/>
          </a:bodyPr>
          <a:lstStyle/>
          <a:p>
            <a:pPr algn="l">
              <a:lnSpc>
                <a:spcPct val="98000"/>
              </a:lnSpc>
              <a:spcBef>
                <a:spcPts val="0"/>
              </a:spcBef>
              <a:spcAft>
                <a:spcPts val="600"/>
              </a:spcAft>
            </a:pPr>
            <a:r>
              <a:rPr sz="1350" b="1" i="0">
                <a:solidFill>
                  <a:srgbClr val="112B34"/>
                </a:solidFill>
                <a:latin typeface="Calibri"/>
              </a:rPr>
              <a:t>News articles</a:t>
            </a:r>
          </a:p>
          <a:p>
            <a:pPr algn="l">
              <a:lnSpc>
                <a:spcPct val="98000"/>
              </a:lnSpc>
              <a:spcBef>
                <a:spcPts val="100"/>
              </a:spcBef>
              <a:spcAft>
                <a:spcPts val="600"/>
              </a:spcAft>
            </a:pPr>
            <a:r>
              <a:rPr sz="1100" b="0" i="1">
                <a:solidFill>
                  <a:srgbClr val="5C747D"/>
                </a:solidFill>
                <a:latin typeface="Calibri"/>
              </a:rPr>
              <a:t>secondary</a:t>
            </a:r>
          </a:p>
        </p:txBody>
      </p:sp>
      <p:sp>
        <p:nvSpPr>
          <p:cNvPr id="25" name="Rounded Rectangle 24"/>
          <p:cNvSpPr/>
          <p:nvPr/>
        </p:nvSpPr>
        <p:spPr>
          <a:xfrm>
            <a:off x="6784848" y="4956048"/>
            <a:ext cx="4572000" cy="713232"/>
          </a:xfrm>
          <a:prstGeom prst="roundRect">
            <a:avLst>
              <a:gd name="adj" fmla="val 12000"/>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31152" y="5065776"/>
            <a:ext cx="841248" cy="493776"/>
          </a:xfrm>
          <a:prstGeom prst="roundRect">
            <a:avLst>
              <a:gd name="adj" fmla="val 18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900" b="1" i="0">
                <a:solidFill>
                  <a:srgbClr val="FFFFFF"/>
                </a:solidFill>
                <a:latin typeface="Calibri"/>
              </a:rPr>
              <a:t>20+</a:t>
            </a:r>
          </a:p>
        </p:txBody>
      </p:sp>
      <p:sp>
        <p:nvSpPr>
          <p:cNvPr id="27" name="TextBox 26"/>
          <p:cNvSpPr txBox="1"/>
          <p:nvPr/>
        </p:nvSpPr>
        <p:spPr>
          <a:xfrm>
            <a:off x="7936992" y="4956048"/>
            <a:ext cx="3383280" cy="713232"/>
          </a:xfrm>
          <a:prstGeom prst="rect">
            <a:avLst/>
          </a:prstGeom>
          <a:noFill/>
        </p:spPr>
        <p:txBody>
          <a:bodyPr wrap="square" anchor="ctr" lIns="0" rIns="0" tIns="0" bIns="0">
            <a:noAutofit/>
          </a:bodyPr>
          <a:lstStyle/>
          <a:p>
            <a:pPr algn="l">
              <a:lnSpc>
                <a:spcPct val="98000"/>
              </a:lnSpc>
              <a:spcBef>
                <a:spcPts val="0"/>
              </a:spcBef>
              <a:spcAft>
                <a:spcPts val="600"/>
              </a:spcAft>
            </a:pPr>
            <a:r>
              <a:rPr sz="1350" b="1" i="0">
                <a:solidFill>
                  <a:srgbClr val="112B34"/>
                </a:solidFill>
                <a:latin typeface="Calibri"/>
              </a:rPr>
              <a:t>Blog posts &amp; social media threads</a:t>
            </a:r>
          </a:p>
          <a:p>
            <a:pPr algn="l">
              <a:lnSpc>
                <a:spcPct val="98000"/>
              </a:lnSpc>
              <a:spcBef>
                <a:spcPts val="100"/>
              </a:spcBef>
              <a:spcAft>
                <a:spcPts val="600"/>
              </a:spcAft>
            </a:pPr>
            <a:r>
              <a:rPr sz="1100" b="0" i="1">
                <a:solidFill>
                  <a:srgbClr val="5C747D"/>
                </a:solidFill>
                <a:latin typeface="Calibri"/>
              </a:rPr>
              <a:t>unvetted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F8A8A"/>
                </a:solidFill>
                <a:latin typeface="Calibri"/>
              </a:rPr>
              <a:t>PART 1 · EVALUATING SOURCES — COMPETENCY 11</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Types and Quality of Sources</a:t>
            </a:r>
          </a:p>
        </p:txBody>
      </p:sp>
      <p:sp>
        <p:nvSpPr>
          <p:cNvPr id="6" name="Rectangle 5"/>
          <p:cNvSpPr/>
          <p:nvPr/>
        </p:nvSpPr>
        <p:spPr>
          <a:xfrm>
            <a:off x="566928" y="1389888"/>
            <a:ext cx="2834640"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1 · Competency 11</a:t>
            </a:r>
          </a:p>
        </p:txBody>
      </p:sp>
      <p:graphicFrame>
        <p:nvGraphicFramePr>
          <p:cNvPr id="10" name="Table 9"/>
          <p:cNvGraphicFramePr>
            <a:graphicFrameLocks noGrp="1"/>
          </p:cNvGraphicFramePr>
          <p:nvPr/>
        </p:nvGraphicFramePr>
        <p:xfrm>
          <a:off x="566928" y="1691640"/>
          <a:ext cx="11055096" cy="3602736"/>
        </p:xfrm>
        <a:graphic>
          <a:graphicData uri="http://schemas.openxmlformats.org/drawingml/2006/table">
            <a:tbl>
              <a:tblPr>
                <a:tableStyleId>{5C22544A-7EE6-4342-B048-85BDC9FD1C3A}</a:tableStyleId>
              </a:tblPr>
              <a:tblGrid>
                <a:gridCol w="2651760"/>
                <a:gridCol w="4892040"/>
                <a:gridCol w="3511296"/>
              </a:tblGrid>
              <a:tr h="457200">
                <a:tc>
                  <a:txBody>
                    <a:bodyPr wrap="square"/>
                    <a:lstStyle/>
                    <a:p>
                      <a:pPr algn="l">
                        <a:lnSpc>
                          <a:spcPct val="102000"/>
                        </a:lnSpc>
                        <a:spcBef>
                          <a:spcPts val="0"/>
                        </a:spcBef>
                        <a:spcAft>
                          <a:spcPts val="100"/>
                        </a:spcAft>
                      </a:pPr>
                      <a:r>
                        <a:rPr sz="1450" b="1" i="0">
                          <a:solidFill>
                            <a:srgbClr val="FFFFFF"/>
                          </a:solidFill>
                          <a:latin typeface="Calibri"/>
                        </a:rPr>
                        <a:t>Category</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450" b="1" i="0">
                          <a:solidFill>
                            <a:srgbClr val="FFFFFF"/>
                          </a:solidFill>
                          <a:latin typeface="Calibri"/>
                        </a:rPr>
                        <a:t>Definition</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450" b="1" i="0">
                          <a:solidFill>
                            <a:srgbClr val="FFFFFF"/>
                          </a:solidFill>
                          <a:latin typeface="Calibri"/>
                        </a:rPr>
                        <a:t>Typical Example</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1">
                          <a:solidFill>
                            <a:srgbClr val="083D54"/>
                          </a:solidFill>
                          <a:latin typeface="Calibri"/>
                        </a:rPr>
                        <a:t>Primary source</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Original data or firsthand account produced by the researcher(s) who conducted the study</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A journal article reporting a barangay’s original waste-audit data</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1">
                          <a:solidFill>
                            <a:srgbClr val="083D54"/>
                          </a:solidFill>
                          <a:latin typeface="Calibri"/>
                        </a:rPr>
                        <a:t>Secondary source</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A work that describes, summarizes, or comments on someone else’s original research</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A news article reporting on that same waste-audit study</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1">
                          <a:solidFill>
                            <a:srgbClr val="083D54"/>
                          </a:solidFill>
                          <a:latin typeface="Calibri"/>
                        </a:rPr>
                        <a:t>Scholarly / peer-reviewed source</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Reviewed by an editorial board of experts before publication</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An article in a refereed academic journal</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1">
                          <a:solidFill>
                            <a:srgbClr val="083D54"/>
                          </a:solidFill>
                          <a:latin typeface="Calibri"/>
                        </a:rPr>
                        <a:t>Popular / non-scholarly source</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Written for a general audience, no formal expert review</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A blog post, opinion piece, or social media post</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
        <p:nvSpPr>
          <p:cNvPr id="11" name="Rounded Rectangle 10"/>
          <p:cNvSpPr/>
          <p:nvPr/>
        </p:nvSpPr>
        <p:spPr>
          <a:xfrm>
            <a:off x="566928" y="5742432"/>
            <a:ext cx="11055096" cy="566928"/>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742432"/>
            <a:ext cx="10607040" cy="566928"/>
          </a:xfrm>
          <a:prstGeom prst="rect">
            <a:avLst/>
          </a:prstGeom>
          <a:noFill/>
        </p:spPr>
        <p:txBody>
          <a:bodyPr wrap="square" anchor="ctr" lIns="0" rIns="0" tIns="0" bIns="0">
            <a:noAutofit/>
          </a:bodyPr>
          <a:lstStyle/>
          <a:p>
            <a:pPr algn="l">
              <a:lnSpc>
                <a:spcPct val="100000"/>
              </a:lnSpc>
              <a:spcBef>
                <a:spcPts val="0"/>
              </a:spcBef>
              <a:spcAft>
                <a:spcPts val="600"/>
              </a:spcAft>
            </a:pPr>
            <a:r>
              <a:rPr sz="1350" b="1" i="0">
                <a:solidFill>
                  <a:srgbClr val="1F8A8A"/>
                </a:solidFill>
                <a:latin typeface="Calibri"/>
              </a:rPr>
              <a:t>Two independent sliders: </a:t>
            </a:r>
            <a:r>
              <a:rPr sz="1350" b="0" i="0">
                <a:solidFill>
                  <a:srgbClr val="112B34"/>
                </a:solidFill>
                <a:latin typeface="Calibri"/>
              </a:rPr>
              <a:t>how close to the data (primary ↔ secondary)  ×  whether expert-vetted (scholarly ↔ popular).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F8A8A"/>
                </a:solidFill>
                <a:latin typeface="Calibri"/>
              </a:rPr>
              <a:t>PART 1 · EVALUATING SOURCES — COMPETENCY 11</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Rating Real Sources on Plastic Waste</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1 · Competency 11</a:t>
            </a:r>
          </a:p>
        </p:txBody>
      </p:sp>
      <p:sp>
        <p:nvSpPr>
          <p:cNvPr id="11" name="TextBox 10"/>
          <p:cNvSpPr txBox="1"/>
          <p:nvPr/>
        </p:nvSpPr>
        <p:spPr>
          <a:xfrm>
            <a:off x="566928" y="1627632"/>
            <a:ext cx="5486400" cy="274320"/>
          </a:xfrm>
          <a:prstGeom prst="rect">
            <a:avLst/>
          </a:prstGeom>
          <a:noFill/>
        </p:spPr>
        <p:txBody>
          <a:bodyPr wrap="square" anchor="t" lIns="0" rIns="0" tIns="0" bIns="0">
            <a:noAutofit/>
          </a:bodyPr>
          <a:lstStyle/>
          <a:p>
            <a:pPr algn="l">
              <a:lnSpc>
                <a:spcPct val="100000"/>
              </a:lnSpc>
              <a:spcBef>
                <a:spcPts val="0"/>
              </a:spcBef>
              <a:spcAft>
                <a:spcPts val="600"/>
              </a:spcAft>
            </a:pPr>
            <a:r>
              <a:rPr sz="1300" b="1" i="0">
                <a:solidFill>
                  <a:srgbClr val="112B34"/>
                </a:solidFill>
                <a:latin typeface="Calibri"/>
              </a:rPr>
              <a:t>Ranked most → least credible — </a:t>
            </a:r>
            <a:r>
              <a:rPr sz="1300" b="0" i="1">
                <a:solidFill>
                  <a:srgbClr val="5C747D"/>
                </a:solidFill>
                <a:latin typeface="Calibri"/>
              </a:rPr>
              <a:t>credibility is a spectrum, not a yes/no checkbox.</a:t>
            </a:r>
          </a:p>
        </p:txBody>
      </p:sp>
      <p:sp>
        <p:nvSpPr>
          <p:cNvPr id="12" name="Rounded Rectangle 11"/>
          <p:cNvSpPr/>
          <p:nvPr/>
        </p:nvSpPr>
        <p:spPr>
          <a:xfrm>
            <a:off x="566928" y="2011680"/>
            <a:ext cx="11055096" cy="969264"/>
          </a:xfrm>
          <a:prstGeom prst="roundRect">
            <a:avLst>
              <a:gd name="adj" fmla="val 8000"/>
            </a:avLst>
          </a:prstGeom>
          <a:solidFill>
            <a:srgbClr val="E4F3E8"/>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2011680"/>
            <a:ext cx="118872" cy="969264"/>
          </a:xfrm>
          <a:prstGeom prst="roundRect">
            <a:avLst>
              <a:gd name="adj" fmla="val 50000"/>
            </a:avLst>
          </a:prstGeom>
          <a:solidFill>
            <a:srgbClr val="3CA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2212848"/>
            <a:ext cx="566928" cy="566928"/>
          </a:xfrm>
          <a:prstGeom prst="ellipse">
            <a:avLst/>
          </a:prstGeom>
          <a:solidFill>
            <a:srgbClr val="3CA5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Calibri"/>
              </a:rPr>
              <a:t>A</a:t>
            </a:r>
          </a:p>
        </p:txBody>
      </p:sp>
      <p:sp>
        <p:nvSpPr>
          <p:cNvPr id="15" name="TextBox 14"/>
          <p:cNvSpPr txBox="1"/>
          <p:nvPr/>
        </p:nvSpPr>
        <p:spPr>
          <a:xfrm>
            <a:off x="1691640" y="2011680"/>
            <a:ext cx="6355080" cy="969264"/>
          </a:xfrm>
          <a:prstGeom prst="rect">
            <a:avLst/>
          </a:prstGeom>
          <a:noFill/>
        </p:spPr>
        <p:txBody>
          <a:bodyPr wrap="square" anchor="ctr" lIns="0" rIns="0" tIns="0" bIns="0">
            <a:noAutofit/>
          </a:bodyPr>
          <a:lstStyle/>
          <a:p>
            <a:pPr algn="l">
              <a:lnSpc>
                <a:spcPct val="100000"/>
              </a:lnSpc>
              <a:spcBef>
                <a:spcPts val="0"/>
              </a:spcBef>
              <a:spcAft>
                <a:spcPts val="600"/>
              </a:spcAft>
            </a:pPr>
            <a:r>
              <a:rPr sz="1450" b="1" i="0">
                <a:solidFill>
                  <a:srgbClr val="112B34"/>
                </a:solidFill>
                <a:latin typeface="Calibri"/>
              </a:rPr>
              <a:t>Source A  </a:t>
            </a:r>
            <a:r>
              <a:rPr sz="1350" b="0" i="0">
                <a:solidFill>
                  <a:srgbClr val="112B34"/>
                </a:solidFill>
                <a:latin typeface="Calibri"/>
              </a:rPr>
              <a:t>—  A journal article in an environmental science journal reporting original beach-litter survey data</a:t>
            </a:r>
          </a:p>
        </p:txBody>
      </p:sp>
      <p:sp>
        <p:nvSpPr>
          <p:cNvPr id="16" name="Rounded Rectangle 15"/>
          <p:cNvSpPr/>
          <p:nvPr/>
        </p:nvSpPr>
        <p:spPr>
          <a:xfrm>
            <a:off x="8183879" y="2157984"/>
            <a:ext cx="3291840" cy="676656"/>
          </a:xfrm>
          <a:prstGeom prst="roundRect">
            <a:avLst>
              <a:gd name="adj" fmla="val 14000"/>
            </a:avLst>
          </a:prstGeom>
          <a:solidFill>
            <a:srgbClr val="3CA5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lnSpc>
                <a:spcPct val="98000"/>
              </a:lnSpc>
            </a:pPr>
            <a:r>
              <a:rPr sz="1250" b="1" i="0">
                <a:solidFill>
                  <a:srgbClr val="FFFFFF"/>
                </a:solidFill>
                <a:latin typeface="Calibri"/>
              </a:rPr>
              <a:t>primary, scholarly</a:t>
            </a:r>
          </a:p>
        </p:txBody>
      </p:sp>
      <p:sp>
        <p:nvSpPr>
          <p:cNvPr id="17" name="Rounded Rectangle 16"/>
          <p:cNvSpPr/>
          <p:nvPr/>
        </p:nvSpPr>
        <p:spPr>
          <a:xfrm>
            <a:off x="566928" y="3090672"/>
            <a:ext cx="11055096" cy="969264"/>
          </a:xfrm>
          <a:prstGeom prst="roundRect">
            <a:avLst>
              <a:gd name="adj" fmla="val 8000"/>
            </a:avLst>
          </a:prstGeom>
          <a:solidFill>
            <a:srgbClr val="E3F1F0"/>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3090672"/>
            <a:ext cx="118872" cy="969264"/>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329184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Calibri"/>
              </a:rPr>
              <a:t>B</a:t>
            </a:r>
          </a:p>
        </p:txBody>
      </p:sp>
      <p:sp>
        <p:nvSpPr>
          <p:cNvPr id="20" name="TextBox 19"/>
          <p:cNvSpPr txBox="1"/>
          <p:nvPr/>
        </p:nvSpPr>
        <p:spPr>
          <a:xfrm>
            <a:off x="1691640" y="3090672"/>
            <a:ext cx="6355080" cy="969264"/>
          </a:xfrm>
          <a:prstGeom prst="rect">
            <a:avLst/>
          </a:prstGeom>
          <a:noFill/>
        </p:spPr>
        <p:txBody>
          <a:bodyPr wrap="square" anchor="ctr" lIns="0" rIns="0" tIns="0" bIns="0">
            <a:noAutofit/>
          </a:bodyPr>
          <a:lstStyle/>
          <a:p>
            <a:pPr algn="l">
              <a:lnSpc>
                <a:spcPct val="100000"/>
              </a:lnSpc>
              <a:spcBef>
                <a:spcPts val="0"/>
              </a:spcBef>
              <a:spcAft>
                <a:spcPts val="600"/>
              </a:spcAft>
            </a:pPr>
            <a:r>
              <a:rPr sz="1450" b="1" i="0">
                <a:solidFill>
                  <a:srgbClr val="112B34"/>
                </a:solidFill>
                <a:latin typeface="Calibri"/>
              </a:rPr>
              <a:t>Source B  </a:t>
            </a:r>
            <a:r>
              <a:rPr sz="1350" b="0" i="0">
                <a:solidFill>
                  <a:srgbClr val="112B34"/>
                </a:solidFill>
                <a:latin typeface="Calibri"/>
              </a:rPr>
              <a:t>—  A national government agency’s technical report on coastal solid-waste management</a:t>
            </a:r>
          </a:p>
        </p:txBody>
      </p:sp>
      <p:sp>
        <p:nvSpPr>
          <p:cNvPr id="21" name="Rounded Rectangle 20"/>
          <p:cNvSpPr/>
          <p:nvPr/>
        </p:nvSpPr>
        <p:spPr>
          <a:xfrm>
            <a:off x="8183879" y="3236976"/>
            <a:ext cx="3291840" cy="676656"/>
          </a:xfrm>
          <a:prstGeom prst="roundRect">
            <a:avLst>
              <a:gd name="adj" fmla="val 14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lnSpc>
                <a:spcPct val="98000"/>
              </a:lnSpc>
            </a:pPr>
            <a:r>
              <a:rPr sz="1250" b="1" i="0">
                <a:solidFill>
                  <a:srgbClr val="FFFFFF"/>
                </a:solidFill>
                <a:latin typeface="Calibri"/>
              </a:rPr>
              <a:t>primary, non-scholarly but authoritative</a:t>
            </a:r>
          </a:p>
        </p:txBody>
      </p:sp>
      <p:sp>
        <p:nvSpPr>
          <p:cNvPr id="22" name="Rounded Rectangle 21"/>
          <p:cNvSpPr/>
          <p:nvPr/>
        </p:nvSpPr>
        <p:spPr>
          <a:xfrm>
            <a:off x="566928" y="4169664"/>
            <a:ext cx="11055096" cy="969264"/>
          </a:xfrm>
          <a:prstGeom prst="roundRect">
            <a:avLst>
              <a:gd name="adj" fmla="val 8000"/>
            </a:avLst>
          </a:prstGeom>
          <a:solidFill>
            <a:srgbClr val="FBF2DD"/>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 y="4169664"/>
            <a:ext cx="118872" cy="969264"/>
          </a:xfrm>
          <a:prstGeom prst="roundRect">
            <a:avLst>
              <a:gd name="adj" fmla="val 5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8680" y="4370832"/>
            <a:ext cx="566928" cy="566928"/>
          </a:xfrm>
          <a:prstGeom prst="ellipse">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Calibri"/>
              </a:rPr>
              <a:t>C</a:t>
            </a:r>
          </a:p>
        </p:txBody>
      </p:sp>
      <p:sp>
        <p:nvSpPr>
          <p:cNvPr id="25" name="TextBox 24"/>
          <p:cNvSpPr txBox="1"/>
          <p:nvPr/>
        </p:nvSpPr>
        <p:spPr>
          <a:xfrm>
            <a:off x="1691640" y="4169664"/>
            <a:ext cx="6355080" cy="969264"/>
          </a:xfrm>
          <a:prstGeom prst="rect">
            <a:avLst/>
          </a:prstGeom>
          <a:noFill/>
        </p:spPr>
        <p:txBody>
          <a:bodyPr wrap="square" anchor="ctr" lIns="0" rIns="0" tIns="0" bIns="0">
            <a:noAutofit/>
          </a:bodyPr>
          <a:lstStyle/>
          <a:p>
            <a:pPr algn="l">
              <a:lnSpc>
                <a:spcPct val="100000"/>
              </a:lnSpc>
              <a:spcBef>
                <a:spcPts val="0"/>
              </a:spcBef>
              <a:spcAft>
                <a:spcPts val="600"/>
              </a:spcAft>
            </a:pPr>
            <a:r>
              <a:rPr sz="1450" b="1" i="0">
                <a:solidFill>
                  <a:srgbClr val="112B34"/>
                </a:solidFill>
                <a:latin typeface="Calibri"/>
              </a:rPr>
              <a:t>Source C  </a:t>
            </a:r>
            <a:r>
              <a:rPr sz="1350" b="0" i="0">
                <a:solidFill>
                  <a:srgbClr val="112B34"/>
                </a:solidFill>
                <a:latin typeface="Calibri"/>
              </a:rPr>
              <a:t>—  A news outlet’s article summarizing Source A’s findings for the public</a:t>
            </a:r>
          </a:p>
        </p:txBody>
      </p:sp>
      <p:sp>
        <p:nvSpPr>
          <p:cNvPr id="26" name="Rounded Rectangle 25"/>
          <p:cNvSpPr/>
          <p:nvPr/>
        </p:nvSpPr>
        <p:spPr>
          <a:xfrm>
            <a:off x="8183879" y="4315968"/>
            <a:ext cx="3291840" cy="676656"/>
          </a:xfrm>
          <a:prstGeom prst="roundRect">
            <a:avLst>
              <a:gd name="adj" fmla="val 14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lnSpc>
                <a:spcPct val="98000"/>
              </a:lnSpc>
            </a:pPr>
            <a:r>
              <a:rPr sz="1250" b="1" i="0">
                <a:solidFill>
                  <a:srgbClr val="FFFFFF"/>
                </a:solidFill>
                <a:latin typeface="Calibri"/>
              </a:rPr>
              <a:t>secondary, non-scholarly</a:t>
            </a:r>
          </a:p>
        </p:txBody>
      </p:sp>
      <p:sp>
        <p:nvSpPr>
          <p:cNvPr id="27" name="Rounded Rectangle 26"/>
          <p:cNvSpPr/>
          <p:nvPr/>
        </p:nvSpPr>
        <p:spPr>
          <a:xfrm>
            <a:off x="566928" y="5248656"/>
            <a:ext cx="11055096" cy="969264"/>
          </a:xfrm>
          <a:prstGeom prst="roundRect">
            <a:avLst>
              <a:gd name="adj" fmla="val 8000"/>
            </a:avLst>
          </a:prstGeom>
          <a:solidFill>
            <a:srgbClr val="FBEAE3"/>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5248656"/>
            <a:ext cx="118872" cy="969264"/>
          </a:xfrm>
          <a:prstGeom prst="roundRect">
            <a:avLst>
              <a:gd name="adj" fmla="val 50000"/>
            </a:avLst>
          </a:prstGeom>
          <a:solidFill>
            <a:srgbClr val="D14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68680" y="5449824"/>
            <a:ext cx="566928" cy="566928"/>
          </a:xfrm>
          <a:prstGeom prst="ellipse">
            <a:avLst/>
          </a:prstGeom>
          <a:solidFill>
            <a:srgbClr val="D14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Calibri"/>
              </a:rPr>
              <a:t>D</a:t>
            </a:r>
          </a:p>
        </p:txBody>
      </p:sp>
      <p:sp>
        <p:nvSpPr>
          <p:cNvPr id="30" name="TextBox 29"/>
          <p:cNvSpPr txBox="1"/>
          <p:nvPr/>
        </p:nvSpPr>
        <p:spPr>
          <a:xfrm>
            <a:off x="1691640" y="5248656"/>
            <a:ext cx="6355080" cy="969264"/>
          </a:xfrm>
          <a:prstGeom prst="rect">
            <a:avLst/>
          </a:prstGeom>
          <a:noFill/>
        </p:spPr>
        <p:txBody>
          <a:bodyPr wrap="square" anchor="ctr" lIns="0" rIns="0" tIns="0" bIns="0">
            <a:noAutofit/>
          </a:bodyPr>
          <a:lstStyle/>
          <a:p>
            <a:pPr algn="l">
              <a:lnSpc>
                <a:spcPct val="100000"/>
              </a:lnSpc>
              <a:spcBef>
                <a:spcPts val="0"/>
              </a:spcBef>
              <a:spcAft>
                <a:spcPts val="600"/>
              </a:spcAft>
            </a:pPr>
            <a:r>
              <a:rPr sz="1450" b="1" i="0">
                <a:solidFill>
                  <a:srgbClr val="112B34"/>
                </a:solidFill>
                <a:latin typeface="Calibri"/>
              </a:rPr>
              <a:t>Source D  </a:t>
            </a:r>
            <a:r>
              <a:rPr sz="1350" b="0" i="0">
                <a:solidFill>
                  <a:srgbClr val="112B34"/>
                </a:solidFill>
                <a:latin typeface="Calibri"/>
              </a:rPr>
              <a:t>—  A social media post claiming “plastic pollution is exaggerated” with no citations</a:t>
            </a:r>
          </a:p>
        </p:txBody>
      </p:sp>
      <p:sp>
        <p:nvSpPr>
          <p:cNvPr id="31" name="Rounded Rectangle 30"/>
          <p:cNvSpPr/>
          <p:nvPr/>
        </p:nvSpPr>
        <p:spPr>
          <a:xfrm>
            <a:off x="8183879" y="5394960"/>
            <a:ext cx="3291840" cy="676656"/>
          </a:xfrm>
          <a:prstGeom prst="roundRect">
            <a:avLst>
              <a:gd name="adj" fmla="val 14000"/>
            </a:avLst>
          </a:prstGeom>
          <a:solidFill>
            <a:srgbClr val="D14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lnSpc>
                <a:spcPct val="98000"/>
              </a:lnSpc>
            </a:pPr>
            <a:r>
              <a:rPr sz="1250" b="1" i="0">
                <a:solidFill>
                  <a:srgbClr val="FFFFFF"/>
                </a:solidFill>
                <a:latin typeface="Calibri"/>
              </a:rPr>
              <a:t>neither primary nor scholarly — low credibility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F8A8A"/>
                </a:solidFill>
                <a:latin typeface="Calibri"/>
              </a:rPr>
              <a:t>PART 1 · EVALUATING SOURCES — COMPETENCY 11</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Five Criteria for Judging Sources</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5</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1 · Competency 11</a:t>
            </a:r>
          </a:p>
        </p:txBody>
      </p:sp>
      <p:sp>
        <p:nvSpPr>
          <p:cNvPr id="11" name="TextBox 10"/>
          <p:cNvSpPr txBox="1"/>
          <p:nvPr/>
        </p:nvSpPr>
        <p:spPr>
          <a:xfrm>
            <a:off x="566928" y="1627632"/>
            <a:ext cx="10515600" cy="274320"/>
          </a:xfrm>
          <a:prstGeom prst="rect">
            <a:avLst/>
          </a:prstGeom>
          <a:noFill/>
        </p:spPr>
        <p:txBody>
          <a:bodyPr wrap="square" anchor="t" lIns="0" rIns="0" tIns="0" bIns="0">
            <a:noAutofit/>
          </a:bodyPr>
          <a:lstStyle/>
          <a:p>
            <a:pPr algn="l">
              <a:lnSpc>
                <a:spcPct val="100000"/>
              </a:lnSpc>
              <a:spcBef>
                <a:spcPts val="0"/>
              </a:spcBef>
              <a:spcAft>
                <a:spcPts val="600"/>
              </a:spcAft>
            </a:pPr>
            <a:r>
              <a:rPr sz="1350" b="0" i="1">
                <a:solidFill>
                  <a:srgbClr val="5C747D"/>
                </a:solidFill>
                <a:latin typeface="Calibri"/>
              </a:rPr>
              <a:t>Run every new source through all five — no single criterion is enough on its own.</a:t>
            </a:r>
          </a:p>
        </p:txBody>
      </p:sp>
      <p:sp>
        <p:nvSpPr>
          <p:cNvPr id="12" name="Rounded Rectangle 11"/>
          <p:cNvSpPr/>
          <p:nvPr/>
        </p:nvSpPr>
        <p:spPr>
          <a:xfrm>
            <a:off x="566928" y="2029968"/>
            <a:ext cx="11055096" cy="749808"/>
          </a:xfrm>
          <a:prstGeom prst="roundRect">
            <a:avLst>
              <a:gd name="adj" fmla="val 10000"/>
            </a:avLst>
          </a:prstGeom>
          <a:solidFill>
            <a:srgbClr val="FFFFFF"/>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86384" y="2176272"/>
            <a:ext cx="457200" cy="4572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1</a:t>
            </a:r>
          </a:p>
        </p:txBody>
      </p:sp>
      <p:sp>
        <p:nvSpPr>
          <p:cNvPr id="14" name="TextBox 13"/>
          <p:cNvSpPr txBox="1"/>
          <p:nvPr/>
        </p:nvSpPr>
        <p:spPr>
          <a:xfrm>
            <a:off x="1481328" y="2029968"/>
            <a:ext cx="2651760" cy="749808"/>
          </a:xfrm>
          <a:prstGeom prst="rect">
            <a:avLst/>
          </a:prstGeom>
          <a:noFill/>
        </p:spPr>
        <p:txBody>
          <a:bodyPr wrap="square" anchor="ctr" lIns="0" rIns="0" tIns="0" bIns="0">
            <a:noAutofit/>
          </a:bodyPr>
          <a:lstStyle/>
          <a:p>
            <a:pPr algn="l">
              <a:lnSpc>
                <a:spcPct val="100000"/>
              </a:lnSpc>
              <a:spcBef>
                <a:spcPts val="0"/>
              </a:spcBef>
              <a:spcAft>
                <a:spcPts val="600"/>
              </a:spcAft>
            </a:pPr>
            <a:r>
              <a:rPr sz="1650" b="1" i="0">
                <a:solidFill>
                  <a:srgbClr val="112B34"/>
                </a:solidFill>
                <a:latin typeface="Calibri"/>
              </a:rPr>
              <a:t>Authority</a:t>
            </a:r>
          </a:p>
        </p:txBody>
      </p:sp>
      <p:sp>
        <p:nvSpPr>
          <p:cNvPr id="15" name="Rectangle 14"/>
          <p:cNvSpPr/>
          <p:nvPr/>
        </p:nvSpPr>
        <p:spPr>
          <a:xfrm>
            <a:off x="4160520" y="2176272"/>
            <a:ext cx="18288" cy="4572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0832" y="2029968"/>
            <a:ext cx="7040880" cy="749808"/>
          </a:xfrm>
          <a:prstGeom prst="rect">
            <a:avLst/>
          </a:prstGeom>
          <a:noFill/>
        </p:spPr>
        <p:txBody>
          <a:bodyPr wrap="square" anchor="ctr" lIns="0" rIns="0" tIns="0" bIns="0">
            <a:noAutofit/>
          </a:bodyPr>
          <a:lstStyle/>
          <a:p>
            <a:pPr algn="l">
              <a:lnSpc>
                <a:spcPct val="100000"/>
              </a:lnSpc>
              <a:spcBef>
                <a:spcPts val="0"/>
              </a:spcBef>
              <a:spcAft>
                <a:spcPts val="600"/>
              </a:spcAft>
            </a:pPr>
            <a:r>
              <a:rPr sz="1350" b="0" i="0">
                <a:solidFill>
                  <a:srgbClr val="112B34"/>
                </a:solidFill>
                <a:latin typeface="Calibri"/>
              </a:rPr>
              <a:t>Is the author or institution qualified / recognized in the field?</a:t>
            </a:r>
          </a:p>
        </p:txBody>
      </p:sp>
      <p:sp>
        <p:nvSpPr>
          <p:cNvPr id="17" name="Rounded Rectangle 16"/>
          <p:cNvSpPr/>
          <p:nvPr/>
        </p:nvSpPr>
        <p:spPr>
          <a:xfrm>
            <a:off x="566928" y="2889504"/>
            <a:ext cx="11055096" cy="749808"/>
          </a:xfrm>
          <a:prstGeom prst="roundRect">
            <a:avLst>
              <a:gd name="adj" fmla="val 10000"/>
            </a:avLst>
          </a:prstGeom>
          <a:solidFill>
            <a:srgbClr val="FFFFFF"/>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6384" y="3035808"/>
            <a:ext cx="457200" cy="457200"/>
          </a:xfrm>
          <a:prstGeom prst="ellipse">
            <a:avLst/>
          </a:prstGeom>
          <a:solidFill>
            <a:srgbClr val="1B82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2</a:t>
            </a:r>
          </a:p>
        </p:txBody>
      </p:sp>
      <p:sp>
        <p:nvSpPr>
          <p:cNvPr id="19" name="TextBox 18"/>
          <p:cNvSpPr txBox="1"/>
          <p:nvPr/>
        </p:nvSpPr>
        <p:spPr>
          <a:xfrm>
            <a:off x="1481328" y="2889504"/>
            <a:ext cx="2651760" cy="749808"/>
          </a:xfrm>
          <a:prstGeom prst="rect">
            <a:avLst/>
          </a:prstGeom>
          <a:noFill/>
        </p:spPr>
        <p:txBody>
          <a:bodyPr wrap="square" anchor="ctr" lIns="0" rIns="0" tIns="0" bIns="0">
            <a:noAutofit/>
          </a:bodyPr>
          <a:lstStyle/>
          <a:p>
            <a:pPr algn="l">
              <a:lnSpc>
                <a:spcPct val="100000"/>
              </a:lnSpc>
              <a:spcBef>
                <a:spcPts val="0"/>
              </a:spcBef>
              <a:spcAft>
                <a:spcPts val="600"/>
              </a:spcAft>
            </a:pPr>
            <a:r>
              <a:rPr sz="1650" b="1" i="0">
                <a:solidFill>
                  <a:srgbClr val="112B34"/>
                </a:solidFill>
                <a:latin typeface="Calibri"/>
              </a:rPr>
              <a:t>Accuracy</a:t>
            </a:r>
          </a:p>
        </p:txBody>
      </p:sp>
      <p:sp>
        <p:nvSpPr>
          <p:cNvPr id="20" name="Rectangle 19"/>
          <p:cNvSpPr/>
          <p:nvPr/>
        </p:nvSpPr>
        <p:spPr>
          <a:xfrm>
            <a:off x="4160520" y="3035808"/>
            <a:ext cx="18288" cy="4572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0832" y="2889504"/>
            <a:ext cx="7040880" cy="749808"/>
          </a:xfrm>
          <a:prstGeom prst="rect">
            <a:avLst/>
          </a:prstGeom>
          <a:noFill/>
        </p:spPr>
        <p:txBody>
          <a:bodyPr wrap="square" anchor="ctr" lIns="0" rIns="0" tIns="0" bIns="0">
            <a:noAutofit/>
          </a:bodyPr>
          <a:lstStyle/>
          <a:p>
            <a:pPr algn="l">
              <a:lnSpc>
                <a:spcPct val="100000"/>
              </a:lnSpc>
              <a:spcBef>
                <a:spcPts val="0"/>
              </a:spcBef>
              <a:spcAft>
                <a:spcPts val="600"/>
              </a:spcAft>
            </a:pPr>
            <a:r>
              <a:rPr sz="1350" b="0" i="0">
                <a:solidFill>
                  <a:srgbClr val="112B34"/>
                </a:solidFill>
                <a:latin typeface="Calibri"/>
              </a:rPr>
              <a:t>Is the information supported by evidence and free of clear errors?</a:t>
            </a:r>
          </a:p>
        </p:txBody>
      </p:sp>
      <p:sp>
        <p:nvSpPr>
          <p:cNvPr id="22" name="Rounded Rectangle 21"/>
          <p:cNvSpPr/>
          <p:nvPr/>
        </p:nvSpPr>
        <p:spPr>
          <a:xfrm>
            <a:off x="566928" y="3749040"/>
            <a:ext cx="11055096" cy="749808"/>
          </a:xfrm>
          <a:prstGeom prst="roundRect">
            <a:avLst>
              <a:gd name="adj" fmla="val 10000"/>
            </a:avLst>
          </a:prstGeom>
          <a:solidFill>
            <a:srgbClr val="FFFFFF"/>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86384" y="3895344"/>
            <a:ext cx="457200" cy="457200"/>
          </a:xfrm>
          <a:prstGeom prst="ellipse">
            <a:avLst/>
          </a:prstGeom>
          <a:solidFill>
            <a:srgbClr val="1874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3</a:t>
            </a:r>
          </a:p>
        </p:txBody>
      </p:sp>
      <p:sp>
        <p:nvSpPr>
          <p:cNvPr id="24" name="TextBox 23"/>
          <p:cNvSpPr txBox="1"/>
          <p:nvPr/>
        </p:nvSpPr>
        <p:spPr>
          <a:xfrm>
            <a:off x="1481328" y="3749040"/>
            <a:ext cx="2651760" cy="749808"/>
          </a:xfrm>
          <a:prstGeom prst="rect">
            <a:avLst/>
          </a:prstGeom>
          <a:noFill/>
        </p:spPr>
        <p:txBody>
          <a:bodyPr wrap="square" anchor="ctr" lIns="0" rIns="0" tIns="0" bIns="0">
            <a:noAutofit/>
          </a:bodyPr>
          <a:lstStyle/>
          <a:p>
            <a:pPr algn="l">
              <a:lnSpc>
                <a:spcPct val="100000"/>
              </a:lnSpc>
              <a:spcBef>
                <a:spcPts val="0"/>
              </a:spcBef>
              <a:spcAft>
                <a:spcPts val="600"/>
              </a:spcAft>
            </a:pPr>
            <a:r>
              <a:rPr sz="1650" b="1" i="0">
                <a:solidFill>
                  <a:srgbClr val="112B34"/>
                </a:solidFill>
                <a:latin typeface="Calibri"/>
              </a:rPr>
              <a:t>Currency</a:t>
            </a:r>
          </a:p>
        </p:txBody>
      </p:sp>
      <p:sp>
        <p:nvSpPr>
          <p:cNvPr id="25" name="Rectangle 24"/>
          <p:cNvSpPr/>
          <p:nvPr/>
        </p:nvSpPr>
        <p:spPr>
          <a:xfrm>
            <a:off x="4160520" y="3895344"/>
            <a:ext cx="18288" cy="4572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0832" y="3749040"/>
            <a:ext cx="7040880" cy="749808"/>
          </a:xfrm>
          <a:prstGeom prst="rect">
            <a:avLst/>
          </a:prstGeom>
          <a:noFill/>
        </p:spPr>
        <p:txBody>
          <a:bodyPr wrap="square" anchor="ctr" lIns="0" rIns="0" tIns="0" bIns="0">
            <a:noAutofit/>
          </a:bodyPr>
          <a:lstStyle/>
          <a:p>
            <a:pPr algn="l">
              <a:lnSpc>
                <a:spcPct val="100000"/>
              </a:lnSpc>
              <a:spcBef>
                <a:spcPts val="0"/>
              </a:spcBef>
              <a:spcAft>
                <a:spcPts val="600"/>
              </a:spcAft>
            </a:pPr>
            <a:r>
              <a:rPr sz="1350" b="0" i="0">
                <a:solidFill>
                  <a:srgbClr val="112B34"/>
                </a:solidFill>
                <a:latin typeface="Calibri"/>
              </a:rPr>
              <a:t>Was it published recently enough to still be relevant (the textbook recommends favoring literature from roughly the last 10 years)?</a:t>
            </a:r>
          </a:p>
        </p:txBody>
      </p:sp>
      <p:sp>
        <p:nvSpPr>
          <p:cNvPr id="27" name="Rounded Rectangle 26"/>
          <p:cNvSpPr/>
          <p:nvPr/>
        </p:nvSpPr>
        <p:spPr>
          <a:xfrm>
            <a:off x="566928" y="4608576"/>
            <a:ext cx="11055096" cy="749808"/>
          </a:xfrm>
          <a:prstGeom prst="roundRect">
            <a:avLst>
              <a:gd name="adj" fmla="val 10000"/>
            </a:avLst>
          </a:prstGeom>
          <a:solidFill>
            <a:srgbClr val="FFFFFF"/>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86384" y="4754880"/>
            <a:ext cx="457200" cy="457200"/>
          </a:xfrm>
          <a:prstGeom prst="ellipse">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4</a:t>
            </a:r>
          </a:p>
        </p:txBody>
      </p:sp>
      <p:sp>
        <p:nvSpPr>
          <p:cNvPr id="29" name="TextBox 28"/>
          <p:cNvSpPr txBox="1"/>
          <p:nvPr/>
        </p:nvSpPr>
        <p:spPr>
          <a:xfrm>
            <a:off x="1481328" y="4608576"/>
            <a:ext cx="2651760" cy="749808"/>
          </a:xfrm>
          <a:prstGeom prst="rect">
            <a:avLst/>
          </a:prstGeom>
          <a:noFill/>
        </p:spPr>
        <p:txBody>
          <a:bodyPr wrap="square" anchor="ctr" lIns="0" rIns="0" tIns="0" bIns="0">
            <a:noAutofit/>
          </a:bodyPr>
          <a:lstStyle/>
          <a:p>
            <a:pPr algn="l">
              <a:lnSpc>
                <a:spcPct val="100000"/>
              </a:lnSpc>
              <a:spcBef>
                <a:spcPts val="0"/>
              </a:spcBef>
              <a:spcAft>
                <a:spcPts val="600"/>
              </a:spcAft>
            </a:pPr>
            <a:r>
              <a:rPr sz="1650" b="1" i="0">
                <a:solidFill>
                  <a:srgbClr val="112B34"/>
                </a:solidFill>
                <a:latin typeface="Calibri"/>
              </a:rPr>
              <a:t>Relevance</a:t>
            </a:r>
          </a:p>
        </p:txBody>
      </p:sp>
      <p:sp>
        <p:nvSpPr>
          <p:cNvPr id="30" name="Rectangle 29"/>
          <p:cNvSpPr/>
          <p:nvPr/>
        </p:nvSpPr>
        <p:spPr>
          <a:xfrm>
            <a:off x="4160520" y="4754880"/>
            <a:ext cx="18288" cy="4572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2" y="4608576"/>
            <a:ext cx="7040880" cy="749808"/>
          </a:xfrm>
          <a:prstGeom prst="rect">
            <a:avLst/>
          </a:prstGeom>
          <a:noFill/>
        </p:spPr>
        <p:txBody>
          <a:bodyPr wrap="square" anchor="ctr" lIns="0" rIns="0" tIns="0" bIns="0">
            <a:noAutofit/>
          </a:bodyPr>
          <a:lstStyle/>
          <a:p>
            <a:pPr algn="l">
              <a:lnSpc>
                <a:spcPct val="100000"/>
              </a:lnSpc>
              <a:spcBef>
                <a:spcPts val="0"/>
              </a:spcBef>
              <a:spcAft>
                <a:spcPts val="600"/>
              </a:spcAft>
            </a:pPr>
            <a:r>
              <a:rPr sz="1350" b="0" i="0">
                <a:solidFill>
                  <a:srgbClr val="112B34"/>
                </a:solidFill>
                <a:latin typeface="Calibri"/>
              </a:rPr>
              <a:t>Does it actually connect to the topic being studied?</a:t>
            </a:r>
          </a:p>
        </p:txBody>
      </p:sp>
      <p:sp>
        <p:nvSpPr>
          <p:cNvPr id="32" name="Rounded Rectangle 31"/>
          <p:cNvSpPr/>
          <p:nvPr/>
        </p:nvSpPr>
        <p:spPr>
          <a:xfrm>
            <a:off x="566928" y="5468112"/>
            <a:ext cx="11055096" cy="749808"/>
          </a:xfrm>
          <a:prstGeom prst="roundRect">
            <a:avLst>
              <a:gd name="adj" fmla="val 10000"/>
            </a:avLst>
          </a:prstGeom>
          <a:solidFill>
            <a:srgbClr val="FFFFFF"/>
          </a:solidFill>
          <a:ln w="9525">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6384" y="5614416"/>
            <a:ext cx="457200" cy="457200"/>
          </a:xfrm>
          <a:prstGeom prst="ellipse">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5</a:t>
            </a:r>
          </a:p>
        </p:txBody>
      </p:sp>
      <p:sp>
        <p:nvSpPr>
          <p:cNvPr id="34" name="TextBox 33"/>
          <p:cNvSpPr txBox="1"/>
          <p:nvPr/>
        </p:nvSpPr>
        <p:spPr>
          <a:xfrm>
            <a:off x="1481328" y="5468112"/>
            <a:ext cx="2651760" cy="749808"/>
          </a:xfrm>
          <a:prstGeom prst="rect">
            <a:avLst/>
          </a:prstGeom>
          <a:noFill/>
        </p:spPr>
        <p:txBody>
          <a:bodyPr wrap="square" anchor="ctr" lIns="0" rIns="0" tIns="0" bIns="0">
            <a:noAutofit/>
          </a:bodyPr>
          <a:lstStyle/>
          <a:p>
            <a:pPr algn="l">
              <a:lnSpc>
                <a:spcPct val="100000"/>
              </a:lnSpc>
              <a:spcBef>
                <a:spcPts val="0"/>
              </a:spcBef>
              <a:spcAft>
                <a:spcPts val="600"/>
              </a:spcAft>
            </a:pPr>
            <a:r>
              <a:rPr sz="1650" b="1" i="0">
                <a:solidFill>
                  <a:srgbClr val="112B34"/>
                </a:solidFill>
                <a:latin typeface="Calibri"/>
              </a:rPr>
              <a:t>Purpose/Bias</a:t>
            </a:r>
          </a:p>
        </p:txBody>
      </p:sp>
      <p:sp>
        <p:nvSpPr>
          <p:cNvPr id="35" name="Rectangle 34"/>
          <p:cNvSpPr/>
          <p:nvPr/>
        </p:nvSpPr>
        <p:spPr>
          <a:xfrm>
            <a:off x="4160520" y="5614416"/>
            <a:ext cx="18288" cy="4572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0832" y="5468112"/>
            <a:ext cx="7040880" cy="749808"/>
          </a:xfrm>
          <a:prstGeom prst="rect">
            <a:avLst/>
          </a:prstGeom>
          <a:noFill/>
        </p:spPr>
        <p:txBody>
          <a:bodyPr wrap="square" anchor="ctr" lIns="0" rIns="0" tIns="0" bIns="0">
            <a:noAutofit/>
          </a:bodyPr>
          <a:lstStyle/>
          <a:p>
            <a:pPr algn="l">
              <a:lnSpc>
                <a:spcPct val="100000"/>
              </a:lnSpc>
              <a:spcBef>
                <a:spcPts val="0"/>
              </a:spcBef>
              <a:spcAft>
                <a:spcPts val="600"/>
              </a:spcAft>
            </a:pPr>
            <a:r>
              <a:rPr sz="1350" b="0" i="0">
                <a:solidFill>
                  <a:srgbClr val="112B34"/>
                </a:solidFill>
                <a:latin typeface="Calibri"/>
              </a:rPr>
              <a:t>Was it written to inform, or to persuade/sell?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1 · EVALUATING SOURCES — COMPETENCY 11</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Practice: Rate These Three Sources</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481328"/>
            <a:ext cx="1965960" cy="329184"/>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  PRACTICE · PAIR ACTIVITY</a:t>
            </a: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6</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1 · Competency 11</a:t>
            </a:r>
          </a:p>
        </p:txBody>
      </p:sp>
      <p:sp>
        <p:nvSpPr>
          <p:cNvPr id="12" name="TextBox 11"/>
          <p:cNvSpPr txBox="1"/>
          <p:nvPr/>
        </p:nvSpPr>
        <p:spPr>
          <a:xfrm>
            <a:off x="566928" y="1938528"/>
            <a:ext cx="11055096" cy="566928"/>
          </a:xfrm>
          <a:prstGeom prst="rect">
            <a:avLst/>
          </a:prstGeom>
          <a:noFill/>
        </p:spPr>
        <p:txBody>
          <a:bodyPr wrap="square" anchor="t" lIns="0" rIns="0" tIns="0" bIns="0">
            <a:noAutofit/>
          </a:bodyPr>
          <a:lstStyle/>
          <a:p>
            <a:pPr algn="l">
              <a:lnSpc>
                <a:spcPct val="102000"/>
              </a:lnSpc>
              <a:spcBef>
                <a:spcPts val="0"/>
              </a:spcBef>
              <a:spcAft>
                <a:spcPts val="600"/>
              </a:spcAft>
            </a:pPr>
            <a:r>
              <a:rPr sz="1500" b="0" i="0">
                <a:solidFill>
                  <a:srgbClr val="112B34"/>
                </a:solidFill>
                <a:latin typeface="Calibri"/>
              </a:rPr>
              <a:t>In pairs, apply the </a:t>
            </a:r>
            <a:r>
              <a:rPr sz="1500" b="1" i="0">
                <a:solidFill>
                  <a:srgbClr val="E86F51"/>
                </a:solidFill>
                <a:latin typeface="Calibri"/>
              </a:rPr>
              <a:t>five criteria (Slide 5)</a:t>
            </a:r>
            <a:r>
              <a:rPr sz="1500" b="0" i="0">
                <a:solidFill>
                  <a:srgbClr val="112B34"/>
                </a:solidFill>
                <a:latin typeface="Calibri"/>
              </a:rPr>
              <a:t> to rate three new sources on a different topic: </a:t>
            </a:r>
            <a:r>
              <a:rPr sz="1500" b="1" i="0">
                <a:solidFill>
                  <a:srgbClr val="112B34"/>
                </a:solidFill>
                <a:latin typeface="Calibri"/>
              </a:rPr>
              <a:t>urban flooding in Metro Manila.</a:t>
            </a:r>
          </a:p>
        </p:txBody>
      </p:sp>
      <p:sp>
        <p:nvSpPr>
          <p:cNvPr id="13" name="Rounded Rectangle 12"/>
          <p:cNvSpPr/>
          <p:nvPr/>
        </p:nvSpPr>
        <p:spPr>
          <a:xfrm>
            <a:off x="566928" y="2697480"/>
            <a:ext cx="3566160" cy="1234440"/>
          </a:xfrm>
          <a:prstGeom prst="roundRect">
            <a:avLst>
              <a:gd name="adj" fmla="val 8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8096" y="2880360"/>
            <a:ext cx="475488" cy="475488"/>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1</a:t>
            </a:r>
          </a:p>
        </p:txBody>
      </p:sp>
      <p:sp>
        <p:nvSpPr>
          <p:cNvPr id="15" name="TextBox 14"/>
          <p:cNvSpPr txBox="1"/>
          <p:nvPr/>
        </p:nvSpPr>
        <p:spPr>
          <a:xfrm>
            <a:off x="768096" y="3483864"/>
            <a:ext cx="3163824" cy="365760"/>
          </a:xfrm>
          <a:prstGeom prst="rect">
            <a:avLst/>
          </a:prstGeom>
          <a:noFill/>
        </p:spPr>
        <p:txBody>
          <a:bodyPr wrap="square" anchor="t" lIns="0" rIns="0" tIns="0" bIns="0">
            <a:noAutofit/>
          </a:bodyPr>
          <a:lstStyle/>
          <a:p>
            <a:pPr algn="l">
              <a:lnSpc>
                <a:spcPct val="100000"/>
              </a:lnSpc>
              <a:spcBef>
                <a:spcPts val="0"/>
              </a:spcBef>
              <a:spcAft>
                <a:spcPts val="600"/>
              </a:spcAft>
            </a:pPr>
            <a:r>
              <a:rPr sz="1350" b="1" i="0">
                <a:solidFill>
                  <a:srgbClr val="112B34"/>
                </a:solidFill>
                <a:latin typeface="Calibri"/>
              </a:rPr>
              <a:t>A 2024 peer-reviewed hydrology journal article</a:t>
            </a:r>
          </a:p>
        </p:txBody>
      </p:sp>
      <p:sp>
        <p:nvSpPr>
          <p:cNvPr id="16" name="Rounded Rectangle 15"/>
          <p:cNvSpPr/>
          <p:nvPr/>
        </p:nvSpPr>
        <p:spPr>
          <a:xfrm>
            <a:off x="4306824" y="2697480"/>
            <a:ext cx="3566160" cy="1234440"/>
          </a:xfrm>
          <a:prstGeom prst="roundRect">
            <a:avLst>
              <a:gd name="adj" fmla="val 8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07992" y="2880360"/>
            <a:ext cx="475488" cy="475488"/>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2</a:t>
            </a:r>
          </a:p>
        </p:txBody>
      </p:sp>
      <p:sp>
        <p:nvSpPr>
          <p:cNvPr id="18" name="TextBox 17"/>
          <p:cNvSpPr txBox="1"/>
          <p:nvPr/>
        </p:nvSpPr>
        <p:spPr>
          <a:xfrm>
            <a:off x="4507992" y="3483864"/>
            <a:ext cx="3163824" cy="365760"/>
          </a:xfrm>
          <a:prstGeom prst="rect">
            <a:avLst/>
          </a:prstGeom>
          <a:noFill/>
        </p:spPr>
        <p:txBody>
          <a:bodyPr wrap="square" anchor="t" lIns="0" rIns="0" tIns="0" bIns="0">
            <a:noAutofit/>
          </a:bodyPr>
          <a:lstStyle/>
          <a:p>
            <a:pPr algn="l">
              <a:lnSpc>
                <a:spcPct val="100000"/>
              </a:lnSpc>
              <a:spcBef>
                <a:spcPts val="0"/>
              </a:spcBef>
              <a:spcAft>
                <a:spcPts val="600"/>
              </a:spcAft>
            </a:pPr>
            <a:r>
              <a:rPr sz="1350" b="1" i="0">
                <a:solidFill>
                  <a:srgbClr val="112B34"/>
                </a:solidFill>
                <a:latin typeface="Calibri"/>
              </a:rPr>
              <a:t>A 2015 blog post on flood-prevention tips</a:t>
            </a:r>
          </a:p>
        </p:txBody>
      </p:sp>
      <p:sp>
        <p:nvSpPr>
          <p:cNvPr id="19" name="Rounded Rectangle 18"/>
          <p:cNvSpPr/>
          <p:nvPr/>
        </p:nvSpPr>
        <p:spPr>
          <a:xfrm>
            <a:off x="8046720" y="2697480"/>
            <a:ext cx="3566160" cy="1234440"/>
          </a:xfrm>
          <a:prstGeom prst="roundRect">
            <a:avLst>
              <a:gd name="adj" fmla="val 8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47888" y="2880360"/>
            <a:ext cx="475488" cy="475488"/>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3</a:t>
            </a:r>
          </a:p>
        </p:txBody>
      </p:sp>
      <p:sp>
        <p:nvSpPr>
          <p:cNvPr id="21" name="TextBox 20"/>
          <p:cNvSpPr txBox="1"/>
          <p:nvPr/>
        </p:nvSpPr>
        <p:spPr>
          <a:xfrm>
            <a:off x="8247888" y="3483864"/>
            <a:ext cx="3163824" cy="365760"/>
          </a:xfrm>
          <a:prstGeom prst="rect">
            <a:avLst/>
          </a:prstGeom>
          <a:noFill/>
        </p:spPr>
        <p:txBody>
          <a:bodyPr wrap="square" anchor="t" lIns="0" rIns="0" tIns="0" bIns="0">
            <a:noAutofit/>
          </a:bodyPr>
          <a:lstStyle/>
          <a:p>
            <a:pPr algn="l">
              <a:lnSpc>
                <a:spcPct val="100000"/>
              </a:lnSpc>
              <a:spcBef>
                <a:spcPts val="0"/>
              </a:spcBef>
              <a:spcAft>
                <a:spcPts val="600"/>
              </a:spcAft>
            </a:pPr>
            <a:r>
              <a:rPr sz="1350" b="1" i="0">
                <a:solidFill>
                  <a:srgbClr val="112B34"/>
                </a:solidFill>
                <a:latin typeface="Calibri"/>
              </a:rPr>
              <a:t>A government flood-risk map with technical documentation</a:t>
            </a:r>
          </a:p>
        </p:txBody>
      </p:sp>
      <p:sp>
        <p:nvSpPr>
          <p:cNvPr id="22" name="Rounded Rectangle 21"/>
          <p:cNvSpPr/>
          <p:nvPr/>
        </p:nvSpPr>
        <p:spPr>
          <a:xfrm>
            <a:off x="566928" y="4160520"/>
            <a:ext cx="6766560" cy="1920240"/>
          </a:xfrm>
          <a:prstGeom prst="roundRect">
            <a:avLst>
              <a:gd name="adj" fmla="val 5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3" name="Table 22"/>
          <p:cNvGraphicFramePr>
            <a:graphicFrameLocks noGrp="1"/>
          </p:cNvGraphicFramePr>
          <p:nvPr/>
        </p:nvGraphicFramePr>
        <p:xfrm>
          <a:off x="658368" y="4251960"/>
          <a:ext cx="6583680" cy="1554480"/>
        </p:xfrm>
        <a:graphic>
          <a:graphicData uri="http://schemas.openxmlformats.org/drawingml/2006/table">
            <a:tbl>
              <a:tblPr>
                <a:tableStyleId>{5C22544A-7EE6-4342-B048-85BDC9FD1C3A}</a:tableStyleId>
              </a:tblPr>
              <a:tblGrid>
                <a:gridCol w="1280160"/>
                <a:gridCol w="3566160"/>
                <a:gridCol w="1737360"/>
              </a:tblGrid>
              <a:tr h="402336">
                <a:tc>
                  <a:txBody>
                    <a:bodyPr wrap="square"/>
                    <a:lstStyle/>
                    <a:p>
                      <a:pPr algn="l">
                        <a:lnSpc>
                          <a:spcPct val="102000"/>
                        </a:lnSpc>
                        <a:spcBef>
                          <a:spcPts val="0"/>
                        </a:spcBef>
                        <a:spcAft>
                          <a:spcPts val="100"/>
                        </a:spcAft>
                      </a:pPr>
                      <a:r>
                        <a:rPr sz="1250" b="1" i="0">
                          <a:solidFill>
                            <a:srgbClr val="FFFFFF"/>
                          </a:solidFill>
                          <a:latin typeface="Calibri"/>
                        </a:rPr>
                        <a:t>Source</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1" i="0">
                          <a:solidFill>
                            <a:srgbClr val="FFFFFF"/>
                          </a:solidFill>
                          <a:latin typeface="Calibri"/>
                        </a:rPr>
                        <a:t>Criterion cited</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1" i="0">
                          <a:solidFill>
                            <a:srgbClr val="FFFFFF"/>
                          </a:solidFill>
                          <a:latin typeface="Calibri"/>
                        </a:rPr>
                        <a:t>Decision</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384048">
                <a:tc>
                  <a:txBody>
                    <a:bodyPr wrap="square"/>
                    <a:lstStyle/>
                    <a:p>
                      <a:pPr algn="l">
                        <a:lnSpc>
                          <a:spcPct val="102000"/>
                        </a:lnSpc>
                        <a:spcBef>
                          <a:spcPts val="0"/>
                        </a:spcBef>
                        <a:spcAft>
                          <a:spcPts val="100"/>
                        </a:spcAft>
                      </a:pPr>
                      <a:r>
                        <a:rPr sz="1250" b="0" i="0">
                          <a:solidFill>
                            <a:srgbClr val="112B34"/>
                          </a:solidFill>
                          <a:latin typeface="Calibri"/>
                        </a:rPr>
                        <a:t>1</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384048">
                <a:tc>
                  <a:txBody>
                    <a:bodyPr wrap="square"/>
                    <a:lstStyle/>
                    <a:p>
                      <a:pPr algn="l">
                        <a:lnSpc>
                          <a:spcPct val="102000"/>
                        </a:lnSpc>
                        <a:spcBef>
                          <a:spcPts val="0"/>
                        </a:spcBef>
                        <a:spcAft>
                          <a:spcPts val="100"/>
                        </a:spcAft>
                      </a:pPr>
                      <a:r>
                        <a:rPr sz="1250" b="0" i="0">
                          <a:solidFill>
                            <a:srgbClr val="112B34"/>
                          </a:solidFill>
                          <a:latin typeface="Calibri"/>
                        </a:rPr>
                        <a:t>2</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384048">
                <a:tc>
                  <a:txBody>
                    <a:bodyPr wrap="square"/>
                    <a:lstStyle/>
                    <a:p>
                      <a:pPr algn="l">
                        <a:lnSpc>
                          <a:spcPct val="102000"/>
                        </a:lnSpc>
                        <a:spcBef>
                          <a:spcPts val="0"/>
                        </a:spcBef>
                        <a:spcAft>
                          <a:spcPts val="100"/>
                        </a:spcAft>
                      </a:pPr>
                      <a:r>
                        <a:rPr sz="1250" b="0" i="0">
                          <a:solidFill>
                            <a:srgbClr val="112B34"/>
                          </a:solidFill>
                          <a:latin typeface="Calibri"/>
                        </a:rPr>
                        <a:t>3</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
        <p:nvSpPr>
          <p:cNvPr id="24" name="TextBox 23"/>
          <p:cNvSpPr txBox="1"/>
          <p:nvPr/>
        </p:nvSpPr>
        <p:spPr>
          <a:xfrm>
            <a:off x="7635240" y="4160520"/>
            <a:ext cx="3931920" cy="310896"/>
          </a:xfrm>
          <a:prstGeom prst="rect">
            <a:avLst/>
          </a:prstGeom>
          <a:noFill/>
        </p:spPr>
        <p:txBody>
          <a:bodyPr wrap="square" anchor="t" lIns="0" rIns="0" tIns="0" bIns="0">
            <a:noAutofit/>
          </a:bodyPr>
          <a:lstStyle/>
          <a:p>
            <a:pPr algn="l">
              <a:lnSpc>
                <a:spcPct val="100000"/>
              </a:lnSpc>
              <a:spcBef>
                <a:spcPts val="0"/>
              </a:spcBef>
              <a:spcAft>
                <a:spcPts val="600"/>
              </a:spcAft>
            </a:pPr>
            <a:r>
              <a:rPr sz="1350" b="1" i="0">
                <a:solidFill>
                  <a:srgbClr val="112B34"/>
                </a:solidFill>
                <a:latin typeface="Calibri"/>
              </a:rPr>
              <a:t>For each source, decide:</a:t>
            </a:r>
          </a:p>
        </p:txBody>
      </p:sp>
      <p:sp>
        <p:nvSpPr>
          <p:cNvPr id="25" name="Rounded Rectangle 24"/>
          <p:cNvSpPr/>
          <p:nvPr/>
        </p:nvSpPr>
        <p:spPr>
          <a:xfrm>
            <a:off x="7635240" y="4535424"/>
            <a:ext cx="3703320" cy="384048"/>
          </a:xfrm>
          <a:prstGeom prst="roundRect">
            <a:avLst>
              <a:gd name="adj" fmla="val 30000"/>
            </a:avLst>
          </a:prstGeom>
          <a:solidFill>
            <a:srgbClr val="3CA5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FFFFFF"/>
                </a:solidFill>
                <a:latin typeface="Calibri"/>
              </a:rPr>
              <a:t>Keep</a:t>
            </a:r>
          </a:p>
        </p:txBody>
      </p:sp>
      <p:sp>
        <p:nvSpPr>
          <p:cNvPr id="26" name="Rounded Rectangle 25"/>
          <p:cNvSpPr/>
          <p:nvPr/>
        </p:nvSpPr>
        <p:spPr>
          <a:xfrm>
            <a:off x="7635240" y="4992624"/>
            <a:ext cx="3703320" cy="384048"/>
          </a:xfrm>
          <a:prstGeom prst="roundRect">
            <a:avLst>
              <a:gd name="adj" fmla="val 3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FFFFFF"/>
                </a:solidFill>
                <a:latin typeface="Calibri"/>
              </a:rPr>
              <a:t>Use with caution</a:t>
            </a:r>
          </a:p>
        </p:txBody>
      </p:sp>
      <p:sp>
        <p:nvSpPr>
          <p:cNvPr id="27" name="Rounded Rectangle 26"/>
          <p:cNvSpPr/>
          <p:nvPr/>
        </p:nvSpPr>
        <p:spPr>
          <a:xfrm>
            <a:off x="7635240" y="5449824"/>
            <a:ext cx="3703320" cy="384048"/>
          </a:xfrm>
          <a:prstGeom prst="roundRect">
            <a:avLst>
              <a:gd name="adj" fmla="val 30000"/>
            </a:avLst>
          </a:prstGeom>
          <a:solidFill>
            <a:srgbClr val="D1493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FFFFFF"/>
                </a:solidFill>
                <a:latin typeface="Calibri"/>
              </a:rPr>
              <a:t>Reject</a:t>
            </a:r>
          </a:p>
        </p:txBody>
      </p:sp>
      <p:sp>
        <p:nvSpPr>
          <p:cNvPr id="28" name="TextBox 27"/>
          <p:cNvSpPr txBox="1"/>
          <p:nvPr/>
        </p:nvSpPr>
        <p:spPr>
          <a:xfrm>
            <a:off x="7635240" y="5989320"/>
            <a:ext cx="393192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0" i="1">
                <a:solidFill>
                  <a:srgbClr val="5C747D"/>
                </a:solidFill>
                <a:latin typeface="Calibri"/>
              </a:rPr>
              <a:t>Justify with at least one criterion.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48682"/>
                </a:solidFill>
                <a:latin typeface="Calibri"/>
              </a:rPr>
              <a:t>PART 2 · SYNTHESIZING LITERATURE — COMPETENCY 12</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A Pile of Credible Sources</a:t>
            </a:r>
          </a:p>
        </p:txBody>
      </p:sp>
      <p:sp>
        <p:nvSpPr>
          <p:cNvPr id="6" name="Rectangle 5"/>
          <p:cNvSpPr/>
          <p:nvPr/>
        </p:nvSpPr>
        <p:spPr>
          <a:xfrm>
            <a:off x="566928" y="1389888"/>
            <a:ext cx="2834640" cy="41148"/>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7</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2 · Competency 12</a:t>
            </a:r>
          </a:p>
        </p:txBody>
      </p:sp>
      <p:sp>
        <p:nvSpPr>
          <p:cNvPr id="10" name="TextBox 9"/>
          <p:cNvSpPr txBox="1"/>
          <p:nvPr/>
        </p:nvSpPr>
        <p:spPr>
          <a:xfrm>
            <a:off x="566928" y="1920240"/>
            <a:ext cx="5577840" cy="3291840"/>
          </a:xfrm>
          <a:prstGeom prst="rect">
            <a:avLst/>
          </a:prstGeom>
          <a:noFill/>
        </p:spPr>
        <p:txBody>
          <a:bodyPr wrap="square" anchor="t" lIns="0" rIns="0" tIns="0" bIns="0">
            <a:noAutofit/>
          </a:bodyPr>
          <a:lstStyle/>
          <a:p>
            <a:pPr algn="l" marL="274320" indent="-274320">
              <a:lnSpc>
                <a:spcPct val="106000"/>
              </a:lnSpc>
              <a:spcBef>
                <a:spcPts val="0"/>
              </a:spcBef>
              <a:spcAft>
                <a:spcPts val="1300"/>
              </a:spcAft>
              <a:buClr>
                <a:srgbClr val="1F8A8A"/>
              </a:buClr>
              <a:buSzPct val="110000"/>
              <a:buFont typeface="Calibri"/>
              <a:buChar char="•"/>
            </a:pPr>
            <a:r>
              <a:rPr sz="1650" b="0" i="0">
                <a:solidFill>
                  <a:srgbClr val="112B34"/>
                </a:solidFill>
                <a:latin typeface="Calibri"/>
              </a:rPr>
              <a:t>The group has now filtered their list down to </a:t>
            </a:r>
            <a:r>
              <a:rPr sz="1650" b="1" i="0">
                <a:solidFill>
                  <a:srgbClr val="148682"/>
                </a:solidFill>
                <a:latin typeface="Calibri"/>
              </a:rPr>
              <a:t>8 credible, relevant sources</a:t>
            </a:r>
            <a:r>
              <a:rPr sz="1650" b="0" i="0">
                <a:solidFill>
                  <a:srgbClr val="112B34"/>
                </a:solidFill>
                <a:latin typeface="Calibri"/>
              </a:rPr>
              <a:t> on coastal plastic waste.</a:t>
            </a:r>
          </a:p>
          <a:p>
            <a:pPr algn="l" marL="274320" indent="-274320">
              <a:lnSpc>
                <a:spcPct val="106000"/>
              </a:lnSpc>
              <a:spcBef>
                <a:spcPts val="0"/>
              </a:spcBef>
              <a:spcAft>
                <a:spcPts val="1300"/>
              </a:spcAft>
              <a:buClr>
                <a:srgbClr val="1F8A8A"/>
              </a:buClr>
              <a:buSzPct val="110000"/>
              <a:buFont typeface="Calibri"/>
              <a:buChar char="•"/>
            </a:pPr>
            <a:r>
              <a:rPr sz="1650" b="0" i="0">
                <a:solidFill>
                  <a:srgbClr val="112B34"/>
                </a:solidFill>
                <a:latin typeface="Calibri"/>
              </a:rPr>
              <a:t>Reading each one in isolation still leaves them with 8 separate summaries — </a:t>
            </a:r>
            <a:r>
              <a:rPr sz="1650" b="1" i="0">
                <a:solidFill>
                  <a:srgbClr val="112B34"/>
                </a:solidFill>
                <a:latin typeface="Calibri"/>
              </a:rPr>
              <a:t>not a research direction.</a:t>
            </a:r>
          </a:p>
          <a:p>
            <a:pPr algn="l" marL="274320" indent="-274320">
              <a:lnSpc>
                <a:spcPct val="106000"/>
              </a:lnSpc>
              <a:spcBef>
                <a:spcPts val="0"/>
              </a:spcBef>
              <a:spcAft>
                <a:spcPts val="600"/>
              </a:spcAft>
              <a:buClr>
                <a:srgbClr val="1F8A8A"/>
              </a:buClr>
              <a:buSzPct val="110000"/>
              <a:buFont typeface="Calibri"/>
              <a:buChar char="•"/>
            </a:pPr>
            <a:r>
              <a:rPr sz="1650" b="0" i="0">
                <a:solidFill>
                  <a:srgbClr val="112B34"/>
                </a:solidFill>
                <a:latin typeface="Calibri"/>
              </a:rPr>
              <a:t>The next skill: </a:t>
            </a:r>
            <a:r>
              <a:rPr sz="1650" b="1" i="1">
                <a:solidFill>
                  <a:srgbClr val="112B34"/>
                </a:solidFill>
                <a:latin typeface="Calibri"/>
              </a:rPr>
              <a:t>reading across</a:t>
            </a:r>
            <a:r>
              <a:rPr sz="1650" b="0" i="0">
                <a:solidFill>
                  <a:srgbClr val="112B34"/>
                </a:solidFill>
                <a:latin typeface="Calibri"/>
              </a:rPr>
              <a:t> sources instead of </a:t>
            </a:r>
            <a:r>
              <a:rPr sz="1650" b="0" i="1">
                <a:solidFill>
                  <a:srgbClr val="5C747D"/>
                </a:solidFill>
                <a:latin typeface="Calibri"/>
              </a:rPr>
              <a:t>reading through</a:t>
            </a:r>
            <a:r>
              <a:rPr sz="1650" b="0" i="0">
                <a:solidFill>
                  <a:srgbClr val="112B34"/>
                </a:solidFill>
                <a:latin typeface="Calibri"/>
              </a:rPr>
              <a:t> them one at a time.</a:t>
            </a:r>
          </a:p>
        </p:txBody>
      </p:sp>
      <p:sp>
        <p:nvSpPr>
          <p:cNvPr id="11" name="Rounded Rectangle 10"/>
          <p:cNvSpPr/>
          <p:nvPr/>
        </p:nvSpPr>
        <p:spPr>
          <a:xfrm rot="21120000">
            <a:off x="6720840" y="196596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1120000">
            <a:off x="6812280" y="211226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1120000">
            <a:off x="6812280" y="224028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21120000">
            <a:off x="6812280" y="236829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rot="360000">
            <a:off x="7635240" y="1874519"/>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rot="360000">
            <a:off x="7726680" y="2020823"/>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rot="360000">
            <a:off x="7726680" y="2148839"/>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rot="360000">
            <a:off x="7726680" y="2276855"/>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rot="21360000">
            <a:off x="8549640" y="201168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rot="21360000">
            <a:off x="8641080" y="215798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rot="21360000">
            <a:off x="8641080" y="228600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1360000">
            <a:off x="8641080" y="241401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rot="540000">
            <a:off x="9464040" y="192024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rot="540000">
            <a:off x="9555480" y="206654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rot="540000">
            <a:off x="9555480" y="219456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rot="540000">
            <a:off x="9555480" y="232257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rot="21240000">
            <a:off x="6903720" y="288036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rot="21240000">
            <a:off x="6995160" y="302666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rot="21240000">
            <a:off x="6995160" y="315468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rot="21240000">
            <a:off x="6995160" y="328269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rot="180000">
            <a:off x="7818120" y="297180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rot="180000">
            <a:off x="7909560" y="311810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rot="180000">
            <a:off x="7909560" y="324612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rot="180000">
            <a:off x="7909560" y="337413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rot="21060000">
            <a:off x="8732520" y="283464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rot="21060000">
            <a:off x="8823960" y="298094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rot="21060000">
            <a:off x="8823960" y="310896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rot="21060000">
            <a:off x="8823960" y="323697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rot="300000">
            <a:off x="9646920" y="2926080"/>
            <a:ext cx="713232" cy="566928"/>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rot="300000">
            <a:off x="9738360" y="3072384"/>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rot="300000">
            <a:off x="9738360" y="3200400"/>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rot="300000">
            <a:off x="9738360" y="3328416"/>
            <a:ext cx="530352"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0" y="2194560"/>
            <a:ext cx="1371600" cy="548640"/>
          </a:xfrm>
          <a:prstGeom prst="rect">
            <a:avLst/>
          </a:prstGeom>
          <a:noFill/>
        </p:spPr>
        <p:txBody>
          <a:bodyPr wrap="square" anchor="ctr" lIns="0" rIns="0" tIns="0" bIns="0">
            <a:noAutofit/>
          </a:bodyPr>
          <a:lstStyle/>
          <a:p>
            <a:pPr algn="ctr">
              <a:lnSpc>
                <a:spcPct val="95000"/>
              </a:lnSpc>
              <a:spcBef>
                <a:spcPts val="0"/>
              </a:spcBef>
              <a:spcAft>
                <a:spcPts val="600"/>
              </a:spcAft>
            </a:pPr>
            <a:r>
              <a:rPr sz="1300" b="0" i="1">
                <a:solidFill>
                  <a:srgbClr val="5C747D"/>
                </a:solidFill>
                <a:latin typeface="Calibri"/>
              </a:rPr>
              <a:t>8 loose
summaries</a:t>
            </a:r>
          </a:p>
        </p:txBody>
      </p:sp>
      <p:sp>
        <p:nvSpPr>
          <p:cNvPr id="44" name="Down Arrow 43"/>
          <p:cNvSpPr/>
          <p:nvPr/>
        </p:nvSpPr>
        <p:spPr>
          <a:xfrm>
            <a:off x="8321040" y="3703320"/>
            <a:ext cx="640080" cy="502920"/>
          </a:xfrm>
          <a:prstGeom prst="downArrow">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40880" y="4389120"/>
            <a:ext cx="4206240" cy="1371600"/>
          </a:xfrm>
          <a:prstGeom prst="roundRect">
            <a:avLst>
              <a:gd name="adj" fmla="val 6000"/>
            </a:avLst>
          </a:prstGeom>
          <a:solidFill>
            <a:srgbClr val="FFFFFF"/>
          </a:solidFill>
          <a:ln w="19050">
            <a:solidFill>
              <a:srgbClr val="148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040880" y="4389120"/>
            <a:ext cx="4206240" cy="365760"/>
          </a:xfrm>
          <a:prstGeom prst="roundRect">
            <a:avLst>
              <a:gd name="adj" fmla="val 6000"/>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223760" y="4892040"/>
            <a:ext cx="3840480" cy="128016"/>
          </a:xfrm>
          <a:prstGeom prst="rect">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223760" y="5184648"/>
            <a:ext cx="3840480" cy="128016"/>
          </a:xfrm>
          <a:prstGeom prst="rect">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23760" y="5477255"/>
            <a:ext cx="3840480" cy="128016"/>
          </a:xfrm>
          <a:prstGeom prst="rect">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0" y="4389120"/>
            <a:ext cx="420624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300" b="1" i="0">
                <a:solidFill>
                  <a:srgbClr val="FFFFFF"/>
                </a:solidFill>
                <a:latin typeface="Calibri"/>
              </a:rPr>
              <a:t>One organized synthesis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48682"/>
                </a:solidFill>
                <a:latin typeface="Calibri"/>
              </a:rPr>
              <a:t>PART 2 · SYNTHESIZING LITERATURE — COMPETENCY 12</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Summarizing vs. Synthesizing Literature</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8</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2 · Competency 12</a:t>
            </a:r>
          </a:p>
        </p:txBody>
      </p:sp>
      <p:graphicFrame>
        <p:nvGraphicFramePr>
          <p:cNvPr id="11" name="Table 10"/>
          <p:cNvGraphicFramePr>
            <a:graphicFrameLocks noGrp="1"/>
          </p:cNvGraphicFramePr>
          <p:nvPr/>
        </p:nvGraphicFramePr>
        <p:xfrm>
          <a:off x="822960" y="1874519"/>
          <a:ext cx="10515600" cy="3703320"/>
        </p:xfrm>
        <a:graphic>
          <a:graphicData uri="http://schemas.openxmlformats.org/drawingml/2006/table">
            <a:tbl>
              <a:tblPr>
                <a:tableStyleId>{5C22544A-7EE6-4342-B048-85BDC9FD1C3A}</a:tableStyleId>
              </a:tblPr>
              <a:tblGrid>
                <a:gridCol w="1828800"/>
                <a:gridCol w="3794760"/>
                <a:gridCol w="4892040"/>
              </a:tblGrid>
              <a:tr h="548640">
                <a:tc>
                  <a:txBody>
                    <a:bodyPr wrap="square"/>
                    <a:lstStyle/>
                    <a:p>
                      <a:pPr algn="l">
                        <a:lnSpc>
                          <a:spcPct val="102000"/>
                        </a:lnSpc>
                        <a:spcBef>
                          <a:spcPts val="0"/>
                        </a:spcBef>
                        <a:spcAft>
                          <a:spcPts val="200"/>
                        </a:spcAft>
                      </a:pPr>
                      <a:r>
                        <a:rPr sz="1400" b="0" i="0">
                          <a:solidFill>
                            <a:srgbClr val="112B34"/>
                          </a:solidFill>
                          <a:latin typeface="Calibri"/>
                        </a:rPr>
                        <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500" b="1" i="1">
                          <a:solidFill>
                            <a:srgbClr val="FFFFFF"/>
                          </a:solidFill>
                          <a:latin typeface="Calibri"/>
                        </a:rPr>
                        <a:t>Summarizing</a:t>
                      </a:r>
                    </a:p>
                  </a:txBody>
                  <a:tcPr marL="109728" marR="91440" marT="45720" marB="45720" anchor="ctr">
                    <a:solidFill>
                      <a:srgbClr val="5C747D"/>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500" b="1" i="1">
                          <a:solidFill>
                            <a:srgbClr val="FFFFFF"/>
                          </a:solidFill>
                          <a:latin typeface="Calibri"/>
                        </a:rPr>
                        <a:t>Synthesizing</a:t>
                      </a:r>
                    </a:p>
                  </a:txBody>
                  <a:tcPr marL="109728" marR="91440" marT="45720" marB="45720" anchor="ctr">
                    <a:solidFill>
                      <a:srgbClr val="148682"/>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051560">
                <a:tc>
                  <a:txBody>
                    <a:bodyPr wrap="square"/>
                    <a:lstStyle/>
                    <a:p>
                      <a:pPr algn="l">
                        <a:lnSpc>
                          <a:spcPct val="102000"/>
                        </a:lnSpc>
                        <a:spcBef>
                          <a:spcPts val="0"/>
                        </a:spcBef>
                        <a:spcAft>
                          <a:spcPts val="200"/>
                        </a:spcAft>
                      </a:pPr>
                      <a:r>
                        <a:rPr sz="1400" b="1" i="0">
                          <a:solidFill>
                            <a:srgbClr val="083D54"/>
                          </a:solidFill>
                          <a:latin typeface="Calibri"/>
                        </a:rPr>
                        <a:t>Focus</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500" b="0" i="0">
                          <a:solidFill>
                            <a:srgbClr val="112B34"/>
                          </a:solidFill>
                          <a:latin typeface="Calibri"/>
                        </a:rPr>
                        <a:t>One source at a time</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500" b="0" i="0">
                          <a:solidFill>
                            <a:srgbClr val="112B34"/>
                          </a:solidFill>
                          <a:latin typeface="Calibri"/>
                        </a:rPr>
                        <a:t>Multiple sources compared together</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051560">
                <a:tc>
                  <a:txBody>
                    <a:bodyPr wrap="square"/>
                    <a:lstStyle/>
                    <a:p>
                      <a:pPr algn="l">
                        <a:lnSpc>
                          <a:spcPct val="102000"/>
                        </a:lnSpc>
                        <a:spcBef>
                          <a:spcPts val="0"/>
                        </a:spcBef>
                        <a:spcAft>
                          <a:spcPts val="200"/>
                        </a:spcAft>
                      </a:pPr>
                      <a:r>
                        <a:rPr sz="1400" b="1" i="0">
                          <a:solidFill>
                            <a:srgbClr val="083D54"/>
                          </a:solidFill>
                          <a:latin typeface="Calibri"/>
                        </a:rPr>
                        <a:t>Output</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500" b="0" i="0">
                          <a:solidFill>
                            <a:srgbClr val="112B34"/>
                          </a:solidFill>
                          <a:latin typeface="Calibri"/>
                        </a:rPr>
                        <a:t>“Study A found X. Study B found Y.”</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500" b="0" i="0">
                          <a:solidFill>
                            <a:srgbClr val="112B34"/>
                          </a:solidFill>
                          <a:latin typeface="Calibri"/>
                        </a:rPr>
                        <a:t>“Several studies found X, but none examined Y in this context.”</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051560">
                <a:tc>
                  <a:txBody>
                    <a:bodyPr wrap="square"/>
                    <a:lstStyle/>
                    <a:p>
                      <a:pPr algn="l">
                        <a:lnSpc>
                          <a:spcPct val="102000"/>
                        </a:lnSpc>
                        <a:spcBef>
                          <a:spcPts val="0"/>
                        </a:spcBef>
                        <a:spcAft>
                          <a:spcPts val="200"/>
                        </a:spcAft>
                      </a:pPr>
                      <a:r>
                        <a:rPr sz="1400" b="1" i="0">
                          <a:solidFill>
                            <a:srgbClr val="083D54"/>
                          </a:solidFill>
                          <a:latin typeface="Calibri"/>
                        </a:rPr>
                        <a:t>Purpose</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500" b="0" i="0">
                          <a:solidFill>
                            <a:srgbClr val="112B34"/>
                          </a:solidFill>
                          <a:latin typeface="Calibri"/>
                        </a:rPr>
                        <a:t>Shows you understood each study</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500" b="0" i="0">
                          <a:solidFill>
                            <a:srgbClr val="112B34"/>
                          </a:solidFill>
                          <a:latin typeface="Calibri"/>
                        </a:rPr>
                        <a:t>Shows how the studies relate — where they agree, disagree, or leave something unexamined</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48682"/>
                </a:solidFill>
                <a:latin typeface="Calibri"/>
              </a:rPr>
              <a:t>PART 2 · SYNTHESIZING LITERATURE — COMPETENCY 12</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Tools for Synthesizing Literature</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ounded Rectangle 6"/>
          <p:cNvSpPr/>
          <p:nvPr/>
        </p:nvSpPr>
        <p:spPr>
          <a:xfrm>
            <a:off x="8603590"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8" name="Rectangle 7"/>
          <p:cNvSpPr/>
          <p:nvPr/>
        </p:nvSpPr>
        <p:spPr>
          <a:xfrm>
            <a:off x="566928" y="1389888"/>
            <a:ext cx="2834640" cy="41148"/>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9</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2 · Competency 12</a:t>
            </a:r>
          </a:p>
        </p:txBody>
      </p:sp>
      <p:sp>
        <p:nvSpPr>
          <p:cNvPr id="12" name="Rounded Rectangle 11"/>
          <p:cNvSpPr/>
          <p:nvPr/>
        </p:nvSpPr>
        <p:spPr>
          <a:xfrm>
            <a:off x="566928" y="1783080"/>
            <a:ext cx="5074920" cy="3246120"/>
          </a:xfrm>
          <a:prstGeom prst="roundRect">
            <a:avLst>
              <a:gd name="adj" fmla="val 5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1783080"/>
            <a:ext cx="5074920" cy="640080"/>
          </a:xfrm>
          <a:prstGeom prst="roundRect">
            <a:avLst>
              <a:gd name="adj" fmla="val 5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810512"/>
            <a:ext cx="4663440" cy="585216"/>
          </a:xfrm>
          <a:prstGeom prst="rect">
            <a:avLst/>
          </a:prstGeom>
          <a:noFill/>
        </p:spPr>
        <p:txBody>
          <a:bodyPr wrap="square" anchor="ctr" lIns="0" rIns="0" tIns="0" bIns="0">
            <a:noAutofit/>
          </a:bodyPr>
          <a:lstStyle/>
          <a:p>
            <a:pPr algn="l">
              <a:lnSpc>
                <a:spcPct val="95000"/>
              </a:lnSpc>
              <a:spcBef>
                <a:spcPts val="0"/>
              </a:spcBef>
              <a:spcAft>
                <a:spcPts val="600"/>
              </a:spcAft>
            </a:pPr>
            <a:r>
              <a:rPr sz="1150" b="1" i="0">
                <a:solidFill>
                  <a:srgbClr val="FFE1D8"/>
                </a:solidFill>
                <a:latin typeface="Calibri"/>
              </a:rPr>
              <a:t>Starting tool</a:t>
            </a:r>
          </a:p>
          <a:p>
            <a:pPr algn="l">
              <a:lnSpc>
                <a:spcPct val="95000"/>
              </a:lnSpc>
              <a:spcBef>
                <a:spcPts val="0"/>
              </a:spcBef>
              <a:spcAft>
                <a:spcPts val="600"/>
              </a:spcAft>
            </a:pPr>
            <a:r>
              <a:rPr sz="1800" b="1" i="0">
                <a:solidFill>
                  <a:srgbClr val="FFFFFF"/>
                </a:solidFill>
                <a:latin typeface="Calibri"/>
              </a:rPr>
              <a:t>Synthesis matrix</a:t>
            </a:r>
          </a:p>
        </p:txBody>
      </p:sp>
      <p:sp>
        <p:nvSpPr>
          <p:cNvPr id="15" name="Rounded Rectangle 14"/>
          <p:cNvSpPr/>
          <p:nvPr/>
        </p:nvSpPr>
        <p:spPr>
          <a:xfrm>
            <a:off x="4343400" y="1874519"/>
            <a:ext cx="1188720" cy="274320"/>
          </a:xfrm>
          <a:prstGeom prst="roundRect">
            <a:avLst>
              <a:gd name="adj" fmla="val 50000"/>
            </a:avLst>
          </a:prstGeom>
          <a:solidFill>
            <a:srgbClr val="C9533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50" b="1" i="0">
                <a:solidFill>
                  <a:srgbClr val="FFFFFF"/>
                </a:solidFill>
                <a:latin typeface="Calibri"/>
              </a:rPr>
              <a:t>INSTRUCTOR</a:t>
            </a:r>
          </a:p>
        </p:txBody>
      </p:sp>
      <p:sp>
        <p:nvSpPr>
          <p:cNvPr id="16" name="TextBox 15"/>
          <p:cNvSpPr txBox="1"/>
          <p:nvPr/>
        </p:nvSpPr>
        <p:spPr>
          <a:xfrm>
            <a:off x="822960" y="2606040"/>
            <a:ext cx="4572000" cy="685800"/>
          </a:xfrm>
          <a:prstGeom prst="rect">
            <a:avLst/>
          </a:prstGeom>
          <a:noFill/>
        </p:spPr>
        <p:txBody>
          <a:bodyPr wrap="square" anchor="t" lIns="0" rIns="0" tIns="0" bIns="0">
            <a:noAutofit/>
          </a:bodyPr>
          <a:lstStyle/>
          <a:p>
            <a:pPr algn="l">
              <a:lnSpc>
                <a:spcPct val="105000"/>
              </a:lnSpc>
              <a:spcBef>
                <a:spcPts val="0"/>
              </a:spcBef>
              <a:spcAft>
                <a:spcPts val="600"/>
              </a:spcAft>
            </a:pPr>
            <a:r>
              <a:rPr sz="1350" b="0" i="0">
                <a:solidFill>
                  <a:srgbClr val="112B34"/>
                </a:solidFill>
                <a:latin typeface="Calibri"/>
              </a:rPr>
              <a:t>One row per source × columns for Key Finding, Method, and Theme/Gap Noted.</a:t>
            </a:r>
          </a:p>
        </p:txBody>
      </p:sp>
      <p:graphicFrame>
        <p:nvGraphicFramePr>
          <p:cNvPr id="17" name="Table 16"/>
          <p:cNvGraphicFramePr>
            <a:graphicFrameLocks noGrp="1"/>
          </p:cNvGraphicFramePr>
          <p:nvPr/>
        </p:nvGraphicFramePr>
        <p:xfrm>
          <a:off x="822960" y="3429000"/>
          <a:ext cx="4526280" cy="1115568"/>
        </p:xfrm>
        <a:graphic>
          <a:graphicData uri="http://schemas.openxmlformats.org/drawingml/2006/table">
            <a:tbl>
              <a:tblPr>
                <a:tableStyleId>{5C22544A-7EE6-4342-B048-85BDC9FD1C3A}</a:tableStyleId>
              </a:tblPr>
              <a:tblGrid>
                <a:gridCol w="1234440"/>
                <a:gridCol w="1828800"/>
                <a:gridCol w="1463040"/>
              </a:tblGrid>
              <a:tr h="384048">
                <a:tc>
                  <a:txBody>
                    <a:bodyPr wrap="square"/>
                    <a:lstStyle/>
                    <a:p>
                      <a:pPr algn="l">
                        <a:lnSpc>
                          <a:spcPct val="102000"/>
                        </a:lnSpc>
                        <a:spcBef>
                          <a:spcPts val="0"/>
                        </a:spcBef>
                        <a:spcAft>
                          <a:spcPts val="100"/>
                        </a:spcAft>
                      </a:pPr>
                      <a:r>
                        <a:rPr sz="1100" b="1" i="0">
                          <a:solidFill>
                            <a:srgbClr val="FFFFFF"/>
                          </a:solidFill>
                          <a:latin typeface="Calibri"/>
                        </a:rPr>
                        <a:t>Source</a:t>
                      </a:r>
                    </a:p>
                  </a:txBody>
                  <a:tcPr marL="109728" marR="91440" marT="45720" marB="45720" anchor="ctr">
                    <a:solidFill>
                      <a:srgbClr val="E86F51"/>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100" b="1" i="0">
                          <a:solidFill>
                            <a:srgbClr val="FFFFFF"/>
                          </a:solidFill>
                          <a:latin typeface="Calibri"/>
                        </a:rPr>
                        <a:t>Finding</a:t>
                      </a:r>
                    </a:p>
                  </a:txBody>
                  <a:tcPr marL="109728" marR="91440" marT="45720" marB="45720" anchor="ctr">
                    <a:solidFill>
                      <a:srgbClr val="E86F51"/>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100" b="1" i="0">
                          <a:solidFill>
                            <a:srgbClr val="FFFFFF"/>
                          </a:solidFill>
                          <a:latin typeface="Calibri"/>
                        </a:rPr>
                        <a:t>Gap</a:t>
                      </a:r>
                    </a:p>
                  </a:txBody>
                  <a:tcPr marL="109728" marR="91440" marT="45720" marB="45720" anchor="ctr">
                    <a:solidFill>
                      <a:srgbClr val="E86F51"/>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365760">
                <a:tc>
                  <a:txBody>
                    <a:bodyPr wrap="square"/>
                    <a:lstStyle/>
                    <a:p>
                      <a:pPr algn="l">
                        <a:lnSpc>
                          <a:spcPct val="102000"/>
                        </a:lnSpc>
                        <a:spcBef>
                          <a:spcPts val="0"/>
                        </a:spcBef>
                        <a:spcAft>
                          <a:spcPts val="100"/>
                        </a:spcAft>
                      </a:pPr>
                      <a:r>
                        <a:rPr sz="1100" b="0" i="0">
                          <a:solidFill>
                            <a:srgbClr val="112B34"/>
                          </a:solidFill>
                          <a:latin typeface="Calibri"/>
                        </a:rPr>
                        <a:t>A</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100" b="0" i="0">
                          <a:solidFill>
                            <a:srgbClr val="112B34"/>
                          </a:solidFill>
                          <a:latin typeface="Calibri"/>
                        </a:rPr>
                        <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100" b="0" i="0">
                          <a:solidFill>
                            <a:srgbClr val="112B34"/>
                          </a:solidFill>
                          <a:latin typeface="Calibri"/>
                        </a:rPr>
                        <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365760">
                <a:tc>
                  <a:txBody>
                    <a:bodyPr wrap="square"/>
                    <a:lstStyle/>
                    <a:p>
                      <a:pPr algn="l">
                        <a:lnSpc>
                          <a:spcPct val="102000"/>
                        </a:lnSpc>
                        <a:spcBef>
                          <a:spcPts val="0"/>
                        </a:spcBef>
                        <a:spcAft>
                          <a:spcPts val="100"/>
                        </a:spcAft>
                      </a:pPr>
                      <a:r>
                        <a:rPr sz="1100" b="0" i="0">
                          <a:solidFill>
                            <a:srgbClr val="112B34"/>
                          </a:solidFill>
                          <a:latin typeface="Calibri"/>
                        </a:rPr>
                        <a:t>B</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100" b="0" i="0">
                          <a:solidFill>
                            <a:srgbClr val="112B34"/>
                          </a:solidFill>
                          <a:latin typeface="Calibri"/>
                        </a:rPr>
                        <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100" b="0" i="0">
                          <a:solidFill>
                            <a:srgbClr val="112B34"/>
                          </a:solidFill>
                          <a:latin typeface="Calibri"/>
                        </a:rPr>
                        <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
        <p:nvSpPr>
          <p:cNvPr id="18" name="Rounded Rectangle 17"/>
          <p:cNvSpPr/>
          <p:nvPr/>
        </p:nvSpPr>
        <p:spPr>
          <a:xfrm>
            <a:off x="6199632" y="1783080"/>
            <a:ext cx="5422392" cy="3246120"/>
          </a:xfrm>
          <a:prstGeom prst="roundRect">
            <a:avLst>
              <a:gd name="adj" fmla="val 5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99632" y="1783080"/>
            <a:ext cx="5422392" cy="640080"/>
          </a:xfrm>
          <a:prstGeom prst="roundRect">
            <a:avLst>
              <a:gd name="adj" fmla="val 5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810512"/>
            <a:ext cx="4846320" cy="585216"/>
          </a:xfrm>
          <a:prstGeom prst="rect">
            <a:avLst/>
          </a:prstGeom>
          <a:noFill/>
        </p:spPr>
        <p:txBody>
          <a:bodyPr wrap="square" anchor="ctr" lIns="0" rIns="0" tIns="0" bIns="0">
            <a:noAutofit/>
          </a:bodyPr>
          <a:lstStyle/>
          <a:p>
            <a:pPr algn="l">
              <a:lnSpc>
                <a:spcPct val="95000"/>
              </a:lnSpc>
              <a:spcBef>
                <a:spcPts val="0"/>
              </a:spcBef>
              <a:spcAft>
                <a:spcPts val="600"/>
              </a:spcAft>
            </a:pPr>
            <a:r>
              <a:rPr sz="1150" b="1" i="0">
                <a:solidFill>
                  <a:srgbClr val="CFE8E6"/>
                </a:solidFill>
                <a:latin typeface="Calibri"/>
              </a:rPr>
              <a:t>Next-level tool</a:t>
            </a:r>
          </a:p>
          <a:p>
            <a:pPr algn="l">
              <a:lnSpc>
                <a:spcPct val="95000"/>
              </a:lnSpc>
              <a:spcBef>
                <a:spcPts val="0"/>
              </a:spcBef>
              <a:spcAft>
                <a:spcPts val="600"/>
              </a:spcAft>
            </a:pPr>
            <a:r>
              <a:rPr sz="1800" b="1" i="0">
                <a:solidFill>
                  <a:srgbClr val="FFFFFF"/>
                </a:solidFill>
                <a:latin typeface="Calibri"/>
              </a:rPr>
              <a:t>Literature map</a:t>
            </a:r>
          </a:p>
        </p:txBody>
      </p:sp>
      <p:sp>
        <p:nvSpPr>
          <p:cNvPr id="21" name="Rounded Rectangle 20"/>
          <p:cNvSpPr/>
          <p:nvPr/>
        </p:nvSpPr>
        <p:spPr>
          <a:xfrm>
            <a:off x="10287000" y="1874519"/>
            <a:ext cx="1188720" cy="274320"/>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50" b="1" i="0">
                <a:solidFill>
                  <a:srgbClr val="FFFFFF"/>
                </a:solidFill>
                <a:latin typeface="Calibri"/>
              </a:rPr>
              <a:t>TEXTBOOK</a:t>
            </a:r>
          </a:p>
        </p:txBody>
      </p:sp>
      <p:sp>
        <p:nvSpPr>
          <p:cNvPr id="22" name="TextBox 21"/>
          <p:cNvSpPr txBox="1"/>
          <p:nvPr/>
        </p:nvSpPr>
        <p:spPr>
          <a:xfrm>
            <a:off x="6446520" y="2606040"/>
            <a:ext cx="4937760" cy="457200"/>
          </a:xfrm>
          <a:prstGeom prst="rect">
            <a:avLst/>
          </a:prstGeom>
          <a:noFill/>
        </p:spPr>
        <p:txBody>
          <a:bodyPr wrap="square" anchor="t" lIns="0" rIns="0" tIns="0" bIns="0">
            <a:noAutofit/>
          </a:bodyPr>
          <a:lstStyle/>
          <a:p>
            <a:pPr algn="l">
              <a:lnSpc>
                <a:spcPct val="105000"/>
              </a:lnSpc>
              <a:spcBef>
                <a:spcPts val="0"/>
              </a:spcBef>
              <a:spcAft>
                <a:spcPts val="600"/>
              </a:spcAft>
            </a:pPr>
            <a:r>
              <a:rPr sz="1350" b="0" i="0">
                <a:solidFill>
                  <a:srgbClr val="112B34"/>
                </a:solidFill>
                <a:latin typeface="Calibri"/>
              </a:rPr>
              <a:t>Groups sources into categories and shows where the proposed study fits.</a:t>
            </a:r>
          </a:p>
        </p:txBody>
      </p:sp>
      <p:sp>
        <p:nvSpPr>
          <p:cNvPr id="23" name="Rounded Rectangle 22"/>
          <p:cNvSpPr/>
          <p:nvPr/>
        </p:nvSpPr>
        <p:spPr>
          <a:xfrm>
            <a:off x="8366760" y="3337560"/>
            <a:ext cx="1371600" cy="384048"/>
          </a:xfrm>
          <a:prstGeom prst="roundRect">
            <a:avLst>
              <a:gd name="adj" fmla="val 2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Topic</a:t>
            </a:r>
          </a:p>
        </p:txBody>
      </p:sp>
      <p:sp>
        <p:nvSpPr>
          <p:cNvPr id="24" name="Rounded Rectangle 23"/>
          <p:cNvSpPr/>
          <p:nvPr/>
        </p:nvSpPr>
        <p:spPr>
          <a:xfrm>
            <a:off x="6537960" y="4160520"/>
            <a:ext cx="1417320" cy="384048"/>
          </a:xfrm>
          <a:prstGeom prst="roundRect">
            <a:avLst>
              <a:gd name="adj" fmla="val 2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i="0">
                <a:solidFill>
                  <a:srgbClr val="FFFFFF"/>
                </a:solidFill>
                <a:latin typeface="Calibri"/>
              </a:rPr>
              <a:t>Known</a:t>
            </a:r>
          </a:p>
        </p:txBody>
      </p:sp>
      <p:sp>
        <p:nvSpPr>
          <p:cNvPr id="25" name="Rectangle 24"/>
          <p:cNvSpPr/>
          <p:nvPr/>
        </p:nvSpPr>
        <p:spPr>
          <a:xfrm>
            <a:off x="7242048" y="3721608"/>
            <a:ext cx="18288" cy="438912"/>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38160" y="4160520"/>
            <a:ext cx="1417320" cy="384048"/>
          </a:xfrm>
          <a:prstGeom prst="roundRect">
            <a:avLst>
              <a:gd name="adj" fmla="val 2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i="0">
                <a:solidFill>
                  <a:srgbClr val="FFFFFF"/>
                </a:solidFill>
                <a:latin typeface="Calibri"/>
              </a:rPr>
              <a:t>Known</a:t>
            </a:r>
          </a:p>
        </p:txBody>
      </p:sp>
      <p:sp>
        <p:nvSpPr>
          <p:cNvPr id="27" name="Rectangle 26"/>
          <p:cNvSpPr/>
          <p:nvPr/>
        </p:nvSpPr>
        <p:spPr>
          <a:xfrm>
            <a:off x="8842248" y="3721608"/>
            <a:ext cx="18288" cy="438912"/>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738360" y="4160520"/>
            <a:ext cx="1417320" cy="384048"/>
          </a:xfrm>
          <a:prstGeom prst="roundRect">
            <a:avLst>
              <a:gd name="adj" fmla="val 2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50" b="1" i="0">
                <a:solidFill>
                  <a:srgbClr val="FFFFFF"/>
                </a:solidFill>
                <a:latin typeface="Calibri"/>
              </a:rPr>
              <a:t>Your study</a:t>
            </a:r>
          </a:p>
        </p:txBody>
      </p:sp>
      <p:sp>
        <p:nvSpPr>
          <p:cNvPr id="29" name="Rectangle 28"/>
          <p:cNvSpPr/>
          <p:nvPr/>
        </p:nvSpPr>
        <p:spPr>
          <a:xfrm>
            <a:off x="10442448" y="3721608"/>
            <a:ext cx="18288" cy="438912"/>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23760" y="3913632"/>
            <a:ext cx="3227832"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66928" y="5230368"/>
            <a:ext cx="11055096" cy="932688"/>
          </a:xfrm>
          <a:prstGeom prst="roundRect">
            <a:avLst>
              <a:gd name="adj" fmla="val 10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230368"/>
            <a:ext cx="10424160" cy="932688"/>
          </a:xfrm>
          <a:prstGeom prst="rect">
            <a:avLst/>
          </a:prstGeom>
          <a:noFill/>
        </p:spPr>
        <p:txBody>
          <a:bodyPr wrap="square" anchor="ctr" lIns="0" rIns="0" tIns="0" bIns="0">
            <a:noAutofit/>
          </a:bodyPr>
          <a:lstStyle/>
          <a:p>
            <a:pPr algn="l">
              <a:lnSpc>
                <a:spcPct val="105000"/>
              </a:lnSpc>
              <a:spcBef>
                <a:spcPts val="0"/>
              </a:spcBef>
              <a:spcAft>
                <a:spcPts val="600"/>
              </a:spcAft>
            </a:pPr>
            <a:r>
              <a:rPr sz="1500" b="1" i="0">
                <a:solidFill>
                  <a:srgbClr val="1F8A8A"/>
                </a:solidFill>
                <a:latin typeface="Calibri"/>
              </a:rPr>
              <a:t>Both tools do the same job: </a:t>
            </a:r>
            <a:r>
              <a:rPr sz="1500" b="0" i="0">
                <a:solidFill>
                  <a:srgbClr val="112B34"/>
                </a:solidFill>
                <a:latin typeface="Calibri"/>
              </a:rPr>
              <a:t>turn a stack of readings into a picture of </a:t>
            </a:r>
            <a:r>
              <a:rPr sz="1500" b="1" i="1">
                <a:solidFill>
                  <a:srgbClr val="112B34"/>
                </a:solidFill>
                <a:latin typeface="Calibri"/>
              </a:rPr>
              <a:t>what’s already known</a:t>
            </a:r>
            <a:r>
              <a:rPr sz="1500" b="0" i="0">
                <a:solidFill>
                  <a:srgbClr val="112B34"/>
                </a:solidFill>
                <a:latin typeface="Calibri"/>
              </a:rPr>
              <a:t> and </a:t>
            </a:r>
            <a:r>
              <a:rPr sz="1500" b="1" i="1">
                <a:solidFill>
                  <a:srgbClr val="112B34"/>
                </a:solidFill>
                <a:latin typeface="Calibri"/>
              </a:rPr>
              <a:t>what isn’t yet.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48682"/>
                </a:solidFill>
                <a:latin typeface="Calibri"/>
              </a:rPr>
              <a:t>PART 2 · SYNTHESIZING LITERATURE — COMPETENCY 12</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A Synthesis Matrix in Action</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10</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2 · Competency 12</a:t>
            </a:r>
          </a:p>
        </p:txBody>
      </p:sp>
      <p:graphicFrame>
        <p:nvGraphicFramePr>
          <p:cNvPr id="11" name="Table 10"/>
          <p:cNvGraphicFramePr>
            <a:graphicFrameLocks noGrp="1"/>
          </p:cNvGraphicFramePr>
          <p:nvPr/>
        </p:nvGraphicFramePr>
        <p:xfrm>
          <a:off x="566928" y="1783080"/>
          <a:ext cx="11055095" cy="3474720"/>
        </p:xfrm>
        <a:graphic>
          <a:graphicData uri="http://schemas.openxmlformats.org/drawingml/2006/table">
            <a:tbl>
              <a:tblPr>
                <a:tableStyleId>{5C22544A-7EE6-4342-B048-85BDC9FD1C3A}</a:tableStyleId>
              </a:tblPr>
              <a:tblGrid>
                <a:gridCol w="1965960"/>
                <a:gridCol w="3977639"/>
                <a:gridCol w="1691640"/>
                <a:gridCol w="3419856"/>
              </a:tblGrid>
              <a:tr h="475488">
                <a:tc>
                  <a:txBody>
                    <a:bodyPr wrap="square"/>
                    <a:lstStyle/>
                    <a:p>
                      <a:pPr algn="l">
                        <a:lnSpc>
                          <a:spcPct val="102000"/>
                        </a:lnSpc>
                        <a:spcBef>
                          <a:spcPts val="0"/>
                        </a:spcBef>
                        <a:spcAft>
                          <a:spcPts val="100"/>
                        </a:spcAft>
                      </a:pPr>
                      <a:r>
                        <a:rPr sz="1300" b="1" i="0">
                          <a:solidFill>
                            <a:srgbClr val="FFFFFF"/>
                          </a:solidFill>
                          <a:latin typeface="Calibri"/>
                        </a:rPr>
                        <a:t>Source</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00" b="1" i="0">
                          <a:solidFill>
                            <a:srgbClr val="FFFFFF"/>
                          </a:solidFill>
                          <a:latin typeface="Calibri"/>
                        </a:rPr>
                        <a:t>Key Finding</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00" b="1" i="0">
                          <a:solidFill>
                            <a:srgbClr val="FFFFFF"/>
                          </a:solidFill>
                          <a:latin typeface="Calibri"/>
                        </a:rPr>
                        <a:t>Method</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00" b="1" i="0">
                          <a:solidFill>
                            <a:srgbClr val="FFFFFF"/>
                          </a:solidFill>
                          <a:latin typeface="Calibri"/>
                        </a:rPr>
                        <a:t>Theme / Gap Noted</a:t>
                      </a:r>
                    </a:p>
                  </a:txBody>
                  <a:tcPr marL="109728" marR="91440" marT="45720" marB="45720" anchor="ctr">
                    <a:solidFill>
                      <a:srgbClr val="E86F51"/>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49808">
                <a:tc>
                  <a:txBody>
                    <a:bodyPr wrap="square"/>
                    <a:lstStyle/>
                    <a:p>
                      <a:pPr algn="l">
                        <a:lnSpc>
                          <a:spcPct val="102000"/>
                        </a:lnSpc>
                        <a:spcBef>
                          <a:spcPts val="0"/>
                        </a:spcBef>
                        <a:spcAft>
                          <a:spcPts val="100"/>
                        </a:spcAft>
                      </a:pPr>
                      <a:r>
                        <a:rPr sz="1250" b="1" i="0">
                          <a:solidFill>
                            <a:srgbClr val="112B34"/>
                          </a:solidFill>
                          <a:latin typeface="Calibri"/>
                        </a:rPr>
                        <a:t>Journal Article A</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Coastal households under-segregate plastic waste</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Survey</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Focuses on urban, not coastal, communities</a:t>
                      </a:r>
                    </a:p>
                  </a:txBody>
                  <a:tcPr marL="109728" marR="91440" marT="45720" marB="45720" anchor="ctr">
                    <a:solidFill>
                      <a:srgbClr val="FBF2DD"/>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49808">
                <a:tc>
                  <a:txBody>
                    <a:bodyPr wrap="square"/>
                    <a:lstStyle/>
                    <a:p>
                      <a:pPr algn="l">
                        <a:lnSpc>
                          <a:spcPct val="102000"/>
                        </a:lnSpc>
                        <a:spcBef>
                          <a:spcPts val="0"/>
                        </a:spcBef>
                        <a:spcAft>
                          <a:spcPts val="100"/>
                        </a:spcAft>
                      </a:pPr>
                      <a:r>
                        <a:rPr sz="1250" b="1" i="0">
                          <a:solidFill>
                            <a:srgbClr val="112B34"/>
                          </a:solidFill>
                          <a:latin typeface="Calibri"/>
                        </a:rPr>
                        <a:t>Journal Article B</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Peer influence affects waste-sorting behavior in schools</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Interviews</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Studies youth, not adult household behavior</a:t>
                      </a:r>
                    </a:p>
                  </a:txBody>
                  <a:tcPr marL="109728" marR="91440" marT="45720" marB="45720" anchor="ctr">
                    <a:solidFill>
                      <a:srgbClr val="FBF2DD"/>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49808">
                <a:tc>
                  <a:txBody>
                    <a:bodyPr wrap="square"/>
                    <a:lstStyle/>
                    <a:p>
                      <a:pPr algn="l">
                        <a:lnSpc>
                          <a:spcPct val="102000"/>
                        </a:lnSpc>
                        <a:spcBef>
                          <a:spcPts val="0"/>
                        </a:spcBef>
                        <a:spcAft>
                          <a:spcPts val="100"/>
                        </a:spcAft>
                      </a:pPr>
                      <a:r>
                        <a:rPr sz="1250" b="1" i="0">
                          <a:solidFill>
                            <a:srgbClr val="112B34"/>
                          </a:solidFill>
                          <a:latin typeface="Calibri"/>
                        </a:rPr>
                        <a:t>Government Report C</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Coastal barangays report high volumes of uncollected plastic</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Waste audit data</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Reports volume, not why segregation fails</a:t>
                      </a:r>
                    </a:p>
                  </a:txBody>
                  <a:tcPr marL="109728" marR="91440" marT="45720" marB="45720" anchor="ctr">
                    <a:solidFill>
                      <a:srgbClr val="FBF2DD"/>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49808">
                <a:tc>
                  <a:txBody>
                    <a:bodyPr wrap="square"/>
                    <a:lstStyle/>
                    <a:p>
                      <a:pPr algn="l">
                        <a:lnSpc>
                          <a:spcPct val="102000"/>
                        </a:lnSpc>
                        <a:spcBef>
                          <a:spcPts val="0"/>
                        </a:spcBef>
                        <a:spcAft>
                          <a:spcPts val="100"/>
                        </a:spcAft>
                      </a:pPr>
                      <a:r>
                        <a:rPr sz="1250" b="1" i="0">
                          <a:solidFill>
                            <a:srgbClr val="112B34"/>
                          </a:solidFill>
                          <a:latin typeface="Calibri"/>
                        </a:rPr>
                        <a:t>Journal Article D</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Community education programs increase recycling participation</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Quasi-experiment</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250" b="0" i="0">
                          <a:solidFill>
                            <a:srgbClr val="112B34"/>
                          </a:solidFill>
                          <a:latin typeface="Calibri"/>
                        </a:rPr>
                        <a:t>Tested in urban, not coastal, settings</a:t>
                      </a:r>
                    </a:p>
                  </a:txBody>
                  <a:tcPr marL="109728" marR="91440" marT="45720" marB="45720" anchor="ctr">
                    <a:solidFill>
                      <a:srgbClr val="FBF2DD"/>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
        <p:nvSpPr>
          <p:cNvPr id="12" name="Rounded Rectangle 11"/>
          <p:cNvSpPr/>
          <p:nvPr/>
        </p:nvSpPr>
        <p:spPr>
          <a:xfrm>
            <a:off x="566928" y="5440680"/>
            <a:ext cx="11055096" cy="713232"/>
          </a:xfrm>
          <a:prstGeom prst="roundRect">
            <a:avLst>
              <a:gd name="adj" fmla="val 10000"/>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440680"/>
            <a:ext cx="10424160" cy="713232"/>
          </a:xfrm>
          <a:prstGeom prst="rect">
            <a:avLst/>
          </a:prstGeom>
          <a:noFill/>
        </p:spPr>
        <p:txBody>
          <a:bodyPr wrap="square" anchor="ctr" lIns="0" rIns="0" tIns="0" bIns="0">
            <a:noAutofit/>
          </a:bodyPr>
          <a:lstStyle/>
          <a:p>
            <a:pPr algn="l">
              <a:lnSpc>
                <a:spcPct val="103000"/>
              </a:lnSpc>
              <a:spcBef>
                <a:spcPts val="0"/>
              </a:spcBef>
              <a:spcAft>
                <a:spcPts val="600"/>
              </a:spcAft>
            </a:pPr>
            <a:r>
              <a:rPr sz="1400" b="1" i="0">
                <a:solidFill>
                  <a:srgbClr val="C95338"/>
                </a:solidFill>
                <a:latin typeface="Calibri"/>
              </a:rPr>
              <a:t>Read down each row, then across: </a:t>
            </a:r>
            <a:r>
              <a:rPr sz="1400" b="0" i="0">
                <a:solidFill>
                  <a:srgbClr val="112B34"/>
                </a:solidFill>
                <a:latin typeface="Calibri"/>
              </a:rPr>
              <a:t>no single source answers </a:t>
            </a:r>
            <a:r>
              <a:rPr sz="1400" b="0" i="1">
                <a:solidFill>
                  <a:srgbClr val="112B34"/>
                </a:solidFill>
                <a:latin typeface="Calibri"/>
              </a:rPr>
              <a:t>why segregation fails in coastal barangay households</a:t>
            </a:r>
            <a:r>
              <a:rPr sz="1400" b="0" i="0">
                <a:solidFill>
                  <a:srgbClr val="112B34"/>
                </a:solidFill>
                <a:latin typeface="Calibri"/>
              </a:rPr>
              <a:t> — that absence is the gap.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48682"/>
                </a:solidFill>
                <a:latin typeface="Calibri"/>
              </a:rPr>
              <a:t>PART 2 · SYNTHESIZING LITERATURE — COMPETENCY 12</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Finding Gaps Across Studies</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148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11</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2 · Competency 12</a:t>
            </a:r>
          </a:p>
        </p:txBody>
      </p:sp>
      <p:sp>
        <p:nvSpPr>
          <p:cNvPr id="11" name="TextBox 10"/>
          <p:cNvSpPr txBox="1"/>
          <p:nvPr/>
        </p:nvSpPr>
        <p:spPr>
          <a:xfrm>
            <a:off x="566928" y="1828800"/>
            <a:ext cx="5852160" cy="4206240"/>
          </a:xfrm>
          <a:prstGeom prst="rect">
            <a:avLst/>
          </a:prstGeom>
          <a:noFill/>
        </p:spPr>
        <p:txBody>
          <a:bodyPr wrap="square" anchor="t" lIns="0" rIns="0" tIns="0" bIns="0">
            <a:noAutofit/>
          </a:bodyPr>
          <a:lstStyle/>
          <a:p>
            <a:pPr algn="l" marL="274320" indent="-274320">
              <a:lnSpc>
                <a:spcPct val="106000"/>
              </a:lnSpc>
              <a:spcBef>
                <a:spcPts val="0"/>
              </a:spcBef>
              <a:spcAft>
                <a:spcPts val="600"/>
              </a:spcAft>
              <a:buClr>
                <a:srgbClr val="1F8A8A"/>
              </a:buClr>
              <a:buSzPct val="110000"/>
              <a:buFont typeface="Calibri"/>
              <a:buChar char="•"/>
            </a:pPr>
            <a:r>
              <a:rPr sz="1600" b="0" i="0">
                <a:solidFill>
                  <a:srgbClr val="112B34"/>
                </a:solidFill>
                <a:latin typeface="Calibri"/>
              </a:rPr>
              <a:t>A </a:t>
            </a:r>
            <a:r>
              <a:rPr sz="1600" b="1" i="0">
                <a:solidFill>
                  <a:srgbClr val="E86F51"/>
                </a:solidFill>
                <a:latin typeface="Calibri"/>
              </a:rPr>
              <a:t>gap</a:t>
            </a:r>
            <a:r>
              <a:rPr sz="1600" b="1" i="0">
                <a:solidFill>
                  <a:srgbClr val="112B34"/>
                </a:solidFill>
                <a:latin typeface="Calibri"/>
              </a:rPr>
              <a:t> can mean:</a:t>
            </a:r>
          </a:p>
          <a:p>
            <a:pPr algn="l" lvl="1" marL="566928" indent="-274320">
              <a:lnSpc>
                <a:spcPct val="106000"/>
              </a:lnSpc>
              <a:spcBef>
                <a:spcPts val="0"/>
              </a:spcBef>
              <a:spcAft>
                <a:spcPts val="400"/>
              </a:spcAft>
              <a:buNone/>
            </a:pPr>
            <a:r>
              <a:rPr sz="1600" b="1" i="0">
                <a:solidFill>
                  <a:srgbClr val="5C747D"/>
                </a:solidFill>
                <a:latin typeface="Calibri"/>
              </a:rPr>
              <a:t>–  </a:t>
            </a:r>
            <a:r>
              <a:rPr sz="1500" b="0" i="0">
                <a:solidFill>
                  <a:srgbClr val="112B34"/>
                </a:solidFill>
                <a:latin typeface="Calibri"/>
              </a:rPr>
              <a:t>An unstudied population, site, or context</a:t>
            </a:r>
          </a:p>
          <a:p>
            <a:pPr algn="l" lvl="1" marL="566928" indent="-274320">
              <a:lnSpc>
                <a:spcPct val="106000"/>
              </a:lnSpc>
              <a:spcBef>
                <a:spcPts val="0"/>
              </a:spcBef>
              <a:spcAft>
                <a:spcPts val="400"/>
              </a:spcAft>
              <a:buNone/>
            </a:pPr>
            <a:r>
              <a:rPr sz="1600" b="1" i="0">
                <a:solidFill>
                  <a:srgbClr val="5C747D"/>
                </a:solidFill>
                <a:latin typeface="Calibri"/>
              </a:rPr>
              <a:t>–  </a:t>
            </a:r>
            <a:r>
              <a:rPr sz="1500" b="0" i="0">
                <a:solidFill>
                  <a:srgbClr val="112B34"/>
                </a:solidFill>
                <a:latin typeface="Calibri"/>
              </a:rPr>
              <a:t>Contradictory findings across studies</a:t>
            </a:r>
          </a:p>
          <a:p>
            <a:pPr algn="l" lvl="1" marL="566928" indent="-274320">
              <a:lnSpc>
                <a:spcPct val="106000"/>
              </a:lnSpc>
              <a:spcBef>
                <a:spcPts val="0"/>
              </a:spcBef>
              <a:spcAft>
                <a:spcPts val="1200"/>
              </a:spcAft>
              <a:buNone/>
            </a:pPr>
            <a:r>
              <a:rPr sz="1600" b="1" i="0">
                <a:solidFill>
                  <a:srgbClr val="5C747D"/>
                </a:solidFill>
                <a:latin typeface="Calibri"/>
              </a:rPr>
              <a:t>–  </a:t>
            </a:r>
            <a:r>
              <a:rPr sz="1500" b="0" i="0">
                <a:solidFill>
                  <a:srgbClr val="112B34"/>
                </a:solidFill>
                <a:latin typeface="Calibri"/>
              </a:rPr>
              <a:t>A topic mentioned but not directly investigated</a:t>
            </a:r>
          </a:p>
          <a:p>
            <a:pPr algn="l" marL="274320" indent="-274320">
              <a:lnSpc>
                <a:spcPct val="106000"/>
              </a:lnSpc>
              <a:spcBef>
                <a:spcPts val="0"/>
              </a:spcBef>
              <a:spcAft>
                <a:spcPts val="1200"/>
              </a:spcAft>
              <a:buClr>
                <a:srgbClr val="1F8A8A"/>
              </a:buClr>
              <a:buSzPct val="110000"/>
              <a:buFont typeface="Calibri"/>
              <a:buChar char="•"/>
            </a:pPr>
            <a:r>
              <a:rPr sz="1600" b="0" i="0">
                <a:solidFill>
                  <a:srgbClr val="112B34"/>
                </a:solidFill>
                <a:latin typeface="Calibri"/>
              </a:rPr>
              <a:t>Researchers often signal a gap with phrases like </a:t>
            </a:r>
            <a:r>
              <a:rPr sz="1600" b="0" i="1">
                <a:solidFill>
                  <a:srgbClr val="083D54"/>
                </a:solidFill>
                <a:latin typeface="Calibri"/>
              </a:rPr>
              <a:t>“what remains to be explored”</a:t>
            </a:r>
            <a:r>
              <a:rPr sz="1600" b="0" i="0">
                <a:solidFill>
                  <a:srgbClr val="112B34"/>
                </a:solidFill>
                <a:latin typeface="Calibri"/>
              </a:rPr>
              <a:t> or </a:t>
            </a:r>
            <a:r>
              <a:rPr sz="1600" b="0" i="1">
                <a:solidFill>
                  <a:srgbClr val="083D54"/>
                </a:solidFill>
                <a:latin typeface="Calibri"/>
              </a:rPr>
              <a:t>“little empirical research”</a:t>
            </a:r>
            <a:r>
              <a:rPr sz="1600" b="0" i="0">
                <a:solidFill>
                  <a:srgbClr val="112B34"/>
                </a:solidFill>
                <a:latin typeface="Calibri"/>
              </a:rPr>
              <a:t> on a topic.</a:t>
            </a:r>
          </a:p>
          <a:p>
            <a:pPr algn="l" marL="274320" indent="-274320">
              <a:lnSpc>
                <a:spcPct val="106000"/>
              </a:lnSpc>
              <a:spcBef>
                <a:spcPts val="0"/>
              </a:spcBef>
              <a:spcAft>
                <a:spcPts val="600"/>
              </a:spcAft>
              <a:buClr>
                <a:srgbClr val="1F8A8A"/>
              </a:buClr>
              <a:buSzPct val="110000"/>
              <a:buFont typeface="Calibri"/>
              <a:buChar char="•"/>
            </a:pPr>
            <a:r>
              <a:rPr sz="1600" b="1" i="0">
                <a:solidFill>
                  <a:srgbClr val="112B34"/>
                </a:solidFill>
                <a:latin typeface="Calibri"/>
              </a:rPr>
              <a:t>Naming the gap precisely turns a stack of readings into a direction for new research.</a:t>
            </a:r>
          </a:p>
        </p:txBody>
      </p:sp>
      <p:sp>
        <p:nvSpPr>
          <p:cNvPr id="12" name="Oval 11"/>
          <p:cNvSpPr/>
          <p:nvPr/>
        </p:nvSpPr>
        <p:spPr>
          <a:xfrm>
            <a:off x="7109460" y="2080260"/>
            <a:ext cx="2331720" cy="2331720"/>
          </a:xfrm>
          <a:prstGeom prst="ellipse">
            <a:avLst/>
          </a:prstGeom>
          <a:solidFill>
            <a:srgbClr val="1F8A8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029700" y="2080260"/>
            <a:ext cx="2331720" cy="2331720"/>
          </a:xfrm>
          <a:prstGeom prst="ellipse">
            <a:avLst/>
          </a:prstGeom>
          <a:solidFill>
            <a:srgbClr val="0C536B">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69580" y="3634740"/>
            <a:ext cx="2331720" cy="2331720"/>
          </a:xfrm>
          <a:prstGeom prst="ellipse">
            <a:avLst/>
          </a:prstGeom>
          <a:solidFill>
            <a:srgbClr val="E86F51">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2606040"/>
            <a:ext cx="1554480" cy="548640"/>
          </a:xfrm>
          <a:prstGeom prst="rect">
            <a:avLst/>
          </a:prstGeom>
          <a:noFill/>
        </p:spPr>
        <p:txBody>
          <a:bodyPr wrap="square" anchor="ctr" lIns="0" rIns="0" tIns="0" bIns="0">
            <a:noAutofit/>
          </a:bodyPr>
          <a:lstStyle/>
          <a:p>
            <a:pPr algn="ctr">
              <a:lnSpc>
                <a:spcPct val="95000"/>
              </a:lnSpc>
              <a:spcBef>
                <a:spcPts val="0"/>
              </a:spcBef>
              <a:spcAft>
                <a:spcPts val="600"/>
              </a:spcAft>
            </a:pPr>
            <a:r>
              <a:rPr sz="1150" b="1" i="0">
                <a:solidFill>
                  <a:srgbClr val="145E5E"/>
                </a:solidFill>
                <a:latin typeface="Calibri"/>
              </a:rPr>
              <a:t>Studies on segregation</a:t>
            </a:r>
          </a:p>
        </p:txBody>
      </p:sp>
      <p:sp>
        <p:nvSpPr>
          <p:cNvPr id="16" name="TextBox 15"/>
          <p:cNvSpPr txBox="1"/>
          <p:nvPr/>
        </p:nvSpPr>
        <p:spPr>
          <a:xfrm>
            <a:off x="10058400" y="2606040"/>
            <a:ext cx="1554480" cy="548640"/>
          </a:xfrm>
          <a:prstGeom prst="rect">
            <a:avLst/>
          </a:prstGeom>
          <a:noFill/>
        </p:spPr>
        <p:txBody>
          <a:bodyPr wrap="square" anchor="ctr" lIns="0" rIns="0" tIns="0" bIns="0">
            <a:noAutofit/>
          </a:bodyPr>
          <a:lstStyle/>
          <a:p>
            <a:pPr algn="ctr">
              <a:lnSpc>
                <a:spcPct val="95000"/>
              </a:lnSpc>
              <a:spcBef>
                <a:spcPts val="0"/>
              </a:spcBef>
              <a:spcAft>
                <a:spcPts val="600"/>
              </a:spcAft>
            </a:pPr>
            <a:r>
              <a:rPr sz="1150" b="1" i="0">
                <a:solidFill>
                  <a:srgbClr val="083D54"/>
                </a:solidFill>
                <a:latin typeface="Calibri"/>
              </a:rPr>
              <a:t>Studies on coastal communities</a:t>
            </a:r>
          </a:p>
        </p:txBody>
      </p:sp>
      <p:sp>
        <p:nvSpPr>
          <p:cNvPr id="17" name="TextBox 16"/>
          <p:cNvSpPr txBox="1"/>
          <p:nvPr/>
        </p:nvSpPr>
        <p:spPr>
          <a:xfrm>
            <a:off x="8183880" y="5166360"/>
            <a:ext cx="2103120" cy="548640"/>
          </a:xfrm>
          <a:prstGeom prst="rect">
            <a:avLst/>
          </a:prstGeom>
          <a:noFill/>
        </p:spPr>
        <p:txBody>
          <a:bodyPr wrap="square" anchor="ctr" lIns="0" rIns="0" tIns="0" bIns="0">
            <a:noAutofit/>
          </a:bodyPr>
          <a:lstStyle/>
          <a:p>
            <a:pPr algn="ctr">
              <a:lnSpc>
                <a:spcPct val="95000"/>
              </a:lnSpc>
              <a:spcBef>
                <a:spcPts val="0"/>
              </a:spcBef>
              <a:spcAft>
                <a:spcPts val="600"/>
              </a:spcAft>
            </a:pPr>
            <a:r>
              <a:rPr sz="1150" b="1" i="0">
                <a:solidFill>
                  <a:srgbClr val="C95338"/>
                </a:solidFill>
                <a:latin typeface="Calibri"/>
              </a:rPr>
              <a:t>Studies on adult household behavior</a:t>
            </a:r>
          </a:p>
        </p:txBody>
      </p:sp>
      <p:sp>
        <p:nvSpPr>
          <p:cNvPr id="18" name="Oval 17"/>
          <p:cNvSpPr/>
          <p:nvPr/>
        </p:nvSpPr>
        <p:spPr>
          <a:xfrm>
            <a:off x="8801100" y="3451860"/>
            <a:ext cx="868680" cy="868680"/>
          </a:xfrm>
          <a:prstGeom prst="ellipse">
            <a:avLst/>
          </a:prstGeom>
          <a:solidFill>
            <a:srgbClr val="FFFFFF"/>
          </a:solidFill>
          <a:ln w="2540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50" b="1" i="1">
                <a:solidFill>
                  <a:srgbClr val="C95338"/>
                </a:solidFill>
                <a:latin typeface="Calibri"/>
              </a:rPr>
              <a:t>the gap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2 · SYNTHESIZING LITERATURE — COMPETENCY 12</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Practice: Write Your Gap Statement</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481328"/>
            <a:ext cx="1965960" cy="329184"/>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  PRACTICE · PAIR ACTIVITY</a:t>
            </a: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12</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2 · Competency 12</a:t>
            </a:r>
          </a:p>
        </p:txBody>
      </p:sp>
      <p:sp>
        <p:nvSpPr>
          <p:cNvPr id="12" name="TextBox 11"/>
          <p:cNvSpPr txBox="1"/>
          <p:nvPr/>
        </p:nvSpPr>
        <p:spPr>
          <a:xfrm>
            <a:off x="566928" y="1965960"/>
            <a:ext cx="11055096" cy="457200"/>
          </a:xfrm>
          <a:prstGeom prst="rect">
            <a:avLst/>
          </a:prstGeom>
          <a:noFill/>
        </p:spPr>
        <p:txBody>
          <a:bodyPr wrap="square" anchor="t" lIns="0" rIns="0" tIns="0" bIns="0">
            <a:noAutofit/>
          </a:bodyPr>
          <a:lstStyle/>
          <a:p>
            <a:pPr algn="l">
              <a:lnSpc>
                <a:spcPct val="105000"/>
              </a:lnSpc>
              <a:spcBef>
                <a:spcPts val="0"/>
              </a:spcBef>
              <a:spcAft>
                <a:spcPts val="600"/>
              </a:spcAft>
            </a:pPr>
            <a:r>
              <a:rPr sz="1600" b="0" i="0">
                <a:solidFill>
                  <a:srgbClr val="112B34"/>
                </a:solidFill>
                <a:latin typeface="Calibri"/>
              </a:rPr>
              <a:t>Using the matrix from Slide 10, complete this sentence starter:</a:t>
            </a:r>
          </a:p>
        </p:txBody>
      </p:sp>
      <p:sp>
        <p:nvSpPr>
          <p:cNvPr id="13" name="Rounded Rectangle 12"/>
          <p:cNvSpPr/>
          <p:nvPr/>
        </p:nvSpPr>
        <p:spPr>
          <a:xfrm>
            <a:off x="1005840" y="2697480"/>
            <a:ext cx="10177272" cy="2148840"/>
          </a:xfrm>
          <a:prstGeom prst="roundRect">
            <a:avLst>
              <a:gd name="adj" fmla="val 5000"/>
            </a:avLst>
          </a:prstGeom>
          <a:solidFill>
            <a:srgbClr val="FFFFFF"/>
          </a:solidFill>
          <a:ln w="2540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05840" y="2697480"/>
            <a:ext cx="146304" cy="2148840"/>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2697480"/>
            <a:ext cx="9509760" cy="2148840"/>
          </a:xfrm>
          <a:prstGeom prst="rect">
            <a:avLst/>
          </a:prstGeom>
          <a:noFill/>
        </p:spPr>
        <p:txBody>
          <a:bodyPr wrap="square" anchor="ctr" lIns="0" rIns="0" tIns="0" bIns="0">
            <a:noAutofit/>
          </a:bodyPr>
          <a:lstStyle/>
          <a:p>
            <a:pPr algn="l">
              <a:lnSpc>
                <a:spcPct val="135000"/>
              </a:lnSpc>
              <a:spcBef>
                <a:spcPts val="0"/>
              </a:spcBef>
              <a:spcAft>
                <a:spcPts val="600"/>
              </a:spcAft>
            </a:pPr>
            <a:r>
              <a:rPr sz="2200" b="0" i="1">
                <a:solidFill>
                  <a:srgbClr val="112B34"/>
                </a:solidFill>
                <a:latin typeface="Calibri"/>
              </a:rPr>
              <a:t>“While much research has examined </a:t>
            </a:r>
            <a:r>
              <a:rPr sz="2200" b="1" i="0">
                <a:solidFill>
                  <a:srgbClr val="E86F51"/>
                </a:solidFill>
                <a:latin typeface="Calibri"/>
              </a:rPr>
              <a:t> _______ </a:t>
            </a:r>
            <a:r>
              <a:rPr sz="2200" b="0" i="1">
                <a:solidFill>
                  <a:srgbClr val="112B34"/>
                </a:solidFill>
                <a:latin typeface="Calibri"/>
              </a:rPr>
              <a:t>, few studies have looked at </a:t>
            </a:r>
            <a:r>
              <a:rPr sz="2200" b="1" i="0">
                <a:solidFill>
                  <a:srgbClr val="E86F51"/>
                </a:solidFill>
                <a:latin typeface="Calibri"/>
              </a:rPr>
              <a:t> _______ </a:t>
            </a:r>
            <a:r>
              <a:rPr sz="2200" b="0" i="1">
                <a:solidFill>
                  <a:srgbClr val="112B34"/>
                </a:solidFill>
                <a:latin typeface="Calibri"/>
              </a:rPr>
              <a:t> in the context of </a:t>
            </a:r>
            <a:r>
              <a:rPr sz="2200" b="1" i="0">
                <a:solidFill>
                  <a:srgbClr val="E86F51"/>
                </a:solidFill>
                <a:latin typeface="Calibri"/>
              </a:rPr>
              <a:t> _______ </a:t>
            </a:r>
            <a:r>
              <a:rPr sz="2200" b="0" i="1">
                <a:solidFill>
                  <a:srgbClr val="112B34"/>
                </a:solidFill>
                <a:latin typeface="Calibri"/>
              </a:rPr>
              <a:t>.”</a:t>
            </a:r>
          </a:p>
        </p:txBody>
      </p:sp>
      <p:sp>
        <p:nvSpPr>
          <p:cNvPr id="16" name="Rounded Rectangle 15"/>
          <p:cNvSpPr/>
          <p:nvPr/>
        </p:nvSpPr>
        <p:spPr>
          <a:xfrm>
            <a:off x="1005840" y="5138928"/>
            <a:ext cx="10177272" cy="731520"/>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5138928"/>
            <a:ext cx="9601200" cy="731520"/>
          </a:xfrm>
          <a:prstGeom prst="rect">
            <a:avLst/>
          </a:prstGeom>
          <a:noFill/>
        </p:spPr>
        <p:txBody>
          <a:bodyPr wrap="square" anchor="ctr" lIns="0" rIns="0" tIns="0" bIns="0">
            <a:noAutofit/>
          </a:bodyPr>
          <a:lstStyle/>
          <a:p>
            <a:pPr algn="l">
              <a:lnSpc>
                <a:spcPct val="105000"/>
              </a:lnSpc>
              <a:spcBef>
                <a:spcPts val="0"/>
              </a:spcBef>
              <a:spcAft>
                <a:spcPts val="600"/>
              </a:spcAft>
            </a:pPr>
            <a:r>
              <a:rPr sz="1450" b="1" i="0">
                <a:solidFill>
                  <a:srgbClr val="1F8A8A"/>
                </a:solidFill>
                <a:latin typeface="Calibri"/>
              </a:rPr>
              <a:t>Example scaffold only — </a:t>
            </a:r>
            <a:r>
              <a:rPr sz="1450" b="0" i="0">
                <a:solidFill>
                  <a:srgbClr val="112B34"/>
                </a:solidFill>
                <a:latin typeface="Calibri"/>
              </a:rPr>
              <a:t>write your </a:t>
            </a:r>
            <a:r>
              <a:rPr sz="1450" b="1" i="1">
                <a:solidFill>
                  <a:srgbClr val="112B34"/>
                </a:solidFill>
                <a:latin typeface="Calibri"/>
              </a:rPr>
              <a:t>own</a:t>
            </a:r>
            <a:r>
              <a:rPr sz="1450" b="0" i="0">
                <a:solidFill>
                  <a:srgbClr val="112B34"/>
                </a:solidFill>
                <a:latin typeface="Calibri"/>
              </a:rPr>
              <a:t> completed version before checking with a partner.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C6E8C"/>
                </a:solidFill>
                <a:latin typeface="Calibri"/>
              </a:rPr>
              <a:t>PART 3 · FORMULATING THE PROBLEM — COMPETENCY 13</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From Research Gap to Problem</a:t>
            </a:r>
          </a:p>
        </p:txBody>
      </p:sp>
      <p:sp>
        <p:nvSpPr>
          <p:cNvPr id="6" name="Rectangle 5"/>
          <p:cNvSpPr/>
          <p:nvPr/>
        </p:nvSpPr>
        <p:spPr>
          <a:xfrm>
            <a:off x="566928" y="1389888"/>
            <a:ext cx="2834640" cy="41148"/>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13</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3 · Competency 13</a:t>
            </a:r>
          </a:p>
        </p:txBody>
      </p:sp>
      <p:sp>
        <p:nvSpPr>
          <p:cNvPr id="10" name="Rounded Rectangle 9"/>
          <p:cNvSpPr/>
          <p:nvPr/>
        </p:nvSpPr>
        <p:spPr>
          <a:xfrm>
            <a:off x="566928" y="1828800"/>
            <a:ext cx="11055096" cy="1234440"/>
          </a:xfrm>
          <a:prstGeom prst="roundRect">
            <a:avLst>
              <a:gd name="adj" fmla="val 6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1828800"/>
            <a:ext cx="146304" cy="1234440"/>
          </a:xfrm>
          <a:prstGeom prst="roundRect">
            <a:avLst>
              <a:gd name="adj" fmla="val 50000"/>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28800"/>
            <a:ext cx="10424160" cy="1234440"/>
          </a:xfrm>
          <a:prstGeom prst="rect">
            <a:avLst/>
          </a:prstGeom>
          <a:noFill/>
        </p:spPr>
        <p:txBody>
          <a:bodyPr wrap="square" anchor="ctr" lIns="0" rIns="0" tIns="0" bIns="0">
            <a:noAutofit/>
          </a:bodyPr>
          <a:lstStyle/>
          <a:p>
            <a:pPr algn="l">
              <a:lnSpc>
                <a:spcPct val="105000"/>
              </a:lnSpc>
              <a:spcBef>
                <a:spcPts val="0"/>
              </a:spcBef>
              <a:spcAft>
                <a:spcPts val="600"/>
              </a:spcAft>
            </a:pPr>
            <a:r>
              <a:rPr sz="1250" b="1" i="0">
                <a:solidFill>
                  <a:srgbClr val="1C6E8C"/>
                </a:solidFill>
                <a:latin typeface="Calibri"/>
              </a:rPr>
              <a:t>The group’s gap statement</a:t>
            </a:r>
          </a:p>
          <a:p>
            <a:pPr algn="l">
              <a:lnSpc>
                <a:spcPct val="115000"/>
              </a:lnSpc>
              <a:spcBef>
                <a:spcPts val="300"/>
              </a:spcBef>
              <a:spcAft>
                <a:spcPts val="600"/>
              </a:spcAft>
            </a:pPr>
            <a:r>
              <a:rPr sz="1800" b="1" i="1">
                <a:solidFill>
                  <a:srgbClr val="112B34"/>
                </a:solidFill>
                <a:latin typeface="Calibri"/>
              </a:rPr>
              <a:t>“Few studies examine why coastal barangay households under-segregate plastic waste despite high reported volumes.”</a:t>
            </a:r>
          </a:p>
        </p:txBody>
      </p:sp>
      <p:sp>
        <p:nvSpPr>
          <p:cNvPr id="13" name="Rounded Rectangle 12"/>
          <p:cNvSpPr/>
          <p:nvPr/>
        </p:nvSpPr>
        <p:spPr>
          <a:xfrm>
            <a:off x="566928" y="3429000"/>
            <a:ext cx="5120640" cy="2194560"/>
          </a:xfrm>
          <a:prstGeom prst="roundRect">
            <a:avLst>
              <a:gd name="adj" fmla="val 6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3429000"/>
            <a:ext cx="5120640" cy="640080"/>
          </a:xfrm>
          <a:prstGeom prst="roundRect">
            <a:avLst>
              <a:gd name="adj" fmla="val 6000"/>
            </a:avLst>
          </a:prstGeom>
          <a:solidFill>
            <a:srgbClr val="5C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429000"/>
            <a:ext cx="5120640" cy="640080"/>
          </a:xfrm>
          <a:prstGeom prst="rect">
            <a:avLst/>
          </a:prstGeom>
          <a:noFill/>
        </p:spPr>
        <p:txBody>
          <a:bodyPr wrap="square" anchor="ctr" lIns="0" rIns="0" tIns="0" bIns="0">
            <a:noAutofit/>
          </a:bodyPr>
          <a:lstStyle/>
          <a:p>
            <a:pPr algn="ctr">
              <a:lnSpc>
                <a:spcPct val="100000"/>
              </a:lnSpc>
              <a:spcBef>
                <a:spcPts val="0"/>
              </a:spcBef>
              <a:spcAft>
                <a:spcPts val="600"/>
              </a:spcAft>
            </a:pPr>
            <a:r>
              <a:rPr sz="1700" b="1" i="0">
                <a:solidFill>
                  <a:srgbClr val="FFFFFF"/>
                </a:solidFill>
                <a:latin typeface="Calibri"/>
              </a:rPr>
              <a:t>Gap statement</a:t>
            </a:r>
          </a:p>
        </p:txBody>
      </p:sp>
      <p:sp>
        <p:nvSpPr>
          <p:cNvPr id="16" name="TextBox 15"/>
          <p:cNvSpPr txBox="1"/>
          <p:nvPr/>
        </p:nvSpPr>
        <p:spPr>
          <a:xfrm>
            <a:off x="868680" y="4251960"/>
            <a:ext cx="4526280" cy="1234440"/>
          </a:xfrm>
          <a:prstGeom prst="rect">
            <a:avLst/>
          </a:prstGeom>
          <a:noFill/>
        </p:spPr>
        <p:txBody>
          <a:bodyPr wrap="square" anchor="ctr" lIns="0" rIns="0" tIns="0" bIns="0">
            <a:noAutofit/>
          </a:bodyPr>
          <a:lstStyle/>
          <a:p>
            <a:pPr algn="l">
              <a:lnSpc>
                <a:spcPct val="110000"/>
              </a:lnSpc>
              <a:spcBef>
                <a:spcPts val="0"/>
              </a:spcBef>
              <a:spcAft>
                <a:spcPts val="600"/>
              </a:spcAft>
            </a:pPr>
            <a:r>
              <a:rPr sz="1600" b="0" i="0">
                <a:solidFill>
                  <a:srgbClr val="112B34"/>
                </a:solidFill>
                <a:latin typeface="Calibri"/>
              </a:rPr>
              <a:t>Describes what’s </a:t>
            </a:r>
            <a:r>
              <a:rPr sz="1600" b="1" i="0">
                <a:solidFill>
                  <a:srgbClr val="112B34"/>
                </a:solidFill>
                <a:latin typeface="Calibri"/>
              </a:rPr>
              <a:t>missing in the literature.</a:t>
            </a:r>
          </a:p>
          <a:p>
            <a:pPr algn="l">
              <a:lnSpc>
                <a:spcPct val="100000"/>
              </a:lnSpc>
              <a:spcBef>
                <a:spcPts val="400"/>
              </a:spcBef>
              <a:spcAft>
                <a:spcPts val="600"/>
              </a:spcAft>
            </a:pPr>
            <a:r>
              <a:rPr sz="1250" b="0" i="1">
                <a:solidFill>
                  <a:srgbClr val="5C747D"/>
                </a:solidFill>
                <a:latin typeface="Calibri"/>
              </a:rPr>
              <a:t>Diagnostic — about the literature.</a:t>
            </a:r>
          </a:p>
        </p:txBody>
      </p:sp>
      <p:sp>
        <p:nvSpPr>
          <p:cNvPr id="17" name="Right Arrow 16"/>
          <p:cNvSpPr/>
          <p:nvPr/>
        </p:nvSpPr>
        <p:spPr>
          <a:xfrm>
            <a:off x="5806440" y="4343400"/>
            <a:ext cx="566928" cy="457200"/>
          </a:xfrm>
          <a:prstGeom prst="rightArrow">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92240" y="3429000"/>
            <a:ext cx="5120640" cy="2194560"/>
          </a:xfrm>
          <a:prstGeom prst="roundRect">
            <a:avLst>
              <a:gd name="adj" fmla="val 6000"/>
            </a:avLst>
          </a:prstGeom>
          <a:solidFill>
            <a:srgbClr val="FFFFFF"/>
          </a:solidFill>
          <a:ln w="25400">
            <a:solidFill>
              <a:srgbClr val="1C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92240" y="3429000"/>
            <a:ext cx="5120640" cy="640080"/>
          </a:xfrm>
          <a:prstGeom prst="roundRect">
            <a:avLst>
              <a:gd name="adj" fmla="val 6000"/>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429000"/>
            <a:ext cx="5120640" cy="640080"/>
          </a:xfrm>
          <a:prstGeom prst="rect">
            <a:avLst/>
          </a:prstGeom>
          <a:noFill/>
        </p:spPr>
        <p:txBody>
          <a:bodyPr wrap="square" anchor="ctr" lIns="0" rIns="0" tIns="0" bIns="0">
            <a:noAutofit/>
          </a:bodyPr>
          <a:lstStyle/>
          <a:p>
            <a:pPr algn="ctr">
              <a:lnSpc>
                <a:spcPct val="100000"/>
              </a:lnSpc>
              <a:spcBef>
                <a:spcPts val="0"/>
              </a:spcBef>
              <a:spcAft>
                <a:spcPts val="600"/>
              </a:spcAft>
            </a:pPr>
            <a:r>
              <a:rPr sz="1700" b="1" i="0">
                <a:solidFill>
                  <a:srgbClr val="FFFFFF"/>
                </a:solidFill>
                <a:latin typeface="Calibri"/>
              </a:rPr>
              <a:t>Problem statement</a:t>
            </a:r>
          </a:p>
        </p:txBody>
      </p:sp>
      <p:sp>
        <p:nvSpPr>
          <p:cNvPr id="21" name="TextBox 20"/>
          <p:cNvSpPr txBox="1"/>
          <p:nvPr/>
        </p:nvSpPr>
        <p:spPr>
          <a:xfrm>
            <a:off x="6793992" y="4251960"/>
            <a:ext cx="4526280" cy="1234440"/>
          </a:xfrm>
          <a:prstGeom prst="rect">
            <a:avLst/>
          </a:prstGeom>
          <a:noFill/>
        </p:spPr>
        <p:txBody>
          <a:bodyPr wrap="square" anchor="ctr" lIns="0" rIns="0" tIns="0" bIns="0">
            <a:noAutofit/>
          </a:bodyPr>
          <a:lstStyle/>
          <a:p>
            <a:pPr algn="l">
              <a:lnSpc>
                <a:spcPct val="110000"/>
              </a:lnSpc>
              <a:spcBef>
                <a:spcPts val="0"/>
              </a:spcBef>
              <a:spcAft>
                <a:spcPts val="600"/>
              </a:spcAft>
            </a:pPr>
            <a:r>
              <a:rPr sz="1600" b="0" i="0">
                <a:solidFill>
                  <a:srgbClr val="112B34"/>
                </a:solidFill>
                <a:latin typeface="Calibri"/>
              </a:rPr>
              <a:t>Goes one step further — </a:t>
            </a:r>
            <a:r>
              <a:rPr sz="1600" b="1" i="0">
                <a:solidFill>
                  <a:srgbClr val="112B34"/>
                </a:solidFill>
                <a:latin typeface="Calibri"/>
              </a:rPr>
              <a:t>commits to studying that gap directly.</a:t>
            </a:r>
          </a:p>
          <a:p>
            <a:pPr algn="l">
              <a:lnSpc>
                <a:spcPct val="100000"/>
              </a:lnSpc>
              <a:spcBef>
                <a:spcPts val="400"/>
              </a:spcBef>
              <a:spcAft>
                <a:spcPts val="600"/>
              </a:spcAft>
            </a:pPr>
            <a:r>
              <a:rPr sz="1250" b="0" i="1">
                <a:solidFill>
                  <a:srgbClr val="1C6E8C"/>
                </a:solidFill>
                <a:latin typeface="Calibri"/>
              </a:rPr>
              <a:t>Directive — about this study.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C6E8C"/>
                </a:solidFill>
                <a:latin typeface="Calibri"/>
              </a:rPr>
              <a:t>PART 3 · FORMULATING THE PROBLEM — COMPETENCY 13</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Topic, Problem, and Question</a:t>
            </a:r>
          </a:p>
        </p:txBody>
      </p:sp>
      <p:sp>
        <p:nvSpPr>
          <p:cNvPr id="6" name="Rectangle 5"/>
          <p:cNvSpPr/>
          <p:nvPr/>
        </p:nvSpPr>
        <p:spPr>
          <a:xfrm>
            <a:off x="566928" y="1389888"/>
            <a:ext cx="2834640" cy="41148"/>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14</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3 · Competency 13</a:t>
            </a:r>
          </a:p>
        </p:txBody>
      </p:sp>
      <p:sp>
        <p:nvSpPr>
          <p:cNvPr id="10" name="Down Arrow 9"/>
          <p:cNvSpPr/>
          <p:nvPr/>
        </p:nvSpPr>
        <p:spPr>
          <a:xfrm>
            <a:off x="640080" y="1965960"/>
            <a:ext cx="502920" cy="3703320"/>
          </a:xfrm>
          <a:prstGeom prst="downArrow">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1965960"/>
            <a:ext cx="457200" cy="3703320"/>
          </a:xfrm>
          <a:prstGeom prst="rect">
            <a:avLst/>
          </a:prstGeom>
          <a:noFill/>
        </p:spPr>
        <p:txBody>
          <a:bodyPr wrap="square" anchor="t" lIns="0" rIns="0" tIns="0" bIns="0">
            <a:noAutofit/>
          </a:bodyPr>
          <a:lstStyle/>
          <a:p/>
        </p:txBody>
      </p:sp>
      <p:sp>
        <p:nvSpPr>
          <p:cNvPr id="12" name="Rounded Rectangle 11"/>
          <p:cNvSpPr/>
          <p:nvPr/>
        </p:nvSpPr>
        <p:spPr>
          <a:xfrm>
            <a:off x="1691640" y="2011680"/>
            <a:ext cx="10058400" cy="1170432"/>
          </a:xfrm>
          <a:prstGeom prst="roundRect">
            <a:avLst>
              <a:gd name="adj" fmla="val 14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a:lstStyle/>
          <a:p>
            <a:pPr algn="ctr">
              <a:lnSpc>
                <a:spcPct val="100000"/>
              </a:lnSpc>
            </a:pPr>
            <a:r>
              <a:rPr sz="1800" b="1" i="0">
                <a:solidFill>
                  <a:srgbClr val="FFFFFF"/>
                </a:solidFill>
                <a:latin typeface="Calibri"/>
              </a:rPr>
              <a:t>Topic  </a:t>
            </a:r>
            <a:r>
              <a:rPr sz="1250" b="0" i="0">
                <a:solidFill>
                  <a:srgbClr val="EDF5F4"/>
                </a:solidFill>
                <a:latin typeface="Calibri"/>
              </a:rPr>
              <a:t>—  the general subject area</a:t>
            </a:r>
          </a:p>
          <a:p>
            <a:pPr algn="ctr">
              <a:lnSpc>
                <a:spcPct val="100000"/>
              </a:lnSpc>
              <a:spcBef>
                <a:spcPts val="300"/>
              </a:spcBef>
            </a:pPr>
            <a:r>
              <a:rPr sz="1250" b="1" i="1">
                <a:solidFill>
                  <a:srgbClr val="FFFFFF"/>
                </a:solidFill>
                <a:latin typeface="Calibri"/>
              </a:rPr>
              <a:t>“Plastic waste in coastal communities”</a:t>
            </a:r>
          </a:p>
        </p:txBody>
      </p:sp>
      <p:sp>
        <p:nvSpPr>
          <p:cNvPr id="13" name="Rounded Rectangle 12"/>
          <p:cNvSpPr/>
          <p:nvPr/>
        </p:nvSpPr>
        <p:spPr>
          <a:xfrm>
            <a:off x="2514600" y="3328416"/>
            <a:ext cx="8412480" cy="1170432"/>
          </a:xfrm>
          <a:prstGeom prst="roundRect">
            <a:avLst>
              <a:gd name="adj" fmla="val 14000"/>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a:lstStyle/>
          <a:p>
            <a:pPr algn="ctr">
              <a:lnSpc>
                <a:spcPct val="100000"/>
              </a:lnSpc>
            </a:pPr>
            <a:r>
              <a:rPr sz="1800" b="1" i="0">
                <a:solidFill>
                  <a:srgbClr val="FFFFFF"/>
                </a:solidFill>
                <a:latin typeface="Calibri"/>
              </a:rPr>
              <a:t>Problem  </a:t>
            </a:r>
            <a:r>
              <a:rPr sz="1250" b="0" i="0">
                <a:solidFill>
                  <a:srgbClr val="EDF5F4"/>
                </a:solidFill>
                <a:latin typeface="Calibri"/>
              </a:rPr>
              <a:t>—  the specific issue within that topic that needs addressing</a:t>
            </a:r>
          </a:p>
          <a:p>
            <a:pPr algn="ctr">
              <a:lnSpc>
                <a:spcPct val="100000"/>
              </a:lnSpc>
              <a:spcBef>
                <a:spcPts val="300"/>
              </a:spcBef>
            </a:pPr>
            <a:r>
              <a:rPr sz="1250" b="1" i="1">
                <a:solidFill>
                  <a:srgbClr val="FFFFFF"/>
                </a:solidFill>
                <a:latin typeface="Calibri"/>
              </a:rPr>
              <a:t>“Coastal barangay households under-segregate plastic waste despite high volumes”</a:t>
            </a:r>
          </a:p>
        </p:txBody>
      </p:sp>
      <p:sp>
        <p:nvSpPr>
          <p:cNvPr id="14" name="Rounded Rectangle 13"/>
          <p:cNvSpPr/>
          <p:nvPr/>
        </p:nvSpPr>
        <p:spPr>
          <a:xfrm>
            <a:off x="3337560" y="4645152"/>
            <a:ext cx="6766560" cy="1170432"/>
          </a:xfrm>
          <a:prstGeom prst="roundRect">
            <a:avLst>
              <a:gd name="adj" fmla="val 14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a:lstStyle/>
          <a:p>
            <a:pPr algn="ctr">
              <a:lnSpc>
                <a:spcPct val="100000"/>
              </a:lnSpc>
            </a:pPr>
            <a:r>
              <a:rPr sz="1800" b="1" i="0">
                <a:solidFill>
                  <a:srgbClr val="FFFFFF"/>
                </a:solidFill>
                <a:latin typeface="Calibri"/>
              </a:rPr>
              <a:t>Question  </a:t>
            </a:r>
            <a:r>
              <a:rPr sz="1250" b="0" i="0">
                <a:solidFill>
                  <a:srgbClr val="EDF5F4"/>
                </a:solidFill>
                <a:latin typeface="Calibri"/>
              </a:rPr>
              <a:t>—  what the study will actually ask and answer</a:t>
            </a:r>
          </a:p>
          <a:p>
            <a:pPr algn="ctr">
              <a:lnSpc>
                <a:spcPct val="100000"/>
              </a:lnSpc>
              <a:spcBef>
                <a:spcPts val="300"/>
              </a:spcBef>
            </a:pPr>
            <a:r>
              <a:rPr sz="1250" b="1" i="1">
                <a:solidFill>
                  <a:srgbClr val="FFFFFF"/>
                </a:solidFill>
                <a:latin typeface="Calibri"/>
              </a:rPr>
              <a:t>“What factors influence plastic-segregation behavior among coastal barangay households?”</a:t>
            </a:r>
          </a:p>
        </p:txBody>
      </p:sp>
      <p:sp>
        <p:nvSpPr>
          <p:cNvPr id="15" name="TextBox 14"/>
          <p:cNvSpPr txBox="1"/>
          <p:nvPr/>
        </p:nvSpPr>
        <p:spPr>
          <a:xfrm>
            <a:off x="566928" y="5943600"/>
            <a:ext cx="11055096"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600" b="1" i="1">
                <a:solidFill>
                  <a:srgbClr val="112B34"/>
                </a:solidFill>
                <a:latin typeface="Calibri"/>
              </a:rPr>
              <a:t>Each level is narrower than the one before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C6E8C"/>
                </a:solidFill>
                <a:latin typeface="Calibri"/>
              </a:rPr>
              <a:t>PART 3 · FORMULATING THE PROBLEM — COMPETENCY 13</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Crafting a Strong Problem Statement</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15</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3 · Competency 13</a:t>
            </a:r>
          </a:p>
        </p:txBody>
      </p:sp>
      <p:sp>
        <p:nvSpPr>
          <p:cNvPr id="11" name="TextBox 10"/>
          <p:cNvSpPr txBox="1"/>
          <p:nvPr/>
        </p:nvSpPr>
        <p:spPr>
          <a:xfrm>
            <a:off x="566928" y="1600200"/>
            <a:ext cx="10515600" cy="310896"/>
          </a:xfrm>
          <a:prstGeom prst="rect">
            <a:avLst/>
          </a:prstGeom>
          <a:noFill/>
        </p:spPr>
        <p:txBody>
          <a:bodyPr wrap="square" anchor="t" lIns="0" rIns="0" tIns="0" bIns="0">
            <a:noAutofit/>
          </a:bodyPr>
          <a:lstStyle/>
          <a:p>
            <a:pPr algn="l">
              <a:lnSpc>
                <a:spcPct val="100000"/>
              </a:lnSpc>
              <a:spcBef>
                <a:spcPts val="0"/>
              </a:spcBef>
              <a:spcAft>
                <a:spcPts val="600"/>
              </a:spcAft>
            </a:pPr>
            <a:r>
              <a:rPr sz="1600" b="1" i="0">
                <a:solidFill>
                  <a:srgbClr val="112B34"/>
                </a:solidFill>
                <a:latin typeface="Calibri"/>
              </a:rPr>
              <a:t>A strong problem statement is:</a:t>
            </a:r>
          </a:p>
        </p:txBody>
      </p:sp>
      <p:sp>
        <p:nvSpPr>
          <p:cNvPr id="12" name="Rounded Rectangle 11"/>
          <p:cNvSpPr/>
          <p:nvPr/>
        </p:nvSpPr>
        <p:spPr>
          <a:xfrm>
            <a:off x="566928" y="2011680"/>
            <a:ext cx="5522976" cy="1554480"/>
          </a:xfrm>
          <a:prstGeom prst="roundRect">
            <a:avLst>
              <a:gd name="adj" fmla="val 6000"/>
            </a:avLst>
          </a:prstGeom>
          <a:solidFill>
            <a:srgbClr val="E3F1F0"/>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86384" y="2231136"/>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14" name="TextBox 13"/>
          <p:cNvSpPr txBox="1"/>
          <p:nvPr/>
        </p:nvSpPr>
        <p:spPr>
          <a:xfrm>
            <a:off x="1527048" y="2212848"/>
            <a:ext cx="4379976" cy="457200"/>
          </a:xfrm>
          <a:prstGeom prst="rect">
            <a:avLst/>
          </a:prstGeom>
          <a:noFill/>
        </p:spPr>
        <p:txBody>
          <a:bodyPr wrap="square" anchor="t" lIns="0" rIns="0" tIns="0" bIns="0">
            <a:noAutofit/>
          </a:bodyPr>
          <a:lstStyle/>
          <a:p>
            <a:pPr algn="l">
              <a:lnSpc>
                <a:spcPct val="100000"/>
              </a:lnSpc>
              <a:spcBef>
                <a:spcPts val="0"/>
              </a:spcBef>
              <a:spcAft>
                <a:spcPts val="600"/>
              </a:spcAft>
            </a:pPr>
            <a:r>
              <a:rPr sz="1800" b="1" i="0">
                <a:solidFill>
                  <a:srgbClr val="112B34"/>
                </a:solidFill>
                <a:latin typeface="Calibri"/>
              </a:rPr>
              <a:t>Clear</a:t>
            </a:r>
          </a:p>
        </p:txBody>
      </p:sp>
      <p:sp>
        <p:nvSpPr>
          <p:cNvPr id="15" name="TextBox 14"/>
          <p:cNvSpPr txBox="1"/>
          <p:nvPr/>
        </p:nvSpPr>
        <p:spPr>
          <a:xfrm>
            <a:off x="1527048" y="2670048"/>
            <a:ext cx="4334256" cy="777240"/>
          </a:xfrm>
          <a:prstGeom prst="rect">
            <a:avLst/>
          </a:prstGeom>
          <a:noFill/>
        </p:spPr>
        <p:txBody>
          <a:bodyPr wrap="square" anchor="t" lIns="0" rIns="0" tIns="0" bIns="0">
            <a:noAutofit/>
          </a:bodyPr>
          <a:lstStyle/>
          <a:p>
            <a:pPr algn="l">
              <a:lnSpc>
                <a:spcPct val="105000"/>
              </a:lnSpc>
              <a:spcBef>
                <a:spcPts val="0"/>
              </a:spcBef>
              <a:spcAft>
                <a:spcPts val="600"/>
              </a:spcAft>
            </a:pPr>
            <a:r>
              <a:rPr sz="1350" b="0" i="0">
                <a:solidFill>
                  <a:srgbClr val="112B34"/>
                </a:solidFill>
                <a:latin typeface="Calibri"/>
              </a:rPr>
              <a:t>stated in plain, specific language</a:t>
            </a:r>
          </a:p>
        </p:txBody>
      </p:sp>
      <p:sp>
        <p:nvSpPr>
          <p:cNvPr id="16" name="Rounded Rectangle 15"/>
          <p:cNvSpPr/>
          <p:nvPr/>
        </p:nvSpPr>
        <p:spPr>
          <a:xfrm>
            <a:off x="6099048" y="2011680"/>
            <a:ext cx="5522976" cy="1554480"/>
          </a:xfrm>
          <a:prstGeom prst="roundRect">
            <a:avLst>
              <a:gd name="adj" fmla="val 6000"/>
            </a:avLst>
          </a:prstGeom>
          <a:solidFill>
            <a:srgbClr val="E1EBEF"/>
          </a:solidFill>
          <a:ln w="15875">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18504" y="2231136"/>
            <a:ext cx="566928" cy="566928"/>
          </a:xfrm>
          <a:prstGeom prst="ellipse">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18" name="TextBox 17"/>
          <p:cNvSpPr txBox="1"/>
          <p:nvPr/>
        </p:nvSpPr>
        <p:spPr>
          <a:xfrm>
            <a:off x="7059168" y="2212848"/>
            <a:ext cx="4379976" cy="457200"/>
          </a:xfrm>
          <a:prstGeom prst="rect">
            <a:avLst/>
          </a:prstGeom>
          <a:noFill/>
        </p:spPr>
        <p:txBody>
          <a:bodyPr wrap="square" anchor="t" lIns="0" rIns="0" tIns="0" bIns="0">
            <a:noAutofit/>
          </a:bodyPr>
          <a:lstStyle/>
          <a:p>
            <a:pPr algn="l">
              <a:lnSpc>
                <a:spcPct val="100000"/>
              </a:lnSpc>
              <a:spcBef>
                <a:spcPts val="0"/>
              </a:spcBef>
              <a:spcAft>
                <a:spcPts val="600"/>
              </a:spcAft>
            </a:pPr>
            <a:r>
              <a:rPr sz="1800" b="1" i="0">
                <a:solidFill>
                  <a:srgbClr val="112B34"/>
                </a:solidFill>
                <a:latin typeface="Calibri"/>
              </a:rPr>
              <a:t>Specific</a:t>
            </a:r>
          </a:p>
        </p:txBody>
      </p:sp>
      <p:sp>
        <p:nvSpPr>
          <p:cNvPr id="19" name="TextBox 18"/>
          <p:cNvSpPr txBox="1"/>
          <p:nvPr/>
        </p:nvSpPr>
        <p:spPr>
          <a:xfrm>
            <a:off x="7059168" y="2670048"/>
            <a:ext cx="4334256" cy="777240"/>
          </a:xfrm>
          <a:prstGeom prst="rect">
            <a:avLst/>
          </a:prstGeom>
          <a:noFill/>
        </p:spPr>
        <p:txBody>
          <a:bodyPr wrap="square" anchor="t" lIns="0" rIns="0" tIns="0" bIns="0">
            <a:noAutofit/>
          </a:bodyPr>
          <a:lstStyle/>
          <a:p>
            <a:pPr algn="l">
              <a:lnSpc>
                <a:spcPct val="105000"/>
              </a:lnSpc>
              <a:spcBef>
                <a:spcPts val="0"/>
              </a:spcBef>
              <a:spcAft>
                <a:spcPts val="600"/>
              </a:spcAft>
            </a:pPr>
            <a:r>
              <a:rPr sz="1350" b="0" i="0">
                <a:solidFill>
                  <a:srgbClr val="112B34"/>
                </a:solidFill>
                <a:latin typeface="Calibri"/>
              </a:rPr>
              <a:t>names the population, context, and issue precisely</a:t>
            </a:r>
          </a:p>
        </p:txBody>
      </p:sp>
      <p:sp>
        <p:nvSpPr>
          <p:cNvPr id="20" name="Rounded Rectangle 19"/>
          <p:cNvSpPr/>
          <p:nvPr/>
        </p:nvSpPr>
        <p:spPr>
          <a:xfrm>
            <a:off x="566928" y="3703320"/>
            <a:ext cx="5522976" cy="1554480"/>
          </a:xfrm>
          <a:prstGeom prst="roundRect">
            <a:avLst>
              <a:gd name="adj" fmla="val 6000"/>
            </a:avLst>
          </a:prstGeom>
          <a:solidFill>
            <a:srgbClr val="FBEAE3"/>
          </a:solidFill>
          <a:ln w="15875">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6384" y="3922776"/>
            <a:ext cx="566928" cy="566928"/>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22" name="TextBox 21"/>
          <p:cNvSpPr txBox="1"/>
          <p:nvPr/>
        </p:nvSpPr>
        <p:spPr>
          <a:xfrm>
            <a:off x="1527048" y="3904487"/>
            <a:ext cx="4379976" cy="457200"/>
          </a:xfrm>
          <a:prstGeom prst="rect">
            <a:avLst/>
          </a:prstGeom>
          <a:noFill/>
        </p:spPr>
        <p:txBody>
          <a:bodyPr wrap="square" anchor="t" lIns="0" rIns="0" tIns="0" bIns="0">
            <a:noAutofit/>
          </a:bodyPr>
          <a:lstStyle/>
          <a:p>
            <a:pPr algn="l">
              <a:lnSpc>
                <a:spcPct val="100000"/>
              </a:lnSpc>
              <a:spcBef>
                <a:spcPts val="0"/>
              </a:spcBef>
              <a:spcAft>
                <a:spcPts val="600"/>
              </a:spcAft>
            </a:pPr>
            <a:r>
              <a:rPr sz="1800" b="1" i="0">
                <a:solidFill>
                  <a:srgbClr val="112B34"/>
                </a:solidFill>
                <a:latin typeface="Calibri"/>
              </a:rPr>
              <a:t>Researchable</a:t>
            </a:r>
          </a:p>
        </p:txBody>
      </p:sp>
      <p:sp>
        <p:nvSpPr>
          <p:cNvPr id="23" name="TextBox 22"/>
          <p:cNvSpPr txBox="1"/>
          <p:nvPr/>
        </p:nvSpPr>
        <p:spPr>
          <a:xfrm>
            <a:off x="1527048" y="4361688"/>
            <a:ext cx="4334256" cy="777240"/>
          </a:xfrm>
          <a:prstGeom prst="rect">
            <a:avLst/>
          </a:prstGeom>
          <a:noFill/>
        </p:spPr>
        <p:txBody>
          <a:bodyPr wrap="square" anchor="t" lIns="0" rIns="0" tIns="0" bIns="0">
            <a:noAutofit/>
          </a:bodyPr>
          <a:lstStyle/>
          <a:p>
            <a:pPr algn="l">
              <a:lnSpc>
                <a:spcPct val="105000"/>
              </a:lnSpc>
              <a:spcBef>
                <a:spcPts val="0"/>
              </a:spcBef>
              <a:spcAft>
                <a:spcPts val="600"/>
              </a:spcAft>
            </a:pPr>
            <a:r>
              <a:rPr sz="1350" b="0" i="0">
                <a:solidFill>
                  <a:srgbClr val="112B34"/>
                </a:solidFill>
                <a:latin typeface="Calibri"/>
              </a:rPr>
              <a:t>can realistically be studied with data you can collect</a:t>
            </a:r>
          </a:p>
        </p:txBody>
      </p:sp>
      <p:sp>
        <p:nvSpPr>
          <p:cNvPr id="24" name="Rounded Rectangle 23"/>
          <p:cNvSpPr/>
          <p:nvPr/>
        </p:nvSpPr>
        <p:spPr>
          <a:xfrm>
            <a:off x="6099048" y="3703320"/>
            <a:ext cx="5522976" cy="1554480"/>
          </a:xfrm>
          <a:prstGeom prst="roundRect">
            <a:avLst>
              <a:gd name="adj" fmla="val 6000"/>
            </a:avLst>
          </a:prstGeom>
          <a:solidFill>
            <a:srgbClr val="FBF2DD"/>
          </a:solidFill>
          <a:ln w="15875">
            <a:solidFill>
              <a:srgbClr val="E9B0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18504" y="3922776"/>
            <a:ext cx="566928" cy="566928"/>
          </a:xfrm>
          <a:prstGeom prst="ellipse">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26" name="TextBox 25"/>
          <p:cNvSpPr txBox="1"/>
          <p:nvPr/>
        </p:nvSpPr>
        <p:spPr>
          <a:xfrm>
            <a:off x="7059168" y="3904487"/>
            <a:ext cx="4379976" cy="457200"/>
          </a:xfrm>
          <a:prstGeom prst="rect">
            <a:avLst/>
          </a:prstGeom>
          <a:noFill/>
        </p:spPr>
        <p:txBody>
          <a:bodyPr wrap="square" anchor="t" lIns="0" rIns="0" tIns="0" bIns="0">
            <a:noAutofit/>
          </a:bodyPr>
          <a:lstStyle/>
          <a:p>
            <a:pPr algn="l">
              <a:lnSpc>
                <a:spcPct val="100000"/>
              </a:lnSpc>
              <a:spcBef>
                <a:spcPts val="0"/>
              </a:spcBef>
              <a:spcAft>
                <a:spcPts val="600"/>
              </a:spcAft>
            </a:pPr>
            <a:r>
              <a:rPr sz="1800" b="1" i="0">
                <a:solidFill>
                  <a:srgbClr val="112B34"/>
                </a:solidFill>
                <a:latin typeface="Calibri"/>
              </a:rPr>
              <a:t>Significant</a:t>
            </a:r>
          </a:p>
        </p:txBody>
      </p:sp>
      <p:sp>
        <p:nvSpPr>
          <p:cNvPr id="27" name="TextBox 26"/>
          <p:cNvSpPr txBox="1"/>
          <p:nvPr/>
        </p:nvSpPr>
        <p:spPr>
          <a:xfrm>
            <a:off x="7059168" y="4361688"/>
            <a:ext cx="4334256" cy="777240"/>
          </a:xfrm>
          <a:prstGeom prst="rect">
            <a:avLst/>
          </a:prstGeom>
          <a:noFill/>
        </p:spPr>
        <p:txBody>
          <a:bodyPr wrap="square" anchor="t" lIns="0" rIns="0" tIns="0" bIns="0">
            <a:noAutofit/>
          </a:bodyPr>
          <a:lstStyle/>
          <a:p>
            <a:pPr algn="l">
              <a:lnSpc>
                <a:spcPct val="105000"/>
              </a:lnSpc>
              <a:spcBef>
                <a:spcPts val="0"/>
              </a:spcBef>
              <a:spcAft>
                <a:spcPts val="600"/>
              </a:spcAft>
            </a:pPr>
            <a:r>
              <a:rPr sz="1350" b="0" i="0">
                <a:solidFill>
                  <a:srgbClr val="112B34"/>
                </a:solidFill>
                <a:latin typeface="Calibri"/>
              </a:rPr>
              <a:t>matters to a real audience (residents, policymakers, or researchers)</a:t>
            </a:r>
          </a:p>
        </p:txBody>
      </p:sp>
      <p:sp>
        <p:nvSpPr>
          <p:cNvPr id="28" name="Rounded Rectangle 27"/>
          <p:cNvSpPr/>
          <p:nvPr/>
        </p:nvSpPr>
        <p:spPr>
          <a:xfrm>
            <a:off x="566928" y="5468112"/>
            <a:ext cx="11055096" cy="713232"/>
          </a:xfrm>
          <a:prstGeom prst="roundRect">
            <a:avLst>
              <a:gd name="adj" fmla="val 1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468112"/>
            <a:ext cx="10424160" cy="713232"/>
          </a:xfrm>
          <a:prstGeom prst="rect">
            <a:avLst/>
          </a:prstGeom>
          <a:noFill/>
        </p:spPr>
        <p:txBody>
          <a:bodyPr wrap="square" anchor="ctr" lIns="0" rIns="0" tIns="0" bIns="0">
            <a:noAutofit/>
          </a:bodyPr>
          <a:lstStyle/>
          <a:p>
            <a:pPr algn="l">
              <a:lnSpc>
                <a:spcPct val="105000"/>
              </a:lnSpc>
              <a:spcBef>
                <a:spcPts val="0"/>
              </a:spcBef>
              <a:spcAft>
                <a:spcPts val="600"/>
              </a:spcAft>
            </a:pPr>
            <a:r>
              <a:rPr sz="1350" b="1" i="0">
                <a:solidFill>
                  <a:srgbClr val="2EC4B6"/>
                </a:solidFill>
                <a:latin typeface="Calibri"/>
              </a:rPr>
              <a:t>Recall — </a:t>
            </a:r>
            <a:r>
              <a:rPr sz="1350" b="0" i="1">
                <a:solidFill>
                  <a:srgbClr val="FFFFFF"/>
                </a:solidFill>
                <a:latin typeface="Calibri"/>
              </a:rPr>
              <a:t>you already used this checklist in Lecture 1 to judge research problems generally; now you’ll apply it to the gap you just identified.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C6E8C"/>
                </a:solidFill>
                <a:latin typeface="Calibri"/>
              </a:rPr>
              <a:t>PART 3 · FORMULATING THE PROBLEM — COMPETENCY 13</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Turning a Gap into a Problem</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16</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3 · Competency 13</a:t>
            </a:r>
          </a:p>
        </p:txBody>
      </p:sp>
      <p:sp>
        <p:nvSpPr>
          <p:cNvPr id="11" name="Rounded Rectangle 10"/>
          <p:cNvSpPr/>
          <p:nvPr/>
        </p:nvSpPr>
        <p:spPr>
          <a:xfrm>
            <a:off x="566928" y="1627632"/>
            <a:ext cx="11055096" cy="786384"/>
          </a:xfrm>
          <a:prstGeom prst="roundRect">
            <a:avLst>
              <a:gd name="adj" fmla="val 8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627632"/>
            <a:ext cx="10515600" cy="786384"/>
          </a:xfrm>
          <a:prstGeom prst="rect">
            <a:avLst/>
          </a:prstGeom>
          <a:noFill/>
        </p:spPr>
        <p:txBody>
          <a:bodyPr wrap="square" anchor="ctr" lIns="0" rIns="0" tIns="0" bIns="0">
            <a:noAutofit/>
          </a:bodyPr>
          <a:lstStyle/>
          <a:p>
            <a:pPr algn="l">
              <a:lnSpc>
                <a:spcPct val="102000"/>
              </a:lnSpc>
              <a:spcBef>
                <a:spcPts val="0"/>
              </a:spcBef>
              <a:spcAft>
                <a:spcPts val="600"/>
              </a:spcAft>
            </a:pPr>
            <a:r>
              <a:rPr sz="1350" b="1" i="0">
                <a:solidFill>
                  <a:srgbClr val="083D54"/>
                </a:solidFill>
                <a:latin typeface="Calibri"/>
              </a:rPr>
              <a:t>Gap statement:  </a:t>
            </a:r>
            <a:r>
              <a:rPr sz="1350" b="0" i="1">
                <a:solidFill>
                  <a:srgbClr val="112B34"/>
                </a:solidFill>
                <a:latin typeface="Calibri"/>
              </a:rPr>
              <a:t>“Few studies examine why coastal barangay households under-segregate plastic waste despite high reported volumes.”</a:t>
            </a:r>
          </a:p>
        </p:txBody>
      </p:sp>
      <p:sp>
        <p:nvSpPr>
          <p:cNvPr id="13" name="Rounded Rectangle 12"/>
          <p:cNvSpPr/>
          <p:nvPr/>
        </p:nvSpPr>
        <p:spPr>
          <a:xfrm>
            <a:off x="566928" y="2578608"/>
            <a:ext cx="5394960" cy="1371600"/>
          </a:xfrm>
          <a:prstGeom prst="roundRect">
            <a:avLst>
              <a:gd name="adj" fmla="val 6000"/>
            </a:avLst>
          </a:prstGeom>
          <a:solidFill>
            <a:srgbClr val="FBEAE3"/>
          </a:solidFill>
          <a:ln w="15875">
            <a:solidFill>
              <a:srgbClr val="D14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97480"/>
            <a:ext cx="4937760" cy="365760"/>
          </a:xfrm>
          <a:prstGeom prst="rect">
            <a:avLst/>
          </a:prstGeom>
          <a:noFill/>
        </p:spPr>
        <p:txBody>
          <a:bodyPr wrap="square" anchor="t" lIns="0" rIns="0" tIns="0" bIns="0">
            <a:noAutofit/>
          </a:bodyPr>
          <a:lstStyle/>
          <a:p>
            <a:pPr algn="l">
              <a:lnSpc>
                <a:spcPct val="100000"/>
              </a:lnSpc>
              <a:spcBef>
                <a:spcPts val="0"/>
              </a:spcBef>
              <a:spcAft>
                <a:spcPts val="600"/>
              </a:spcAft>
            </a:pPr>
            <a:r>
              <a:rPr sz="1600" b="1" i="0">
                <a:solidFill>
                  <a:srgbClr val="D1493B"/>
                </a:solidFill>
                <a:latin typeface="Calibri"/>
              </a:rPr>
              <a:t>✗  </a:t>
            </a:r>
            <a:r>
              <a:rPr sz="1450" b="1" i="0">
                <a:solidFill>
                  <a:srgbClr val="D1493B"/>
                </a:solidFill>
                <a:latin typeface="Calibri"/>
              </a:rPr>
              <a:t>Draft 1 (too broad)</a:t>
            </a:r>
          </a:p>
        </p:txBody>
      </p:sp>
      <p:sp>
        <p:nvSpPr>
          <p:cNvPr id="15" name="TextBox 14"/>
          <p:cNvSpPr txBox="1"/>
          <p:nvPr/>
        </p:nvSpPr>
        <p:spPr>
          <a:xfrm>
            <a:off x="822960" y="3108960"/>
            <a:ext cx="4937760" cy="777240"/>
          </a:xfrm>
          <a:prstGeom prst="rect">
            <a:avLst/>
          </a:prstGeom>
          <a:noFill/>
        </p:spPr>
        <p:txBody>
          <a:bodyPr wrap="square" anchor="ctr" lIns="0" rIns="0" tIns="0" bIns="0">
            <a:noAutofit/>
          </a:bodyPr>
          <a:lstStyle/>
          <a:p>
            <a:pPr algn="l">
              <a:lnSpc>
                <a:spcPct val="105000"/>
              </a:lnSpc>
              <a:spcBef>
                <a:spcPts val="0"/>
              </a:spcBef>
              <a:spcAft>
                <a:spcPts val="600"/>
              </a:spcAft>
            </a:pPr>
            <a:r>
              <a:rPr sz="1450" b="0" i="1" strike="sngStrike">
                <a:solidFill>
                  <a:srgbClr val="112B34"/>
                </a:solidFill>
                <a:latin typeface="Calibri"/>
              </a:rPr>
              <a:t>“This study is about plastic waste in coastal areas.”</a:t>
            </a:r>
          </a:p>
        </p:txBody>
      </p:sp>
      <p:sp>
        <p:nvSpPr>
          <p:cNvPr id="16" name="Right Arrow 15"/>
          <p:cNvSpPr/>
          <p:nvPr/>
        </p:nvSpPr>
        <p:spPr>
          <a:xfrm>
            <a:off x="6053328" y="3063240"/>
            <a:ext cx="548640" cy="457200"/>
          </a:xfrm>
          <a:prstGeom prst="rightArrow">
            <a:avLst/>
          </a:prstGeom>
          <a:solidFill>
            <a:srgbClr val="1C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20840" y="2578608"/>
            <a:ext cx="4901184" cy="1371600"/>
          </a:xfrm>
          <a:prstGeom prst="roundRect">
            <a:avLst>
              <a:gd name="adj" fmla="val 6000"/>
            </a:avLst>
          </a:prstGeom>
          <a:solidFill>
            <a:srgbClr val="E4F3E8"/>
          </a:solidFill>
          <a:ln w="19050">
            <a:solidFill>
              <a:srgbClr val="3CA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67728" y="2697480"/>
            <a:ext cx="4434840" cy="365760"/>
          </a:xfrm>
          <a:prstGeom prst="rect">
            <a:avLst/>
          </a:prstGeom>
          <a:noFill/>
        </p:spPr>
        <p:txBody>
          <a:bodyPr wrap="square" anchor="t" lIns="0" rIns="0" tIns="0" bIns="0">
            <a:noAutofit/>
          </a:bodyPr>
          <a:lstStyle/>
          <a:p>
            <a:pPr algn="l">
              <a:lnSpc>
                <a:spcPct val="100000"/>
              </a:lnSpc>
              <a:spcBef>
                <a:spcPts val="0"/>
              </a:spcBef>
              <a:spcAft>
                <a:spcPts val="600"/>
              </a:spcAft>
            </a:pPr>
            <a:r>
              <a:rPr sz="1600" b="1" i="0">
                <a:solidFill>
                  <a:srgbClr val="3CA55C"/>
                </a:solidFill>
                <a:latin typeface="Calibri"/>
              </a:rPr>
              <a:t>✓  </a:t>
            </a:r>
            <a:r>
              <a:rPr sz="1450" b="1" i="0">
                <a:solidFill>
                  <a:srgbClr val="2A7A40"/>
                </a:solidFill>
                <a:latin typeface="Calibri"/>
              </a:rPr>
              <a:t>Draft 2 (checklist-tested)</a:t>
            </a:r>
          </a:p>
        </p:txBody>
      </p:sp>
      <p:sp>
        <p:nvSpPr>
          <p:cNvPr id="19" name="TextBox 18"/>
          <p:cNvSpPr txBox="1"/>
          <p:nvPr/>
        </p:nvSpPr>
        <p:spPr>
          <a:xfrm>
            <a:off x="6967728" y="3072384"/>
            <a:ext cx="4480560" cy="841248"/>
          </a:xfrm>
          <a:prstGeom prst="rect">
            <a:avLst/>
          </a:prstGeom>
          <a:noFill/>
        </p:spPr>
        <p:txBody>
          <a:bodyPr wrap="square" anchor="ctr" lIns="0" rIns="0" tIns="0" bIns="0">
            <a:noAutofit/>
          </a:bodyPr>
          <a:lstStyle/>
          <a:p>
            <a:pPr algn="l">
              <a:lnSpc>
                <a:spcPct val="103000"/>
              </a:lnSpc>
              <a:spcBef>
                <a:spcPts val="0"/>
              </a:spcBef>
              <a:spcAft>
                <a:spcPts val="600"/>
              </a:spcAft>
            </a:pPr>
            <a:r>
              <a:rPr sz="1300" b="0" i="1">
                <a:solidFill>
                  <a:srgbClr val="112B34"/>
                </a:solidFill>
                <a:latin typeface="Calibri"/>
              </a:rPr>
              <a:t>“This study examines the household-level factors influencing plastic-segregation compliance among residents of a coastal barangay in the Philippines.”</a:t>
            </a:r>
          </a:p>
        </p:txBody>
      </p:sp>
      <p:sp>
        <p:nvSpPr>
          <p:cNvPr id="20" name="TextBox 19"/>
          <p:cNvSpPr txBox="1"/>
          <p:nvPr/>
        </p:nvSpPr>
        <p:spPr>
          <a:xfrm>
            <a:off x="566928" y="4160520"/>
            <a:ext cx="10972800" cy="310896"/>
          </a:xfrm>
          <a:prstGeom prst="rect">
            <a:avLst/>
          </a:prstGeom>
          <a:noFill/>
        </p:spPr>
        <p:txBody>
          <a:bodyPr wrap="square" anchor="t" lIns="0" rIns="0" tIns="0" bIns="0">
            <a:noAutofit/>
          </a:bodyPr>
          <a:lstStyle/>
          <a:p>
            <a:pPr algn="l">
              <a:lnSpc>
                <a:spcPct val="100000"/>
              </a:lnSpc>
              <a:spcBef>
                <a:spcPts val="0"/>
              </a:spcBef>
              <a:spcAft>
                <a:spcPts val="600"/>
              </a:spcAft>
            </a:pPr>
            <a:r>
              <a:rPr sz="1450" b="1" i="0">
                <a:solidFill>
                  <a:srgbClr val="112B34"/>
                </a:solidFill>
                <a:latin typeface="Calibri"/>
              </a:rPr>
              <a:t>Draft 2 passes all four:</a:t>
            </a:r>
          </a:p>
        </p:txBody>
      </p:sp>
      <p:sp>
        <p:nvSpPr>
          <p:cNvPr id="21" name="Rounded Rectangle 20"/>
          <p:cNvSpPr/>
          <p:nvPr/>
        </p:nvSpPr>
        <p:spPr>
          <a:xfrm>
            <a:off x="566928" y="4553712"/>
            <a:ext cx="2688336" cy="1143000"/>
          </a:xfrm>
          <a:prstGeom prst="roundRect">
            <a:avLst>
              <a:gd name="adj" fmla="val 8000"/>
            </a:avLst>
          </a:prstGeom>
          <a:solidFill>
            <a:srgbClr val="FFFFFF"/>
          </a:solidFill>
          <a:ln w="12700">
            <a:solidFill>
              <a:srgbClr val="3CA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681728"/>
            <a:ext cx="2688336"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400" b="1" i="0">
                <a:solidFill>
                  <a:srgbClr val="3CA55C"/>
                </a:solidFill>
                <a:latin typeface="Calibri"/>
              </a:rPr>
              <a:t>✓  </a:t>
            </a:r>
            <a:r>
              <a:rPr sz="1500" b="1" i="0">
                <a:solidFill>
                  <a:srgbClr val="112B34"/>
                </a:solidFill>
                <a:latin typeface="Calibri"/>
              </a:rPr>
              <a:t>Clear</a:t>
            </a:r>
          </a:p>
        </p:txBody>
      </p:sp>
      <p:sp>
        <p:nvSpPr>
          <p:cNvPr id="23" name="Rounded Rectangle 22"/>
          <p:cNvSpPr/>
          <p:nvPr/>
        </p:nvSpPr>
        <p:spPr>
          <a:xfrm>
            <a:off x="3355848" y="4553712"/>
            <a:ext cx="2688336" cy="1143000"/>
          </a:xfrm>
          <a:prstGeom prst="roundRect">
            <a:avLst>
              <a:gd name="adj" fmla="val 8000"/>
            </a:avLst>
          </a:prstGeom>
          <a:solidFill>
            <a:srgbClr val="FFFFFF"/>
          </a:solidFill>
          <a:ln w="12700">
            <a:solidFill>
              <a:srgbClr val="3CA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55848" y="4681728"/>
            <a:ext cx="2688336"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400" b="1" i="0">
                <a:solidFill>
                  <a:srgbClr val="3CA55C"/>
                </a:solidFill>
                <a:latin typeface="Calibri"/>
              </a:rPr>
              <a:t>✓  </a:t>
            </a:r>
            <a:r>
              <a:rPr sz="1500" b="1" i="0">
                <a:solidFill>
                  <a:srgbClr val="112B34"/>
                </a:solidFill>
                <a:latin typeface="Calibri"/>
              </a:rPr>
              <a:t>Specific</a:t>
            </a:r>
          </a:p>
        </p:txBody>
      </p:sp>
      <p:sp>
        <p:nvSpPr>
          <p:cNvPr id="25" name="TextBox 24"/>
          <p:cNvSpPr txBox="1"/>
          <p:nvPr/>
        </p:nvSpPr>
        <p:spPr>
          <a:xfrm>
            <a:off x="3493008" y="5074920"/>
            <a:ext cx="2414016" cy="548640"/>
          </a:xfrm>
          <a:prstGeom prst="rect">
            <a:avLst/>
          </a:prstGeom>
          <a:noFill/>
        </p:spPr>
        <p:txBody>
          <a:bodyPr wrap="square" anchor="ctr" lIns="0" rIns="0" tIns="0" bIns="0">
            <a:noAutofit/>
          </a:bodyPr>
          <a:lstStyle/>
          <a:p>
            <a:pPr algn="ctr">
              <a:lnSpc>
                <a:spcPct val="100000"/>
              </a:lnSpc>
              <a:spcBef>
                <a:spcPts val="0"/>
              </a:spcBef>
              <a:spcAft>
                <a:spcPts val="600"/>
              </a:spcAft>
            </a:pPr>
            <a:r>
              <a:rPr sz="1150" b="0" i="1">
                <a:solidFill>
                  <a:srgbClr val="5C747D"/>
                </a:solidFill>
                <a:latin typeface="Calibri"/>
              </a:rPr>
              <a:t>household level, coastal barangay</a:t>
            </a:r>
          </a:p>
        </p:txBody>
      </p:sp>
      <p:sp>
        <p:nvSpPr>
          <p:cNvPr id="26" name="Rounded Rectangle 25"/>
          <p:cNvSpPr/>
          <p:nvPr/>
        </p:nvSpPr>
        <p:spPr>
          <a:xfrm>
            <a:off x="6144768" y="4553712"/>
            <a:ext cx="2688336" cy="1143000"/>
          </a:xfrm>
          <a:prstGeom prst="roundRect">
            <a:avLst>
              <a:gd name="adj" fmla="val 8000"/>
            </a:avLst>
          </a:prstGeom>
          <a:solidFill>
            <a:srgbClr val="FFFFFF"/>
          </a:solidFill>
          <a:ln w="12700">
            <a:solidFill>
              <a:srgbClr val="3CA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4768" y="4681728"/>
            <a:ext cx="2688336"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400" b="1" i="0">
                <a:solidFill>
                  <a:srgbClr val="3CA55C"/>
                </a:solidFill>
                <a:latin typeface="Calibri"/>
              </a:rPr>
              <a:t>✓  </a:t>
            </a:r>
            <a:r>
              <a:rPr sz="1500" b="1" i="0">
                <a:solidFill>
                  <a:srgbClr val="112B34"/>
                </a:solidFill>
                <a:latin typeface="Calibri"/>
              </a:rPr>
              <a:t>Researchable</a:t>
            </a:r>
          </a:p>
        </p:txBody>
      </p:sp>
      <p:sp>
        <p:nvSpPr>
          <p:cNvPr id="28" name="TextBox 27"/>
          <p:cNvSpPr txBox="1"/>
          <p:nvPr/>
        </p:nvSpPr>
        <p:spPr>
          <a:xfrm>
            <a:off x="6281928" y="5074920"/>
            <a:ext cx="2414016" cy="548640"/>
          </a:xfrm>
          <a:prstGeom prst="rect">
            <a:avLst/>
          </a:prstGeom>
          <a:noFill/>
        </p:spPr>
        <p:txBody>
          <a:bodyPr wrap="square" anchor="ctr" lIns="0" rIns="0" tIns="0" bIns="0">
            <a:noAutofit/>
          </a:bodyPr>
          <a:lstStyle/>
          <a:p>
            <a:pPr algn="ctr">
              <a:lnSpc>
                <a:spcPct val="100000"/>
              </a:lnSpc>
              <a:spcBef>
                <a:spcPts val="0"/>
              </a:spcBef>
              <a:spcAft>
                <a:spcPts val="600"/>
              </a:spcAft>
            </a:pPr>
            <a:r>
              <a:rPr sz="1150" b="0" i="1">
                <a:solidFill>
                  <a:srgbClr val="5C747D"/>
                </a:solidFill>
                <a:latin typeface="Calibri"/>
              </a:rPr>
              <a:t>factors can be surveyed</a:t>
            </a:r>
          </a:p>
        </p:txBody>
      </p:sp>
      <p:sp>
        <p:nvSpPr>
          <p:cNvPr id="29" name="Rounded Rectangle 28"/>
          <p:cNvSpPr/>
          <p:nvPr/>
        </p:nvSpPr>
        <p:spPr>
          <a:xfrm>
            <a:off x="8933688" y="4553712"/>
            <a:ext cx="2688336" cy="1143000"/>
          </a:xfrm>
          <a:prstGeom prst="roundRect">
            <a:avLst>
              <a:gd name="adj" fmla="val 8000"/>
            </a:avLst>
          </a:prstGeom>
          <a:solidFill>
            <a:srgbClr val="FFFFFF"/>
          </a:solidFill>
          <a:ln w="12700">
            <a:solidFill>
              <a:srgbClr val="3CA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33688" y="4681728"/>
            <a:ext cx="2688336"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400" b="1" i="0">
                <a:solidFill>
                  <a:srgbClr val="3CA55C"/>
                </a:solidFill>
                <a:latin typeface="Calibri"/>
              </a:rPr>
              <a:t>✓  </a:t>
            </a:r>
            <a:r>
              <a:rPr sz="1500" b="1" i="0">
                <a:solidFill>
                  <a:srgbClr val="112B34"/>
                </a:solidFill>
                <a:latin typeface="Calibri"/>
              </a:rPr>
              <a:t>Significant</a:t>
            </a:r>
          </a:p>
        </p:txBody>
      </p:sp>
      <p:sp>
        <p:nvSpPr>
          <p:cNvPr id="31" name="TextBox 30"/>
          <p:cNvSpPr txBox="1"/>
          <p:nvPr/>
        </p:nvSpPr>
        <p:spPr>
          <a:xfrm>
            <a:off x="9070848" y="5074920"/>
            <a:ext cx="2414016" cy="548640"/>
          </a:xfrm>
          <a:prstGeom prst="rect">
            <a:avLst/>
          </a:prstGeom>
          <a:noFill/>
        </p:spPr>
        <p:txBody>
          <a:bodyPr wrap="square" anchor="ctr" lIns="0" rIns="0" tIns="0" bIns="0">
            <a:noAutofit/>
          </a:bodyPr>
          <a:lstStyle/>
          <a:p>
            <a:pPr algn="ctr">
              <a:lnSpc>
                <a:spcPct val="100000"/>
              </a:lnSpc>
              <a:spcBef>
                <a:spcPts val="0"/>
              </a:spcBef>
              <a:spcAft>
                <a:spcPts val="600"/>
              </a:spcAft>
            </a:pPr>
            <a:r>
              <a:rPr sz="1150" b="0" i="1">
                <a:solidFill>
                  <a:srgbClr val="5C747D"/>
                </a:solidFill>
                <a:latin typeface="Calibri"/>
              </a:rPr>
              <a:t>informs local waste policy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3 · FORMULATING THE PROBLEM — COMPETENCY 13</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Practice: Revise a Weak Statement</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481328"/>
            <a:ext cx="1965960" cy="329184"/>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  PRACTICE · PAIR ACTIVITY</a:t>
            </a: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17</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3 · Competency 13</a:t>
            </a:r>
          </a:p>
        </p:txBody>
      </p:sp>
      <p:sp>
        <p:nvSpPr>
          <p:cNvPr id="12" name="TextBox 11"/>
          <p:cNvSpPr txBox="1"/>
          <p:nvPr/>
        </p:nvSpPr>
        <p:spPr>
          <a:xfrm>
            <a:off x="566928" y="1965960"/>
            <a:ext cx="10972800" cy="310896"/>
          </a:xfrm>
          <a:prstGeom prst="rect">
            <a:avLst/>
          </a:prstGeom>
          <a:noFill/>
        </p:spPr>
        <p:txBody>
          <a:bodyPr wrap="square" anchor="t" lIns="0" rIns="0" tIns="0" bIns="0">
            <a:noAutofit/>
          </a:bodyPr>
          <a:lstStyle/>
          <a:p>
            <a:pPr algn="l">
              <a:lnSpc>
                <a:spcPct val="100000"/>
              </a:lnSpc>
              <a:spcBef>
                <a:spcPts val="0"/>
              </a:spcBef>
              <a:spcAft>
                <a:spcPts val="600"/>
              </a:spcAft>
            </a:pPr>
            <a:r>
              <a:rPr sz="1550" b="1" i="0">
                <a:solidFill>
                  <a:srgbClr val="D1493B"/>
                </a:solidFill>
                <a:latin typeface="Calibri"/>
              </a:rPr>
              <a:t>Weak problem statement:</a:t>
            </a:r>
          </a:p>
        </p:txBody>
      </p:sp>
      <p:sp>
        <p:nvSpPr>
          <p:cNvPr id="13" name="Rounded Rectangle 12"/>
          <p:cNvSpPr/>
          <p:nvPr/>
        </p:nvSpPr>
        <p:spPr>
          <a:xfrm>
            <a:off x="566928" y="2377440"/>
            <a:ext cx="11055096" cy="1234440"/>
          </a:xfrm>
          <a:prstGeom prst="roundRect">
            <a:avLst>
              <a:gd name="adj" fmla="val 5000"/>
            </a:avLst>
          </a:prstGeom>
          <a:solidFill>
            <a:srgbClr val="FBEAE3"/>
          </a:solidFill>
          <a:ln w="19050">
            <a:solidFill>
              <a:srgbClr val="D14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1234440"/>
          </a:xfrm>
          <a:prstGeom prst="rect">
            <a:avLst/>
          </a:prstGeom>
          <a:noFill/>
        </p:spPr>
        <p:txBody>
          <a:bodyPr wrap="square" anchor="ctr" lIns="0" rIns="0" tIns="0" bIns="0">
            <a:noAutofit/>
          </a:bodyPr>
          <a:lstStyle/>
          <a:p>
            <a:pPr algn="l">
              <a:lnSpc>
                <a:spcPct val="100000"/>
              </a:lnSpc>
              <a:spcBef>
                <a:spcPts val="0"/>
              </a:spcBef>
              <a:spcAft>
                <a:spcPts val="600"/>
              </a:spcAft>
            </a:pPr>
            <a:r>
              <a:rPr sz="2200" b="1" i="0">
                <a:solidFill>
                  <a:srgbClr val="D1493B"/>
                </a:solidFill>
                <a:latin typeface="Calibri"/>
              </a:rPr>
              <a:t>✗   </a:t>
            </a:r>
            <a:r>
              <a:rPr sz="2100" b="0" i="1">
                <a:solidFill>
                  <a:srgbClr val="112B34"/>
                </a:solidFill>
                <a:latin typeface="Calibri"/>
              </a:rPr>
              <a:t>“This study is about how people feel about dengue in the city.”</a:t>
            </a:r>
          </a:p>
        </p:txBody>
      </p:sp>
      <p:sp>
        <p:nvSpPr>
          <p:cNvPr id="15" name="TextBox 14"/>
          <p:cNvSpPr txBox="1"/>
          <p:nvPr/>
        </p:nvSpPr>
        <p:spPr>
          <a:xfrm>
            <a:off x="566928" y="3886200"/>
            <a:ext cx="6583680" cy="1463040"/>
          </a:xfrm>
          <a:prstGeom prst="rect">
            <a:avLst/>
          </a:prstGeom>
          <a:noFill/>
        </p:spPr>
        <p:txBody>
          <a:bodyPr wrap="square" anchor="t" lIns="0" rIns="0" tIns="0" bIns="0">
            <a:noAutofit/>
          </a:bodyPr>
          <a:lstStyle/>
          <a:p>
            <a:pPr algn="l" marL="274320" indent="-274320">
              <a:lnSpc>
                <a:spcPct val="106000"/>
              </a:lnSpc>
              <a:spcBef>
                <a:spcPts val="0"/>
              </a:spcBef>
              <a:spcAft>
                <a:spcPts val="800"/>
              </a:spcAft>
              <a:buClr>
                <a:srgbClr val="1F8A8A"/>
              </a:buClr>
              <a:buSzPct val="110000"/>
              <a:buFont typeface="Calibri"/>
              <a:buChar char="•"/>
            </a:pPr>
            <a:r>
              <a:rPr sz="1600" b="0" i="0">
                <a:solidFill>
                  <a:srgbClr val="112B34"/>
                </a:solidFill>
                <a:latin typeface="Calibri"/>
              </a:rPr>
              <a:t>In pairs, revise it using the </a:t>
            </a:r>
            <a:r>
              <a:rPr sz="1600" b="1" i="0">
                <a:solidFill>
                  <a:srgbClr val="E86F51"/>
                </a:solidFill>
                <a:latin typeface="Calibri"/>
              </a:rPr>
              <a:t>four-point checklist (Slide 15).</a:t>
            </a:r>
          </a:p>
          <a:p>
            <a:pPr algn="l" marL="274320" indent="-274320">
              <a:lnSpc>
                <a:spcPct val="106000"/>
              </a:lnSpc>
              <a:spcBef>
                <a:spcPts val="0"/>
              </a:spcBef>
              <a:spcAft>
                <a:spcPts val="600"/>
              </a:spcAft>
              <a:buClr>
                <a:srgbClr val="1F8A8A"/>
              </a:buClr>
              <a:buSzPct val="110000"/>
              <a:buFont typeface="Calibri"/>
              <a:buChar char="•"/>
            </a:pPr>
            <a:r>
              <a:rPr sz="1600" b="0" i="0">
                <a:solidFill>
                  <a:srgbClr val="112B34"/>
                </a:solidFill>
                <a:latin typeface="Calibri"/>
              </a:rPr>
              <a:t>Be ready to defend your revision against each criterion, out loud.</a:t>
            </a:r>
          </a:p>
        </p:txBody>
      </p:sp>
      <p:sp>
        <p:nvSpPr>
          <p:cNvPr id="16" name="TextBox 15"/>
          <p:cNvSpPr txBox="1"/>
          <p:nvPr/>
        </p:nvSpPr>
        <p:spPr>
          <a:xfrm>
            <a:off x="7498079" y="3840480"/>
            <a:ext cx="4114800" cy="310896"/>
          </a:xfrm>
          <a:prstGeom prst="rect">
            <a:avLst/>
          </a:prstGeom>
          <a:noFill/>
        </p:spPr>
        <p:txBody>
          <a:bodyPr wrap="square" anchor="t" lIns="0" rIns="0" tIns="0" bIns="0">
            <a:noAutofit/>
          </a:bodyPr>
          <a:lstStyle/>
          <a:p>
            <a:pPr algn="l">
              <a:lnSpc>
                <a:spcPct val="100000"/>
              </a:lnSpc>
              <a:spcBef>
                <a:spcPts val="0"/>
              </a:spcBef>
              <a:spcAft>
                <a:spcPts val="600"/>
              </a:spcAft>
            </a:pPr>
            <a:r>
              <a:rPr sz="1350" b="1" i="0">
                <a:solidFill>
                  <a:srgbClr val="112B34"/>
                </a:solidFill>
                <a:latin typeface="Calibri"/>
              </a:rPr>
              <a:t>Check against all four:</a:t>
            </a:r>
          </a:p>
        </p:txBody>
      </p:sp>
      <p:sp>
        <p:nvSpPr>
          <p:cNvPr id="17" name="Rounded Rectangle 16"/>
          <p:cNvSpPr/>
          <p:nvPr/>
        </p:nvSpPr>
        <p:spPr>
          <a:xfrm>
            <a:off x="7498079" y="4224528"/>
            <a:ext cx="3931920" cy="384048"/>
          </a:xfrm>
          <a:prstGeom prst="roundRect">
            <a:avLst>
              <a:gd name="adj" fmla="val 30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350" b="1" i="0">
                <a:solidFill>
                  <a:srgbClr val="1F8A8A"/>
                </a:solidFill>
                <a:latin typeface="Calibri"/>
              </a:rPr>
              <a:t>✓  </a:t>
            </a:r>
            <a:r>
              <a:rPr sz="1350" b="1" i="0">
                <a:solidFill>
                  <a:srgbClr val="112B34"/>
                </a:solidFill>
                <a:latin typeface="Calibri"/>
              </a:rPr>
              <a:t>Clear</a:t>
            </a:r>
          </a:p>
        </p:txBody>
      </p:sp>
      <p:sp>
        <p:nvSpPr>
          <p:cNvPr id="18" name="Rounded Rectangle 17"/>
          <p:cNvSpPr/>
          <p:nvPr/>
        </p:nvSpPr>
        <p:spPr>
          <a:xfrm>
            <a:off x="7498079" y="4681728"/>
            <a:ext cx="3931920" cy="384048"/>
          </a:xfrm>
          <a:prstGeom prst="roundRect">
            <a:avLst>
              <a:gd name="adj" fmla="val 30000"/>
            </a:avLst>
          </a:prstGeom>
          <a:solidFill>
            <a:srgbClr val="FFFFFF"/>
          </a:solidFill>
          <a:ln w="15875">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350" b="1" i="0">
                <a:solidFill>
                  <a:srgbClr val="0C536B"/>
                </a:solidFill>
                <a:latin typeface="Calibri"/>
              </a:rPr>
              <a:t>✓  </a:t>
            </a:r>
            <a:r>
              <a:rPr sz="1350" b="1" i="0">
                <a:solidFill>
                  <a:srgbClr val="112B34"/>
                </a:solidFill>
                <a:latin typeface="Calibri"/>
              </a:rPr>
              <a:t>Specific</a:t>
            </a:r>
          </a:p>
        </p:txBody>
      </p:sp>
      <p:sp>
        <p:nvSpPr>
          <p:cNvPr id="19" name="Rounded Rectangle 18"/>
          <p:cNvSpPr/>
          <p:nvPr/>
        </p:nvSpPr>
        <p:spPr>
          <a:xfrm>
            <a:off x="7498079" y="5138928"/>
            <a:ext cx="3931920" cy="384048"/>
          </a:xfrm>
          <a:prstGeom prst="roundRect">
            <a:avLst>
              <a:gd name="adj" fmla="val 30000"/>
            </a:avLst>
          </a:prstGeom>
          <a:solidFill>
            <a:srgbClr val="FFFFFF"/>
          </a:solidFill>
          <a:ln w="15875">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350" b="1" i="0">
                <a:solidFill>
                  <a:srgbClr val="E86F51"/>
                </a:solidFill>
                <a:latin typeface="Calibri"/>
              </a:rPr>
              <a:t>✓  </a:t>
            </a:r>
            <a:r>
              <a:rPr sz="1350" b="1" i="0">
                <a:solidFill>
                  <a:srgbClr val="112B34"/>
                </a:solidFill>
                <a:latin typeface="Calibri"/>
              </a:rPr>
              <a:t>Researchable</a:t>
            </a:r>
          </a:p>
        </p:txBody>
      </p:sp>
      <p:sp>
        <p:nvSpPr>
          <p:cNvPr id="20" name="Rounded Rectangle 19"/>
          <p:cNvSpPr/>
          <p:nvPr/>
        </p:nvSpPr>
        <p:spPr>
          <a:xfrm>
            <a:off x="7498079" y="5596128"/>
            <a:ext cx="3931920" cy="384048"/>
          </a:xfrm>
          <a:prstGeom prst="roundRect">
            <a:avLst>
              <a:gd name="adj" fmla="val 30000"/>
            </a:avLst>
          </a:prstGeom>
          <a:solidFill>
            <a:srgbClr val="FFFFFF"/>
          </a:solidFill>
          <a:ln w="15875">
            <a:solidFill>
              <a:srgbClr val="E9B04E"/>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350" b="1" i="0">
                <a:solidFill>
                  <a:srgbClr val="E9B04E"/>
                </a:solidFill>
                <a:latin typeface="Calibri"/>
              </a:rPr>
              <a:t>✓  </a:t>
            </a:r>
            <a:r>
              <a:rPr sz="1350" b="1" i="0">
                <a:solidFill>
                  <a:srgbClr val="112B34"/>
                </a:solidFill>
                <a:latin typeface="Calibri"/>
              </a:rPr>
              <a:t>Significant</a:t>
            </a:r>
          </a:p>
        </p:txBody>
      </p:sp>
      <p:sp>
        <p:nvSpPr>
          <p:cNvPr id="21" name="Rounded Rectangle 20"/>
          <p:cNvSpPr/>
          <p:nvPr/>
        </p:nvSpPr>
        <p:spPr>
          <a:xfrm>
            <a:off x="566928" y="5532120"/>
            <a:ext cx="6583680" cy="640080"/>
          </a:xfrm>
          <a:prstGeom prst="roundRect">
            <a:avLst>
              <a:gd name="adj" fmla="val 12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532120"/>
            <a:ext cx="6126480" cy="640080"/>
          </a:xfrm>
          <a:prstGeom prst="rect">
            <a:avLst/>
          </a:prstGeom>
          <a:noFill/>
        </p:spPr>
        <p:txBody>
          <a:bodyPr wrap="square" anchor="ctr" lIns="0" rIns="0" tIns="0" bIns="0">
            <a:noAutofit/>
          </a:bodyPr>
          <a:lstStyle/>
          <a:p>
            <a:pPr algn="l">
              <a:lnSpc>
                <a:spcPct val="100000"/>
              </a:lnSpc>
              <a:spcBef>
                <a:spcPts val="0"/>
              </a:spcBef>
              <a:spcAft>
                <a:spcPts val="600"/>
              </a:spcAft>
            </a:pPr>
            <a:r>
              <a:rPr sz="1250" b="1" i="0">
                <a:solidFill>
                  <a:srgbClr val="C95338"/>
                </a:solidFill>
                <a:latin typeface="Calibri"/>
              </a:rPr>
              <a:t>Watch out: </a:t>
            </a:r>
            <a:r>
              <a:rPr sz="1250" b="0" i="1">
                <a:solidFill>
                  <a:srgbClr val="112B34"/>
                </a:solidFill>
                <a:latin typeface="Calibri"/>
              </a:rPr>
              <a:t>narrow the variable, not just the population.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C7B9E"/>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From Problem to Guiding Questions</a:t>
            </a:r>
          </a:p>
        </p:txBody>
      </p:sp>
      <p:sp>
        <p:nvSpPr>
          <p:cNvPr id="6" name="Rectangle 5"/>
          <p:cNvSpPr/>
          <p:nvPr/>
        </p:nvSpPr>
        <p:spPr>
          <a:xfrm>
            <a:off x="566928" y="1389888"/>
            <a:ext cx="2834640" cy="41148"/>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18</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sp>
        <p:nvSpPr>
          <p:cNvPr id="10" name="TextBox 9"/>
          <p:cNvSpPr txBox="1"/>
          <p:nvPr/>
        </p:nvSpPr>
        <p:spPr>
          <a:xfrm>
            <a:off x="566928" y="1874519"/>
            <a:ext cx="10972800" cy="2011680"/>
          </a:xfrm>
          <a:prstGeom prst="rect">
            <a:avLst/>
          </a:prstGeom>
          <a:noFill/>
        </p:spPr>
        <p:txBody>
          <a:bodyPr wrap="square" anchor="t" lIns="0" rIns="0" tIns="0" bIns="0">
            <a:noAutofit/>
          </a:bodyPr>
          <a:lstStyle/>
          <a:p>
            <a:pPr algn="l" marL="274320" indent="-274320">
              <a:lnSpc>
                <a:spcPct val="106000"/>
              </a:lnSpc>
              <a:spcBef>
                <a:spcPts val="0"/>
              </a:spcBef>
              <a:spcAft>
                <a:spcPts val="1200"/>
              </a:spcAft>
              <a:buClr>
                <a:srgbClr val="1F8A8A"/>
              </a:buClr>
              <a:buSzPct val="110000"/>
              <a:buFont typeface="Calibri"/>
              <a:buChar char="•"/>
            </a:pPr>
            <a:r>
              <a:rPr sz="1700" b="0" i="0">
                <a:solidFill>
                  <a:srgbClr val="112B34"/>
                </a:solidFill>
                <a:latin typeface="Calibri"/>
              </a:rPr>
              <a:t>A problem statement tells the reader </a:t>
            </a:r>
            <a:r>
              <a:rPr sz="1700" b="1" i="0">
                <a:solidFill>
                  <a:srgbClr val="2C7B9E"/>
                </a:solidFill>
                <a:latin typeface="Calibri"/>
              </a:rPr>
              <a:t>what</a:t>
            </a:r>
            <a:r>
              <a:rPr sz="1700" b="0" i="0">
                <a:solidFill>
                  <a:srgbClr val="112B34"/>
                </a:solidFill>
                <a:latin typeface="Calibri"/>
              </a:rPr>
              <a:t> is wrong or unknown.</a:t>
            </a:r>
          </a:p>
          <a:p>
            <a:pPr algn="l" marL="274320" indent="-274320">
              <a:lnSpc>
                <a:spcPct val="106000"/>
              </a:lnSpc>
              <a:spcBef>
                <a:spcPts val="0"/>
              </a:spcBef>
              <a:spcAft>
                <a:spcPts val="1200"/>
              </a:spcAft>
              <a:buClr>
                <a:srgbClr val="1F8A8A"/>
              </a:buClr>
              <a:buSzPct val="110000"/>
              <a:buFont typeface="Calibri"/>
              <a:buChar char="•"/>
            </a:pPr>
            <a:r>
              <a:rPr sz="1700" b="0" i="0">
                <a:solidFill>
                  <a:srgbClr val="112B34"/>
                </a:solidFill>
                <a:latin typeface="Calibri"/>
              </a:rPr>
              <a:t>It doesn’t yet tell the researcher </a:t>
            </a:r>
            <a:r>
              <a:rPr sz="1700" b="1" i="0">
                <a:solidFill>
                  <a:srgbClr val="112B34"/>
                </a:solidFill>
                <a:latin typeface="Calibri"/>
              </a:rPr>
              <a:t>what to actually go out and ask or measure.</a:t>
            </a:r>
          </a:p>
          <a:p>
            <a:pPr algn="l" marL="274320" indent="-274320">
              <a:lnSpc>
                <a:spcPct val="106000"/>
              </a:lnSpc>
              <a:spcBef>
                <a:spcPts val="0"/>
              </a:spcBef>
              <a:spcAft>
                <a:spcPts val="600"/>
              </a:spcAft>
              <a:buClr>
                <a:srgbClr val="1F8A8A"/>
              </a:buClr>
              <a:buSzPct val="110000"/>
              <a:buFont typeface="Calibri"/>
              <a:buChar char="•"/>
            </a:pPr>
            <a:r>
              <a:rPr sz="1700" b="0" i="0">
                <a:solidFill>
                  <a:srgbClr val="112B34"/>
                </a:solidFill>
                <a:latin typeface="Calibri"/>
              </a:rPr>
              <a:t>Research questions and hypotheses are the </a:t>
            </a:r>
            <a:r>
              <a:rPr sz="1700" b="1" i="0">
                <a:solidFill>
                  <a:srgbClr val="2C7B9E"/>
                </a:solidFill>
                <a:latin typeface="Calibri"/>
              </a:rPr>
              <a:t>bridge</a:t>
            </a:r>
            <a:r>
              <a:rPr sz="1700" b="0" i="0">
                <a:solidFill>
                  <a:srgbClr val="112B34"/>
                </a:solidFill>
                <a:latin typeface="Calibri"/>
              </a:rPr>
              <a:t> between the problem statement and real data collection.</a:t>
            </a:r>
          </a:p>
        </p:txBody>
      </p:sp>
      <p:sp>
        <p:nvSpPr>
          <p:cNvPr id="11" name="Rounded Rectangle 10"/>
          <p:cNvSpPr/>
          <p:nvPr/>
        </p:nvSpPr>
        <p:spPr>
          <a:xfrm>
            <a:off x="822960" y="4114800"/>
            <a:ext cx="3291840" cy="1097280"/>
          </a:xfrm>
          <a:prstGeom prst="roundRect">
            <a:avLst>
              <a:gd name="adj" fmla="val 1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Problem statement</a:t>
            </a:r>
          </a:p>
        </p:txBody>
      </p:sp>
      <p:sp>
        <p:nvSpPr>
          <p:cNvPr id="12" name="Rounded Rectangle 11"/>
          <p:cNvSpPr/>
          <p:nvPr/>
        </p:nvSpPr>
        <p:spPr>
          <a:xfrm>
            <a:off x="8074152" y="4114800"/>
            <a:ext cx="3291840" cy="1097280"/>
          </a:xfrm>
          <a:prstGeom prst="roundRect">
            <a:avLst>
              <a:gd name="adj" fmla="val 1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Real data collection</a:t>
            </a:r>
          </a:p>
        </p:txBody>
      </p:sp>
      <p:sp>
        <p:nvSpPr>
          <p:cNvPr id="13" name="Rounded Rectangle 12"/>
          <p:cNvSpPr/>
          <p:nvPr/>
        </p:nvSpPr>
        <p:spPr>
          <a:xfrm>
            <a:off x="4251960" y="4297680"/>
            <a:ext cx="3685032" cy="731520"/>
          </a:xfrm>
          <a:prstGeom prst="roundRect">
            <a:avLst>
              <a:gd name="adj" fmla="val 3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450" b="1" i="0">
                <a:solidFill>
                  <a:srgbClr val="FFFFFF"/>
                </a:solidFill>
                <a:latin typeface="Calibri"/>
              </a:rPr>
              <a:t>Research questions
&amp; hypotheses</a:t>
            </a:r>
          </a:p>
        </p:txBody>
      </p:sp>
      <p:sp>
        <p:nvSpPr>
          <p:cNvPr id="14" name="Right Arrow 13"/>
          <p:cNvSpPr/>
          <p:nvPr/>
        </p:nvSpPr>
        <p:spPr>
          <a:xfrm>
            <a:off x="4114800" y="4572000"/>
            <a:ext cx="182880" cy="182880"/>
          </a:xfrm>
          <a:prstGeom prst="rightArrow">
            <a:avLst/>
          </a:prstGeom>
          <a:solidFill>
            <a:srgbClr val="5C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7891272" y="4572000"/>
            <a:ext cx="182880" cy="182880"/>
          </a:xfrm>
          <a:prstGeom prst="rightArrow">
            <a:avLst/>
          </a:prstGeom>
          <a:solidFill>
            <a:srgbClr val="5C74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C7B9E"/>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Scripts for Research Questions</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19</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sp>
        <p:nvSpPr>
          <p:cNvPr id="11" name="Rounded Rectangle 10"/>
          <p:cNvSpPr/>
          <p:nvPr/>
        </p:nvSpPr>
        <p:spPr>
          <a:xfrm>
            <a:off x="566928" y="1783080"/>
            <a:ext cx="11055096" cy="1600200"/>
          </a:xfrm>
          <a:prstGeom prst="roundRect">
            <a:avLst>
              <a:gd name="adj" fmla="val 5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1783080"/>
            <a:ext cx="146304" cy="1600200"/>
          </a:xfrm>
          <a:prstGeom prst="roundRect">
            <a:avLst>
              <a:gd name="adj" fmla="val 5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1965960"/>
            <a:ext cx="2743200" cy="329184"/>
          </a:xfrm>
          <a:prstGeom prst="roundRect">
            <a:avLst>
              <a:gd name="adj" fmla="val 4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Calibri"/>
              </a:rPr>
              <a:t>QUANTITATIVE SCRIPT</a:t>
            </a:r>
          </a:p>
        </p:txBody>
      </p:sp>
      <p:sp>
        <p:nvSpPr>
          <p:cNvPr id="14" name="TextBox 13"/>
          <p:cNvSpPr txBox="1"/>
          <p:nvPr/>
        </p:nvSpPr>
        <p:spPr>
          <a:xfrm>
            <a:off x="914400" y="2441448"/>
            <a:ext cx="10332720" cy="868680"/>
          </a:xfrm>
          <a:prstGeom prst="rect">
            <a:avLst/>
          </a:prstGeom>
          <a:noFill/>
        </p:spPr>
        <p:txBody>
          <a:bodyPr wrap="square" anchor="ctr" lIns="0" rIns="0" tIns="0" bIns="0">
            <a:noAutofit/>
          </a:bodyPr>
          <a:lstStyle/>
          <a:p>
            <a:pPr algn="l">
              <a:lnSpc>
                <a:spcPct val="120000"/>
              </a:lnSpc>
              <a:spcBef>
                <a:spcPts val="0"/>
              </a:spcBef>
              <a:spcAft>
                <a:spcPts val="600"/>
              </a:spcAft>
            </a:pPr>
            <a:r>
              <a:rPr sz="1700" b="0" i="1">
                <a:solidFill>
                  <a:srgbClr val="112B34"/>
                </a:solidFill>
                <a:latin typeface="Calibri"/>
              </a:rPr>
              <a:t>“What is the relationship between </a:t>
            </a:r>
            <a:r>
              <a:rPr sz="1700" b="1" i="0">
                <a:solidFill>
                  <a:srgbClr val="E86F51"/>
                </a:solidFill>
                <a:latin typeface="Calibri"/>
              </a:rPr>
              <a:t>____ </a:t>
            </a:r>
            <a:r>
              <a:rPr sz="1250" b="0" i="0">
                <a:solidFill>
                  <a:srgbClr val="5C747D"/>
                </a:solidFill>
                <a:latin typeface="Calibri"/>
              </a:rPr>
              <a:t>(predictor variable)</a:t>
            </a:r>
            <a:r>
              <a:rPr sz="1700" b="0" i="1">
                <a:solidFill>
                  <a:srgbClr val="112B34"/>
                </a:solidFill>
                <a:latin typeface="Calibri"/>
              </a:rPr>
              <a:t> and </a:t>
            </a:r>
            <a:r>
              <a:rPr sz="1700" b="1" i="0">
                <a:solidFill>
                  <a:srgbClr val="E86F51"/>
                </a:solidFill>
                <a:latin typeface="Calibri"/>
              </a:rPr>
              <a:t>____ </a:t>
            </a:r>
            <a:r>
              <a:rPr sz="1250" b="0" i="0">
                <a:solidFill>
                  <a:srgbClr val="5C747D"/>
                </a:solidFill>
                <a:latin typeface="Calibri"/>
              </a:rPr>
              <a:t>(outcome variable)</a:t>
            </a:r>
            <a:r>
              <a:rPr sz="1700" b="0" i="1">
                <a:solidFill>
                  <a:srgbClr val="112B34"/>
                </a:solidFill>
                <a:latin typeface="Calibri"/>
              </a:rPr>
              <a:t> among </a:t>
            </a:r>
            <a:r>
              <a:rPr sz="1700" b="1" i="0">
                <a:solidFill>
                  <a:srgbClr val="E86F51"/>
                </a:solidFill>
                <a:latin typeface="Calibri"/>
              </a:rPr>
              <a:t>____ </a:t>
            </a:r>
            <a:r>
              <a:rPr sz="1250" b="0" i="0">
                <a:solidFill>
                  <a:srgbClr val="5C747D"/>
                </a:solidFill>
                <a:latin typeface="Calibri"/>
              </a:rPr>
              <a:t>(participants)</a:t>
            </a:r>
            <a:r>
              <a:rPr sz="1700" b="0" i="1">
                <a:solidFill>
                  <a:srgbClr val="112B34"/>
                </a:solidFill>
                <a:latin typeface="Calibri"/>
              </a:rPr>
              <a:t>?”</a:t>
            </a:r>
          </a:p>
        </p:txBody>
      </p:sp>
      <p:sp>
        <p:nvSpPr>
          <p:cNvPr id="15" name="Rounded Rectangle 14"/>
          <p:cNvSpPr/>
          <p:nvPr/>
        </p:nvSpPr>
        <p:spPr>
          <a:xfrm>
            <a:off x="566928" y="3611880"/>
            <a:ext cx="11055096" cy="1600200"/>
          </a:xfrm>
          <a:prstGeom prst="roundRect">
            <a:avLst>
              <a:gd name="adj" fmla="val 5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3611880"/>
            <a:ext cx="146304" cy="1600200"/>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3794760"/>
            <a:ext cx="2743200" cy="329184"/>
          </a:xfrm>
          <a:prstGeom prst="roundRect">
            <a:avLst>
              <a:gd name="adj" fmla="val 4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i="0">
                <a:solidFill>
                  <a:srgbClr val="FFFFFF"/>
                </a:solidFill>
                <a:latin typeface="Calibri"/>
              </a:rPr>
              <a:t>QUALITATIVE CENTRAL QUESTION</a:t>
            </a:r>
          </a:p>
        </p:txBody>
      </p:sp>
      <p:sp>
        <p:nvSpPr>
          <p:cNvPr id="18" name="TextBox 17"/>
          <p:cNvSpPr txBox="1"/>
          <p:nvPr/>
        </p:nvSpPr>
        <p:spPr>
          <a:xfrm>
            <a:off x="914400" y="4270248"/>
            <a:ext cx="10332720" cy="868680"/>
          </a:xfrm>
          <a:prstGeom prst="rect">
            <a:avLst/>
          </a:prstGeom>
          <a:noFill/>
        </p:spPr>
        <p:txBody>
          <a:bodyPr wrap="square" anchor="ctr" lIns="0" rIns="0" tIns="0" bIns="0">
            <a:noAutofit/>
          </a:bodyPr>
          <a:lstStyle/>
          <a:p>
            <a:pPr algn="l">
              <a:lnSpc>
                <a:spcPct val="120000"/>
              </a:lnSpc>
              <a:spcBef>
                <a:spcPts val="0"/>
              </a:spcBef>
              <a:spcAft>
                <a:spcPts val="600"/>
              </a:spcAft>
            </a:pPr>
            <a:r>
              <a:rPr sz="1700" b="0" i="1">
                <a:solidFill>
                  <a:srgbClr val="112B34"/>
                </a:solidFill>
                <a:latin typeface="Calibri"/>
              </a:rPr>
              <a:t>“How or what is </a:t>
            </a:r>
            <a:r>
              <a:rPr sz="1700" b="1" i="0">
                <a:solidFill>
                  <a:srgbClr val="E86F51"/>
                </a:solidFill>
                <a:latin typeface="Calibri"/>
              </a:rPr>
              <a:t>____ </a:t>
            </a:r>
            <a:r>
              <a:rPr sz="1250" b="0" i="0">
                <a:solidFill>
                  <a:srgbClr val="5C747D"/>
                </a:solidFill>
                <a:latin typeface="Calibri"/>
              </a:rPr>
              <a:t>(central phenomenon)</a:t>
            </a:r>
            <a:r>
              <a:rPr sz="1700" b="0" i="1">
                <a:solidFill>
                  <a:srgbClr val="112B34"/>
                </a:solidFill>
                <a:latin typeface="Calibri"/>
              </a:rPr>
              <a:t> for </a:t>
            </a:r>
            <a:r>
              <a:rPr sz="1700" b="1" i="0">
                <a:solidFill>
                  <a:srgbClr val="E86F51"/>
                </a:solidFill>
                <a:latin typeface="Calibri"/>
              </a:rPr>
              <a:t>____ </a:t>
            </a:r>
            <a:r>
              <a:rPr sz="1250" b="0" i="0">
                <a:solidFill>
                  <a:srgbClr val="5C747D"/>
                </a:solidFill>
                <a:latin typeface="Calibri"/>
              </a:rPr>
              <a:t>(participants)</a:t>
            </a:r>
            <a:r>
              <a:rPr sz="1700" b="0" i="1">
                <a:solidFill>
                  <a:srgbClr val="112B34"/>
                </a:solidFill>
                <a:latin typeface="Calibri"/>
              </a:rPr>
              <a:t> at </a:t>
            </a:r>
            <a:r>
              <a:rPr sz="1700" b="1" i="0">
                <a:solidFill>
                  <a:srgbClr val="E86F51"/>
                </a:solidFill>
                <a:latin typeface="Calibri"/>
              </a:rPr>
              <a:t>____ </a:t>
            </a:r>
            <a:r>
              <a:rPr sz="1250" b="0" i="0">
                <a:solidFill>
                  <a:srgbClr val="5C747D"/>
                </a:solidFill>
                <a:latin typeface="Calibri"/>
              </a:rPr>
              <a:t>(research site)</a:t>
            </a:r>
            <a:r>
              <a:rPr sz="1700" b="0" i="1">
                <a:solidFill>
                  <a:srgbClr val="112B34"/>
                </a:solidFill>
                <a:latin typeface="Calibri"/>
              </a:rPr>
              <a:t>?”</a:t>
            </a:r>
          </a:p>
        </p:txBody>
      </p:sp>
      <p:sp>
        <p:nvSpPr>
          <p:cNvPr id="19" name="Rounded Rectangle 18"/>
          <p:cNvSpPr/>
          <p:nvPr/>
        </p:nvSpPr>
        <p:spPr>
          <a:xfrm>
            <a:off x="566928" y="5504688"/>
            <a:ext cx="11055096" cy="658368"/>
          </a:xfrm>
          <a:prstGeom prst="roundRect">
            <a:avLst>
              <a:gd name="adj" fmla="val 12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504688"/>
            <a:ext cx="10424160" cy="658368"/>
          </a:xfrm>
          <a:prstGeom prst="rect">
            <a:avLst/>
          </a:prstGeom>
          <a:noFill/>
        </p:spPr>
        <p:txBody>
          <a:bodyPr wrap="square" anchor="ctr" lIns="0" rIns="0" tIns="0" bIns="0">
            <a:noAutofit/>
          </a:bodyPr>
          <a:lstStyle/>
          <a:p>
            <a:pPr algn="l">
              <a:lnSpc>
                <a:spcPct val="102000"/>
              </a:lnSpc>
              <a:spcBef>
                <a:spcPts val="0"/>
              </a:spcBef>
              <a:spcAft>
                <a:spcPts val="600"/>
              </a:spcAft>
            </a:pPr>
            <a:r>
              <a:rPr sz="1450" b="1" i="0">
                <a:solidFill>
                  <a:srgbClr val="1F8A8A"/>
                </a:solidFill>
                <a:latin typeface="Calibri"/>
              </a:rPr>
              <a:t>These aren’t rigid formulas — </a:t>
            </a:r>
            <a:r>
              <a:rPr sz="1450" b="0" i="0">
                <a:solidFill>
                  <a:srgbClr val="112B34"/>
                </a:solidFill>
                <a:latin typeface="Calibri"/>
              </a:rPr>
              <a:t>they’re starting scaffolds to make sure nothing important gets left out.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C7B9E"/>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Qualities of a Good Question</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20</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sp>
        <p:nvSpPr>
          <p:cNvPr id="11" name="Rounded Rectangle 10"/>
          <p:cNvSpPr/>
          <p:nvPr/>
        </p:nvSpPr>
        <p:spPr>
          <a:xfrm>
            <a:off x="566928" y="1828800"/>
            <a:ext cx="3602736" cy="1600200"/>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1828800"/>
            <a:ext cx="3602736" cy="128016"/>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95528" y="2121408"/>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000" b="1" i="0">
                <a:solidFill>
                  <a:srgbClr val="FFFFFF"/>
                </a:solidFill>
                <a:latin typeface="Calibri"/>
              </a:rPr>
              <a:t>✓</a:t>
            </a:r>
          </a:p>
        </p:txBody>
      </p:sp>
      <p:sp>
        <p:nvSpPr>
          <p:cNvPr id="14" name="TextBox 13"/>
          <p:cNvSpPr txBox="1"/>
          <p:nvPr/>
        </p:nvSpPr>
        <p:spPr>
          <a:xfrm>
            <a:off x="1527048" y="2139696"/>
            <a:ext cx="2505456" cy="457200"/>
          </a:xfrm>
          <a:prstGeom prst="rect">
            <a:avLst/>
          </a:prstGeom>
          <a:noFill/>
        </p:spPr>
        <p:txBody>
          <a:bodyPr wrap="square" anchor="t" lIns="0" rIns="0" tIns="0" bIns="0">
            <a:noAutofit/>
          </a:bodyPr>
          <a:lstStyle/>
          <a:p>
            <a:pPr algn="l">
              <a:lnSpc>
                <a:spcPct val="100000"/>
              </a:lnSpc>
              <a:spcBef>
                <a:spcPts val="0"/>
              </a:spcBef>
              <a:spcAft>
                <a:spcPts val="600"/>
              </a:spcAft>
            </a:pPr>
            <a:r>
              <a:rPr sz="1700" b="1" i="0">
                <a:solidFill>
                  <a:srgbClr val="112B34"/>
                </a:solidFill>
                <a:latin typeface="Calibri"/>
              </a:rPr>
              <a:t>Specific</a:t>
            </a:r>
          </a:p>
        </p:txBody>
      </p:sp>
      <p:sp>
        <p:nvSpPr>
          <p:cNvPr id="15" name="TextBox 14"/>
          <p:cNvSpPr txBox="1"/>
          <p:nvPr/>
        </p:nvSpPr>
        <p:spPr>
          <a:xfrm>
            <a:off x="822960" y="2743200"/>
            <a:ext cx="3145536" cy="640080"/>
          </a:xfrm>
          <a:prstGeom prst="rect">
            <a:avLst/>
          </a:prstGeom>
          <a:noFill/>
        </p:spPr>
        <p:txBody>
          <a:bodyPr wrap="square" anchor="t" lIns="0" rIns="0" tIns="0" bIns="0">
            <a:noAutofit/>
          </a:bodyPr>
          <a:lstStyle/>
          <a:p>
            <a:pPr algn="l">
              <a:lnSpc>
                <a:spcPct val="105000"/>
              </a:lnSpc>
              <a:spcBef>
                <a:spcPts val="0"/>
              </a:spcBef>
              <a:spcAft>
                <a:spcPts val="600"/>
              </a:spcAft>
            </a:pPr>
            <a:r>
              <a:rPr sz="1300" b="0" i="0">
                <a:solidFill>
                  <a:srgbClr val="112B34"/>
                </a:solidFill>
                <a:latin typeface="Calibri"/>
              </a:rPr>
              <a:t>names the variable(s) or phenomenon clearly</a:t>
            </a:r>
          </a:p>
        </p:txBody>
      </p:sp>
      <p:sp>
        <p:nvSpPr>
          <p:cNvPr id="16" name="Rounded Rectangle 15"/>
          <p:cNvSpPr/>
          <p:nvPr/>
        </p:nvSpPr>
        <p:spPr>
          <a:xfrm>
            <a:off x="4293108" y="1828800"/>
            <a:ext cx="3602736" cy="1600200"/>
          </a:xfrm>
          <a:prstGeom prst="roundRect">
            <a:avLst>
              <a:gd name="adj" fmla="val 6000"/>
            </a:avLst>
          </a:prstGeom>
          <a:solidFill>
            <a:srgbClr val="FFFFFF"/>
          </a:solidFill>
          <a:ln w="19050">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93108" y="1828800"/>
            <a:ext cx="3602736" cy="128016"/>
          </a:xfrm>
          <a:prstGeom prst="roundRect">
            <a:avLst>
              <a:gd name="adj" fmla="val 5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21708" y="2121408"/>
            <a:ext cx="548640" cy="548640"/>
          </a:xfrm>
          <a:prstGeom prst="ellipse">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000" b="1" i="0">
                <a:solidFill>
                  <a:srgbClr val="FFFFFF"/>
                </a:solidFill>
                <a:latin typeface="Calibri"/>
              </a:rPr>
              <a:t>✓</a:t>
            </a:r>
          </a:p>
        </p:txBody>
      </p:sp>
      <p:sp>
        <p:nvSpPr>
          <p:cNvPr id="19" name="TextBox 18"/>
          <p:cNvSpPr txBox="1"/>
          <p:nvPr/>
        </p:nvSpPr>
        <p:spPr>
          <a:xfrm>
            <a:off x="5253228" y="2139696"/>
            <a:ext cx="2505456" cy="457200"/>
          </a:xfrm>
          <a:prstGeom prst="rect">
            <a:avLst/>
          </a:prstGeom>
          <a:noFill/>
        </p:spPr>
        <p:txBody>
          <a:bodyPr wrap="square" anchor="t" lIns="0" rIns="0" tIns="0" bIns="0">
            <a:noAutofit/>
          </a:bodyPr>
          <a:lstStyle/>
          <a:p>
            <a:pPr algn="l">
              <a:lnSpc>
                <a:spcPct val="100000"/>
              </a:lnSpc>
              <a:spcBef>
                <a:spcPts val="0"/>
              </a:spcBef>
              <a:spcAft>
                <a:spcPts val="600"/>
              </a:spcAft>
            </a:pPr>
            <a:r>
              <a:rPr sz="1700" b="1" i="0">
                <a:solidFill>
                  <a:srgbClr val="112B34"/>
                </a:solidFill>
                <a:latin typeface="Calibri"/>
              </a:rPr>
              <a:t>Researchable</a:t>
            </a:r>
          </a:p>
        </p:txBody>
      </p:sp>
      <p:sp>
        <p:nvSpPr>
          <p:cNvPr id="20" name="TextBox 19"/>
          <p:cNvSpPr txBox="1"/>
          <p:nvPr/>
        </p:nvSpPr>
        <p:spPr>
          <a:xfrm>
            <a:off x="4549140" y="2743200"/>
            <a:ext cx="3145536" cy="640080"/>
          </a:xfrm>
          <a:prstGeom prst="rect">
            <a:avLst/>
          </a:prstGeom>
          <a:noFill/>
        </p:spPr>
        <p:txBody>
          <a:bodyPr wrap="square" anchor="t" lIns="0" rIns="0" tIns="0" bIns="0">
            <a:noAutofit/>
          </a:bodyPr>
          <a:lstStyle/>
          <a:p>
            <a:pPr algn="l">
              <a:lnSpc>
                <a:spcPct val="105000"/>
              </a:lnSpc>
              <a:spcBef>
                <a:spcPts val="0"/>
              </a:spcBef>
              <a:spcAft>
                <a:spcPts val="600"/>
              </a:spcAft>
            </a:pPr>
            <a:r>
              <a:rPr sz="1300" b="0" i="0">
                <a:solidFill>
                  <a:srgbClr val="112B34"/>
                </a:solidFill>
                <a:latin typeface="Calibri"/>
              </a:rPr>
              <a:t>can be answered using data the group can realistically collect</a:t>
            </a:r>
          </a:p>
        </p:txBody>
      </p:sp>
      <p:sp>
        <p:nvSpPr>
          <p:cNvPr id="21" name="Rounded Rectangle 20"/>
          <p:cNvSpPr/>
          <p:nvPr/>
        </p:nvSpPr>
        <p:spPr>
          <a:xfrm>
            <a:off x="8019288" y="1828800"/>
            <a:ext cx="3602736" cy="1600200"/>
          </a:xfrm>
          <a:prstGeom prst="roundRect">
            <a:avLst>
              <a:gd name="adj" fmla="val 6000"/>
            </a:avLst>
          </a:prstGeom>
          <a:solidFill>
            <a:srgbClr val="FFFFFF"/>
          </a:solidFill>
          <a:ln w="1905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19288" y="1828800"/>
            <a:ext cx="3602736" cy="128016"/>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47888" y="2121408"/>
            <a:ext cx="548640" cy="548640"/>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000" b="1" i="0">
                <a:solidFill>
                  <a:srgbClr val="FFFFFF"/>
                </a:solidFill>
                <a:latin typeface="Calibri"/>
              </a:rPr>
              <a:t>✓</a:t>
            </a:r>
          </a:p>
        </p:txBody>
      </p:sp>
      <p:sp>
        <p:nvSpPr>
          <p:cNvPr id="24" name="TextBox 23"/>
          <p:cNvSpPr txBox="1"/>
          <p:nvPr/>
        </p:nvSpPr>
        <p:spPr>
          <a:xfrm>
            <a:off x="8979408" y="2139696"/>
            <a:ext cx="2505456" cy="457200"/>
          </a:xfrm>
          <a:prstGeom prst="rect">
            <a:avLst/>
          </a:prstGeom>
          <a:noFill/>
        </p:spPr>
        <p:txBody>
          <a:bodyPr wrap="square" anchor="t" lIns="0" rIns="0" tIns="0" bIns="0">
            <a:noAutofit/>
          </a:bodyPr>
          <a:lstStyle/>
          <a:p>
            <a:pPr algn="l">
              <a:lnSpc>
                <a:spcPct val="100000"/>
              </a:lnSpc>
              <a:spcBef>
                <a:spcPts val="0"/>
              </a:spcBef>
              <a:spcAft>
                <a:spcPts val="600"/>
              </a:spcAft>
            </a:pPr>
            <a:r>
              <a:rPr sz="1700" b="1" i="0">
                <a:solidFill>
                  <a:srgbClr val="112B34"/>
                </a:solidFill>
                <a:latin typeface="Calibri"/>
              </a:rPr>
              <a:t>Aligned</a:t>
            </a:r>
          </a:p>
        </p:txBody>
      </p:sp>
      <p:sp>
        <p:nvSpPr>
          <p:cNvPr id="25" name="TextBox 24"/>
          <p:cNvSpPr txBox="1"/>
          <p:nvPr/>
        </p:nvSpPr>
        <p:spPr>
          <a:xfrm>
            <a:off x="8275320" y="2743200"/>
            <a:ext cx="3145536" cy="640080"/>
          </a:xfrm>
          <a:prstGeom prst="rect">
            <a:avLst/>
          </a:prstGeom>
          <a:noFill/>
        </p:spPr>
        <p:txBody>
          <a:bodyPr wrap="square" anchor="t" lIns="0" rIns="0" tIns="0" bIns="0">
            <a:noAutofit/>
          </a:bodyPr>
          <a:lstStyle/>
          <a:p>
            <a:pPr algn="l">
              <a:lnSpc>
                <a:spcPct val="105000"/>
              </a:lnSpc>
              <a:spcBef>
                <a:spcPts val="0"/>
              </a:spcBef>
              <a:spcAft>
                <a:spcPts val="600"/>
              </a:spcAft>
            </a:pPr>
            <a:r>
              <a:rPr sz="1300" b="0" i="0">
                <a:solidFill>
                  <a:srgbClr val="112B34"/>
                </a:solidFill>
                <a:latin typeface="Calibri"/>
              </a:rPr>
              <a:t>connects directly back to the problem statement, not a tangent</a:t>
            </a:r>
          </a:p>
        </p:txBody>
      </p:sp>
      <p:sp>
        <p:nvSpPr>
          <p:cNvPr id="26" name="Rounded Rectangle 25"/>
          <p:cNvSpPr/>
          <p:nvPr/>
        </p:nvSpPr>
        <p:spPr>
          <a:xfrm>
            <a:off x="566928" y="3657600"/>
            <a:ext cx="11055096" cy="749808"/>
          </a:xfrm>
          <a:prstGeom prst="roundRect">
            <a:avLst>
              <a:gd name="adj" fmla="val 10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657600"/>
            <a:ext cx="10424160" cy="749808"/>
          </a:xfrm>
          <a:prstGeom prst="rect">
            <a:avLst/>
          </a:prstGeom>
          <a:noFill/>
        </p:spPr>
        <p:txBody>
          <a:bodyPr wrap="square" anchor="ctr" lIns="0" rIns="0" tIns="0" bIns="0">
            <a:noAutofit/>
          </a:bodyPr>
          <a:lstStyle/>
          <a:p>
            <a:pPr algn="l">
              <a:lnSpc>
                <a:spcPct val="103000"/>
              </a:lnSpc>
              <a:spcBef>
                <a:spcPts val="0"/>
              </a:spcBef>
              <a:spcAft>
                <a:spcPts val="600"/>
              </a:spcAft>
            </a:pPr>
            <a:r>
              <a:rPr sz="1450" b="1" i="0">
                <a:solidFill>
                  <a:srgbClr val="112B34"/>
                </a:solidFill>
                <a:latin typeface="Calibri"/>
              </a:rPr>
              <a:t>A question can be well-written and still fail this checklist if it doesn’t actually answer the problem the group identified.</a:t>
            </a:r>
          </a:p>
        </p:txBody>
      </p:sp>
      <p:sp>
        <p:nvSpPr>
          <p:cNvPr id="28" name="Rounded Rectangle 27"/>
          <p:cNvSpPr/>
          <p:nvPr/>
        </p:nvSpPr>
        <p:spPr>
          <a:xfrm>
            <a:off x="1234440" y="4892040"/>
            <a:ext cx="2834640" cy="868680"/>
          </a:xfrm>
          <a:prstGeom prst="roundRect">
            <a:avLst>
              <a:gd name="adj" fmla="val 14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50" b="1" i="0">
                <a:solidFill>
                  <a:srgbClr val="FFFFFF"/>
                </a:solidFill>
                <a:latin typeface="Calibri"/>
              </a:rPr>
              <a:t>Problem statement</a:t>
            </a:r>
          </a:p>
        </p:txBody>
      </p:sp>
      <p:sp>
        <p:nvSpPr>
          <p:cNvPr id="29" name="Rounded Rectangle 28"/>
          <p:cNvSpPr/>
          <p:nvPr/>
        </p:nvSpPr>
        <p:spPr>
          <a:xfrm>
            <a:off x="4023360" y="5180076"/>
            <a:ext cx="566928" cy="292608"/>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590287" y="4892040"/>
            <a:ext cx="2834640" cy="868680"/>
          </a:xfrm>
          <a:prstGeom prst="roundRect">
            <a:avLst>
              <a:gd name="adj" fmla="val 14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50" b="1" i="0">
                <a:solidFill>
                  <a:srgbClr val="FFFFFF"/>
                </a:solidFill>
                <a:latin typeface="Calibri"/>
              </a:rPr>
              <a:t>Research question</a:t>
            </a:r>
          </a:p>
        </p:txBody>
      </p:sp>
      <p:sp>
        <p:nvSpPr>
          <p:cNvPr id="31" name="Rounded Rectangle 30"/>
          <p:cNvSpPr/>
          <p:nvPr/>
        </p:nvSpPr>
        <p:spPr>
          <a:xfrm>
            <a:off x="7379207" y="5180076"/>
            <a:ext cx="566928" cy="292608"/>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946134" y="4892040"/>
            <a:ext cx="2834640" cy="868680"/>
          </a:xfrm>
          <a:prstGeom prst="roundRect">
            <a:avLst>
              <a:gd name="adj" fmla="val 14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50" b="1" i="0">
                <a:solidFill>
                  <a:srgbClr val="FFFFFF"/>
                </a:solidFill>
                <a:latin typeface="Calibri"/>
              </a:rPr>
              <a:t>Data collection</a:t>
            </a:r>
          </a:p>
        </p:txBody>
      </p:sp>
      <p:sp>
        <p:nvSpPr>
          <p:cNvPr id="33" name="TextBox 32"/>
          <p:cNvSpPr txBox="1"/>
          <p:nvPr/>
        </p:nvSpPr>
        <p:spPr>
          <a:xfrm>
            <a:off x="1234440" y="5897880"/>
            <a:ext cx="9692640" cy="310896"/>
          </a:xfrm>
          <a:prstGeom prst="rect">
            <a:avLst/>
          </a:prstGeom>
          <a:noFill/>
        </p:spPr>
        <p:txBody>
          <a:bodyPr wrap="square" anchor="ctr" lIns="0" rIns="0" tIns="0" bIns="0">
            <a:noAutofit/>
          </a:bodyPr>
          <a:lstStyle/>
          <a:p>
            <a:pPr algn="ctr">
              <a:lnSpc>
                <a:spcPct val="100000"/>
              </a:lnSpc>
              <a:spcBef>
                <a:spcPts val="0"/>
              </a:spcBef>
              <a:spcAft>
                <a:spcPts val="600"/>
              </a:spcAft>
            </a:pPr>
            <a:r>
              <a:rPr sz="1300" b="0" i="1">
                <a:solidFill>
                  <a:srgbClr val="5C747D"/>
                </a:solidFill>
                <a:latin typeface="Calibri"/>
              </a:rPr>
              <a:t>Alignment = the strength of the links connecting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C7B9E"/>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Questions vs. Hypotheses</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21</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graphicFrame>
        <p:nvGraphicFramePr>
          <p:cNvPr id="11" name="Table 10"/>
          <p:cNvGraphicFramePr>
            <a:graphicFrameLocks noGrp="1"/>
          </p:cNvGraphicFramePr>
          <p:nvPr/>
        </p:nvGraphicFramePr>
        <p:xfrm>
          <a:off x="566928" y="1783080"/>
          <a:ext cx="11055096" cy="4096512"/>
        </p:xfrm>
        <a:graphic>
          <a:graphicData uri="http://schemas.openxmlformats.org/drawingml/2006/table">
            <a:tbl>
              <a:tblPr>
                <a:tableStyleId>{5C22544A-7EE6-4342-B048-85BDC9FD1C3A}</a:tableStyleId>
              </a:tblPr>
              <a:tblGrid>
                <a:gridCol w="1554480"/>
                <a:gridCol w="4745736"/>
                <a:gridCol w="4754880"/>
              </a:tblGrid>
              <a:tr h="502920">
                <a:tc>
                  <a:txBody>
                    <a:bodyPr wrap="square"/>
                    <a:lstStyle/>
                    <a:p>
                      <a:pPr algn="l">
                        <a:lnSpc>
                          <a:spcPct val="102000"/>
                        </a:lnSpc>
                        <a:spcBef>
                          <a:spcPts val="0"/>
                        </a:spcBef>
                        <a:spcAft>
                          <a:spcPts val="200"/>
                        </a:spcAft>
                      </a:pPr>
                      <a:r>
                        <a:rPr sz="1300" b="0" i="0">
                          <a:solidFill>
                            <a:srgbClr val="112B34"/>
                          </a:solidFill>
                          <a:latin typeface="Calibri"/>
                        </a:rPr>
                        <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500" b="1" i="1">
                          <a:solidFill>
                            <a:srgbClr val="FFFFFF"/>
                          </a:solidFill>
                          <a:latin typeface="Calibri"/>
                        </a:rPr>
                        <a:t>Qualitative</a:t>
                      </a:r>
                    </a:p>
                  </a:txBody>
                  <a:tcPr marL="109728" marR="91440" marT="45720" marB="45720" anchor="ctr">
                    <a:solidFill>
                      <a:srgbClr val="1F8A8A"/>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500" b="1" i="1">
                          <a:solidFill>
                            <a:srgbClr val="FFFFFF"/>
                          </a:solidFill>
                          <a:latin typeface="Calibri"/>
                        </a:rPr>
                        <a:t>Quantitative</a:t>
                      </a:r>
                    </a:p>
                  </a:txBody>
                  <a:tcPr marL="109728" marR="91440" marT="45720" marB="45720" anchor="ctr">
                    <a:solidFill>
                      <a:srgbClr val="2C7B9E"/>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0">
                          <a:solidFill>
                            <a:srgbClr val="083D54"/>
                          </a:solidFill>
                          <a:latin typeface="Calibri"/>
                        </a:rPr>
                        <a:t>Uses</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Research questions (central question + sub-questions)</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Research questions or hypotheses</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0">
                          <a:solidFill>
                            <a:srgbClr val="083D54"/>
                          </a:solidFill>
                          <a:latin typeface="Calibri"/>
                        </a:rPr>
                        <a:t>Wording</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Begins with what or how; open-ended</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States a predicted relationship between variables</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786384">
                <a:tc>
                  <a:txBody>
                    <a:bodyPr wrap="square"/>
                    <a:lstStyle/>
                    <a:p>
                      <a:pPr algn="l">
                        <a:lnSpc>
                          <a:spcPct val="102000"/>
                        </a:lnSpc>
                        <a:spcBef>
                          <a:spcPts val="0"/>
                        </a:spcBef>
                        <a:spcAft>
                          <a:spcPts val="200"/>
                        </a:spcAft>
                      </a:pPr>
                      <a:r>
                        <a:rPr sz="1350" b="1" i="0">
                          <a:solidFill>
                            <a:srgbClr val="083D54"/>
                          </a:solidFill>
                          <a:latin typeface="Calibri"/>
                        </a:rPr>
                        <a:t>Intent</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Explore and understand a phenomenon in depth</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350" b="0" i="0">
                          <a:solidFill>
                            <a:srgbClr val="112B34"/>
                          </a:solidFill>
                          <a:latin typeface="Calibri"/>
                        </a:rPr>
                        <a:t>Test or predict a relationship</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234440">
                <a:tc>
                  <a:txBody>
                    <a:bodyPr wrap="square"/>
                    <a:lstStyle/>
                    <a:p>
                      <a:pPr algn="l">
                        <a:lnSpc>
                          <a:spcPct val="102000"/>
                        </a:lnSpc>
                        <a:spcBef>
                          <a:spcPts val="0"/>
                        </a:spcBef>
                        <a:spcAft>
                          <a:spcPts val="200"/>
                        </a:spcAft>
                      </a:pPr>
                      <a:r>
                        <a:rPr sz="1350" b="1" i="0">
                          <a:solidFill>
                            <a:srgbClr val="083D54"/>
                          </a:solidFill>
                          <a:latin typeface="Calibri"/>
                        </a:rPr>
                        <a:t>Example</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250" b="0" i="1">
                          <a:solidFill>
                            <a:srgbClr val="112B34"/>
                          </a:solidFill>
                          <a:latin typeface="Calibri"/>
                        </a:rPr>
                        <a:t>“How do coastal barangay residents describe their household waste-sorting habits?”</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250" b="0" i="1">
                          <a:solidFill>
                            <a:srgbClr val="112B34"/>
                          </a:solidFill>
                          <a:latin typeface="Calibri"/>
                        </a:rPr>
                        <a:t>“It is predicted that households with active community education programs will show higher plastic-segregation compliance.”</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C7B9E"/>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Writing a Testable Hypothesis</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22</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sp>
        <p:nvSpPr>
          <p:cNvPr id="11" name="TextBox 10"/>
          <p:cNvSpPr txBox="1"/>
          <p:nvPr/>
        </p:nvSpPr>
        <p:spPr>
          <a:xfrm>
            <a:off x="566928" y="1828800"/>
            <a:ext cx="10972800" cy="1554480"/>
          </a:xfrm>
          <a:prstGeom prst="rect">
            <a:avLst/>
          </a:prstGeom>
          <a:noFill/>
        </p:spPr>
        <p:txBody>
          <a:bodyPr wrap="square" anchor="t" lIns="0" rIns="0" tIns="0" bIns="0">
            <a:noAutofit/>
          </a:bodyPr>
          <a:lstStyle/>
          <a:p>
            <a:pPr algn="l" marL="274320" indent="-274320">
              <a:lnSpc>
                <a:spcPct val="106000"/>
              </a:lnSpc>
              <a:spcBef>
                <a:spcPts val="0"/>
              </a:spcBef>
              <a:spcAft>
                <a:spcPts val="1000"/>
              </a:spcAft>
              <a:buClr>
                <a:srgbClr val="1F8A8A"/>
              </a:buClr>
              <a:buSzPct val="110000"/>
              <a:buFont typeface="Calibri"/>
              <a:buChar char="•"/>
            </a:pPr>
            <a:r>
              <a:rPr sz="1650" b="0" i="0">
                <a:solidFill>
                  <a:srgbClr val="112B34"/>
                </a:solidFill>
                <a:latin typeface="Calibri"/>
              </a:rPr>
              <a:t>A hypothesis is a </a:t>
            </a:r>
            <a:r>
              <a:rPr sz="1650" b="1" i="0">
                <a:solidFill>
                  <a:srgbClr val="2C7B9E"/>
                </a:solidFill>
                <a:latin typeface="Calibri"/>
              </a:rPr>
              <a:t>prediction</a:t>
            </a:r>
            <a:r>
              <a:rPr sz="1650" b="0" i="0">
                <a:solidFill>
                  <a:srgbClr val="112B34"/>
                </a:solidFill>
                <a:latin typeface="Calibri"/>
              </a:rPr>
              <a:t>, stated in plain language, about the relationship between variables.</a:t>
            </a:r>
          </a:p>
          <a:p>
            <a:pPr algn="l" marL="274320" indent="-274320">
              <a:lnSpc>
                <a:spcPct val="106000"/>
              </a:lnSpc>
              <a:spcBef>
                <a:spcPts val="0"/>
              </a:spcBef>
              <a:spcAft>
                <a:spcPts val="1000"/>
              </a:spcAft>
              <a:buClr>
                <a:srgbClr val="1F8A8A"/>
              </a:buClr>
              <a:buSzPct val="110000"/>
              <a:buFont typeface="Calibri"/>
              <a:buChar char="•"/>
            </a:pPr>
            <a:r>
              <a:rPr sz="1650" b="0" i="0">
                <a:solidFill>
                  <a:srgbClr val="112B34"/>
                </a:solidFill>
                <a:latin typeface="Calibri"/>
              </a:rPr>
              <a:t>Good hypotheses use directional words: </a:t>
            </a:r>
            <a:r>
              <a:rPr sz="1650" b="1" i="1">
                <a:solidFill>
                  <a:srgbClr val="112B34"/>
                </a:solidFill>
                <a:latin typeface="Calibri"/>
              </a:rPr>
              <a:t>affects, influences, predicts, is related to.</a:t>
            </a:r>
          </a:p>
        </p:txBody>
      </p:sp>
      <p:sp>
        <p:nvSpPr>
          <p:cNvPr id="12" name="Rounded Rectangle 11"/>
          <p:cNvSpPr/>
          <p:nvPr/>
        </p:nvSpPr>
        <p:spPr>
          <a:xfrm>
            <a:off x="914400" y="3063240"/>
            <a:ext cx="1828800" cy="402336"/>
          </a:xfrm>
          <a:prstGeom prst="roundRect">
            <a:avLst>
              <a:gd name="adj" fmla="val 40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083D54"/>
                </a:solidFill>
                <a:latin typeface="Calibri"/>
              </a:rPr>
              <a:t>affects</a:t>
            </a:r>
          </a:p>
        </p:txBody>
      </p:sp>
      <p:sp>
        <p:nvSpPr>
          <p:cNvPr id="13" name="Rounded Rectangle 12"/>
          <p:cNvSpPr/>
          <p:nvPr/>
        </p:nvSpPr>
        <p:spPr>
          <a:xfrm>
            <a:off x="2926080" y="3063240"/>
            <a:ext cx="1828800" cy="402336"/>
          </a:xfrm>
          <a:prstGeom prst="roundRect">
            <a:avLst>
              <a:gd name="adj" fmla="val 40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083D54"/>
                </a:solidFill>
                <a:latin typeface="Calibri"/>
              </a:rPr>
              <a:t>influences</a:t>
            </a:r>
          </a:p>
        </p:txBody>
      </p:sp>
      <p:sp>
        <p:nvSpPr>
          <p:cNvPr id="14" name="Rounded Rectangle 13"/>
          <p:cNvSpPr/>
          <p:nvPr/>
        </p:nvSpPr>
        <p:spPr>
          <a:xfrm>
            <a:off x="4937760" y="3063240"/>
            <a:ext cx="1828800" cy="402336"/>
          </a:xfrm>
          <a:prstGeom prst="roundRect">
            <a:avLst>
              <a:gd name="adj" fmla="val 40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083D54"/>
                </a:solidFill>
                <a:latin typeface="Calibri"/>
              </a:rPr>
              <a:t>predicts</a:t>
            </a:r>
          </a:p>
        </p:txBody>
      </p:sp>
      <p:sp>
        <p:nvSpPr>
          <p:cNvPr id="15" name="Rounded Rectangle 14"/>
          <p:cNvSpPr/>
          <p:nvPr/>
        </p:nvSpPr>
        <p:spPr>
          <a:xfrm>
            <a:off x="6949440" y="3063240"/>
            <a:ext cx="1828800" cy="402336"/>
          </a:xfrm>
          <a:prstGeom prst="roundRect">
            <a:avLst>
              <a:gd name="adj" fmla="val 40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083D54"/>
                </a:solidFill>
                <a:latin typeface="Calibri"/>
              </a:rPr>
              <a:t>is related to</a:t>
            </a:r>
          </a:p>
        </p:txBody>
      </p:sp>
      <p:sp>
        <p:nvSpPr>
          <p:cNvPr id="16" name="TextBox 15"/>
          <p:cNvSpPr txBox="1"/>
          <p:nvPr/>
        </p:nvSpPr>
        <p:spPr>
          <a:xfrm>
            <a:off x="566928" y="3703320"/>
            <a:ext cx="2743200" cy="310896"/>
          </a:xfrm>
          <a:prstGeom prst="rect">
            <a:avLst/>
          </a:prstGeom>
          <a:noFill/>
        </p:spPr>
        <p:txBody>
          <a:bodyPr wrap="square" anchor="t" lIns="0" rIns="0" tIns="0" bIns="0">
            <a:noAutofit/>
          </a:bodyPr>
          <a:lstStyle/>
          <a:p>
            <a:pPr algn="l">
              <a:lnSpc>
                <a:spcPct val="100000"/>
              </a:lnSpc>
              <a:spcBef>
                <a:spcPts val="0"/>
              </a:spcBef>
              <a:spcAft>
                <a:spcPts val="600"/>
              </a:spcAft>
            </a:pPr>
            <a:r>
              <a:rPr sz="1400" b="1" i="0">
                <a:solidFill>
                  <a:srgbClr val="112B34"/>
                </a:solidFill>
                <a:latin typeface="Calibri"/>
              </a:rPr>
              <a:t>Example</a:t>
            </a:r>
          </a:p>
        </p:txBody>
      </p:sp>
      <p:sp>
        <p:nvSpPr>
          <p:cNvPr id="17" name="Rounded Rectangle 16"/>
          <p:cNvSpPr/>
          <p:nvPr/>
        </p:nvSpPr>
        <p:spPr>
          <a:xfrm>
            <a:off x="566928" y="4041648"/>
            <a:ext cx="11055096" cy="960120"/>
          </a:xfrm>
          <a:prstGeom prst="roundRect">
            <a:avLst>
              <a:gd name="adj" fmla="val 6000"/>
            </a:avLst>
          </a:prstGeom>
          <a:solidFill>
            <a:srgbClr val="E3F1F0"/>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41648"/>
            <a:ext cx="10332720" cy="960120"/>
          </a:xfrm>
          <a:prstGeom prst="rect">
            <a:avLst/>
          </a:prstGeom>
          <a:noFill/>
        </p:spPr>
        <p:txBody>
          <a:bodyPr wrap="square" anchor="ctr" lIns="0" rIns="0" tIns="0" bIns="0">
            <a:noAutofit/>
          </a:bodyPr>
          <a:lstStyle/>
          <a:p>
            <a:pPr algn="l">
              <a:lnSpc>
                <a:spcPct val="108000"/>
              </a:lnSpc>
              <a:spcBef>
                <a:spcPts val="0"/>
              </a:spcBef>
              <a:spcAft>
                <a:spcPts val="600"/>
              </a:spcAft>
            </a:pPr>
            <a:r>
              <a:rPr sz="1550" b="0" i="1">
                <a:solidFill>
                  <a:srgbClr val="112B34"/>
                </a:solidFill>
                <a:latin typeface="Calibri"/>
              </a:rPr>
              <a:t>“It is predicted that barangays with active peer-education programs will show higher plastic-segregation compliance than barangays without such programs.”</a:t>
            </a:r>
          </a:p>
        </p:txBody>
      </p:sp>
      <p:sp>
        <p:nvSpPr>
          <p:cNvPr id="19" name="Rounded Rectangle 18"/>
          <p:cNvSpPr/>
          <p:nvPr/>
        </p:nvSpPr>
        <p:spPr>
          <a:xfrm>
            <a:off x="1280160" y="5257800"/>
            <a:ext cx="3383280" cy="868680"/>
          </a:xfrm>
          <a:prstGeom prst="roundRect">
            <a:avLst>
              <a:gd name="adj" fmla="val 12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i="0">
                <a:solidFill>
                  <a:srgbClr val="FFFFFF"/>
                </a:solidFill>
                <a:latin typeface="Calibri"/>
              </a:rPr>
              <a:t>Peer-education program</a:t>
            </a:r>
          </a:p>
        </p:txBody>
      </p:sp>
      <p:sp>
        <p:nvSpPr>
          <p:cNvPr id="20" name="Rounded Rectangle 19"/>
          <p:cNvSpPr/>
          <p:nvPr/>
        </p:nvSpPr>
        <p:spPr>
          <a:xfrm>
            <a:off x="7498079" y="5257800"/>
            <a:ext cx="3383280" cy="868680"/>
          </a:xfrm>
          <a:prstGeom prst="roundRect">
            <a:avLst>
              <a:gd name="adj" fmla="val 12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i="0">
                <a:solidFill>
                  <a:srgbClr val="FFFFFF"/>
                </a:solidFill>
                <a:latin typeface="Calibri"/>
              </a:rPr>
              <a:t>Segregation compliance</a:t>
            </a:r>
          </a:p>
        </p:txBody>
      </p:sp>
      <p:sp>
        <p:nvSpPr>
          <p:cNvPr id="21" name="Right Arrow 20"/>
          <p:cNvSpPr/>
          <p:nvPr/>
        </p:nvSpPr>
        <p:spPr>
          <a:xfrm>
            <a:off x="4800600" y="5504688"/>
            <a:ext cx="2514600" cy="384048"/>
          </a:xfrm>
          <a:prstGeom prst="rightArrow">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5029200"/>
            <a:ext cx="251460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150" b="1" i="1">
                <a:solidFill>
                  <a:srgbClr val="1F8A8A"/>
                </a:solidFill>
                <a:latin typeface="Calibri"/>
              </a:rPr>
              <a:t>predicted to increase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C7B9E"/>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One Problem, Two Approaches</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2C7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23</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sp>
        <p:nvSpPr>
          <p:cNvPr id="11" name="Rounded Rectangle 10"/>
          <p:cNvSpPr/>
          <p:nvPr/>
        </p:nvSpPr>
        <p:spPr>
          <a:xfrm>
            <a:off x="3108960" y="1737360"/>
            <a:ext cx="5943600" cy="640080"/>
          </a:xfrm>
          <a:prstGeom prst="roundRect">
            <a:avLst>
              <a:gd name="adj" fmla="val 2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Coastal Plastic Waste Study</a:t>
            </a:r>
          </a:p>
        </p:txBody>
      </p:sp>
      <p:sp>
        <p:nvSpPr>
          <p:cNvPr id="12" name="Rectangle 11"/>
          <p:cNvSpPr/>
          <p:nvPr/>
        </p:nvSpPr>
        <p:spPr>
          <a:xfrm>
            <a:off x="6062472" y="2377440"/>
            <a:ext cx="18288" cy="27432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2651760"/>
            <a:ext cx="5925312"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2651760"/>
            <a:ext cx="18288" cy="2286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15984" y="2651760"/>
            <a:ext cx="18288" cy="228600"/>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2880360"/>
            <a:ext cx="5486400" cy="3063240"/>
          </a:xfrm>
          <a:prstGeom prst="roundRect">
            <a:avLst>
              <a:gd name="adj" fmla="val 5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2880360"/>
            <a:ext cx="5486400" cy="548640"/>
          </a:xfrm>
          <a:prstGeom prst="roundRect">
            <a:avLst>
              <a:gd name="adj" fmla="val 5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880360"/>
            <a:ext cx="5486400" cy="548640"/>
          </a:xfrm>
          <a:prstGeom prst="rect">
            <a:avLst/>
          </a:prstGeom>
          <a:noFill/>
        </p:spPr>
        <p:txBody>
          <a:bodyPr wrap="square" anchor="ctr" lIns="0" rIns="0" tIns="0" bIns="0">
            <a:noAutofit/>
          </a:bodyPr>
          <a:lstStyle/>
          <a:p>
            <a:pPr algn="ctr">
              <a:lnSpc>
                <a:spcPct val="100000"/>
              </a:lnSpc>
              <a:spcBef>
                <a:spcPts val="0"/>
              </a:spcBef>
              <a:spcAft>
                <a:spcPts val="600"/>
              </a:spcAft>
            </a:pPr>
            <a:r>
              <a:rPr sz="1600" b="1" i="0">
                <a:solidFill>
                  <a:srgbClr val="FFFFFF"/>
                </a:solidFill>
                <a:latin typeface="Calibri"/>
              </a:rPr>
              <a:t>Qualitative path</a:t>
            </a:r>
          </a:p>
        </p:txBody>
      </p:sp>
      <p:sp>
        <p:nvSpPr>
          <p:cNvPr id="19" name="TextBox 18"/>
          <p:cNvSpPr txBox="1"/>
          <p:nvPr/>
        </p:nvSpPr>
        <p:spPr>
          <a:xfrm>
            <a:off x="822960" y="3520440"/>
            <a:ext cx="4983480" cy="2286000"/>
          </a:xfrm>
          <a:prstGeom prst="rect">
            <a:avLst/>
          </a:prstGeom>
          <a:noFill/>
        </p:spPr>
        <p:txBody>
          <a:bodyPr wrap="square" anchor="t" lIns="0" rIns="0" tIns="0" bIns="0">
            <a:noAutofit/>
          </a:bodyPr>
          <a:lstStyle/>
          <a:p>
            <a:pPr algn="l">
              <a:lnSpc>
                <a:spcPct val="105000"/>
              </a:lnSpc>
              <a:spcBef>
                <a:spcPts val="0"/>
              </a:spcBef>
              <a:spcAft>
                <a:spcPts val="600"/>
              </a:spcAft>
            </a:pPr>
            <a:r>
              <a:rPr sz="1250" b="1" i="0">
                <a:solidFill>
                  <a:srgbClr val="1F8A8A"/>
                </a:solidFill>
                <a:latin typeface="Calibri"/>
              </a:rPr>
              <a:t>Central question</a:t>
            </a:r>
          </a:p>
          <a:p>
            <a:pPr algn="l">
              <a:lnSpc>
                <a:spcPct val="108000"/>
              </a:lnSpc>
              <a:spcBef>
                <a:spcPts val="200"/>
              </a:spcBef>
              <a:spcAft>
                <a:spcPts val="600"/>
              </a:spcAft>
            </a:pPr>
            <a:r>
              <a:rPr sz="1350" b="0" i="1">
                <a:solidFill>
                  <a:srgbClr val="112B34"/>
                </a:solidFill>
                <a:latin typeface="Calibri"/>
              </a:rPr>
              <a:t>“How do residents of a coastal barangay describe their household plastic-waste-sorting habits?”</a:t>
            </a:r>
          </a:p>
          <a:p>
            <a:pPr algn="l">
              <a:lnSpc>
                <a:spcPct val="105000"/>
              </a:lnSpc>
              <a:spcBef>
                <a:spcPts val="800"/>
              </a:spcBef>
              <a:spcAft>
                <a:spcPts val="600"/>
              </a:spcAft>
            </a:pPr>
            <a:r>
              <a:rPr sz="1250" b="1" i="0">
                <a:solidFill>
                  <a:srgbClr val="1F8A8A"/>
                </a:solidFill>
                <a:latin typeface="Calibri"/>
              </a:rPr>
              <a:t>Sub-questions</a:t>
            </a:r>
          </a:p>
          <a:p>
            <a:pPr algn="l" marL="256032" indent="-256032">
              <a:lnSpc>
                <a:spcPct val="105000"/>
              </a:lnSpc>
              <a:spcBef>
                <a:spcPts val="200"/>
              </a:spcBef>
              <a:spcAft>
                <a:spcPts val="600"/>
              </a:spcAft>
              <a:buNone/>
            </a:pPr>
            <a:r>
              <a:rPr sz="1250" b="0" i="0">
                <a:solidFill>
                  <a:srgbClr val="112B34"/>
                </a:solidFill>
                <a:latin typeface="Calibri"/>
              </a:rPr>
              <a:t>1.  What barriers do residents describe to consistent sorting?</a:t>
            </a:r>
          </a:p>
          <a:p>
            <a:pPr algn="l" marL="256032" indent="-256032">
              <a:lnSpc>
                <a:spcPct val="105000"/>
              </a:lnSpc>
              <a:spcBef>
                <a:spcPts val="300"/>
              </a:spcBef>
              <a:spcAft>
                <a:spcPts val="600"/>
              </a:spcAft>
              <a:buNone/>
            </a:pPr>
            <a:r>
              <a:rPr sz="1250" b="0" i="0">
                <a:solidFill>
                  <a:srgbClr val="112B34"/>
                </a:solidFill>
                <a:latin typeface="Calibri"/>
              </a:rPr>
              <a:t>2.  How do residents describe community attitudes toward waste segregation?</a:t>
            </a:r>
          </a:p>
        </p:txBody>
      </p:sp>
      <p:sp>
        <p:nvSpPr>
          <p:cNvPr id="20" name="Rounded Rectangle 19"/>
          <p:cNvSpPr/>
          <p:nvPr/>
        </p:nvSpPr>
        <p:spPr>
          <a:xfrm>
            <a:off x="6135624" y="2880360"/>
            <a:ext cx="5486400" cy="3063240"/>
          </a:xfrm>
          <a:prstGeom prst="roundRect">
            <a:avLst>
              <a:gd name="adj" fmla="val 5000"/>
            </a:avLst>
          </a:prstGeom>
          <a:solidFill>
            <a:srgbClr val="FFFFFF"/>
          </a:solidFill>
          <a:ln w="1905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35624" y="2880360"/>
            <a:ext cx="5486400" cy="548640"/>
          </a:xfrm>
          <a:prstGeom prst="roundRect">
            <a:avLst>
              <a:gd name="adj" fmla="val 5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35624" y="2880360"/>
            <a:ext cx="5486400" cy="548640"/>
          </a:xfrm>
          <a:prstGeom prst="rect">
            <a:avLst/>
          </a:prstGeom>
          <a:noFill/>
        </p:spPr>
        <p:txBody>
          <a:bodyPr wrap="square" anchor="ctr" lIns="0" rIns="0" tIns="0" bIns="0">
            <a:noAutofit/>
          </a:bodyPr>
          <a:lstStyle/>
          <a:p>
            <a:pPr algn="ctr">
              <a:lnSpc>
                <a:spcPct val="100000"/>
              </a:lnSpc>
              <a:spcBef>
                <a:spcPts val="0"/>
              </a:spcBef>
              <a:spcAft>
                <a:spcPts val="600"/>
              </a:spcAft>
            </a:pPr>
            <a:r>
              <a:rPr sz="1600" b="1" i="0">
                <a:solidFill>
                  <a:srgbClr val="FFFFFF"/>
                </a:solidFill>
                <a:latin typeface="Calibri"/>
              </a:rPr>
              <a:t>Quantitative path</a:t>
            </a:r>
          </a:p>
        </p:txBody>
      </p:sp>
      <p:sp>
        <p:nvSpPr>
          <p:cNvPr id="23" name="TextBox 22"/>
          <p:cNvSpPr txBox="1"/>
          <p:nvPr/>
        </p:nvSpPr>
        <p:spPr>
          <a:xfrm>
            <a:off x="6391656" y="3611880"/>
            <a:ext cx="4983480" cy="2194560"/>
          </a:xfrm>
          <a:prstGeom prst="rect">
            <a:avLst/>
          </a:prstGeom>
          <a:noFill/>
        </p:spPr>
        <p:txBody>
          <a:bodyPr wrap="square" anchor="t" lIns="0" rIns="0" tIns="0" bIns="0">
            <a:noAutofit/>
          </a:bodyPr>
          <a:lstStyle/>
          <a:p>
            <a:pPr algn="l">
              <a:lnSpc>
                <a:spcPct val="105000"/>
              </a:lnSpc>
              <a:spcBef>
                <a:spcPts val="0"/>
              </a:spcBef>
              <a:spcAft>
                <a:spcPts val="600"/>
              </a:spcAft>
            </a:pPr>
            <a:r>
              <a:rPr sz="1250" b="1" i="0">
                <a:solidFill>
                  <a:srgbClr val="C95338"/>
                </a:solidFill>
                <a:latin typeface="Calibri"/>
              </a:rPr>
              <a:t>Hypothesis</a:t>
            </a:r>
          </a:p>
          <a:p>
            <a:pPr algn="l">
              <a:lnSpc>
                <a:spcPct val="112000"/>
              </a:lnSpc>
              <a:spcBef>
                <a:spcPts val="400"/>
              </a:spcBef>
              <a:spcAft>
                <a:spcPts val="600"/>
              </a:spcAft>
            </a:pPr>
            <a:r>
              <a:rPr sz="1450" b="0" i="1">
                <a:solidFill>
                  <a:srgbClr val="112B34"/>
                </a:solidFill>
                <a:latin typeface="Calibri"/>
              </a:rPr>
              <a:t>“It is predicted that households with access to community education programs will report higher plastic-segregation compliance than households without access.”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4 · ALIGNED QUESTIONS &amp; HYPOTHESES — COMPETENCY 14</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Practice: Draft Your Own Question</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481328"/>
            <a:ext cx="1965960" cy="329184"/>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  PRACTICE · PAIR ACTIVITY</a:t>
            </a: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24</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4 · Competency 14</a:t>
            </a:r>
          </a:p>
        </p:txBody>
      </p:sp>
      <p:sp>
        <p:nvSpPr>
          <p:cNvPr id="12" name="TextBox 11"/>
          <p:cNvSpPr txBox="1"/>
          <p:nvPr/>
        </p:nvSpPr>
        <p:spPr>
          <a:xfrm>
            <a:off x="566928" y="1938528"/>
            <a:ext cx="10972800" cy="292608"/>
          </a:xfrm>
          <a:prstGeom prst="rect">
            <a:avLst/>
          </a:prstGeom>
          <a:noFill/>
        </p:spPr>
        <p:txBody>
          <a:bodyPr wrap="square" anchor="t" lIns="0" rIns="0" tIns="0" bIns="0">
            <a:noAutofit/>
          </a:bodyPr>
          <a:lstStyle/>
          <a:p>
            <a:pPr algn="l">
              <a:lnSpc>
                <a:spcPct val="100000"/>
              </a:lnSpc>
              <a:spcBef>
                <a:spcPts val="0"/>
              </a:spcBef>
              <a:spcAft>
                <a:spcPts val="600"/>
              </a:spcAft>
            </a:pPr>
            <a:r>
              <a:rPr sz="1450" b="1" i="0">
                <a:solidFill>
                  <a:srgbClr val="112B34"/>
                </a:solidFill>
                <a:latin typeface="Calibri"/>
              </a:rPr>
              <a:t>Problem statement given:</a:t>
            </a:r>
          </a:p>
        </p:txBody>
      </p:sp>
      <p:sp>
        <p:nvSpPr>
          <p:cNvPr id="13" name="Rounded Rectangle 12"/>
          <p:cNvSpPr/>
          <p:nvPr/>
        </p:nvSpPr>
        <p:spPr>
          <a:xfrm>
            <a:off x="566928" y="2286000"/>
            <a:ext cx="11055096" cy="1051560"/>
          </a:xfrm>
          <a:prstGeom prst="roundRect">
            <a:avLst>
              <a:gd name="adj" fmla="val 5000"/>
            </a:avLst>
          </a:prstGeom>
          <a:solidFill>
            <a:srgbClr val="E1EBEF"/>
          </a:solidFill>
          <a:ln w="12700">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286000"/>
            <a:ext cx="10332720" cy="1051560"/>
          </a:xfrm>
          <a:prstGeom prst="rect">
            <a:avLst/>
          </a:prstGeom>
          <a:noFill/>
        </p:spPr>
        <p:txBody>
          <a:bodyPr wrap="square" anchor="ctr" lIns="0" rIns="0" tIns="0" bIns="0">
            <a:noAutofit/>
          </a:bodyPr>
          <a:lstStyle/>
          <a:p>
            <a:pPr algn="l">
              <a:lnSpc>
                <a:spcPct val="108000"/>
              </a:lnSpc>
              <a:spcBef>
                <a:spcPts val="0"/>
              </a:spcBef>
              <a:spcAft>
                <a:spcPts val="600"/>
              </a:spcAft>
            </a:pPr>
            <a:r>
              <a:rPr sz="1600" b="0" i="1">
                <a:solidFill>
                  <a:srgbClr val="112B34"/>
                </a:solidFill>
                <a:latin typeface="Calibri"/>
              </a:rPr>
              <a:t>“This study examines household-level barriers to consistent mosquito-breeding-site elimination in an urban barangay experiencing recurring dengue outbreaks.”</a:t>
            </a:r>
          </a:p>
        </p:txBody>
      </p:sp>
      <p:sp>
        <p:nvSpPr>
          <p:cNvPr id="15" name="TextBox 14"/>
          <p:cNvSpPr txBox="1"/>
          <p:nvPr/>
        </p:nvSpPr>
        <p:spPr>
          <a:xfrm>
            <a:off x="566928" y="3520440"/>
            <a:ext cx="10972800" cy="292608"/>
          </a:xfrm>
          <a:prstGeom prst="rect">
            <a:avLst/>
          </a:prstGeom>
          <a:noFill/>
        </p:spPr>
        <p:txBody>
          <a:bodyPr wrap="square" anchor="t" lIns="0" rIns="0" tIns="0" bIns="0">
            <a:noAutofit/>
          </a:bodyPr>
          <a:lstStyle/>
          <a:p>
            <a:pPr algn="l">
              <a:lnSpc>
                <a:spcPct val="100000"/>
              </a:lnSpc>
              <a:spcBef>
                <a:spcPts val="0"/>
              </a:spcBef>
              <a:spcAft>
                <a:spcPts val="600"/>
              </a:spcAft>
            </a:pPr>
            <a:r>
              <a:rPr sz="1500" b="1" i="0">
                <a:solidFill>
                  <a:srgbClr val="112B34"/>
                </a:solidFill>
                <a:latin typeface="Calibri"/>
              </a:rPr>
              <a:t>In pairs, draft either:</a:t>
            </a:r>
          </a:p>
        </p:txBody>
      </p:sp>
      <p:sp>
        <p:nvSpPr>
          <p:cNvPr id="16" name="Rounded Rectangle 15"/>
          <p:cNvSpPr/>
          <p:nvPr/>
        </p:nvSpPr>
        <p:spPr>
          <a:xfrm>
            <a:off x="566928" y="3886200"/>
            <a:ext cx="5440680" cy="1600200"/>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69080"/>
            <a:ext cx="4937760" cy="1280160"/>
          </a:xfrm>
          <a:prstGeom prst="rect">
            <a:avLst/>
          </a:prstGeom>
          <a:noFill/>
        </p:spPr>
        <p:txBody>
          <a:bodyPr wrap="square" anchor="ctr" lIns="0" rIns="0" tIns="0" bIns="0">
            <a:noAutofit/>
          </a:bodyPr>
          <a:lstStyle/>
          <a:p>
            <a:pPr algn="l">
              <a:lnSpc>
                <a:spcPct val="110000"/>
              </a:lnSpc>
              <a:spcBef>
                <a:spcPts val="0"/>
              </a:spcBef>
              <a:spcAft>
                <a:spcPts val="600"/>
              </a:spcAft>
            </a:pPr>
            <a:r>
              <a:rPr sz="1700" b="1" i="0">
                <a:solidFill>
                  <a:srgbClr val="1F8A8A"/>
                </a:solidFill>
                <a:latin typeface="Calibri"/>
              </a:rPr>
              <a:t>(a)  </a:t>
            </a:r>
            <a:r>
              <a:rPr sz="1500" b="1" i="0">
                <a:solidFill>
                  <a:srgbClr val="112B34"/>
                </a:solidFill>
                <a:latin typeface="Calibri"/>
              </a:rPr>
              <a:t>one qualitative central question </a:t>
            </a:r>
            <a:r>
              <a:rPr sz="1500" b="0" i="0">
                <a:solidFill>
                  <a:srgbClr val="112B34"/>
                </a:solidFill>
                <a:latin typeface="Calibri"/>
              </a:rPr>
              <a:t>+ two sub-questions</a:t>
            </a:r>
          </a:p>
        </p:txBody>
      </p:sp>
      <p:sp>
        <p:nvSpPr>
          <p:cNvPr id="18" name="Rounded Rectangle 17"/>
          <p:cNvSpPr/>
          <p:nvPr/>
        </p:nvSpPr>
        <p:spPr>
          <a:xfrm>
            <a:off x="6181344" y="3886200"/>
            <a:ext cx="5440680" cy="1600200"/>
          </a:xfrm>
          <a:prstGeom prst="roundRect">
            <a:avLst>
              <a:gd name="adj" fmla="val 6000"/>
            </a:avLst>
          </a:prstGeom>
          <a:solidFill>
            <a:srgbClr val="FFFFFF"/>
          </a:solidFill>
          <a:ln w="1905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7376" y="4069080"/>
            <a:ext cx="4937760" cy="1280160"/>
          </a:xfrm>
          <a:prstGeom prst="rect">
            <a:avLst/>
          </a:prstGeom>
          <a:noFill/>
        </p:spPr>
        <p:txBody>
          <a:bodyPr wrap="square" anchor="ctr" lIns="0" rIns="0" tIns="0" bIns="0">
            <a:noAutofit/>
          </a:bodyPr>
          <a:lstStyle/>
          <a:p>
            <a:pPr algn="l">
              <a:lnSpc>
                <a:spcPct val="110000"/>
              </a:lnSpc>
              <a:spcBef>
                <a:spcPts val="0"/>
              </a:spcBef>
              <a:spcAft>
                <a:spcPts val="600"/>
              </a:spcAft>
            </a:pPr>
            <a:r>
              <a:rPr sz="1700" b="1" i="0">
                <a:solidFill>
                  <a:srgbClr val="E86F51"/>
                </a:solidFill>
                <a:latin typeface="Calibri"/>
              </a:rPr>
              <a:t>(b)  </a:t>
            </a:r>
            <a:r>
              <a:rPr sz="1500" b="1" i="0">
                <a:solidFill>
                  <a:srgbClr val="112B34"/>
                </a:solidFill>
                <a:latin typeface="Calibri"/>
              </a:rPr>
              <a:t>one directional quantitative hypothesis</a:t>
            </a:r>
          </a:p>
        </p:txBody>
      </p:sp>
      <p:sp>
        <p:nvSpPr>
          <p:cNvPr id="20" name="Rounded Rectangle 19"/>
          <p:cNvSpPr/>
          <p:nvPr/>
        </p:nvSpPr>
        <p:spPr>
          <a:xfrm>
            <a:off x="566928" y="5623560"/>
            <a:ext cx="11055096" cy="566928"/>
          </a:xfrm>
          <a:prstGeom prst="roundRect">
            <a:avLst>
              <a:gd name="adj" fmla="val 12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623560"/>
            <a:ext cx="10424160" cy="566928"/>
          </a:xfrm>
          <a:prstGeom prst="rect">
            <a:avLst/>
          </a:prstGeom>
          <a:noFill/>
        </p:spPr>
        <p:txBody>
          <a:bodyPr wrap="square" anchor="ctr" lIns="0" rIns="0" tIns="0" bIns="0">
            <a:noAutofit/>
          </a:bodyPr>
          <a:lstStyle/>
          <a:p>
            <a:pPr algn="l">
              <a:lnSpc>
                <a:spcPct val="100000"/>
              </a:lnSpc>
              <a:spcBef>
                <a:spcPts val="0"/>
              </a:spcBef>
              <a:spcAft>
                <a:spcPts val="600"/>
              </a:spcAft>
            </a:pPr>
            <a:r>
              <a:rPr sz="1350" b="1" i="0">
                <a:solidFill>
                  <a:srgbClr val="C95338"/>
                </a:solidFill>
                <a:latin typeface="Calibri"/>
              </a:rPr>
              <a:t>Check your draft against the relevant checklist (Slides 20–21) </a:t>
            </a:r>
            <a:r>
              <a:rPr sz="1350" b="0" i="0">
                <a:solidFill>
                  <a:srgbClr val="112B34"/>
                </a:solidFill>
                <a:latin typeface="Calibri"/>
              </a:rPr>
              <a:t>before sharing.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5 · JUSTIFYING WITH CER — COMPETENCY 15</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Why Should Anyone Care?</a:t>
            </a:r>
          </a:p>
        </p:txBody>
      </p:sp>
      <p:sp>
        <p:nvSpPr>
          <p:cNvPr id="6" name="Rectangle 5"/>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25</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5 · Competency 15</a:t>
            </a:r>
          </a:p>
        </p:txBody>
      </p:sp>
      <p:sp>
        <p:nvSpPr>
          <p:cNvPr id="10" name="TextBox 9"/>
          <p:cNvSpPr txBox="1"/>
          <p:nvPr/>
        </p:nvSpPr>
        <p:spPr>
          <a:xfrm>
            <a:off x="566928" y="1965960"/>
            <a:ext cx="5943600" cy="3291840"/>
          </a:xfrm>
          <a:prstGeom prst="rect">
            <a:avLst/>
          </a:prstGeom>
          <a:noFill/>
        </p:spPr>
        <p:txBody>
          <a:bodyPr wrap="square" anchor="t" lIns="0" rIns="0" tIns="0" bIns="0">
            <a:noAutofit/>
          </a:bodyPr>
          <a:lstStyle/>
          <a:p>
            <a:pPr algn="l" marL="274320" indent="-274320">
              <a:lnSpc>
                <a:spcPct val="106000"/>
              </a:lnSpc>
              <a:spcBef>
                <a:spcPts val="0"/>
              </a:spcBef>
              <a:spcAft>
                <a:spcPts val="1100"/>
              </a:spcAft>
              <a:buClr>
                <a:srgbClr val="1F8A8A"/>
              </a:buClr>
              <a:buSzPct val="110000"/>
              <a:buFont typeface="Calibri"/>
              <a:buChar char="•"/>
            </a:pPr>
            <a:r>
              <a:rPr sz="1650" b="0" i="0">
                <a:solidFill>
                  <a:srgbClr val="112B34"/>
                </a:solidFill>
                <a:latin typeface="Calibri"/>
              </a:rPr>
              <a:t>The group has a </a:t>
            </a:r>
            <a:r>
              <a:rPr sz="1650" b="1" i="0">
                <a:solidFill>
                  <a:srgbClr val="112B34"/>
                </a:solidFill>
                <a:latin typeface="Calibri"/>
              </a:rPr>
              <a:t>strong problem statement</a:t>
            </a:r>
            <a:r>
              <a:rPr sz="1650" b="0" i="0">
                <a:solidFill>
                  <a:srgbClr val="112B34"/>
                </a:solidFill>
                <a:latin typeface="Calibri"/>
              </a:rPr>
              <a:t> and an </a:t>
            </a:r>
            <a:r>
              <a:rPr sz="1650" b="1" i="0">
                <a:solidFill>
                  <a:srgbClr val="112B34"/>
                </a:solidFill>
                <a:latin typeface="Calibri"/>
              </a:rPr>
              <a:t>aligned research question.</a:t>
            </a:r>
          </a:p>
          <a:p>
            <a:pPr algn="l" marL="274320" indent="-274320">
              <a:lnSpc>
                <a:spcPct val="106000"/>
              </a:lnSpc>
              <a:spcBef>
                <a:spcPts val="0"/>
              </a:spcBef>
              <a:spcAft>
                <a:spcPts val="1100"/>
              </a:spcAft>
              <a:buClr>
                <a:srgbClr val="1F8A8A"/>
              </a:buClr>
              <a:buSzPct val="110000"/>
              <a:buFont typeface="Calibri"/>
              <a:buChar char="•"/>
            </a:pPr>
            <a:r>
              <a:rPr sz="1650" b="0" i="0">
                <a:solidFill>
                  <a:srgbClr val="112B34"/>
                </a:solidFill>
                <a:latin typeface="Calibri"/>
              </a:rPr>
              <a:t>A reader — a teacher, a panel, a barangay official — will still ask…</a:t>
            </a:r>
          </a:p>
          <a:p>
            <a:pPr algn="l" marL="274320" indent="-274320">
              <a:lnSpc>
                <a:spcPct val="106000"/>
              </a:lnSpc>
              <a:spcBef>
                <a:spcPts val="0"/>
              </a:spcBef>
              <a:spcAft>
                <a:spcPts val="600"/>
              </a:spcAft>
              <a:buClr>
                <a:srgbClr val="1F8A8A"/>
              </a:buClr>
              <a:buSzPct val="110000"/>
              <a:buFont typeface="Calibri"/>
              <a:buChar char="•"/>
            </a:pPr>
            <a:r>
              <a:rPr sz="1650" b="0" i="0">
                <a:solidFill>
                  <a:srgbClr val="112B34"/>
                </a:solidFill>
                <a:latin typeface="Calibri"/>
              </a:rPr>
              <a:t>A problem statement alone doesn’t answer that. It needs to be </a:t>
            </a:r>
            <a:r>
              <a:rPr sz="1650" b="1" i="1">
                <a:solidFill>
                  <a:srgbClr val="E86F51"/>
                </a:solidFill>
                <a:latin typeface="Calibri"/>
              </a:rPr>
              <a:t>argued for</a:t>
            </a:r>
            <a:r>
              <a:rPr sz="1650" b="0" i="0">
                <a:solidFill>
                  <a:srgbClr val="112B34"/>
                </a:solidFill>
                <a:latin typeface="Calibri"/>
              </a:rPr>
              <a:t>, not just announced.</a:t>
            </a:r>
          </a:p>
        </p:txBody>
      </p:sp>
      <p:sp>
        <p:nvSpPr>
          <p:cNvPr id="11" name="Rounded Rectangular Callout 10"/>
          <p:cNvSpPr/>
          <p:nvPr/>
        </p:nvSpPr>
        <p:spPr>
          <a:xfrm>
            <a:off x="6720840" y="2286000"/>
            <a:ext cx="4892040" cy="2194560"/>
          </a:xfrm>
          <a:prstGeom prst="wedgeRoundRectCallou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lnSpc>
                <a:spcPct val="105000"/>
              </a:lnSpc>
            </a:pPr>
            <a:r>
              <a:rPr sz="3000" b="1" i="0">
                <a:solidFill>
                  <a:srgbClr val="FFFFFF"/>
                </a:solidFill>
                <a:latin typeface="Calibri"/>
              </a:rPr>
              <a:t>“So what?</a:t>
            </a:r>
          </a:p>
          <a:p>
            <a:pPr algn="ctr">
              <a:lnSpc>
                <a:spcPct val="105000"/>
              </a:lnSpc>
              <a:spcBef>
                <a:spcPts val="400"/>
              </a:spcBef>
            </a:pPr>
            <a:r>
              <a:rPr sz="1800" b="1" i="0">
                <a:solidFill>
                  <a:srgbClr val="FFFFFF"/>
                </a:solidFill>
                <a:latin typeface="Calibri"/>
              </a:rPr>
              <a:t>Why does this matter enough to study?”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5 · JUSTIFYING WITH CER — COMPETENCY 15</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Introducing the CER Framework</a:t>
            </a:r>
          </a:p>
        </p:txBody>
      </p:sp>
      <p:sp>
        <p:nvSpPr>
          <p:cNvPr id="6" name="Rounded Rectangle 5"/>
          <p:cNvSpPr/>
          <p:nvPr/>
        </p:nvSpPr>
        <p:spPr>
          <a:xfrm>
            <a:off x="10393985" y="365760"/>
            <a:ext cx="1230782" cy="292608"/>
          </a:xfrm>
          <a:prstGeom prst="roundRect">
            <a:avLst>
              <a:gd name="adj" fmla="val 5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SUPPLEMENTARY</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26</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5 · Competency 15</a:t>
            </a:r>
          </a:p>
        </p:txBody>
      </p:sp>
      <p:sp>
        <p:nvSpPr>
          <p:cNvPr id="11" name="Rounded Rectangle 10"/>
          <p:cNvSpPr/>
          <p:nvPr/>
        </p:nvSpPr>
        <p:spPr>
          <a:xfrm>
            <a:off x="685800" y="2148840"/>
            <a:ext cx="3291840" cy="2286000"/>
          </a:xfrm>
          <a:prstGeom prst="roundRect">
            <a:avLst>
              <a:gd name="adj" fmla="val 6000"/>
            </a:avLst>
          </a:prstGeom>
          <a:solidFill>
            <a:srgbClr val="FFFFFF"/>
          </a:solidFill>
          <a:ln w="25400">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74520" y="2350008"/>
            <a:ext cx="914400" cy="914400"/>
          </a:xfrm>
          <a:prstGeom prst="ellipse">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3800" b="1" i="0">
                <a:solidFill>
                  <a:srgbClr val="FFFFFF"/>
                </a:solidFill>
                <a:latin typeface="Calibri"/>
              </a:rPr>
              <a:t>C</a:t>
            </a:r>
          </a:p>
        </p:txBody>
      </p:sp>
      <p:sp>
        <p:nvSpPr>
          <p:cNvPr id="13" name="TextBox 12"/>
          <p:cNvSpPr txBox="1"/>
          <p:nvPr/>
        </p:nvSpPr>
        <p:spPr>
          <a:xfrm>
            <a:off x="685800" y="3383280"/>
            <a:ext cx="329184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2000" b="1" i="0">
                <a:solidFill>
                  <a:srgbClr val="0C536B"/>
                </a:solidFill>
                <a:latin typeface="Calibri"/>
              </a:rPr>
              <a:t>Claim</a:t>
            </a:r>
          </a:p>
        </p:txBody>
      </p:sp>
      <p:sp>
        <p:nvSpPr>
          <p:cNvPr id="14" name="TextBox 13"/>
          <p:cNvSpPr txBox="1"/>
          <p:nvPr/>
        </p:nvSpPr>
        <p:spPr>
          <a:xfrm>
            <a:off x="960120" y="3840480"/>
            <a:ext cx="2743200" cy="548640"/>
          </a:xfrm>
          <a:prstGeom prst="rect">
            <a:avLst/>
          </a:prstGeom>
          <a:noFill/>
        </p:spPr>
        <p:txBody>
          <a:bodyPr wrap="square" anchor="t" lIns="0" rIns="0" tIns="0" bIns="0">
            <a:noAutofit/>
          </a:bodyPr>
          <a:lstStyle/>
          <a:p>
            <a:pPr algn="ctr">
              <a:lnSpc>
                <a:spcPct val="102000"/>
              </a:lnSpc>
              <a:spcBef>
                <a:spcPts val="0"/>
              </a:spcBef>
              <a:spcAft>
                <a:spcPts val="600"/>
              </a:spcAft>
            </a:pPr>
            <a:r>
              <a:rPr sz="1250" b="0" i="0">
                <a:solidFill>
                  <a:srgbClr val="112B34"/>
                </a:solidFill>
                <a:latin typeface="Calibri"/>
              </a:rPr>
              <a:t>the statement you’re arguing for (your research problem matters)</a:t>
            </a:r>
          </a:p>
        </p:txBody>
      </p:sp>
      <p:sp>
        <p:nvSpPr>
          <p:cNvPr id="15" name="Right Arrow 14"/>
          <p:cNvSpPr/>
          <p:nvPr/>
        </p:nvSpPr>
        <p:spPr>
          <a:xfrm>
            <a:off x="4069080" y="3136392"/>
            <a:ext cx="384048" cy="310896"/>
          </a:xfrm>
          <a:prstGeom prst="rightArrow">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44568" y="2148840"/>
            <a:ext cx="3291840" cy="2286000"/>
          </a:xfrm>
          <a:prstGeom prst="roundRect">
            <a:avLst>
              <a:gd name="adj" fmla="val 6000"/>
            </a:avLst>
          </a:prstGeom>
          <a:solidFill>
            <a:srgbClr val="FFFFFF"/>
          </a:solidFill>
          <a:ln w="2540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33288" y="2350008"/>
            <a:ext cx="914400" cy="9144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3800" b="1" i="0">
                <a:solidFill>
                  <a:srgbClr val="FFFFFF"/>
                </a:solidFill>
                <a:latin typeface="Calibri"/>
              </a:rPr>
              <a:t>E</a:t>
            </a:r>
          </a:p>
        </p:txBody>
      </p:sp>
      <p:sp>
        <p:nvSpPr>
          <p:cNvPr id="18" name="TextBox 17"/>
          <p:cNvSpPr txBox="1"/>
          <p:nvPr/>
        </p:nvSpPr>
        <p:spPr>
          <a:xfrm>
            <a:off x="4544568" y="3383280"/>
            <a:ext cx="329184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2000" b="1" i="0">
                <a:solidFill>
                  <a:srgbClr val="1F8A8A"/>
                </a:solidFill>
                <a:latin typeface="Calibri"/>
              </a:rPr>
              <a:t>Evidence</a:t>
            </a:r>
          </a:p>
        </p:txBody>
      </p:sp>
      <p:sp>
        <p:nvSpPr>
          <p:cNvPr id="19" name="TextBox 18"/>
          <p:cNvSpPr txBox="1"/>
          <p:nvPr/>
        </p:nvSpPr>
        <p:spPr>
          <a:xfrm>
            <a:off x="4818888" y="3840480"/>
            <a:ext cx="2743200" cy="548640"/>
          </a:xfrm>
          <a:prstGeom prst="rect">
            <a:avLst/>
          </a:prstGeom>
          <a:noFill/>
        </p:spPr>
        <p:txBody>
          <a:bodyPr wrap="square" anchor="t" lIns="0" rIns="0" tIns="0" bIns="0">
            <a:noAutofit/>
          </a:bodyPr>
          <a:lstStyle/>
          <a:p>
            <a:pPr algn="ctr">
              <a:lnSpc>
                <a:spcPct val="102000"/>
              </a:lnSpc>
              <a:spcBef>
                <a:spcPts val="0"/>
              </a:spcBef>
              <a:spcAft>
                <a:spcPts val="600"/>
              </a:spcAft>
            </a:pPr>
            <a:r>
              <a:rPr sz="1250" b="0" i="0">
                <a:solidFill>
                  <a:srgbClr val="112B34"/>
                </a:solidFill>
                <a:latin typeface="Calibri"/>
              </a:rPr>
              <a:t>the data or literature findings that support the claim</a:t>
            </a:r>
          </a:p>
        </p:txBody>
      </p:sp>
      <p:sp>
        <p:nvSpPr>
          <p:cNvPr id="20" name="Right Arrow 19"/>
          <p:cNvSpPr/>
          <p:nvPr/>
        </p:nvSpPr>
        <p:spPr>
          <a:xfrm>
            <a:off x="7927848" y="3136392"/>
            <a:ext cx="384048" cy="310896"/>
          </a:xfrm>
          <a:prstGeom prst="rightArrow">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03336" y="2148840"/>
            <a:ext cx="3291840" cy="2286000"/>
          </a:xfrm>
          <a:prstGeom prst="roundRect">
            <a:avLst>
              <a:gd name="adj" fmla="val 6000"/>
            </a:avLst>
          </a:prstGeom>
          <a:solidFill>
            <a:srgbClr val="FFFFFF"/>
          </a:solidFill>
          <a:ln w="2540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592056" y="2350008"/>
            <a:ext cx="914400" cy="914400"/>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3800" b="1" i="0">
                <a:solidFill>
                  <a:srgbClr val="FFFFFF"/>
                </a:solidFill>
                <a:latin typeface="Calibri"/>
              </a:rPr>
              <a:t>R</a:t>
            </a:r>
          </a:p>
        </p:txBody>
      </p:sp>
      <p:sp>
        <p:nvSpPr>
          <p:cNvPr id="23" name="TextBox 22"/>
          <p:cNvSpPr txBox="1"/>
          <p:nvPr/>
        </p:nvSpPr>
        <p:spPr>
          <a:xfrm>
            <a:off x="8403336" y="3383280"/>
            <a:ext cx="329184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2000" b="1" i="0">
                <a:solidFill>
                  <a:srgbClr val="E86F51"/>
                </a:solidFill>
                <a:latin typeface="Calibri"/>
              </a:rPr>
              <a:t>Reasoning</a:t>
            </a:r>
          </a:p>
        </p:txBody>
      </p:sp>
      <p:sp>
        <p:nvSpPr>
          <p:cNvPr id="24" name="TextBox 23"/>
          <p:cNvSpPr txBox="1"/>
          <p:nvPr/>
        </p:nvSpPr>
        <p:spPr>
          <a:xfrm>
            <a:off x="8677656" y="3840480"/>
            <a:ext cx="2743200" cy="548640"/>
          </a:xfrm>
          <a:prstGeom prst="rect">
            <a:avLst/>
          </a:prstGeom>
          <a:noFill/>
        </p:spPr>
        <p:txBody>
          <a:bodyPr wrap="square" anchor="t" lIns="0" rIns="0" tIns="0" bIns="0">
            <a:noAutofit/>
          </a:bodyPr>
          <a:lstStyle/>
          <a:p>
            <a:pPr algn="ctr">
              <a:lnSpc>
                <a:spcPct val="102000"/>
              </a:lnSpc>
              <a:spcBef>
                <a:spcPts val="0"/>
              </a:spcBef>
              <a:spcAft>
                <a:spcPts val="600"/>
              </a:spcAft>
            </a:pPr>
            <a:r>
              <a:rPr sz="1250" b="0" i="0">
                <a:solidFill>
                  <a:srgbClr val="112B34"/>
                </a:solidFill>
                <a:latin typeface="Calibri"/>
              </a:rPr>
              <a:t>the explanation connecting the evidence to the claim</a:t>
            </a:r>
          </a:p>
        </p:txBody>
      </p:sp>
      <p:sp>
        <p:nvSpPr>
          <p:cNvPr id="25" name="Rounded Rectangle 24"/>
          <p:cNvSpPr/>
          <p:nvPr/>
        </p:nvSpPr>
        <p:spPr>
          <a:xfrm>
            <a:off x="566928" y="4892040"/>
            <a:ext cx="11055096" cy="1280160"/>
          </a:xfrm>
          <a:prstGeom prst="roundRect">
            <a:avLst>
              <a:gd name="adj" fmla="val 8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4892040"/>
            <a:ext cx="146304" cy="1280160"/>
          </a:xfrm>
          <a:prstGeom prst="roundRect">
            <a:avLst>
              <a:gd name="adj" fmla="val 5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92040"/>
            <a:ext cx="10424160" cy="1280160"/>
          </a:xfrm>
          <a:prstGeom prst="rect">
            <a:avLst/>
          </a:prstGeom>
          <a:noFill/>
        </p:spPr>
        <p:txBody>
          <a:bodyPr wrap="square" anchor="ctr" lIns="0" rIns="0" tIns="0" bIns="0">
            <a:noAutofit/>
          </a:bodyPr>
          <a:lstStyle/>
          <a:p>
            <a:pPr algn="l">
              <a:lnSpc>
                <a:spcPct val="110000"/>
              </a:lnSpc>
              <a:spcBef>
                <a:spcPts val="0"/>
              </a:spcBef>
              <a:spcAft>
                <a:spcPts val="600"/>
              </a:spcAft>
            </a:pPr>
            <a:r>
              <a:rPr sz="1350" b="1" i="0">
                <a:solidFill>
                  <a:srgbClr val="C95338"/>
                </a:solidFill>
                <a:latin typeface="Calibri"/>
              </a:rPr>
              <a:t>Note:  </a:t>
            </a:r>
            <a:r>
              <a:rPr sz="1350" b="0" i="1">
                <a:solidFill>
                  <a:srgbClr val="112B34"/>
                </a:solidFill>
                <a:latin typeface="Calibri"/>
              </a:rPr>
              <a:t>CER is a widely used argumentation framework from science education, applied here to research writing — it is not a term used in the assigned research-methods textbook itself, but it gives us a simple structure for the same task the textbook describes.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5 · JUSTIFYING WITH CER — COMPETENCY 15</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Building Your CER Argument</a:t>
            </a:r>
          </a:p>
        </p:txBody>
      </p:sp>
      <p:sp>
        <p:nvSpPr>
          <p:cNvPr id="6" name="Rounded Rectangle 5"/>
          <p:cNvSpPr/>
          <p:nvPr/>
        </p:nvSpPr>
        <p:spPr>
          <a:xfrm>
            <a:off x="10319004" y="365760"/>
            <a:ext cx="1305763" cy="292608"/>
          </a:xfrm>
          <a:prstGeom prst="roundRect">
            <a:avLst>
              <a:gd name="adj" fmla="val 5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TEXTBOOK-BASED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27</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5 · Competency 15</a:t>
            </a:r>
          </a:p>
        </p:txBody>
      </p:sp>
      <p:sp>
        <p:nvSpPr>
          <p:cNvPr id="11" name="Rounded Rectangle 10"/>
          <p:cNvSpPr/>
          <p:nvPr/>
        </p:nvSpPr>
        <p:spPr>
          <a:xfrm>
            <a:off x="566928" y="1874519"/>
            <a:ext cx="2011680" cy="841248"/>
          </a:xfrm>
          <a:prstGeom prst="roundRect">
            <a:avLst>
              <a:gd name="adj" fmla="val 12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Claim</a:t>
            </a:r>
          </a:p>
        </p:txBody>
      </p:sp>
      <p:sp>
        <p:nvSpPr>
          <p:cNvPr id="12" name="Right Arrow 11"/>
          <p:cNvSpPr/>
          <p:nvPr/>
        </p:nvSpPr>
        <p:spPr>
          <a:xfrm>
            <a:off x="2651760" y="2194559"/>
            <a:ext cx="320040" cy="201168"/>
          </a:xfrm>
          <a:prstGeom prst="rightArrow">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08960" y="1874519"/>
            <a:ext cx="8513064" cy="841248"/>
          </a:xfrm>
          <a:prstGeom prst="roundRect">
            <a:avLst>
              <a:gd name="adj" fmla="val 8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1874519"/>
            <a:ext cx="7955279" cy="841248"/>
          </a:xfrm>
          <a:prstGeom prst="rect">
            <a:avLst/>
          </a:prstGeom>
          <a:noFill/>
        </p:spPr>
        <p:txBody>
          <a:bodyPr wrap="square" anchor="ctr" lIns="0" rIns="0" tIns="0" bIns="0">
            <a:noAutofit/>
          </a:bodyPr>
          <a:lstStyle/>
          <a:p>
            <a:pPr algn="l">
              <a:lnSpc>
                <a:spcPct val="105000"/>
              </a:lnSpc>
              <a:spcBef>
                <a:spcPts val="0"/>
              </a:spcBef>
              <a:spcAft>
                <a:spcPts val="600"/>
              </a:spcAft>
            </a:pPr>
            <a:r>
              <a:rPr sz="1450" b="0" i="0">
                <a:solidFill>
                  <a:srgbClr val="112B34"/>
                </a:solidFill>
                <a:latin typeface="Calibri"/>
              </a:rPr>
              <a:t>your problem statement is significant and worth studying</a:t>
            </a:r>
          </a:p>
        </p:txBody>
      </p:sp>
      <p:sp>
        <p:nvSpPr>
          <p:cNvPr id="15" name="Rounded Rectangle 14"/>
          <p:cNvSpPr/>
          <p:nvPr/>
        </p:nvSpPr>
        <p:spPr>
          <a:xfrm>
            <a:off x="566928" y="2843783"/>
            <a:ext cx="2011680" cy="841248"/>
          </a:xfrm>
          <a:prstGeom prst="roundRect">
            <a:avLst>
              <a:gd name="adj" fmla="val 12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Evidence</a:t>
            </a:r>
          </a:p>
        </p:txBody>
      </p:sp>
      <p:sp>
        <p:nvSpPr>
          <p:cNvPr id="16" name="Right Arrow 15"/>
          <p:cNvSpPr/>
          <p:nvPr/>
        </p:nvSpPr>
        <p:spPr>
          <a:xfrm>
            <a:off x="2651760" y="3163823"/>
            <a:ext cx="320040" cy="201168"/>
          </a:xfrm>
          <a:prstGeom prst="rightArrow">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08960" y="2843783"/>
            <a:ext cx="8513064" cy="841248"/>
          </a:xfrm>
          <a:prstGeom prst="roundRect">
            <a:avLst>
              <a:gd name="adj" fmla="val 8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2843783"/>
            <a:ext cx="7955279" cy="841248"/>
          </a:xfrm>
          <a:prstGeom prst="rect">
            <a:avLst/>
          </a:prstGeom>
          <a:noFill/>
        </p:spPr>
        <p:txBody>
          <a:bodyPr wrap="square" anchor="ctr" lIns="0" rIns="0" tIns="0" bIns="0">
            <a:noAutofit/>
          </a:bodyPr>
          <a:lstStyle/>
          <a:p>
            <a:pPr algn="l">
              <a:lnSpc>
                <a:spcPct val="105000"/>
              </a:lnSpc>
              <a:spcBef>
                <a:spcPts val="0"/>
              </a:spcBef>
              <a:spcAft>
                <a:spcPts val="600"/>
              </a:spcAft>
            </a:pPr>
            <a:r>
              <a:rPr sz="1450" b="0" i="0">
                <a:solidFill>
                  <a:srgbClr val="112B34"/>
                </a:solidFill>
                <a:latin typeface="Calibri"/>
              </a:rPr>
              <a:t>findings from your literature synthesis (Part 2) + relevant data or statistics</a:t>
            </a:r>
          </a:p>
        </p:txBody>
      </p:sp>
      <p:sp>
        <p:nvSpPr>
          <p:cNvPr id="19" name="Rounded Rectangle 18"/>
          <p:cNvSpPr/>
          <p:nvPr/>
        </p:nvSpPr>
        <p:spPr>
          <a:xfrm>
            <a:off x="566928" y="3813047"/>
            <a:ext cx="2011680" cy="841248"/>
          </a:xfrm>
          <a:prstGeom prst="roundRect">
            <a:avLst>
              <a:gd name="adj" fmla="val 12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Reasoning</a:t>
            </a:r>
          </a:p>
        </p:txBody>
      </p:sp>
      <p:sp>
        <p:nvSpPr>
          <p:cNvPr id="20" name="Right Arrow 19"/>
          <p:cNvSpPr/>
          <p:nvPr/>
        </p:nvSpPr>
        <p:spPr>
          <a:xfrm>
            <a:off x="2651760" y="4133087"/>
            <a:ext cx="320040" cy="201168"/>
          </a:xfrm>
          <a:prstGeom prst="rightArrow">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3813047"/>
            <a:ext cx="8513064" cy="841248"/>
          </a:xfrm>
          <a:prstGeom prst="roundRect">
            <a:avLst>
              <a:gd name="adj" fmla="val 8000"/>
            </a:avLst>
          </a:prstGeom>
          <a:solidFill>
            <a:srgbClr val="FFFFFF"/>
          </a:solidFill>
          <a:ln w="12700">
            <a:solidFill>
              <a:srgbClr val="D5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3813047"/>
            <a:ext cx="7955279" cy="841248"/>
          </a:xfrm>
          <a:prstGeom prst="rect">
            <a:avLst/>
          </a:prstGeom>
          <a:noFill/>
        </p:spPr>
        <p:txBody>
          <a:bodyPr wrap="square" anchor="ctr" lIns="0" rIns="0" tIns="0" bIns="0">
            <a:noAutofit/>
          </a:bodyPr>
          <a:lstStyle/>
          <a:p>
            <a:pPr algn="l">
              <a:lnSpc>
                <a:spcPct val="105000"/>
              </a:lnSpc>
              <a:spcBef>
                <a:spcPts val="0"/>
              </a:spcBef>
              <a:spcAft>
                <a:spcPts val="600"/>
              </a:spcAft>
            </a:pPr>
            <a:r>
              <a:rPr sz="1450" b="0" i="0">
                <a:solidFill>
                  <a:srgbClr val="112B34"/>
                </a:solidFill>
                <a:latin typeface="Calibri"/>
              </a:rPr>
              <a:t>why that evidence, taken together, shows this specific gap matters</a:t>
            </a:r>
          </a:p>
        </p:txBody>
      </p:sp>
      <p:sp>
        <p:nvSpPr>
          <p:cNvPr id="23" name="Rounded Rectangle 22"/>
          <p:cNvSpPr/>
          <p:nvPr/>
        </p:nvSpPr>
        <p:spPr>
          <a:xfrm>
            <a:off x="566928" y="4892040"/>
            <a:ext cx="11055096" cy="1280160"/>
          </a:xfrm>
          <a:prstGeom prst="roundRect">
            <a:avLst>
              <a:gd name="adj" fmla="val 8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 y="5138928"/>
            <a:ext cx="2834640" cy="777240"/>
          </a:xfrm>
          <a:prstGeom prst="roundRect">
            <a:avLst>
              <a:gd name="adj" fmla="val 10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i="0">
                <a:solidFill>
                  <a:srgbClr val="112B34"/>
                </a:solidFill>
                <a:latin typeface="Calibri"/>
              </a:rPr>
              <a:t>Synthesis Matrix</a:t>
            </a:r>
          </a:p>
        </p:txBody>
      </p:sp>
      <p:sp>
        <p:nvSpPr>
          <p:cNvPr id="25" name="Rounded Rectangle 24"/>
          <p:cNvSpPr/>
          <p:nvPr/>
        </p:nvSpPr>
        <p:spPr>
          <a:xfrm>
            <a:off x="3977639" y="5138928"/>
            <a:ext cx="2834640" cy="777240"/>
          </a:xfrm>
          <a:prstGeom prst="roundRect">
            <a:avLst>
              <a:gd name="adj" fmla="val 10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i="0">
                <a:solidFill>
                  <a:srgbClr val="112B34"/>
                </a:solidFill>
                <a:latin typeface="Calibri"/>
              </a:rPr>
              <a:t>Gap Statement</a:t>
            </a:r>
          </a:p>
        </p:txBody>
      </p:sp>
      <p:sp>
        <p:nvSpPr>
          <p:cNvPr id="26" name="TextBox 25"/>
          <p:cNvSpPr txBox="1"/>
          <p:nvPr/>
        </p:nvSpPr>
        <p:spPr>
          <a:xfrm>
            <a:off x="914400" y="5870448"/>
            <a:ext cx="589788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100" b="0" i="1">
                <a:solidFill>
                  <a:srgbClr val="5C747D"/>
                </a:solidFill>
                <a:latin typeface="Calibri"/>
              </a:rPr>
              <a:t>from Part 2</a:t>
            </a:r>
          </a:p>
        </p:txBody>
      </p:sp>
      <p:sp>
        <p:nvSpPr>
          <p:cNvPr id="27" name="Right Arrow 26"/>
          <p:cNvSpPr/>
          <p:nvPr/>
        </p:nvSpPr>
        <p:spPr>
          <a:xfrm>
            <a:off x="6949440" y="5349240"/>
            <a:ext cx="640080" cy="384048"/>
          </a:xfrm>
          <a:prstGeom prst="rightArrow">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0" y="5138928"/>
            <a:ext cx="3566160" cy="777240"/>
          </a:xfrm>
          <a:prstGeom prst="roundRect">
            <a:avLst>
              <a:gd name="adj" fmla="val 1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i="0">
                <a:solidFill>
                  <a:srgbClr val="FFFFFF"/>
                </a:solidFill>
                <a:latin typeface="Calibri"/>
              </a:rPr>
              <a:t>→ the “Evidence” of your CER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5 · JUSTIFYING WITH CER — COMPETENCY 15</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A Full CER Paragraph</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28</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5 · Competency 15</a:t>
            </a:r>
          </a:p>
        </p:txBody>
      </p:sp>
      <p:sp>
        <p:nvSpPr>
          <p:cNvPr id="11" name="Rounded Rectangle 10"/>
          <p:cNvSpPr/>
          <p:nvPr/>
        </p:nvSpPr>
        <p:spPr>
          <a:xfrm>
            <a:off x="566928" y="1691640"/>
            <a:ext cx="11055096" cy="1005840"/>
          </a:xfrm>
          <a:prstGeom prst="roundRect">
            <a:avLst>
              <a:gd name="adj" fmla="val 5000"/>
            </a:avLst>
          </a:prstGeom>
          <a:solidFill>
            <a:srgbClr val="E1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1691640"/>
            <a:ext cx="146304" cy="1005840"/>
          </a:xfrm>
          <a:prstGeom prst="roundRect">
            <a:avLst>
              <a:gd name="adj" fmla="val 5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1856232"/>
            <a:ext cx="1691640" cy="384048"/>
          </a:xfrm>
          <a:prstGeom prst="roundRect">
            <a:avLst>
              <a:gd name="adj" fmla="val 30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50" b="1" i="0">
                <a:solidFill>
                  <a:srgbClr val="FFFFFF"/>
                </a:solidFill>
                <a:latin typeface="Calibri"/>
              </a:rPr>
              <a:t>Claim</a:t>
            </a:r>
          </a:p>
        </p:txBody>
      </p:sp>
      <p:sp>
        <p:nvSpPr>
          <p:cNvPr id="14" name="TextBox 13"/>
          <p:cNvSpPr txBox="1"/>
          <p:nvPr/>
        </p:nvSpPr>
        <p:spPr>
          <a:xfrm>
            <a:off x="2743200" y="1691640"/>
            <a:ext cx="8686800" cy="1005840"/>
          </a:xfrm>
          <a:prstGeom prst="rect">
            <a:avLst/>
          </a:prstGeom>
          <a:noFill/>
        </p:spPr>
        <p:txBody>
          <a:bodyPr wrap="square" anchor="ctr" lIns="0" rIns="0" tIns="0" bIns="0">
            <a:noAutofit/>
          </a:bodyPr>
          <a:lstStyle/>
          <a:p>
            <a:pPr algn="l">
              <a:lnSpc>
                <a:spcPct val="108000"/>
              </a:lnSpc>
              <a:spcBef>
                <a:spcPts val="0"/>
              </a:spcBef>
              <a:spcAft>
                <a:spcPts val="600"/>
              </a:spcAft>
            </a:pPr>
            <a:r>
              <a:rPr sz="1400" b="0" i="1">
                <a:solidFill>
                  <a:srgbClr val="112B34"/>
                </a:solidFill>
                <a:latin typeface="Calibri"/>
              </a:rPr>
              <a:t>“Understanding why coastal barangay households under-segregate plastic waste is an urgent research problem.”</a:t>
            </a:r>
          </a:p>
        </p:txBody>
      </p:sp>
      <p:sp>
        <p:nvSpPr>
          <p:cNvPr id="15" name="Rounded Rectangle 14"/>
          <p:cNvSpPr/>
          <p:nvPr/>
        </p:nvSpPr>
        <p:spPr>
          <a:xfrm>
            <a:off x="566928" y="2807208"/>
            <a:ext cx="11055096" cy="1417320"/>
          </a:xfrm>
          <a:prstGeom prst="roundRect">
            <a:avLst>
              <a:gd name="adj" fmla="val 5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2807208"/>
            <a:ext cx="146304" cy="1417320"/>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2971800"/>
            <a:ext cx="1691640" cy="384048"/>
          </a:xfrm>
          <a:prstGeom prst="roundRect">
            <a:avLst>
              <a:gd name="adj" fmla="val 3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50" b="1" i="0">
                <a:solidFill>
                  <a:srgbClr val="FFFFFF"/>
                </a:solidFill>
                <a:latin typeface="Calibri"/>
              </a:rPr>
              <a:t>Evidence</a:t>
            </a:r>
          </a:p>
        </p:txBody>
      </p:sp>
      <p:sp>
        <p:nvSpPr>
          <p:cNvPr id="18" name="TextBox 17"/>
          <p:cNvSpPr txBox="1"/>
          <p:nvPr/>
        </p:nvSpPr>
        <p:spPr>
          <a:xfrm>
            <a:off x="2743200" y="2807208"/>
            <a:ext cx="8686800" cy="1417320"/>
          </a:xfrm>
          <a:prstGeom prst="rect">
            <a:avLst/>
          </a:prstGeom>
          <a:noFill/>
        </p:spPr>
        <p:txBody>
          <a:bodyPr wrap="square" anchor="ctr" lIns="0" rIns="0" tIns="0" bIns="0">
            <a:noAutofit/>
          </a:bodyPr>
          <a:lstStyle/>
          <a:p>
            <a:pPr algn="l">
              <a:lnSpc>
                <a:spcPct val="108000"/>
              </a:lnSpc>
              <a:spcBef>
                <a:spcPts val="0"/>
              </a:spcBef>
              <a:spcAft>
                <a:spcPts val="600"/>
              </a:spcAft>
            </a:pPr>
            <a:r>
              <a:rPr sz="1400" b="0" i="1">
                <a:solidFill>
                  <a:srgbClr val="112B34"/>
                </a:solidFill>
                <a:latin typeface="Calibri"/>
              </a:rPr>
              <a:t>“Government waste audits report high volumes of uncollected plastic in coastal areas, and while several studies examine urban segregation behavior and youth attitudes toward recycling, none directly examine household-level behavior in coastal barangay contexts.”</a:t>
            </a:r>
          </a:p>
        </p:txBody>
      </p:sp>
      <p:sp>
        <p:nvSpPr>
          <p:cNvPr id="19" name="Rounded Rectangle 18"/>
          <p:cNvSpPr/>
          <p:nvPr/>
        </p:nvSpPr>
        <p:spPr>
          <a:xfrm>
            <a:off x="566928" y="4334256"/>
            <a:ext cx="11055096" cy="1371600"/>
          </a:xfrm>
          <a:prstGeom prst="roundRect">
            <a:avLst>
              <a:gd name="adj" fmla="val 5000"/>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 y="4334256"/>
            <a:ext cx="146304" cy="1371600"/>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4498848"/>
            <a:ext cx="1691640" cy="384048"/>
          </a:xfrm>
          <a:prstGeom prst="roundRect">
            <a:avLst>
              <a:gd name="adj" fmla="val 3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50" b="1" i="0">
                <a:solidFill>
                  <a:srgbClr val="FFFFFF"/>
                </a:solidFill>
                <a:latin typeface="Calibri"/>
              </a:rPr>
              <a:t>Reasoning</a:t>
            </a:r>
          </a:p>
        </p:txBody>
      </p:sp>
      <p:sp>
        <p:nvSpPr>
          <p:cNvPr id="22" name="TextBox 21"/>
          <p:cNvSpPr txBox="1"/>
          <p:nvPr/>
        </p:nvSpPr>
        <p:spPr>
          <a:xfrm>
            <a:off x="2743200" y="4334256"/>
            <a:ext cx="8686800" cy="1371600"/>
          </a:xfrm>
          <a:prstGeom prst="rect">
            <a:avLst/>
          </a:prstGeom>
          <a:noFill/>
        </p:spPr>
        <p:txBody>
          <a:bodyPr wrap="square" anchor="ctr" lIns="0" rIns="0" tIns="0" bIns="0">
            <a:noAutofit/>
          </a:bodyPr>
          <a:lstStyle/>
          <a:p>
            <a:pPr algn="l">
              <a:lnSpc>
                <a:spcPct val="108000"/>
              </a:lnSpc>
              <a:spcBef>
                <a:spcPts val="0"/>
              </a:spcBef>
              <a:spcAft>
                <a:spcPts val="600"/>
              </a:spcAft>
            </a:pPr>
            <a:r>
              <a:rPr sz="1400" b="0" i="1">
                <a:solidFill>
                  <a:srgbClr val="112B34"/>
                </a:solidFill>
                <a:latin typeface="Calibri"/>
              </a:rPr>
              <a:t>“Because coastal communities face unique waste-management challenges — such as tidal debris and limited collection infrastructure — findings from urban studies may not apply, making this a distinct and understudied problem worth investigating directly.”</a:t>
            </a:r>
          </a:p>
        </p:txBody>
      </p:sp>
      <p:sp>
        <p:nvSpPr>
          <p:cNvPr id="23" name="TextBox 22"/>
          <p:cNvSpPr txBox="1"/>
          <p:nvPr/>
        </p:nvSpPr>
        <p:spPr>
          <a:xfrm>
            <a:off x="566928" y="6053328"/>
            <a:ext cx="10972800" cy="274320"/>
          </a:xfrm>
          <a:prstGeom prst="rect">
            <a:avLst/>
          </a:prstGeom>
          <a:noFill/>
        </p:spPr>
        <p:txBody>
          <a:bodyPr wrap="square" anchor="ctr" lIns="0" rIns="0" tIns="0" bIns="0">
            <a:noAutofit/>
          </a:bodyPr>
          <a:lstStyle/>
          <a:p>
            <a:pPr algn="l">
              <a:lnSpc>
                <a:spcPct val="100000"/>
              </a:lnSpc>
              <a:spcBef>
                <a:spcPts val="0"/>
              </a:spcBef>
              <a:spcAft>
                <a:spcPts val="600"/>
              </a:spcAft>
            </a:pPr>
            <a:r>
              <a:rPr sz="1150" b="0" i="1">
                <a:solidFill>
                  <a:srgbClr val="5C747D"/>
                </a:solidFill>
                <a:latin typeface="Calibri"/>
              </a:rPr>
              <a:t>Illustrative figures for teaching only — in your own writing, cite your actual sources and real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5 · JUSTIFYING WITH CER — COMPETENCY 15</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Practice: Build Your Own CER</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481328"/>
            <a:ext cx="1965960" cy="329184"/>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  PRACTICE · PAIR ACTIVITY</a:t>
            </a: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29</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5 · Competency 15</a:t>
            </a:r>
          </a:p>
        </p:txBody>
      </p:sp>
      <p:sp>
        <p:nvSpPr>
          <p:cNvPr id="12" name="TextBox 11"/>
          <p:cNvSpPr txBox="1"/>
          <p:nvPr/>
        </p:nvSpPr>
        <p:spPr>
          <a:xfrm>
            <a:off x="566928" y="1938528"/>
            <a:ext cx="5577840" cy="310896"/>
          </a:xfrm>
          <a:prstGeom prst="rect">
            <a:avLst/>
          </a:prstGeom>
          <a:noFill/>
        </p:spPr>
        <p:txBody>
          <a:bodyPr wrap="square" anchor="t" lIns="0" rIns="0" tIns="0" bIns="0">
            <a:noAutofit/>
          </a:bodyPr>
          <a:lstStyle/>
          <a:p>
            <a:pPr algn="l">
              <a:lnSpc>
                <a:spcPct val="100000"/>
              </a:lnSpc>
              <a:spcBef>
                <a:spcPts val="0"/>
              </a:spcBef>
              <a:spcAft>
                <a:spcPts val="600"/>
              </a:spcAft>
            </a:pPr>
            <a:r>
              <a:rPr sz="1450" b="1" i="0">
                <a:solidFill>
                  <a:srgbClr val="E86F51"/>
                </a:solidFill>
                <a:latin typeface="Calibri"/>
              </a:rPr>
              <a:t>Scenario: </a:t>
            </a:r>
            <a:r>
              <a:rPr sz="1450" b="0" i="0">
                <a:solidFill>
                  <a:srgbClr val="112B34"/>
                </a:solidFill>
                <a:latin typeface="Calibri"/>
              </a:rPr>
              <a:t>dengue prevention problem (Slide 24), plus:</a:t>
            </a:r>
          </a:p>
        </p:txBody>
      </p:sp>
      <p:sp>
        <p:nvSpPr>
          <p:cNvPr id="13" name="Rounded Rectangle 12"/>
          <p:cNvSpPr/>
          <p:nvPr/>
        </p:nvSpPr>
        <p:spPr>
          <a:xfrm>
            <a:off x="566928" y="2304288"/>
            <a:ext cx="5577840" cy="2286000"/>
          </a:xfrm>
          <a:prstGeom prst="roundRect">
            <a:avLst>
              <a:gd name="adj" fmla="val 5000"/>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06040"/>
            <a:ext cx="5120640" cy="1920240"/>
          </a:xfrm>
          <a:prstGeom prst="rect">
            <a:avLst/>
          </a:prstGeom>
          <a:noFill/>
        </p:spPr>
        <p:txBody>
          <a:bodyPr wrap="square" anchor="t" lIns="0" rIns="0" tIns="0" bIns="0">
            <a:noAutofit/>
          </a:bodyPr>
          <a:lstStyle/>
          <a:p>
            <a:pPr algn="l" marL="274320" indent="-274320">
              <a:lnSpc>
                <a:spcPct val="106000"/>
              </a:lnSpc>
              <a:spcBef>
                <a:spcPts val="0"/>
              </a:spcBef>
              <a:spcAft>
                <a:spcPts val="1200"/>
              </a:spcAft>
              <a:buClr>
                <a:srgbClr val="1F8A8A"/>
              </a:buClr>
              <a:buSzPct val="110000"/>
              <a:buFont typeface="Calibri"/>
              <a:buChar char="•"/>
            </a:pPr>
            <a:r>
              <a:rPr sz="1450" b="0" i="0">
                <a:solidFill>
                  <a:srgbClr val="112B34"/>
                </a:solidFill>
                <a:latin typeface="Calibri"/>
              </a:rPr>
              <a:t>Local health data show recurring dengue clusters in mosquito-breeding hotspots.</a:t>
            </a:r>
          </a:p>
          <a:p>
            <a:pPr algn="l" marL="274320" indent="-274320">
              <a:lnSpc>
                <a:spcPct val="106000"/>
              </a:lnSpc>
              <a:spcBef>
                <a:spcPts val="0"/>
              </a:spcBef>
              <a:spcAft>
                <a:spcPts val="600"/>
              </a:spcAft>
              <a:buClr>
                <a:srgbClr val="1F8A8A"/>
              </a:buClr>
              <a:buSzPct val="110000"/>
              <a:buFont typeface="Calibri"/>
              <a:buChar char="•"/>
            </a:pPr>
            <a:r>
              <a:rPr sz="1450" b="0" i="0">
                <a:solidFill>
                  <a:srgbClr val="112B34"/>
                </a:solidFill>
                <a:latin typeface="Calibri"/>
              </a:rPr>
              <a:t>Existing studies examine larvicide use and fogging, but few examine household-level elimination behavior.</a:t>
            </a:r>
          </a:p>
        </p:txBody>
      </p:sp>
      <p:sp>
        <p:nvSpPr>
          <p:cNvPr id="15" name="TextBox 14"/>
          <p:cNvSpPr txBox="1"/>
          <p:nvPr/>
        </p:nvSpPr>
        <p:spPr>
          <a:xfrm>
            <a:off x="566928" y="4892040"/>
            <a:ext cx="5577840" cy="640080"/>
          </a:xfrm>
          <a:prstGeom prst="rect">
            <a:avLst/>
          </a:prstGeom>
          <a:noFill/>
        </p:spPr>
        <p:txBody>
          <a:bodyPr wrap="square" anchor="ctr" lIns="0" rIns="0" tIns="0" bIns="0">
            <a:noAutofit/>
          </a:bodyPr>
          <a:lstStyle/>
          <a:p>
            <a:pPr algn="l">
              <a:lnSpc>
                <a:spcPct val="105000"/>
              </a:lnSpc>
              <a:spcBef>
                <a:spcPts val="0"/>
              </a:spcBef>
              <a:spcAft>
                <a:spcPts val="600"/>
              </a:spcAft>
            </a:pPr>
            <a:r>
              <a:rPr sz="1400" b="1" i="0">
                <a:solidFill>
                  <a:srgbClr val="E86F51"/>
                </a:solidFill>
                <a:latin typeface="Calibri"/>
              </a:rPr>
              <a:t>In pairs: </a:t>
            </a:r>
            <a:r>
              <a:rPr sz="1400" b="0" i="0">
                <a:solidFill>
                  <a:srgbClr val="112B34"/>
                </a:solidFill>
                <a:latin typeface="Calibri"/>
              </a:rPr>
              <a:t>write one Claim, one Evidence, and one Reasoning sentence.</a:t>
            </a:r>
          </a:p>
        </p:txBody>
      </p:sp>
      <p:sp>
        <p:nvSpPr>
          <p:cNvPr id="16" name="TextBox 15"/>
          <p:cNvSpPr txBox="1"/>
          <p:nvPr/>
        </p:nvSpPr>
        <p:spPr>
          <a:xfrm>
            <a:off x="6400800" y="1938528"/>
            <a:ext cx="5212080" cy="310896"/>
          </a:xfrm>
          <a:prstGeom prst="rect">
            <a:avLst/>
          </a:prstGeom>
          <a:noFill/>
        </p:spPr>
        <p:txBody>
          <a:bodyPr wrap="square" anchor="t" lIns="0" rIns="0" tIns="0" bIns="0">
            <a:noAutofit/>
          </a:bodyPr>
          <a:lstStyle/>
          <a:p>
            <a:pPr algn="l">
              <a:lnSpc>
                <a:spcPct val="100000"/>
              </a:lnSpc>
              <a:spcBef>
                <a:spcPts val="0"/>
              </a:spcBef>
              <a:spcAft>
                <a:spcPts val="600"/>
              </a:spcAft>
            </a:pPr>
            <a:r>
              <a:rPr sz="1450" b="1" i="0">
                <a:solidFill>
                  <a:srgbClr val="112B34"/>
                </a:solidFill>
                <a:latin typeface="Calibri"/>
              </a:rPr>
              <a:t>Fill in the template:</a:t>
            </a:r>
          </a:p>
        </p:txBody>
      </p:sp>
      <p:sp>
        <p:nvSpPr>
          <p:cNvPr id="17" name="Rounded Rectangle 16"/>
          <p:cNvSpPr/>
          <p:nvPr/>
        </p:nvSpPr>
        <p:spPr>
          <a:xfrm>
            <a:off x="6400800" y="2331720"/>
            <a:ext cx="5212080" cy="1051560"/>
          </a:xfrm>
          <a:prstGeom prst="roundRect">
            <a:avLst>
              <a:gd name="adj" fmla="val 6000"/>
            </a:avLst>
          </a:prstGeom>
          <a:solidFill>
            <a:srgbClr val="FFFFFF"/>
          </a:solidFill>
          <a:ln w="19050">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2331720"/>
            <a:ext cx="1554480" cy="402336"/>
          </a:xfrm>
          <a:prstGeom prst="roundRect">
            <a:avLst>
              <a:gd name="adj" fmla="val 6000"/>
            </a:avLst>
          </a:prstGeom>
          <a:solidFill>
            <a:srgbClr val="0C53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FFFFFF"/>
                </a:solidFill>
                <a:latin typeface="Calibri"/>
              </a:rPr>
              <a:t>Claim</a:t>
            </a:r>
          </a:p>
        </p:txBody>
      </p:sp>
      <p:sp>
        <p:nvSpPr>
          <p:cNvPr id="19" name="Rectangle 18"/>
          <p:cNvSpPr/>
          <p:nvPr/>
        </p:nvSpPr>
        <p:spPr>
          <a:xfrm>
            <a:off x="6675120" y="2898648"/>
            <a:ext cx="466344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3191256"/>
            <a:ext cx="466344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3502152"/>
            <a:ext cx="5212080" cy="1051560"/>
          </a:xfrm>
          <a:prstGeom prst="roundRect">
            <a:avLst>
              <a:gd name="adj" fmla="val 6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0" y="3502152"/>
            <a:ext cx="1554480" cy="402336"/>
          </a:xfrm>
          <a:prstGeom prst="roundRect">
            <a:avLst>
              <a:gd name="adj" fmla="val 6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FFFFFF"/>
                </a:solidFill>
                <a:latin typeface="Calibri"/>
              </a:rPr>
              <a:t>Evidence</a:t>
            </a:r>
          </a:p>
        </p:txBody>
      </p:sp>
      <p:sp>
        <p:nvSpPr>
          <p:cNvPr id="23" name="Rectangle 22"/>
          <p:cNvSpPr/>
          <p:nvPr/>
        </p:nvSpPr>
        <p:spPr>
          <a:xfrm>
            <a:off x="6675120" y="4069080"/>
            <a:ext cx="466344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4361688"/>
            <a:ext cx="466344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0" y="4672584"/>
            <a:ext cx="5212080" cy="1051560"/>
          </a:xfrm>
          <a:prstGeom prst="roundRect">
            <a:avLst>
              <a:gd name="adj" fmla="val 6000"/>
            </a:avLst>
          </a:prstGeom>
          <a:solidFill>
            <a:srgbClr val="FFFFFF"/>
          </a:solidFill>
          <a:ln w="1905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0" y="4672584"/>
            <a:ext cx="1554480" cy="402336"/>
          </a:xfrm>
          <a:prstGeom prst="roundRect">
            <a:avLst>
              <a:gd name="adj" fmla="val 6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50" b="1" i="0">
                <a:solidFill>
                  <a:srgbClr val="FFFFFF"/>
                </a:solidFill>
                <a:latin typeface="Calibri"/>
              </a:rPr>
              <a:t>Reasoning</a:t>
            </a:r>
          </a:p>
        </p:txBody>
      </p:sp>
      <p:sp>
        <p:nvSpPr>
          <p:cNvPr id="27" name="Rectangle 26"/>
          <p:cNvSpPr/>
          <p:nvPr/>
        </p:nvSpPr>
        <p:spPr>
          <a:xfrm>
            <a:off x="6675120" y="5239512"/>
            <a:ext cx="466344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5532120"/>
            <a:ext cx="466344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0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C07A2A"/>
                </a:solidFill>
                <a:latin typeface="Calibri"/>
              </a:rPr>
              <a:t>PART 6 · ASSUMPTIONS &amp; LIMITATIONS — COMPETENCY 16</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No Study Is Perfect</a:t>
            </a:r>
          </a:p>
        </p:txBody>
      </p:sp>
      <p:sp>
        <p:nvSpPr>
          <p:cNvPr id="6" name="Rectangle 5"/>
          <p:cNvSpPr/>
          <p:nvPr/>
        </p:nvSpPr>
        <p:spPr>
          <a:xfrm>
            <a:off x="566928" y="1389888"/>
            <a:ext cx="2834640" cy="41148"/>
          </a:xfrm>
          <a:prstGeom prst="rect">
            <a:avLst/>
          </a:prstGeom>
          <a:solidFill>
            <a:srgbClr val="C0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8" name="Rounded Rectangle 7"/>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30</a:t>
            </a:r>
          </a:p>
        </p:txBody>
      </p:sp>
      <p:sp>
        <p:nvSpPr>
          <p:cNvPr id="9" name="TextBox 8"/>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6 · Competency 16</a:t>
            </a:r>
          </a:p>
        </p:txBody>
      </p:sp>
      <p:sp>
        <p:nvSpPr>
          <p:cNvPr id="10" name="TextBox 9"/>
          <p:cNvSpPr txBox="1"/>
          <p:nvPr/>
        </p:nvSpPr>
        <p:spPr>
          <a:xfrm>
            <a:off x="566928" y="1920240"/>
            <a:ext cx="10972800" cy="2103120"/>
          </a:xfrm>
          <a:prstGeom prst="rect">
            <a:avLst/>
          </a:prstGeom>
          <a:noFill/>
        </p:spPr>
        <p:txBody>
          <a:bodyPr wrap="square" anchor="t" lIns="0" rIns="0" tIns="0" bIns="0">
            <a:noAutofit/>
          </a:bodyPr>
          <a:lstStyle/>
          <a:p>
            <a:pPr algn="l" marL="274320" indent="-274320">
              <a:lnSpc>
                <a:spcPct val="106000"/>
              </a:lnSpc>
              <a:spcBef>
                <a:spcPts val="0"/>
              </a:spcBef>
              <a:spcAft>
                <a:spcPts val="1100"/>
              </a:spcAft>
              <a:buClr>
                <a:srgbClr val="1F8A8A"/>
              </a:buClr>
              <a:buSzPct val="110000"/>
              <a:buFont typeface="Calibri"/>
              <a:buChar char="•"/>
            </a:pPr>
            <a:r>
              <a:rPr sz="1650" b="0" i="0">
                <a:solidFill>
                  <a:srgbClr val="112B34"/>
                </a:solidFill>
                <a:latin typeface="Calibri"/>
              </a:rPr>
              <a:t>The group now has a </a:t>
            </a:r>
            <a:r>
              <a:rPr sz="1650" b="1" i="0">
                <a:solidFill>
                  <a:srgbClr val="112B34"/>
                </a:solidFill>
                <a:latin typeface="Calibri"/>
              </a:rPr>
              <a:t>problem</a:t>
            </a:r>
            <a:r>
              <a:rPr sz="1650" b="0" i="0">
                <a:solidFill>
                  <a:srgbClr val="112B34"/>
                </a:solidFill>
                <a:latin typeface="Calibri"/>
              </a:rPr>
              <a:t>, a </a:t>
            </a:r>
            <a:r>
              <a:rPr sz="1650" b="1" i="0">
                <a:solidFill>
                  <a:srgbClr val="112B34"/>
                </a:solidFill>
                <a:latin typeface="Calibri"/>
              </a:rPr>
              <a:t>question</a:t>
            </a:r>
            <a:r>
              <a:rPr sz="1650" b="0" i="0">
                <a:solidFill>
                  <a:srgbClr val="112B34"/>
                </a:solidFill>
                <a:latin typeface="Calibri"/>
              </a:rPr>
              <a:t>, and a </a:t>
            </a:r>
            <a:r>
              <a:rPr sz="1650" b="1" i="0">
                <a:solidFill>
                  <a:srgbClr val="112B34"/>
                </a:solidFill>
                <a:latin typeface="Calibri"/>
              </a:rPr>
              <a:t>justified argument</a:t>
            </a:r>
            <a:r>
              <a:rPr sz="1650" b="0" i="0">
                <a:solidFill>
                  <a:srgbClr val="112B34"/>
                </a:solidFill>
                <a:latin typeface="Calibri"/>
              </a:rPr>
              <a:t> for why it matters.</a:t>
            </a:r>
          </a:p>
          <a:p>
            <a:pPr algn="l" marL="274320" indent="-274320">
              <a:lnSpc>
                <a:spcPct val="106000"/>
              </a:lnSpc>
              <a:spcBef>
                <a:spcPts val="0"/>
              </a:spcBef>
              <a:spcAft>
                <a:spcPts val="1100"/>
              </a:spcAft>
              <a:buClr>
                <a:srgbClr val="1F8A8A"/>
              </a:buClr>
              <a:buSzPct val="110000"/>
              <a:buFont typeface="Calibri"/>
              <a:buChar char="•"/>
            </a:pPr>
            <a:r>
              <a:rPr sz="1650" b="0" i="0">
                <a:solidFill>
                  <a:srgbClr val="112B34"/>
                </a:solidFill>
                <a:latin typeface="Calibri"/>
              </a:rPr>
              <a:t>One task remains: being honest about what the study </a:t>
            </a:r>
            <a:r>
              <a:rPr sz="1650" b="1" i="1">
                <a:solidFill>
                  <a:srgbClr val="1F8A8A"/>
                </a:solidFill>
                <a:latin typeface="Calibri"/>
              </a:rPr>
              <a:t>takes for granted</a:t>
            </a:r>
            <a:r>
              <a:rPr sz="1650" b="0" i="0">
                <a:solidFill>
                  <a:srgbClr val="112B34"/>
                </a:solidFill>
                <a:latin typeface="Calibri"/>
              </a:rPr>
              <a:t> and what it </a:t>
            </a:r>
            <a:r>
              <a:rPr sz="1650" b="1" i="1">
                <a:solidFill>
                  <a:srgbClr val="E86F51"/>
                </a:solidFill>
                <a:latin typeface="Calibri"/>
              </a:rPr>
              <a:t>cannot fully cover.</a:t>
            </a:r>
          </a:p>
          <a:p>
            <a:pPr algn="l" marL="274320" indent="-274320">
              <a:lnSpc>
                <a:spcPct val="106000"/>
              </a:lnSpc>
              <a:spcBef>
                <a:spcPts val="0"/>
              </a:spcBef>
              <a:spcAft>
                <a:spcPts val="600"/>
              </a:spcAft>
              <a:buClr>
                <a:srgbClr val="1F8A8A"/>
              </a:buClr>
              <a:buSzPct val="110000"/>
              <a:buFont typeface="Calibri"/>
              <a:buChar char="•"/>
            </a:pPr>
            <a:r>
              <a:rPr sz="1650" b="1" i="0">
                <a:solidFill>
                  <a:srgbClr val="112B34"/>
                </a:solidFill>
                <a:latin typeface="Calibri"/>
              </a:rPr>
              <a:t>Every real study — published or student-led — has both.</a:t>
            </a:r>
          </a:p>
        </p:txBody>
      </p:sp>
      <p:sp>
        <p:nvSpPr>
          <p:cNvPr id="11" name="Rounded Rectangle 10"/>
          <p:cNvSpPr/>
          <p:nvPr/>
        </p:nvSpPr>
        <p:spPr>
          <a:xfrm>
            <a:off x="1280160" y="4297680"/>
            <a:ext cx="4297680" cy="1371600"/>
          </a:xfrm>
          <a:prstGeom prst="roundRect">
            <a:avLst>
              <a:gd name="adj" fmla="val 8000"/>
            </a:avLst>
          </a:prstGeom>
          <a:solidFill>
            <a:srgbClr val="E3F1F0"/>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4297680"/>
            <a:ext cx="4297680" cy="1371600"/>
          </a:xfrm>
          <a:prstGeom prst="rect">
            <a:avLst/>
          </a:prstGeom>
          <a:noFill/>
        </p:spPr>
        <p:txBody>
          <a:bodyPr wrap="square" anchor="ctr" lIns="0" rIns="0" tIns="0" bIns="0">
            <a:noAutofit/>
          </a:bodyPr>
          <a:lstStyle/>
          <a:p>
            <a:pPr algn="ctr">
              <a:lnSpc>
                <a:spcPct val="100000"/>
              </a:lnSpc>
              <a:spcBef>
                <a:spcPts val="0"/>
              </a:spcBef>
              <a:spcAft>
                <a:spcPts val="600"/>
              </a:spcAft>
            </a:pPr>
            <a:r>
              <a:rPr sz="2200" b="1" i="0">
                <a:solidFill>
                  <a:srgbClr val="1F8A8A"/>
                </a:solidFill>
                <a:latin typeface="Calibri"/>
              </a:rPr>
              <a:t>Assumptions</a:t>
            </a:r>
          </a:p>
          <a:p>
            <a:pPr algn="ctr">
              <a:lnSpc>
                <a:spcPct val="100000"/>
              </a:lnSpc>
              <a:spcBef>
                <a:spcPts val="300"/>
              </a:spcBef>
              <a:spcAft>
                <a:spcPts val="600"/>
              </a:spcAft>
            </a:pPr>
            <a:r>
              <a:rPr sz="1350" b="0" i="1">
                <a:solidFill>
                  <a:srgbClr val="112B34"/>
                </a:solidFill>
                <a:latin typeface="Calibri"/>
              </a:rPr>
              <a:t>what we take for granted</a:t>
            </a:r>
          </a:p>
        </p:txBody>
      </p:sp>
      <p:sp>
        <p:nvSpPr>
          <p:cNvPr id="13" name="Rounded Rectangle 12"/>
          <p:cNvSpPr/>
          <p:nvPr/>
        </p:nvSpPr>
        <p:spPr>
          <a:xfrm>
            <a:off x="6583680" y="4297680"/>
            <a:ext cx="4297680" cy="1371600"/>
          </a:xfrm>
          <a:prstGeom prst="roundRect">
            <a:avLst>
              <a:gd name="adj" fmla="val 8000"/>
            </a:avLst>
          </a:prstGeom>
          <a:solidFill>
            <a:srgbClr val="FBEAE3"/>
          </a:solidFill>
          <a:ln w="1905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297680"/>
            <a:ext cx="4297680" cy="1371600"/>
          </a:xfrm>
          <a:prstGeom prst="rect">
            <a:avLst/>
          </a:prstGeom>
          <a:noFill/>
        </p:spPr>
        <p:txBody>
          <a:bodyPr wrap="square" anchor="ctr" lIns="0" rIns="0" tIns="0" bIns="0">
            <a:noAutofit/>
          </a:bodyPr>
          <a:lstStyle/>
          <a:p>
            <a:pPr algn="ctr">
              <a:lnSpc>
                <a:spcPct val="100000"/>
              </a:lnSpc>
              <a:spcBef>
                <a:spcPts val="0"/>
              </a:spcBef>
              <a:spcAft>
                <a:spcPts val="600"/>
              </a:spcAft>
            </a:pPr>
            <a:r>
              <a:rPr sz="2200" b="1" i="0">
                <a:solidFill>
                  <a:srgbClr val="C95338"/>
                </a:solidFill>
                <a:latin typeface="Calibri"/>
              </a:rPr>
              <a:t>Limitations</a:t>
            </a:r>
          </a:p>
          <a:p>
            <a:pPr algn="ctr">
              <a:lnSpc>
                <a:spcPct val="100000"/>
              </a:lnSpc>
              <a:spcBef>
                <a:spcPts val="300"/>
              </a:spcBef>
              <a:spcAft>
                <a:spcPts val="600"/>
              </a:spcAft>
            </a:pPr>
            <a:r>
              <a:rPr sz="1350" b="0" i="1">
                <a:solidFill>
                  <a:srgbClr val="112B34"/>
                </a:solidFill>
                <a:latin typeface="Calibri"/>
              </a:rPr>
              <a:t>what we cannot fully cover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0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C07A2A"/>
                </a:solidFill>
                <a:latin typeface="Calibri"/>
              </a:rPr>
              <a:t>PART 6 · ASSUMPTIONS &amp; LIMITATIONS — COMPETENCY 16</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Assumptions vs. Limitations</a:t>
            </a:r>
          </a:p>
        </p:txBody>
      </p:sp>
      <p:sp>
        <p:nvSpPr>
          <p:cNvPr id="6" name="Rounded Rectangle 5"/>
          <p:cNvSpPr/>
          <p:nvPr/>
        </p:nvSpPr>
        <p:spPr>
          <a:xfrm>
            <a:off x="10393985" y="365760"/>
            <a:ext cx="1230782" cy="292608"/>
          </a:xfrm>
          <a:prstGeom prst="roundRect">
            <a:avLst>
              <a:gd name="adj" fmla="val 5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SUPPLEMENTARY</a:t>
            </a:r>
          </a:p>
        </p:txBody>
      </p:sp>
      <p:sp>
        <p:nvSpPr>
          <p:cNvPr id="7" name="Rectangle 6"/>
          <p:cNvSpPr/>
          <p:nvPr/>
        </p:nvSpPr>
        <p:spPr>
          <a:xfrm>
            <a:off x="566928" y="1389888"/>
            <a:ext cx="2834640" cy="41148"/>
          </a:xfrm>
          <a:prstGeom prst="rect">
            <a:avLst/>
          </a:prstGeom>
          <a:solidFill>
            <a:srgbClr val="C0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31</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6 · Competency 16</a:t>
            </a:r>
          </a:p>
        </p:txBody>
      </p:sp>
      <p:graphicFrame>
        <p:nvGraphicFramePr>
          <p:cNvPr id="11" name="Table 10"/>
          <p:cNvGraphicFramePr>
            <a:graphicFrameLocks noGrp="1"/>
          </p:cNvGraphicFramePr>
          <p:nvPr/>
        </p:nvGraphicFramePr>
        <p:xfrm>
          <a:off x="566928" y="1965960"/>
          <a:ext cx="11055096" cy="3703320"/>
        </p:xfrm>
        <a:graphic>
          <a:graphicData uri="http://schemas.openxmlformats.org/drawingml/2006/table">
            <a:tbl>
              <a:tblPr>
                <a:tableStyleId>{5C22544A-7EE6-4342-B048-85BDC9FD1C3A}</a:tableStyleId>
              </a:tblPr>
              <a:tblGrid>
                <a:gridCol w="1737360"/>
                <a:gridCol w="4654296"/>
                <a:gridCol w="4663440"/>
              </a:tblGrid>
              <a:tr h="548640">
                <a:tc>
                  <a:txBody>
                    <a:bodyPr wrap="square"/>
                    <a:lstStyle/>
                    <a:p>
                      <a:pPr algn="l">
                        <a:lnSpc>
                          <a:spcPct val="102000"/>
                        </a:lnSpc>
                        <a:spcBef>
                          <a:spcPts val="0"/>
                        </a:spcBef>
                        <a:spcAft>
                          <a:spcPts val="200"/>
                        </a:spcAft>
                      </a:pPr>
                      <a:r>
                        <a:rPr sz="1300" b="0" i="0">
                          <a:solidFill>
                            <a:srgbClr val="112B34"/>
                          </a:solidFill>
                          <a:latin typeface="Calibri"/>
                        </a:rPr>
                        <a:t/>
                      </a:r>
                    </a:p>
                  </a:txBody>
                  <a:tcPr marL="109728" marR="91440" marT="45720" marB="45720" anchor="ctr">
                    <a:solidFill>
                      <a:srgbClr val="083D5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550" b="1" i="1">
                          <a:solidFill>
                            <a:srgbClr val="FFFFFF"/>
                          </a:solidFill>
                          <a:latin typeface="Calibri"/>
                        </a:rPr>
                        <a:t>Assumption</a:t>
                      </a:r>
                    </a:p>
                  </a:txBody>
                  <a:tcPr marL="109728" marR="91440" marT="45720" marB="45720" anchor="ctr">
                    <a:solidFill>
                      <a:srgbClr val="1F8A8A"/>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550" b="1" i="1">
                          <a:solidFill>
                            <a:srgbClr val="FFFFFF"/>
                          </a:solidFill>
                          <a:latin typeface="Calibri"/>
                        </a:rPr>
                        <a:t>Limitation</a:t>
                      </a:r>
                    </a:p>
                  </a:txBody>
                  <a:tcPr marL="109728" marR="91440" marT="45720" marB="45720" anchor="ctr">
                    <a:solidFill>
                      <a:srgbClr val="E86F51"/>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051560">
                <a:tc>
                  <a:txBody>
                    <a:bodyPr wrap="square"/>
                    <a:lstStyle/>
                    <a:p>
                      <a:pPr algn="l">
                        <a:lnSpc>
                          <a:spcPct val="102000"/>
                        </a:lnSpc>
                        <a:spcBef>
                          <a:spcPts val="0"/>
                        </a:spcBef>
                        <a:spcAft>
                          <a:spcPts val="200"/>
                        </a:spcAft>
                      </a:pPr>
                      <a:r>
                        <a:rPr sz="1350" b="1" i="0">
                          <a:solidFill>
                            <a:srgbClr val="083D54"/>
                          </a:solidFill>
                          <a:latin typeface="Calibri"/>
                        </a:rPr>
                        <a:t>Definition</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400" b="0" i="0">
                          <a:solidFill>
                            <a:srgbClr val="112B34"/>
                          </a:solidFill>
                          <a:latin typeface="Calibri"/>
                        </a:rPr>
                        <a:t>Something the researcher takes as true, but does not test</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400" b="0" i="0">
                          <a:solidFill>
                            <a:srgbClr val="112B34"/>
                          </a:solidFill>
                          <a:latin typeface="Calibri"/>
                        </a:rPr>
                        <a:t>A constraint or weakness that affects the study, often outside the researcher’s control</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051560">
                <a:tc>
                  <a:txBody>
                    <a:bodyPr wrap="square"/>
                    <a:lstStyle/>
                    <a:p>
                      <a:pPr algn="l">
                        <a:lnSpc>
                          <a:spcPct val="102000"/>
                        </a:lnSpc>
                        <a:spcBef>
                          <a:spcPts val="0"/>
                        </a:spcBef>
                        <a:spcAft>
                          <a:spcPts val="200"/>
                        </a:spcAft>
                      </a:pPr>
                      <a:r>
                        <a:rPr sz="1350" b="1" i="0">
                          <a:solidFill>
                            <a:srgbClr val="083D54"/>
                          </a:solidFill>
                          <a:latin typeface="Calibri"/>
                        </a:rPr>
                        <a:t>Example</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350" b="0" i="1">
                          <a:solidFill>
                            <a:srgbClr val="112B34"/>
                          </a:solidFill>
                          <a:latin typeface="Calibri"/>
                        </a:rPr>
                        <a:t>“Survey respondents will answer honestly about their waste habits.”</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200"/>
                        </a:spcAft>
                      </a:pPr>
                      <a:r>
                        <a:rPr sz="1350" b="0" i="1">
                          <a:solidFill>
                            <a:srgbClr val="112B34"/>
                          </a:solidFill>
                          <a:latin typeface="Calibri"/>
                        </a:rPr>
                        <a:t>“The study covers only one barangay within one semester.”</a:t>
                      </a:r>
                    </a:p>
                  </a:txBody>
                  <a:tcPr marL="109728" marR="91440" marT="45720" marB="45720" anchor="ctr">
                    <a:solidFill>
                      <a:srgbClr val="FFFFFF"/>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r h="1051560">
                <a:tc>
                  <a:txBody>
                    <a:bodyPr wrap="square"/>
                    <a:lstStyle/>
                    <a:p>
                      <a:pPr algn="l">
                        <a:lnSpc>
                          <a:spcPct val="102000"/>
                        </a:lnSpc>
                        <a:spcBef>
                          <a:spcPts val="0"/>
                        </a:spcBef>
                        <a:spcAft>
                          <a:spcPts val="200"/>
                        </a:spcAft>
                      </a:pPr>
                      <a:r>
                        <a:rPr sz="1350" b="1" i="0">
                          <a:solidFill>
                            <a:srgbClr val="083D54"/>
                          </a:solidFill>
                          <a:latin typeface="Calibri"/>
                        </a:rPr>
                        <a:t>Function</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400" b="0" i="0">
                          <a:solidFill>
                            <a:srgbClr val="112B34"/>
                          </a:solidFill>
                          <a:latin typeface="Calibri"/>
                        </a:rPr>
                        <a:t>Lets the study proceed without re-proving every basic condition</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c>
                  <a:txBody>
                    <a:bodyPr wrap="square"/>
                    <a:lstStyle/>
                    <a:p>
                      <a:pPr algn="l">
                        <a:lnSpc>
                          <a:spcPct val="102000"/>
                        </a:lnSpc>
                        <a:spcBef>
                          <a:spcPts val="0"/>
                        </a:spcBef>
                        <a:spcAft>
                          <a:spcPts val="100"/>
                        </a:spcAft>
                      </a:pPr>
                      <a:r>
                        <a:rPr sz="1400" b="0" i="0">
                          <a:solidFill>
                            <a:srgbClr val="112B34"/>
                          </a:solidFill>
                          <a:latin typeface="Calibri"/>
                        </a:rPr>
                        <a:t>Sets honest boundaries around how far the findings can be applied</a:t>
                      </a:r>
                    </a:p>
                  </a:txBody>
                  <a:tcPr marL="109728" marR="91440" marT="45720" marB="45720" anchor="ctr">
                    <a:solidFill>
                      <a:srgbClr val="EAF2F4"/>
                    </a:solidFill>
                    <a:lnL w="9525" cap="flat">
                      <a:solidFill>
                        <a:srgbClr val="D5E2E6"/>
                      </a:solidFill>
                    </a:lnL>
                    <a:lnR w="9525" cap="flat">
                      <a:solidFill>
                        <a:srgbClr val="D5E2E6"/>
                      </a:solidFill>
                    </a:lnR>
                    <a:lnT w="9525" cap="flat">
                      <a:solidFill>
                        <a:srgbClr val="D5E2E6"/>
                      </a:solidFill>
                    </a:lnT>
                    <a:lnB w="9525" cap="flat">
                      <a:solidFill>
                        <a:srgbClr val="D5E2E6"/>
                      </a:solidFill>
                    </a:lnB>
                  </a:tcPr>
                </a:tc>
              </a:tr>
            </a:tbl>
          </a:graphicData>
        </a:graphic>
      </p:graphicFrame>
      <p:sp>
        <p:nvSpPr>
          <p:cNvPr id="12" name="Rounded Rectangle 11"/>
          <p:cNvSpPr/>
          <p:nvPr/>
        </p:nvSpPr>
        <p:spPr>
          <a:xfrm>
            <a:off x="566928" y="5577840"/>
            <a:ext cx="11055096" cy="603504"/>
          </a:xfrm>
          <a:prstGeom prst="roundRect">
            <a:avLst>
              <a:gd name="adj" fmla="val 12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577840"/>
            <a:ext cx="10424160" cy="603504"/>
          </a:xfrm>
          <a:prstGeom prst="rect">
            <a:avLst/>
          </a:prstGeom>
          <a:noFill/>
        </p:spPr>
        <p:txBody>
          <a:bodyPr wrap="square" anchor="ctr" lIns="0" rIns="0" tIns="0" bIns="0">
            <a:noAutofit/>
          </a:bodyPr>
          <a:lstStyle/>
          <a:p>
            <a:pPr algn="l">
              <a:lnSpc>
                <a:spcPct val="100000"/>
              </a:lnSpc>
              <a:spcBef>
                <a:spcPts val="0"/>
              </a:spcBef>
              <a:spcAft>
                <a:spcPts val="600"/>
              </a:spcAft>
            </a:pPr>
            <a:r>
              <a:rPr sz="1350" b="1" i="0">
                <a:solidFill>
                  <a:srgbClr val="1F8A8A"/>
                </a:solidFill>
                <a:latin typeface="Calibri"/>
              </a:rPr>
              <a:t>Assumption </a:t>
            </a:r>
            <a:r>
              <a:rPr sz="1350" b="0" i="0">
                <a:solidFill>
                  <a:srgbClr val="112B34"/>
                </a:solidFill>
                <a:latin typeface="Calibri"/>
              </a:rPr>
              <a:t>= something you choose to believe without checking.   </a:t>
            </a:r>
            <a:r>
              <a:rPr sz="1350" b="1" i="0">
                <a:solidFill>
                  <a:srgbClr val="C95338"/>
                </a:solidFill>
                <a:latin typeface="Calibri"/>
              </a:rPr>
              <a:t>Limitation </a:t>
            </a:r>
            <a:r>
              <a:rPr sz="1350" b="0" i="0">
                <a:solidFill>
                  <a:srgbClr val="112B34"/>
                </a:solidFill>
                <a:latin typeface="Calibri"/>
              </a:rPr>
              <a:t>= something you can’t change even if you wanted to.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1F8A8A"/>
                </a:solidFill>
                <a:latin typeface="Calibri"/>
              </a:rPr>
              <a:t>PART 6 · ASSUMPTIONS &amp; LIMITATIONS — COMPETENCY 16</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Naming Your Study’s Assumptions</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32</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6 · Competency 16</a:t>
            </a:r>
          </a:p>
        </p:txBody>
      </p:sp>
      <p:sp>
        <p:nvSpPr>
          <p:cNvPr id="11" name="TextBox 10"/>
          <p:cNvSpPr txBox="1"/>
          <p:nvPr/>
        </p:nvSpPr>
        <p:spPr>
          <a:xfrm>
            <a:off x="566928" y="1874519"/>
            <a:ext cx="10972800" cy="457200"/>
          </a:xfrm>
          <a:prstGeom prst="rect">
            <a:avLst/>
          </a:prstGeom>
          <a:noFill/>
        </p:spPr>
        <p:txBody>
          <a:bodyPr wrap="square" anchor="t" lIns="0" rIns="0" tIns="0" bIns="0">
            <a:noAutofit/>
          </a:bodyPr>
          <a:lstStyle/>
          <a:p>
            <a:pPr algn="l">
              <a:lnSpc>
                <a:spcPct val="105000"/>
              </a:lnSpc>
              <a:spcBef>
                <a:spcPts val="0"/>
              </a:spcBef>
              <a:spcAft>
                <a:spcPts val="600"/>
              </a:spcAft>
            </a:pPr>
            <a:r>
              <a:rPr sz="1700" b="1" i="0">
                <a:solidFill>
                  <a:srgbClr val="1F8A8A"/>
                </a:solidFill>
                <a:latin typeface="Calibri"/>
              </a:rPr>
              <a:t>For the coastal plastic waste study, </a:t>
            </a:r>
            <a:r>
              <a:rPr sz="1700" b="0" i="0">
                <a:solidFill>
                  <a:srgbClr val="112B34"/>
                </a:solidFill>
                <a:latin typeface="Calibri"/>
              </a:rPr>
              <a:t>reasonable assumptions include:</a:t>
            </a:r>
          </a:p>
        </p:txBody>
      </p:sp>
      <p:sp>
        <p:nvSpPr>
          <p:cNvPr id="12" name="Rounded Rectangle 11"/>
          <p:cNvSpPr/>
          <p:nvPr/>
        </p:nvSpPr>
        <p:spPr>
          <a:xfrm>
            <a:off x="1005840" y="2606040"/>
            <a:ext cx="10177272" cy="914400"/>
          </a:xfrm>
          <a:prstGeom prst="roundRect">
            <a:avLst>
              <a:gd name="adj" fmla="val 8000"/>
            </a:avLst>
          </a:prstGeom>
          <a:solidFill>
            <a:srgbClr val="E3F1F0"/>
          </a:solidFill>
          <a:ln w="1270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25880" y="2788920"/>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14" name="TextBox 13"/>
          <p:cNvSpPr txBox="1"/>
          <p:nvPr/>
        </p:nvSpPr>
        <p:spPr>
          <a:xfrm>
            <a:off x="2148840" y="2606040"/>
            <a:ext cx="8778240" cy="914400"/>
          </a:xfrm>
          <a:prstGeom prst="rect">
            <a:avLst/>
          </a:prstGeom>
          <a:noFill/>
        </p:spPr>
        <p:txBody>
          <a:bodyPr wrap="square" anchor="ctr" lIns="0" rIns="0" tIns="0" bIns="0">
            <a:noAutofit/>
          </a:bodyPr>
          <a:lstStyle/>
          <a:p>
            <a:pPr algn="l">
              <a:lnSpc>
                <a:spcPct val="105000"/>
              </a:lnSpc>
              <a:spcBef>
                <a:spcPts val="0"/>
              </a:spcBef>
              <a:spcAft>
                <a:spcPts val="600"/>
              </a:spcAft>
            </a:pPr>
            <a:r>
              <a:rPr sz="1600" b="0" i="0">
                <a:solidFill>
                  <a:srgbClr val="112B34"/>
                </a:solidFill>
                <a:latin typeface="Calibri"/>
              </a:rPr>
              <a:t>Survey respondents will report their waste habits honestly.</a:t>
            </a:r>
          </a:p>
        </p:txBody>
      </p:sp>
      <p:sp>
        <p:nvSpPr>
          <p:cNvPr id="15" name="Rounded Rectangle 14"/>
          <p:cNvSpPr/>
          <p:nvPr/>
        </p:nvSpPr>
        <p:spPr>
          <a:xfrm>
            <a:off x="1005840" y="3657600"/>
            <a:ext cx="10177272" cy="914400"/>
          </a:xfrm>
          <a:prstGeom prst="roundRect">
            <a:avLst>
              <a:gd name="adj" fmla="val 8000"/>
            </a:avLst>
          </a:prstGeom>
          <a:solidFill>
            <a:srgbClr val="E3F1F0"/>
          </a:solidFill>
          <a:ln w="1270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 y="3840480"/>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17" name="TextBox 16"/>
          <p:cNvSpPr txBox="1"/>
          <p:nvPr/>
        </p:nvSpPr>
        <p:spPr>
          <a:xfrm>
            <a:off x="2148840" y="3657600"/>
            <a:ext cx="8778240" cy="914400"/>
          </a:xfrm>
          <a:prstGeom prst="rect">
            <a:avLst/>
          </a:prstGeom>
          <a:noFill/>
        </p:spPr>
        <p:txBody>
          <a:bodyPr wrap="square" anchor="ctr" lIns="0" rIns="0" tIns="0" bIns="0">
            <a:noAutofit/>
          </a:bodyPr>
          <a:lstStyle/>
          <a:p>
            <a:pPr algn="l">
              <a:lnSpc>
                <a:spcPct val="105000"/>
              </a:lnSpc>
              <a:spcBef>
                <a:spcPts val="0"/>
              </a:spcBef>
              <a:spcAft>
                <a:spcPts val="600"/>
              </a:spcAft>
            </a:pPr>
            <a:r>
              <a:rPr sz="1600" b="0" i="0">
                <a:solidFill>
                  <a:srgbClr val="112B34"/>
                </a:solidFill>
                <a:latin typeface="Calibri"/>
              </a:rPr>
              <a:t>Barangay waste-audit records reflect actual collected volumes accurately.</a:t>
            </a:r>
          </a:p>
        </p:txBody>
      </p:sp>
      <p:sp>
        <p:nvSpPr>
          <p:cNvPr id="18" name="Rounded Rectangle 17"/>
          <p:cNvSpPr/>
          <p:nvPr/>
        </p:nvSpPr>
        <p:spPr>
          <a:xfrm>
            <a:off x="1005840" y="5074920"/>
            <a:ext cx="10177272" cy="960120"/>
          </a:xfrm>
          <a:prstGeom prst="roundRect">
            <a:avLst>
              <a:gd name="adj" fmla="val 8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5074920"/>
            <a:ext cx="9509760" cy="960120"/>
          </a:xfrm>
          <a:prstGeom prst="rect">
            <a:avLst/>
          </a:prstGeom>
          <a:noFill/>
        </p:spPr>
        <p:txBody>
          <a:bodyPr wrap="square" anchor="ctr" lIns="0" rIns="0" tIns="0" bIns="0">
            <a:noAutofit/>
          </a:bodyPr>
          <a:lstStyle/>
          <a:p>
            <a:pPr algn="l">
              <a:lnSpc>
                <a:spcPct val="105000"/>
              </a:lnSpc>
              <a:spcBef>
                <a:spcPts val="0"/>
              </a:spcBef>
              <a:spcAft>
                <a:spcPts val="600"/>
              </a:spcAft>
            </a:pPr>
            <a:r>
              <a:rPr sz="1600" b="1" i="0">
                <a:solidFill>
                  <a:srgbClr val="2EC4B6"/>
                </a:solidFill>
                <a:latin typeface="Calibri"/>
              </a:rPr>
              <a:t>Ask:  </a:t>
            </a:r>
            <a:r>
              <a:rPr sz="1800" b="1" i="1">
                <a:solidFill>
                  <a:srgbClr val="FFFFFF"/>
                </a:solidFill>
                <a:latin typeface="Calibri"/>
              </a:rPr>
              <a:t>“What am I treating as true without actually testing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6 · ASSUMPTIONS &amp; LIMITATIONS — COMPETENCY 16</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Naming Your Study’s Limitations</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9" name="Rounded Rectangle 8"/>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33</a:t>
            </a:r>
          </a:p>
        </p:txBody>
      </p:sp>
      <p:sp>
        <p:nvSpPr>
          <p:cNvPr id="10" name="TextBox 9"/>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6 · Competency 16</a:t>
            </a:r>
          </a:p>
        </p:txBody>
      </p:sp>
      <p:sp>
        <p:nvSpPr>
          <p:cNvPr id="11" name="TextBox 10"/>
          <p:cNvSpPr txBox="1"/>
          <p:nvPr/>
        </p:nvSpPr>
        <p:spPr>
          <a:xfrm>
            <a:off x="566928" y="1874519"/>
            <a:ext cx="10972800" cy="457200"/>
          </a:xfrm>
          <a:prstGeom prst="rect">
            <a:avLst/>
          </a:prstGeom>
          <a:noFill/>
        </p:spPr>
        <p:txBody>
          <a:bodyPr wrap="square" anchor="t" lIns="0" rIns="0" tIns="0" bIns="0">
            <a:noAutofit/>
          </a:bodyPr>
          <a:lstStyle/>
          <a:p>
            <a:pPr algn="l">
              <a:lnSpc>
                <a:spcPct val="105000"/>
              </a:lnSpc>
              <a:spcBef>
                <a:spcPts val="0"/>
              </a:spcBef>
              <a:spcAft>
                <a:spcPts val="600"/>
              </a:spcAft>
            </a:pPr>
            <a:r>
              <a:rPr sz="1700" b="1" i="0">
                <a:solidFill>
                  <a:srgbClr val="E86F51"/>
                </a:solidFill>
                <a:latin typeface="Calibri"/>
              </a:rPr>
              <a:t>For the coastal plastic waste study, </a:t>
            </a:r>
            <a:r>
              <a:rPr sz="1700" b="0" i="0">
                <a:solidFill>
                  <a:srgbClr val="112B34"/>
                </a:solidFill>
                <a:latin typeface="Calibri"/>
              </a:rPr>
              <a:t>reasonable limitations include:</a:t>
            </a:r>
          </a:p>
        </p:txBody>
      </p:sp>
      <p:sp>
        <p:nvSpPr>
          <p:cNvPr id="12" name="Rounded Rectangle 11"/>
          <p:cNvSpPr/>
          <p:nvPr/>
        </p:nvSpPr>
        <p:spPr>
          <a:xfrm>
            <a:off x="1005840" y="2606040"/>
            <a:ext cx="10177272" cy="914400"/>
          </a:xfrm>
          <a:prstGeom prst="roundRect">
            <a:avLst>
              <a:gd name="adj" fmla="val 8000"/>
            </a:avLst>
          </a:prstGeom>
          <a:solidFill>
            <a:srgbClr val="FBEAE3"/>
          </a:solidFill>
          <a:ln w="1270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25880" y="2788920"/>
            <a:ext cx="548640" cy="548640"/>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14" name="TextBox 13"/>
          <p:cNvSpPr txBox="1"/>
          <p:nvPr/>
        </p:nvSpPr>
        <p:spPr>
          <a:xfrm>
            <a:off x="2148840" y="2606040"/>
            <a:ext cx="8778240" cy="914400"/>
          </a:xfrm>
          <a:prstGeom prst="rect">
            <a:avLst/>
          </a:prstGeom>
          <a:noFill/>
        </p:spPr>
        <p:txBody>
          <a:bodyPr wrap="square" anchor="ctr" lIns="0" rIns="0" tIns="0" bIns="0">
            <a:noAutofit/>
          </a:bodyPr>
          <a:lstStyle/>
          <a:p>
            <a:pPr algn="l">
              <a:lnSpc>
                <a:spcPct val="105000"/>
              </a:lnSpc>
              <a:spcBef>
                <a:spcPts val="0"/>
              </a:spcBef>
              <a:spcAft>
                <a:spcPts val="600"/>
              </a:spcAft>
            </a:pPr>
            <a:r>
              <a:rPr sz="1600" b="0" i="0">
                <a:solidFill>
                  <a:srgbClr val="112B34"/>
                </a:solidFill>
                <a:latin typeface="Calibri"/>
              </a:rPr>
              <a:t>The study covers one coastal barangay, so findings may not generalize to other coastal areas.</a:t>
            </a:r>
          </a:p>
        </p:txBody>
      </p:sp>
      <p:sp>
        <p:nvSpPr>
          <p:cNvPr id="15" name="Rounded Rectangle 14"/>
          <p:cNvSpPr/>
          <p:nvPr/>
        </p:nvSpPr>
        <p:spPr>
          <a:xfrm>
            <a:off x="1005840" y="3657600"/>
            <a:ext cx="10177272" cy="914400"/>
          </a:xfrm>
          <a:prstGeom prst="roundRect">
            <a:avLst>
              <a:gd name="adj" fmla="val 8000"/>
            </a:avLst>
          </a:prstGeom>
          <a:solidFill>
            <a:srgbClr val="FBEAE3"/>
          </a:solidFill>
          <a:ln w="1270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 y="3840480"/>
            <a:ext cx="548640" cy="548640"/>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2200" b="1" i="0">
                <a:solidFill>
                  <a:srgbClr val="FFFFFF"/>
                </a:solidFill>
                <a:latin typeface="Calibri"/>
              </a:rPr>
              <a:t>✓</a:t>
            </a:r>
          </a:p>
        </p:txBody>
      </p:sp>
      <p:sp>
        <p:nvSpPr>
          <p:cNvPr id="17" name="TextBox 16"/>
          <p:cNvSpPr txBox="1"/>
          <p:nvPr/>
        </p:nvSpPr>
        <p:spPr>
          <a:xfrm>
            <a:off x="2148840" y="3657600"/>
            <a:ext cx="8778240" cy="914400"/>
          </a:xfrm>
          <a:prstGeom prst="rect">
            <a:avLst/>
          </a:prstGeom>
          <a:noFill/>
        </p:spPr>
        <p:txBody>
          <a:bodyPr wrap="square" anchor="ctr" lIns="0" rIns="0" tIns="0" bIns="0">
            <a:noAutofit/>
          </a:bodyPr>
          <a:lstStyle/>
          <a:p>
            <a:pPr algn="l">
              <a:lnSpc>
                <a:spcPct val="105000"/>
              </a:lnSpc>
              <a:spcBef>
                <a:spcPts val="0"/>
              </a:spcBef>
              <a:spcAft>
                <a:spcPts val="600"/>
              </a:spcAft>
            </a:pPr>
            <a:r>
              <a:rPr sz="1600" b="0" i="0">
                <a:solidFill>
                  <a:srgbClr val="112B34"/>
                </a:solidFill>
                <a:latin typeface="Calibri"/>
              </a:rPr>
              <a:t>Data is collected within a single school semester, limiting observation of seasonal waste patterns.</a:t>
            </a:r>
          </a:p>
        </p:txBody>
      </p:sp>
      <p:sp>
        <p:nvSpPr>
          <p:cNvPr id="18" name="Rounded Rectangle 17"/>
          <p:cNvSpPr/>
          <p:nvPr/>
        </p:nvSpPr>
        <p:spPr>
          <a:xfrm>
            <a:off x="1005840" y="5074920"/>
            <a:ext cx="10177272" cy="960120"/>
          </a:xfrm>
          <a:prstGeom prst="roundRect">
            <a:avLst>
              <a:gd name="adj" fmla="val 8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5074920"/>
            <a:ext cx="9509760" cy="960120"/>
          </a:xfrm>
          <a:prstGeom prst="rect">
            <a:avLst/>
          </a:prstGeom>
          <a:noFill/>
        </p:spPr>
        <p:txBody>
          <a:bodyPr wrap="square" anchor="ctr" lIns="0" rIns="0" tIns="0" bIns="0">
            <a:noAutofit/>
          </a:bodyPr>
          <a:lstStyle/>
          <a:p>
            <a:pPr algn="l">
              <a:lnSpc>
                <a:spcPct val="105000"/>
              </a:lnSpc>
              <a:spcBef>
                <a:spcPts val="0"/>
              </a:spcBef>
              <a:spcAft>
                <a:spcPts val="600"/>
              </a:spcAft>
            </a:pPr>
            <a:r>
              <a:rPr sz="1600" b="1" i="0">
                <a:solidFill>
                  <a:srgbClr val="2EC4B6"/>
                </a:solidFill>
                <a:latin typeface="Calibri"/>
              </a:rPr>
              <a:t>Ask:  </a:t>
            </a:r>
            <a:r>
              <a:rPr sz="1800" b="1" i="1">
                <a:solidFill>
                  <a:srgbClr val="FFFFFF"/>
                </a:solidFill>
                <a:latin typeface="Calibri"/>
              </a:rPr>
              <a:t>“What is outside my control that could affect how far my findings apply?”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8595360" cy="310896"/>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E86F51"/>
                </a:solidFill>
                <a:latin typeface="Calibri"/>
              </a:rPr>
              <a:t>PART 6 · ASSUMPTIONS &amp; LIMITATIONS — COMPETENCY 16</a:t>
            </a:r>
          </a:p>
        </p:txBody>
      </p:sp>
      <p:sp>
        <p:nvSpPr>
          <p:cNvPr id="5" name="TextBox 4"/>
          <p:cNvSpPr txBox="1"/>
          <p:nvPr/>
        </p:nvSpPr>
        <p:spPr>
          <a:xfrm>
            <a:off x="548640" y="585216"/>
            <a:ext cx="8869680" cy="868680"/>
          </a:xfrm>
          <a:prstGeom prst="rect">
            <a:avLst/>
          </a:prstGeom>
          <a:noFill/>
        </p:spPr>
        <p:txBody>
          <a:bodyPr wrap="square" anchor="t" lIns="0" rIns="0" tIns="0" bIns="0">
            <a:noAutofit/>
          </a:bodyPr>
          <a:lstStyle/>
          <a:p>
            <a:pPr algn="l">
              <a:lnSpc>
                <a:spcPct val="98000"/>
              </a:lnSpc>
              <a:spcBef>
                <a:spcPts val="0"/>
              </a:spcBef>
              <a:spcAft>
                <a:spcPts val="600"/>
              </a:spcAft>
            </a:pPr>
            <a:r>
              <a:rPr sz="3000" b="1" i="0">
                <a:solidFill>
                  <a:srgbClr val="112B34"/>
                </a:solidFill>
                <a:latin typeface="Calibri"/>
              </a:rPr>
              <a:t>Practice: Assumptions and Limitations</a:t>
            </a:r>
          </a:p>
        </p:txBody>
      </p:sp>
      <p:sp>
        <p:nvSpPr>
          <p:cNvPr id="6" name="Rounded Rectangle 5"/>
          <p:cNvSpPr/>
          <p:nvPr/>
        </p:nvSpPr>
        <p:spPr>
          <a:xfrm>
            <a:off x="10019081" y="365760"/>
            <a:ext cx="1605686" cy="292608"/>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FFFFF"/>
                </a:solidFill>
                <a:latin typeface="Calibri"/>
              </a:rPr>
              <a:t>INSTRUCTOR-CREATED</a:t>
            </a:r>
          </a:p>
        </p:txBody>
      </p:sp>
      <p:sp>
        <p:nvSpPr>
          <p:cNvPr id="7" name="Rectangle 6"/>
          <p:cNvSpPr/>
          <p:nvPr/>
        </p:nvSpPr>
        <p:spPr>
          <a:xfrm>
            <a:off x="566928" y="1389888"/>
            <a:ext cx="2834640" cy="41148"/>
          </a:xfrm>
          <a:prstGeom prst="rect">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481328"/>
            <a:ext cx="1965960" cy="329184"/>
          </a:xfrm>
          <a:prstGeom prst="roundRect">
            <a:avLst>
              <a:gd name="adj" fmla="val 5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  PRACTICE · PAIR ACTIVITY</a:t>
            </a:r>
          </a:p>
        </p:txBody>
      </p:sp>
      <p:sp>
        <p:nvSpPr>
          <p:cNvPr id="9" name="TextBox 8"/>
          <p:cNvSpPr txBox="1"/>
          <p:nvPr/>
        </p:nvSpPr>
        <p:spPr>
          <a:xfrm>
            <a:off x="566928" y="6455664"/>
            <a:ext cx="8229600" cy="292608"/>
          </a:xfrm>
          <a:prstGeom prst="rect">
            <a:avLst/>
          </a:prstGeom>
          <a:noFill/>
        </p:spPr>
        <p:txBody>
          <a:bodyPr wrap="square" anchor="ctr" lIns="0" rIns="0" tIns="0" bIns="0">
            <a:noAutofit/>
          </a:bodyPr>
          <a:lstStyle/>
          <a:p>
            <a:pPr algn="l">
              <a:lnSpc>
                <a:spcPct val="100000"/>
              </a:lnSpc>
              <a:spcBef>
                <a:spcPts val="0"/>
              </a:spcBef>
              <a:spcAft>
                <a:spcPts val="600"/>
              </a:spcAft>
            </a:pPr>
            <a:r>
              <a:rPr sz="900" b="0" i="0">
                <a:solidFill>
                  <a:srgbClr val="5C747D"/>
                </a:solidFill>
                <a:latin typeface="Calibri"/>
              </a:rPr>
              <a:t>Lecture 3  ·  Review of Literature for Identifying Research Problems</a:t>
            </a:r>
          </a:p>
        </p:txBody>
      </p:sp>
      <p:sp>
        <p:nvSpPr>
          <p:cNvPr id="10" name="Rounded Rectangle 9"/>
          <p:cNvSpPr/>
          <p:nvPr/>
        </p:nvSpPr>
        <p:spPr>
          <a:xfrm>
            <a:off x="11475720" y="6400800"/>
            <a:ext cx="457200" cy="310896"/>
          </a:xfrm>
          <a:prstGeom prst="roundRect">
            <a:avLst>
              <a:gd name="adj" fmla="val 40000"/>
            </a:avLst>
          </a:prstGeom>
          <a:solidFill>
            <a:srgbClr val="083D5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34</a:t>
            </a:r>
          </a:p>
        </p:txBody>
      </p:sp>
      <p:sp>
        <p:nvSpPr>
          <p:cNvPr id="11" name="TextBox 10"/>
          <p:cNvSpPr txBox="1"/>
          <p:nvPr/>
        </p:nvSpPr>
        <p:spPr>
          <a:xfrm>
            <a:off x="8595360" y="6455664"/>
            <a:ext cx="2743200" cy="292608"/>
          </a:xfrm>
          <a:prstGeom prst="rect">
            <a:avLst/>
          </a:prstGeom>
          <a:noFill/>
        </p:spPr>
        <p:txBody>
          <a:bodyPr wrap="square" anchor="ctr" lIns="0" rIns="0" tIns="0" bIns="0">
            <a:noAutofit/>
          </a:bodyPr>
          <a:lstStyle/>
          <a:p>
            <a:pPr algn="r">
              <a:lnSpc>
                <a:spcPct val="100000"/>
              </a:lnSpc>
              <a:spcBef>
                <a:spcPts val="0"/>
              </a:spcBef>
              <a:spcAft>
                <a:spcPts val="600"/>
              </a:spcAft>
            </a:pPr>
            <a:r>
              <a:rPr sz="900" b="0" i="1">
                <a:solidFill>
                  <a:srgbClr val="5C747D"/>
                </a:solidFill>
                <a:latin typeface="Calibri"/>
              </a:rPr>
              <a:t>Part 6 · Competency 16</a:t>
            </a:r>
          </a:p>
        </p:txBody>
      </p:sp>
      <p:sp>
        <p:nvSpPr>
          <p:cNvPr id="12" name="Rounded Rectangle 11"/>
          <p:cNvSpPr/>
          <p:nvPr/>
        </p:nvSpPr>
        <p:spPr>
          <a:xfrm>
            <a:off x="566928" y="1965960"/>
            <a:ext cx="11055096" cy="868680"/>
          </a:xfrm>
          <a:prstGeom prst="roundRect">
            <a:avLst>
              <a:gd name="adj" fmla="val 6000"/>
            </a:avLst>
          </a:prstGeom>
          <a:solidFill>
            <a:srgbClr val="E1EBEF"/>
          </a:solidFill>
          <a:ln w="12700">
            <a:solidFill>
              <a:srgbClr val="0C53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965960"/>
            <a:ext cx="10332720" cy="868680"/>
          </a:xfrm>
          <a:prstGeom prst="rect">
            <a:avLst/>
          </a:prstGeom>
          <a:noFill/>
        </p:spPr>
        <p:txBody>
          <a:bodyPr wrap="square" anchor="ctr" lIns="0" rIns="0" tIns="0" bIns="0">
            <a:noAutofit/>
          </a:bodyPr>
          <a:lstStyle/>
          <a:p>
            <a:pPr algn="l">
              <a:lnSpc>
                <a:spcPct val="105000"/>
              </a:lnSpc>
              <a:spcBef>
                <a:spcPts val="0"/>
              </a:spcBef>
              <a:spcAft>
                <a:spcPts val="600"/>
              </a:spcAft>
            </a:pPr>
            <a:r>
              <a:rPr sz="1500" b="1" i="0">
                <a:solidFill>
                  <a:srgbClr val="083D54"/>
                </a:solidFill>
                <a:latin typeface="Calibri"/>
              </a:rPr>
              <a:t>Scenario:  </a:t>
            </a:r>
            <a:r>
              <a:rPr sz="1500" b="0" i="0">
                <a:solidFill>
                  <a:srgbClr val="112B34"/>
                </a:solidFill>
                <a:latin typeface="Calibri"/>
              </a:rPr>
              <a:t>a group is evaluating whether a school’s recycling program has increased student recycling behavior.</a:t>
            </a:r>
          </a:p>
        </p:txBody>
      </p:sp>
      <p:sp>
        <p:nvSpPr>
          <p:cNvPr id="14" name="Rounded Rectangle 13"/>
          <p:cNvSpPr/>
          <p:nvPr/>
        </p:nvSpPr>
        <p:spPr>
          <a:xfrm>
            <a:off x="566928" y="3063240"/>
            <a:ext cx="5440680" cy="2514600"/>
          </a:xfrm>
          <a:prstGeom prst="roundRect">
            <a:avLst>
              <a:gd name="adj" fmla="val 5000"/>
            </a:avLst>
          </a:prstGeom>
          <a:solidFill>
            <a:srgbClr val="FFFFFF"/>
          </a:solidFill>
          <a:ln w="19050">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3063240"/>
            <a:ext cx="5440680" cy="502920"/>
          </a:xfrm>
          <a:prstGeom prst="roundRect">
            <a:avLst>
              <a:gd name="adj" fmla="val 5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063240"/>
            <a:ext cx="5440680" cy="502920"/>
          </a:xfrm>
          <a:prstGeom prst="rect">
            <a:avLst/>
          </a:prstGeom>
          <a:noFill/>
        </p:spPr>
        <p:txBody>
          <a:bodyPr wrap="square" anchor="ctr" lIns="0" rIns="0" tIns="0" bIns="0">
            <a:noAutofit/>
          </a:bodyPr>
          <a:lstStyle/>
          <a:p>
            <a:pPr algn="ctr">
              <a:lnSpc>
                <a:spcPct val="100000"/>
              </a:lnSpc>
              <a:spcBef>
                <a:spcPts val="0"/>
              </a:spcBef>
              <a:spcAft>
                <a:spcPts val="600"/>
              </a:spcAft>
            </a:pPr>
            <a:r>
              <a:rPr sz="1600" b="1" i="0">
                <a:solidFill>
                  <a:srgbClr val="FFFFFF"/>
                </a:solidFill>
                <a:latin typeface="Calibri"/>
              </a:rPr>
              <a:t>Write TWO assumptions</a:t>
            </a:r>
          </a:p>
        </p:txBody>
      </p:sp>
      <p:sp>
        <p:nvSpPr>
          <p:cNvPr id="17" name="Rounded Rectangle 16"/>
          <p:cNvSpPr/>
          <p:nvPr/>
        </p:nvSpPr>
        <p:spPr>
          <a:xfrm>
            <a:off x="6181344" y="3063240"/>
            <a:ext cx="5440680" cy="2514600"/>
          </a:xfrm>
          <a:prstGeom prst="roundRect">
            <a:avLst>
              <a:gd name="adj" fmla="val 5000"/>
            </a:avLst>
          </a:prstGeom>
          <a:solidFill>
            <a:srgbClr val="FFFFFF"/>
          </a:solidFill>
          <a:ln w="19050">
            <a:solidFill>
              <a:srgbClr val="E8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81344" y="3063240"/>
            <a:ext cx="5440680" cy="502920"/>
          </a:xfrm>
          <a:prstGeom prst="roundRect">
            <a:avLst>
              <a:gd name="adj" fmla="val 5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3063240"/>
            <a:ext cx="5440680" cy="502920"/>
          </a:xfrm>
          <a:prstGeom prst="rect">
            <a:avLst/>
          </a:prstGeom>
          <a:noFill/>
        </p:spPr>
        <p:txBody>
          <a:bodyPr wrap="square" anchor="ctr" lIns="0" rIns="0" tIns="0" bIns="0">
            <a:noAutofit/>
          </a:bodyPr>
          <a:lstStyle/>
          <a:p>
            <a:pPr algn="ctr">
              <a:lnSpc>
                <a:spcPct val="100000"/>
              </a:lnSpc>
              <a:spcBef>
                <a:spcPts val="0"/>
              </a:spcBef>
              <a:spcAft>
                <a:spcPts val="600"/>
              </a:spcAft>
            </a:pPr>
            <a:r>
              <a:rPr sz="1600" b="1" i="0">
                <a:solidFill>
                  <a:srgbClr val="FFFFFF"/>
                </a:solidFill>
                <a:latin typeface="Calibri"/>
              </a:rPr>
              <a:t>Write TWO limitations</a:t>
            </a:r>
          </a:p>
        </p:txBody>
      </p:sp>
      <p:sp>
        <p:nvSpPr>
          <p:cNvPr id="20" name="Oval 19"/>
          <p:cNvSpPr/>
          <p:nvPr/>
        </p:nvSpPr>
        <p:spPr>
          <a:xfrm>
            <a:off x="822960" y="3794760"/>
            <a:ext cx="365760" cy="36576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21" name="Rectangle 20"/>
          <p:cNvSpPr/>
          <p:nvPr/>
        </p:nvSpPr>
        <p:spPr>
          <a:xfrm>
            <a:off x="1344168" y="4114800"/>
            <a:ext cx="434340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4617720"/>
            <a:ext cx="365760" cy="36576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23" name="Rectangle 22"/>
          <p:cNvSpPr/>
          <p:nvPr/>
        </p:nvSpPr>
        <p:spPr>
          <a:xfrm>
            <a:off x="1344168" y="4937760"/>
            <a:ext cx="434340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37376" y="3794760"/>
            <a:ext cx="365760" cy="365760"/>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1</a:t>
            </a:r>
          </a:p>
        </p:txBody>
      </p:sp>
      <p:sp>
        <p:nvSpPr>
          <p:cNvPr id="25" name="Rectangle 24"/>
          <p:cNvSpPr/>
          <p:nvPr/>
        </p:nvSpPr>
        <p:spPr>
          <a:xfrm>
            <a:off x="6958583" y="4114800"/>
            <a:ext cx="434340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37376" y="4617720"/>
            <a:ext cx="365760" cy="365760"/>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2</a:t>
            </a:r>
          </a:p>
        </p:txBody>
      </p:sp>
      <p:sp>
        <p:nvSpPr>
          <p:cNvPr id="27" name="Rectangle 26"/>
          <p:cNvSpPr/>
          <p:nvPr/>
        </p:nvSpPr>
        <p:spPr>
          <a:xfrm>
            <a:off x="6958583" y="4937760"/>
            <a:ext cx="4343400" cy="18288"/>
          </a:xfrm>
          <a:prstGeom prst="rect">
            <a:avLst/>
          </a:prstGeom>
          <a:solidFill>
            <a:srgbClr val="D5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5715000"/>
            <a:ext cx="11055096" cy="457200"/>
          </a:xfrm>
          <a:prstGeom prst="roundRect">
            <a:avLst>
              <a:gd name="adj" fmla="val 12000"/>
            </a:avLst>
          </a:prstGeom>
          <a:solidFill>
            <a:srgbClr val="FBF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715000"/>
            <a:ext cx="10424160" cy="457200"/>
          </a:xfrm>
          <a:prstGeom prst="rect">
            <a:avLst/>
          </a:prstGeom>
          <a:noFill/>
        </p:spPr>
        <p:txBody>
          <a:bodyPr wrap="square" anchor="ctr" lIns="0" rIns="0" tIns="0" bIns="0">
            <a:noAutofit/>
          </a:bodyPr>
          <a:lstStyle/>
          <a:p>
            <a:pPr algn="l">
              <a:lnSpc>
                <a:spcPct val="100000"/>
              </a:lnSpc>
              <a:spcBef>
                <a:spcPts val="0"/>
              </a:spcBef>
              <a:spcAft>
                <a:spcPts val="600"/>
              </a:spcAft>
            </a:pPr>
            <a:r>
              <a:rPr sz="1350" b="1" i="0">
                <a:solidFill>
                  <a:srgbClr val="112B34"/>
                </a:solidFill>
                <a:latin typeface="Calibri"/>
              </a:rPr>
              <a:t>Use the guiding questions from Slides 32–33 to check your answers.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062A3B"/>
              </a:gs>
              <a:gs pos="100000">
                <a:srgbClr val="0D5A74"/>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2377440" cy="2377440"/>
          </a:xfrm>
          <a:prstGeom prst="ellipse">
            <a:avLst/>
          </a:prstGeom>
          <a:solidFill>
            <a:srgbClr val="2EC4B6">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5669280"/>
            <a:ext cx="1463040" cy="1463040"/>
          </a:xfrm>
          <a:prstGeom prst="ellipse">
            <a:avLst/>
          </a:prstGeom>
          <a:solidFill>
            <a:srgbClr val="1F8A8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65760"/>
            <a:ext cx="1005840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1" i="0">
                <a:solidFill>
                  <a:srgbClr val="2EC4B6"/>
                </a:solidFill>
                <a:latin typeface="Calibri"/>
              </a:rPr>
              <a:t>SYNTHESIS · CLOSING THE LOOP</a:t>
            </a:r>
          </a:p>
        </p:txBody>
      </p:sp>
      <p:sp>
        <p:nvSpPr>
          <p:cNvPr id="6" name="TextBox 5"/>
          <p:cNvSpPr txBox="1"/>
          <p:nvPr/>
        </p:nvSpPr>
        <p:spPr>
          <a:xfrm>
            <a:off x="621792" y="676656"/>
            <a:ext cx="10515600" cy="640080"/>
          </a:xfrm>
          <a:prstGeom prst="rect">
            <a:avLst/>
          </a:prstGeom>
          <a:noFill/>
        </p:spPr>
        <p:txBody>
          <a:bodyPr wrap="square" anchor="t" lIns="0" rIns="0" tIns="0" bIns="0">
            <a:noAutofit/>
          </a:bodyPr>
          <a:lstStyle/>
          <a:p>
            <a:pPr algn="l">
              <a:lnSpc>
                <a:spcPct val="100000"/>
              </a:lnSpc>
              <a:spcBef>
                <a:spcPts val="0"/>
              </a:spcBef>
              <a:spcAft>
                <a:spcPts val="600"/>
              </a:spcAft>
            </a:pPr>
            <a:r>
              <a:rPr sz="3000" b="1" i="0">
                <a:solidFill>
                  <a:srgbClr val="FFFFFF"/>
                </a:solidFill>
                <a:latin typeface="Calibri"/>
              </a:rPr>
              <a:t>The Full Journey, One Page</a:t>
            </a:r>
          </a:p>
        </p:txBody>
      </p:sp>
      <p:sp>
        <p:nvSpPr>
          <p:cNvPr id="7" name="Rectangle 6"/>
          <p:cNvSpPr/>
          <p:nvPr/>
        </p:nvSpPr>
        <p:spPr>
          <a:xfrm>
            <a:off x="1037844" y="1691640"/>
            <a:ext cx="27432" cy="3291840"/>
          </a:xfrm>
          <a:prstGeom prst="rect">
            <a:avLst/>
          </a:prstGeom>
          <a:solidFill>
            <a:srgbClr val="2C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5528" y="1600200"/>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1</a:t>
            </a:r>
          </a:p>
        </p:txBody>
      </p:sp>
      <p:sp>
        <p:nvSpPr>
          <p:cNvPr id="9" name="TextBox 8"/>
          <p:cNvSpPr txBox="1"/>
          <p:nvPr/>
        </p:nvSpPr>
        <p:spPr>
          <a:xfrm>
            <a:off x="1600200" y="1600200"/>
            <a:ext cx="9966960" cy="658368"/>
          </a:xfrm>
          <a:prstGeom prst="rect">
            <a:avLst/>
          </a:prstGeom>
          <a:noFill/>
        </p:spPr>
        <p:txBody>
          <a:bodyPr wrap="square" anchor="ctr" lIns="0" rIns="0" tIns="0" bIns="0">
            <a:noAutofit/>
          </a:bodyPr>
          <a:lstStyle/>
          <a:p>
            <a:pPr algn="l">
              <a:lnSpc>
                <a:spcPct val="100000"/>
              </a:lnSpc>
              <a:spcBef>
                <a:spcPts val="0"/>
              </a:spcBef>
              <a:spcAft>
                <a:spcPts val="600"/>
              </a:spcAft>
            </a:pPr>
            <a:r>
              <a:rPr sz="1750" b="1" i="0">
                <a:solidFill>
                  <a:srgbClr val="FFFFFF"/>
                </a:solidFill>
                <a:latin typeface="Calibri"/>
              </a:rPr>
              <a:t>Evaluated </a:t>
            </a:r>
            <a:r>
              <a:rPr sz="1500" b="0" i="0">
                <a:solidFill>
                  <a:srgbClr val="D5E8E9"/>
                </a:solidFill>
                <a:latin typeface="Calibri"/>
              </a:rPr>
              <a:t>sources on coastal plastic waste using the five credibility criteria</a:t>
            </a:r>
          </a:p>
        </p:txBody>
      </p:sp>
      <p:sp>
        <p:nvSpPr>
          <p:cNvPr id="10" name="Rounded Rectangle 9"/>
          <p:cNvSpPr/>
          <p:nvPr/>
        </p:nvSpPr>
        <p:spPr>
          <a:xfrm>
            <a:off x="10881360" y="1773936"/>
            <a:ext cx="786384" cy="310896"/>
          </a:xfrm>
          <a:prstGeom prst="roundRect">
            <a:avLst>
              <a:gd name="adj" fmla="val 4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C11</a:t>
            </a:r>
          </a:p>
        </p:txBody>
      </p:sp>
      <p:sp>
        <p:nvSpPr>
          <p:cNvPr id="11" name="Oval 10"/>
          <p:cNvSpPr/>
          <p:nvPr/>
        </p:nvSpPr>
        <p:spPr>
          <a:xfrm>
            <a:off x="795528" y="2258568"/>
            <a:ext cx="512064" cy="512064"/>
          </a:xfrm>
          <a:prstGeom prst="ellipse">
            <a:avLst/>
          </a:prstGeom>
          <a:solidFill>
            <a:srgbClr val="1CB0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2</a:t>
            </a:r>
          </a:p>
        </p:txBody>
      </p:sp>
      <p:sp>
        <p:nvSpPr>
          <p:cNvPr id="12" name="TextBox 11"/>
          <p:cNvSpPr txBox="1"/>
          <p:nvPr/>
        </p:nvSpPr>
        <p:spPr>
          <a:xfrm>
            <a:off x="1600200" y="2258568"/>
            <a:ext cx="9966960" cy="658368"/>
          </a:xfrm>
          <a:prstGeom prst="rect">
            <a:avLst/>
          </a:prstGeom>
          <a:noFill/>
        </p:spPr>
        <p:txBody>
          <a:bodyPr wrap="square" anchor="ctr" lIns="0" rIns="0" tIns="0" bIns="0">
            <a:noAutofit/>
          </a:bodyPr>
          <a:lstStyle/>
          <a:p>
            <a:pPr algn="l">
              <a:lnSpc>
                <a:spcPct val="100000"/>
              </a:lnSpc>
              <a:spcBef>
                <a:spcPts val="0"/>
              </a:spcBef>
              <a:spcAft>
                <a:spcPts val="600"/>
              </a:spcAft>
            </a:pPr>
            <a:r>
              <a:rPr sz="1750" b="1" i="0">
                <a:solidFill>
                  <a:srgbClr val="FFFFFF"/>
                </a:solidFill>
                <a:latin typeface="Calibri"/>
              </a:rPr>
              <a:t>Synthesized </a:t>
            </a:r>
            <a:r>
              <a:rPr sz="1500" b="0" i="0">
                <a:solidFill>
                  <a:srgbClr val="D5E8E9"/>
                </a:solidFill>
                <a:latin typeface="Calibri"/>
              </a:rPr>
              <a:t>them into a matrix, revealing a gap in coastal-household research</a:t>
            </a:r>
          </a:p>
        </p:txBody>
      </p:sp>
      <p:sp>
        <p:nvSpPr>
          <p:cNvPr id="13" name="Rounded Rectangle 12"/>
          <p:cNvSpPr/>
          <p:nvPr/>
        </p:nvSpPr>
        <p:spPr>
          <a:xfrm>
            <a:off x="10881360" y="2432304"/>
            <a:ext cx="786384" cy="310896"/>
          </a:xfrm>
          <a:prstGeom prst="roundRect">
            <a:avLst>
              <a:gd name="adj" fmla="val 40000"/>
            </a:avLst>
          </a:prstGeom>
          <a:solidFill>
            <a:srgbClr val="1CB0A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C12</a:t>
            </a:r>
          </a:p>
        </p:txBody>
      </p:sp>
      <p:sp>
        <p:nvSpPr>
          <p:cNvPr id="14" name="Oval 13"/>
          <p:cNvSpPr/>
          <p:nvPr/>
        </p:nvSpPr>
        <p:spPr>
          <a:xfrm>
            <a:off x="795528" y="2916936"/>
            <a:ext cx="512064" cy="512064"/>
          </a:xfrm>
          <a:prstGeom prst="ellipse">
            <a:avLst/>
          </a:prstGeom>
          <a:solidFill>
            <a:srgbClr val="3E9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3</a:t>
            </a:r>
          </a:p>
        </p:txBody>
      </p:sp>
      <p:sp>
        <p:nvSpPr>
          <p:cNvPr id="15" name="TextBox 14"/>
          <p:cNvSpPr txBox="1"/>
          <p:nvPr/>
        </p:nvSpPr>
        <p:spPr>
          <a:xfrm>
            <a:off x="1600200" y="2916936"/>
            <a:ext cx="9966960" cy="658368"/>
          </a:xfrm>
          <a:prstGeom prst="rect">
            <a:avLst/>
          </a:prstGeom>
          <a:noFill/>
        </p:spPr>
        <p:txBody>
          <a:bodyPr wrap="square" anchor="ctr" lIns="0" rIns="0" tIns="0" bIns="0">
            <a:noAutofit/>
          </a:bodyPr>
          <a:lstStyle/>
          <a:p>
            <a:pPr algn="l">
              <a:lnSpc>
                <a:spcPct val="100000"/>
              </a:lnSpc>
              <a:spcBef>
                <a:spcPts val="0"/>
              </a:spcBef>
              <a:spcAft>
                <a:spcPts val="600"/>
              </a:spcAft>
            </a:pPr>
            <a:r>
              <a:rPr sz="1750" b="1" i="0">
                <a:solidFill>
                  <a:srgbClr val="FFFFFF"/>
                </a:solidFill>
                <a:latin typeface="Calibri"/>
              </a:rPr>
              <a:t>Formulated </a:t>
            </a:r>
            <a:r>
              <a:rPr sz="1500" b="0" i="0">
                <a:solidFill>
                  <a:srgbClr val="D5E8E9"/>
                </a:solidFill>
                <a:latin typeface="Calibri"/>
              </a:rPr>
              <a:t>a clear, checklist-tested problem statement</a:t>
            </a:r>
          </a:p>
        </p:txBody>
      </p:sp>
      <p:sp>
        <p:nvSpPr>
          <p:cNvPr id="16" name="Rounded Rectangle 15"/>
          <p:cNvSpPr/>
          <p:nvPr/>
        </p:nvSpPr>
        <p:spPr>
          <a:xfrm>
            <a:off x="10881360" y="3090672"/>
            <a:ext cx="786384" cy="310896"/>
          </a:xfrm>
          <a:prstGeom prst="roundRect">
            <a:avLst>
              <a:gd name="adj" fmla="val 40000"/>
            </a:avLst>
          </a:prstGeom>
          <a:solidFill>
            <a:srgbClr val="3E9FC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C13</a:t>
            </a:r>
          </a:p>
        </p:txBody>
      </p:sp>
      <p:sp>
        <p:nvSpPr>
          <p:cNvPr id="17" name="Oval 16"/>
          <p:cNvSpPr/>
          <p:nvPr/>
        </p:nvSpPr>
        <p:spPr>
          <a:xfrm>
            <a:off x="795528" y="3575304"/>
            <a:ext cx="512064" cy="512064"/>
          </a:xfrm>
          <a:prstGeom prst="ellipse">
            <a:avLst/>
          </a:prstGeom>
          <a:solidFill>
            <a:srgbClr val="5AA9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4</a:t>
            </a:r>
          </a:p>
        </p:txBody>
      </p:sp>
      <p:sp>
        <p:nvSpPr>
          <p:cNvPr id="18" name="TextBox 17"/>
          <p:cNvSpPr txBox="1"/>
          <p:nvPr/>
        </p:nvSpPr>
        <p:spPr>
          <a:xfrm>
            <a:off x="1600200" y="3575304"/>
            <a:ext cx="9966960" cy="658368"/>
          </a:xfrm>
          <a:prstGeom prst="rect">
            <a:avLst/>
          </a:prstGeom>
          <a:noFill/>
        </p:spPr>
        <p:txBody>
          <a:bodyPr wrap="square" anchor="ctr" lIns="0" rIns="0" tIns="0" bIns="0">
            <a:noAutofit/>
          </a:bodyPr>
          <a:lstStyle/>
          <a:p>
            <a:pPr algn="l">
              <a:lnSpc>
                <a:spcPct val="100000"/>
              </a:lnSpc>
              <a:spcBef>
                <a:spcPts val="0"/>
              </a:spcBef>
              <a:spcAft>
                <a:spcPts val="600"/>
              </a:spcAft>
            </a:pPr>
            <a:r>
              <a:rPr sz="1750" b="1" i="0">
                <a:solidFill>
                  <a:srgbClr val="FFFFFF"/>
                </a:solidFill>
                <a:latin typeface="Calibri"/>
              </a:rPr>
              <a:t>Developed </a:t>
            </a:r>
            <a:r>
              <a:rPr sz="1500" b="0" i="0">
                <a:solidFill>
                  <a:srgbClr val="D5E8E9"/>
                </a:solidFill>
                <a:latin typeface="Calibri"/>
              </a:rPr>
              <a:t>an aligned research question and hypothesis</a:t>
            </a:r>
          </a:p>
        </p:txBody>
      </p:sp>
      <p:sp>
        <p:nvSpPr>
          <p:cNvPr id="19" name="Rounded Rectangle 18"/>
          <p:cNvSpPr/>
          <p:nvPr/>
        </p:nvSpPr>
        <p:spPr>
          <a:xfrm>
            <a:off x="10881360" y="3749040"/>
            <a:ext cx="786384" cy="310896"/>
          </a:xfrm>
          <a:prstGeom prst="roundRect">
            <a:avLst>
              <a:gd name="adj" fmla="val 40000"/>
            </a:avLst>
          </a:prstGeom>
          <a:solidFill>
            <a:srgbClr val="5AA9D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C14</a:t>
            </a:r>
          </a:p>
        </p:txBody>
      </p:sp>
      <p:sp>
        <p:nvSpPr>
          <p:cNvPr id="20" name="Oval 19"/>
          <p:cNvSpPr/>
          <p:nvPr/>
        </p:nvSpPr>
        <p:spPr>
          <a:xfrm>
            <a:off x="795528" y="4233672"/>
            <a:ext cx="512064" cy="512064"/>
          </a:xfrm>
          <a:prstGeom prst="ellipse">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5</a:t>
            </a:r>
          </a:p>
        </p:txBody>
      </p:sp>
      <p:sp>
        <p:nvSpPr>
          <p:cNvPr id="21" name="TextBox 20"/>
          <p:cNvSpPr txBox="1"/>
          <p:nvPr/>
        </p:nvSpPr>
        <p:spPr>
          <a:xfrm>
            <a:off x="1600200" y="4233672"/>
            <a:ext cx="9966960" cy="658368"/>
          </a:xfrm>
          <a:prstGeom prst="rect">
            <a:avLst/>
          </a:prstGeom>
          <a:noFill/>
        </p:spPr>
        <p:txBody>
          <a:bodyPr wrap="square" anchor="ctr" lIns="0" rIns="0" tIns="0" bIns="0">
            <a:noAutofit/>
          </a:bodyPr>
          <a:lstStyle/>
          <a:p>
            <a:pPr algn="l">
              <a:lnSpc>
                <a:spcPct val="100000"/>
              </a:lnSpc>
              <a:spcBef>
                <a:spcPts val="0"/>
              </a:spcBef>
              <a:spcAft>
                <a:spcPts val="600"/>
              </a:spcAft>
            </a:pPr>
            <a:r>
              <a:rPr sz="1750" b="1" i="0">
                <a:solidFill>
                  <a:srgbClr val="FFFFFF"/>
                </a:solidFill>
                <a:latin typeface="Calibri"/>
              </a:rPr>
              <a:t>Justified </a:t>
            </a:r>
            <a:r>
              <a:rPr sz="1500" b="0" i="0">
                <a:solidFill>
                  <a:srgbClr val="D5E8E9"/>
                </a:solidFill>
                <a:latin typeface="Calibri"/>
              </a:rPr>
              <a:t>the problem using a Claim–Evidence–Reasoning argument</a:t>
            </a:r>
          </a:p>
        </p:txBody>
      </p:sp>
      <p:sp>
        <p:nvSpPr>
          <p:cNvPr id="22" name="Rounded Rectangle 21"/>
          <p:cNvSpPr/>
          <p:nvPr/>
        </p:nvSpPr>
        <p:spPr>
          <a:xfrm>
            <a:off x="10881360" y="4407408"/>
            <a:ext cx="786384" cy="310896"/>
          </a:xfrm>
          <a:prstGeom prst="roundRect">
            <a:avLst>
              <a:gd name="adj" fmla="val 40000"/>
            </a:avLst>
          </a:prstGeom>
          <a:solidFill>
            <a:srgbClr val="E86F5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C15</a:t>
            </a:r>
          </a:p>
        </p:txBody>
      </p:sp>
      <p:sp>
        <p:nvSpPr>
          <p:cNvPr id="23" name="Oval 22"/>
          <p:cNvSpPr/>
          <p:nvPr/>
        </p:nvSpPr>
        <p:spPr>
          <a:xfrm>
            <a:off x="795528" y="4892040"/>
            <a:ext cx="512064" cy="512064"/>
          </a:xfrm>
          <a:prstGeom prst="ellipse">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Calibri"/>
              </a:rPr>
              <a:t>6</a:t>
            </a:r>
          </a:p>
        </p:txBody>
      </p:sp>
      <p:sp>
        <p:nvSpPr>
          <p:cNvPr id="24" name="TextBox 23"/>
          <p:cNvSpPr txBox="1"/>
          <p:nvPr/>
        </p:nvSpPr>
        <p:spPr>
          <a:xfrm>
            <a:off x="1600200" y="4892040"/>
            <a:ext cx="9966960" cy="658368"/>
          </a:xfrm>
          <a:prstGeom prst="rect">
            <a:avLst/>
          </a:prstGeom>
          <a:noFill/>
        </p:spPr>
        <p:txBody>
          <a:bodyPr wrap="square" anchor="ctr" lIns="0" rIns="0" tIns="0" bIns="0">
            <a:noAutofit/>
          </a:bodyPr>
          <a:lstStyle/>
          <a:p>
            <a:pPr algn="l">
              <a:lnSpc>
                <a:spcPct val="100000"/>
              </a:lnSpc>
              <a:spcBef>
                <a:spcPts val="0"/>
              </a:spcBef>
              <a:spcAft>
                <a:spcPts val="600"/>
              </a:spcAft>
            </a:pPr>
            <a:r>
              <a:rPr sz="1750" b="1" i="0">
                <a:solidFill>
                  <a:srgbClr val="FFFFFF"/>
                </a:solidFill>
                <a:latin typeface="Calibri"/>
              </a:rPr>
              <a:t>Named </a:t>
            </a:r>
            <a:r>
              <a:rPr sz="1500" b="0" i="0">
                <a:solidFill>
                  <a:srgbClr val="D5E8E9"/>
                </a:solidFill>
                <a:latin typeface="Calibri"/>
              </a:rPr>
              <a:t>the study’s assumptions and limitations honestly</a:t>
            </a:r>
          </a:p>
        </p:txBody>
      </p:sp>
      <p:sp>
        <p:nvSpPr>
          <p:cNvPr id="25" name="Rounded Rectangle 24"/>
          <p:cNvSpPr/>
          <p:nvPr/>
        </p:nvSpPr>
        <p:spPr>
          <a:xfrm>
            <a:off x="10881360" y="5065776"/>
            <a:ext cx="786384" cy="310896"/>
          </a:xfrm>
          <a:prstGeom prst="roundRect">
            <a:avLst>
              <a:gd name="adj" fmla="val 40000"/>
            </a:avLst>
          </a:prstGeom>
          <a:solidFill>
            <a:srgbClr val="E9B0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i="0">
                <a:solidFill>
                  <a:srgbClr val="FFFFFF"/>
                </a:solidFill>
                <a:latin typeface="Calibri"/>
              </a:rPr>
              <a:t>C16</a:t>
            </a:r>
          </a:p>
        </p:txBody>
      </p:sp>
      <p:sp>
        <p:nvSpPr>
          <p:cNvPr id="26" name="Rounded Rectangle 25"/>
          <p:cNvSpPr/>
          <p:nvPr/>
        </p:nvSpPr>
        <p:spPr>
          <a:xfrm>
            <a:off x="640080" y="5806440"/>
            <a:ext cx="10972800" cy="713232"/>
          </a:xfrm>
          <a:prstGeom prst="roundRect">
            <a:avLst>
              <a:gd name="adj" fmla="val 14000"/>
            </a:avLst>
          </a:prstGeom>
          <a:solidFill>
            <a:srgbClr val="E86F5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5806440"/>
            <a:ext cx="10332720" cy="713232"/>
          </a:xfrm>
          <a:prstGeom prst="rect">
            <a:avLst/>
          </a:prstGeom>
          <a:noFill/>
        </p:spPr>
        <p:txBody>
          <a:bodyPr wrap="square" anchor="ctr" lIns="0" rIns="0" tIns="0" bIns="0">
            <a:noAutofit/>
          </a:bodyPr>
          <a:lstStyle/>
          <a:p>
            <a:pPr algn="l">
              <a:lnSpc>
                <a:spcPct val="105000"/>
              </a:lnSpc>
              <a:spcBef>
                <a:spcPts val="0"/>
              </a:spcBef>
              <a:spcAft>
                <a:spcPts val="600"/>
              </a:spcAft>
            </a:pPr>
            <a:r>
              <a:rPr sz="1550" b="1" i="0">
                <a:solidFill>
                  <a:srgbClr val="FFFFFF"/>
                </a:solidFill>
                <a:latin typeface="Calibri"/>
              </a:rPr>
              <a:t>One coastal barangay. One research problem, fully built — </a:t>
            </a:r>
            <a:r>
              <a:rPr sz="1550" b="0" i="1">
                <a:solidFill>
                  <a:srgbClr val="FFFFFF"/>
                </a:solidFill>
                <a:latin typeface="Calibri"/>
              </a:rPr>
              <a:t>the same six steps apply to any topic your group chooses.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