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4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10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3200400" cy="457200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0F2A43"/>
                </a:solidFill>
                <a:latin typeface="Segoe UI"/>
              </a:rPr>
              <a:t>MILESTONE 2.1  · 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 Semibold"/>
              </a:rPr>
              <a:t>Ethical &amp; Effective Use of AI</a:t>
            </a:r>
          </a:p>
          <a:p>
            <a:r>
              <a:rPr sz="4400" b="1" i="0">
                <a:solidFill>
                  <a:srgbClr val="16B8A6"/>
                </a:solidFill>
                <a:latin typeface="Segoe UI Semibold"/>
              </a:rPr>
              <a:t>in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77639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7E2EC"/>
                </a:solidFill>
                <a:latin typeface="Segoe UI"/>
              </a:rPr>
              <a:t>Using Gemini Notebook (NotebookLM) for Milestone 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8686800" cy="868680"/>
          </a:xfrm>
          <a:prstGeom prst="roundRect">
            <a:avLst>
              <a:gd name="adj" fmla="val 6000"/>
            </a:avLst>
          </a:prstGeom>
          <a:solidFill>
            <a:srgbClr val="14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800600"/>
            <a:ext cx="109728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901184"/>
            <a:ext cx="8138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Segoe UI"/>
              </a:rPr>
              <a:t>AI as your synthesis partner — never your source finder.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Today's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2120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1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The One Rule for AI + Research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2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Milestone 2.1 at a glance — where AI fits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3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Finding your own literature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4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Discovery tools: Research Rabbit &amp; Consensus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5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Meet Gemini Notebook (NotebookLM)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52120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6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Ethical do's and don'ts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7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Prompts for building your matrix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8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Prompts for writing your literature review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9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Prompts for references &amp; problem statement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 i="0">
                <a:solidFill>
                  <a:srgbClr val="0E8C7E"/>
                </a:solidFill>
                <a:latin typeface="Segoe UI"/>
              </a:rPr>
              <a:t>10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Full workflow, pitfalls, and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By the End, You Will Be Able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Explain why AI must never find sources for you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Use real databases to locate credible sources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Use Research Rabbit &amp; Consensus to expand a search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Set up a Gemini Notebook for Milestone 2.1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Use ready-made prompts to build your matrix AND draft your review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Verify, revise, and take ownership of every AI-assisted paragraph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Recognize and avoid common AI misuse in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THE ONE RULE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The One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 /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57400"/>
            <a:ext cx="10607040" cy="196596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146304" cy="1965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194560"/>
            <a:ext cx="996696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 Semibold"/>
              </a:rPr>
              <a:t>AI finds patterns in sources YOU already found and read. AI does NOT find, choose, or invent your 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You = the researcher and reader</a:t>
            </a:r>
          </a:p>
          <a:p>
            <a:pPr>
              <a:spcAft>
                <a:spcPts val="10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AI = the synthesis assistant</a:t>
            </a:r>
          </a:p>
          <a:p>
            <a:pPr>
              <a:spcAft>
                <a:spcPts val="10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A source you haven't personally read doesn't exist for your paper yet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YOUR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Why You Must Search Yourself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5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It's the actual research skill you're being trained in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AI chat tools can invent fake studies, authors, even DOIs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Only you can judge if a source is credible and fits your IV/DV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Your panel or judges will ask about your sources — know them firsthand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Milestone 2.1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6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2120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1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Recap your Title &amp; Variables (100% you)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2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Build 3 Literature Matrices → Themes → Gaps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3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Combine into ONE Final 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52120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4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Write your 5-Part Literature Review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5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Build your APA Reference List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6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Draft your Problem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897880"/>
            <a:ext cx="10607040" cy="548640"/>
          </a:xfrm>
          <a:prstGeom prst="roundRect">
            <a:avLst>
              <a:gd name="adj" fmla="val 6000"/>
            </a:avLst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5897880"/>
            <a:ext cx="91440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925312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 i="1">
                <a:solidFill>
                  <a:srgbClr val="14395C"/>
                </a:solidFill>
                <a:latin typeface="Segoe UI"/>
              </a:rPr>
              <a:t>AI can assist in Phases 2, 4, and 5 — never Phase 1, and never without your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What Are You Searching For?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7 /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3383279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965960"/>
            <a:ext cx="3383279" cy="128016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331720"/>
            <a:ext cx="868680" cy="868680"/>
          </a:xfrm>
          <a:prstGeom prst="ellipse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 Semibold"/>
              </a:rPr>
              <a:t>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2834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A43"/>
                </a:solidFill>
                <a:latin typeface="Segoe UI Semibold"/>
              </a:rPr>
              <a:t>Independent 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06240"/>
            <a:ext cx="283463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C6B7A"/>
                </a:solidFill>
                <a:latin typeface="Segoe UI"/>
              </a:rPr>
              <a:t>At least 10 sources on your IV.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965960"/>
            <a:ext cx="3383279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65960"/>
            <a:ext cx="3383279" cy="12801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09159" y="2331720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 Semibold"/>
              </a:rPr>
              <a:t>10+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383280"/>
            <a:ext cx="2834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A43"/>
                </a:solidFill>
                <a:latin typeface="Segoe UI Semibold"/>
              </a:rPr>
              <a:t>Dependent Variable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206240"/>
            <a:ext cx="283463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C6B7A"/>
                </a:solidFill>
                <a:latin typeface="Segoe UI"/>
              </a:rPr>
              <a:t>At least 10 sources on your DV.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965960"/>
            <a:ext cx="3383279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965960"/>
            <a:ext cx="3383279" cy="128016"/>
          </a:xfrm>
          <a:prstGeom prst="rect">
            <a:avLst/>
          </a:prstGeom>
          <a:solidFill>
            <a:srgbClr val="14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58200" y="2331720"/>
            <a:ext cx="868680" cy="868680"/>
          </a:xfrm>
          <a:prstGeom prst="ellipse">
            <a:avLst/>
          </a:prstGeom>
          <a:solidFill>
            <a:srgbClr val="14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 Semibold"/>
              </a:rPr>
              <a:t>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383280"/>
            <a:ext cx="2834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A43"/>
                </a:solidFill>
                <a:latin typeface="Segoe UI Semibold"/>
              </a:rPr>
              <a:t>Both 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206240"/>
            <a:ext cx="283463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C6B7A"/>
                </a:solidFill>
                <a:latin typeface="Segoe UI"/>
              </a:rPr>
              <a:t>At least 5 sources studying both variables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REAL DATABASES  · 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Where to Find Real Research Articles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8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Google Scholar — scholar.google.com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Semantic Scholar — semanticscholar.org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ERIC (education topics) — eric.ed.gov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PubMed / PMC (health &amp; life sciences) — pubmed.ncbi.nlm.nih.gov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DOAJ (open-access journals) — doaj.org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REAL DATABASES  · 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Where to Find Real Research Articles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9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CORE — core.ac.uk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BASE — base-search.net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ResearchGate — researchgate.net (author-uploaded copies)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SSRN (social science) — ssrn.com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1" i="0">
                <a:solidFill>
                  <a:srgbClr val="222E3C"/>
                </a:solidFill>
                <a:latin typeface="Segoe UI"/>
              </a:rPr>
              <a:t>Philippine E-Journals (PH topics) — ejournals.ph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Smart Search 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10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Search keywords, not full sentences (e.g., “sleep deprivation academic performance”)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Use quotation marks for exact phrases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Filter by year — last 5–10 years, unless it's a classic study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Check the “Cited by” count for influence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Confirm it's peer-reviewed, not a blog or opinion piece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DISCOVERY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Expand Your Search: Research Rabbit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11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researchrabbit.ai — free citation-mapping tool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Drop in a “seed” paper you already found and trust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Explore Similar Work, Earlier Work, and Later Work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Save promising results into a Collection to revisit later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You still must open, read, and evaluate everything it suggests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DISCOVERY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Expand Your Search: Consensus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12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consensus.app — AI-powered academic search engine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Ask a yes/no research question → get a “consensus meter” from real studies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Use filters (study type, sample size, year) to narrow results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Every result links to the original paper — always click through and read it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0" i="0">
                <a:solidFill>
                  <a:srgbClr val="222E3C"/>
                </a:solidFill>
                <a:latin typeface="Segoe UI"/>
              </a:rPr>
              <a:t>Useful for sanity-checking what the field currently shows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QUALITY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Screen Before You Add 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13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F5A623"/>
                </a:solidFill>
                <a:latin typeface="Segoe UI"/>
              </a:rPr>
              <a:t>?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Is it actually about my IV or DV — not just adjacent?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F5A623"/>
                </a:solidFill>
                <a:latin typeface="Segoe UI"/>
              </a:rPr>
              <a:t>?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Is it recent enough, or a foundational classic?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F5A623"/>
                </a:solidFill>
                <a:latin typeface="Segoe UI"/>
              </a:rPr>
              <a:t>?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Is it peer-reviewed or from a credible publisher?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F5A623"/>
                </a:solidFill>
                <a:latin typeface="Segoe UI"/>
              </a:rPr>
              <a:t>?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Have I actually opened and read it — not just the abstract?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REALITY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Still Just Discovery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14 /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57400"/>
            <a:ext cx="10607040" cy="196596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146304" cy="196596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194560"/>
            <a:ext cx="996696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 Semibold"/>
              </a:rPr>
              <a:t>Research Rabbit and Consensus help you FIND sources faster — they do not replace reading the full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E4572E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Never cite a source using only its AI-generated summary</a:t>
            </a:r>
          </a:p>
          <a:p>
            <a:pPr>
              <a:spcAft>
                <a:spcPts val="1000"/>
              </a:spcAft>
            </a:pPr>
            <a:r>
              <a:rPr sz="2400" b="1" i="0">
                <a:solidFill>
                  <a:srgbClr val="E4572E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Download the actual PDF before it goes in your matrix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Before You Touch Any AI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15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1" i="0">
                <a:solidFill>
                  <a:srgbClr val="0E8C7E"/>
                </a:solidFill>
                <a:latin typeface="Segoe UI"/>
              </a:rPr>
              <a:t>1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Download PDFs of every source you'll use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1" i="0">
                <a:solidFill>
                  <a:srgbClr val="0E8C7E"/>
                </a:solidFill>
                <a:latin typeface="Segoe UI"/>
              </a:rPr>
              <a:t>2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Sort them into 3 folders: Independent Variable / Dependent Variable / Both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1" i="0">
                <a:solidFill>
                  <a:srgbClr val="0E8C7E"/>
                </a:solidFill>
                <a:latin typeface="Segoe UI"/>
              </a:rPr>
              <a:t>3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Skim each one yourself — you should recognize it later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1" i="0">
                <a:solidFill>
                  <a:srgbClr val="0E8C7E"/>
                </a:solidFill>
                <a:latin typeface="Segoe UI"/>
              </a:rPr>
              <a:t>4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Now you're ready for synthesis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548640"/>
            <a:ext cx="402336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14395C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B8A6"/>
                </a:solidFill>
                <a:latin typeface="Segoe UI"/>
              </a:rPr>
              <a:t>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505456"/>
            <a:ext cx="12801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7680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 Semibold"/>
              </a:rPr>
              <a:t>Meet Gemini Notebook (NotebookLM)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C7D3DE"/>
                </a:solidFill>
                <a:latin typeface="Segoe UI"/>
              </a:rPr>
              <a:t>Google's AI notebook, built to work only with YOUR sources.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16 /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What Makes Gemini Notebook Different?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17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It only reads the documents you upload — nothing else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Every answer comes with a clickable citation back to your source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Reduces (but does not eliminate) the risk of made-up information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Built for study and research, not open-ended chat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FEATURE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Quick Feature Tour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18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1" i="0">
                <a:solidFill>
                  <a:srgbClr val="222E3C"/>
                </a:solidFill>
                <a:latin typeface="Segoe UI"/>
              </a:rPr>
              <a:t>Sources panel — your uploaded PDFs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1" i="0">
                <a:solidFill>
                  <a:srgbClr val="222E3C"/>
                </a:solidFill>
                <a:latin typeface="Segoe UI"/>
              </a:rPr>
              <a:t>Chat — ask questions grounded in those sources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1" i="0">
                <a:solidFill>
                  <a:srgbClr val="222E3C"/>
                </a:solidFill>
                <a:latin typeface="Segoe UI"/>
              </a:rPr>
              <a:t>Citations — click to jump to the exact passage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1" i="0">
                <a:solidFill>
                  <a:srgbClr val="222E3C"/>
                </a:solidFill>
                <a:latin typeface="Segoe UI"/>
              </a:rPr>
              <a:t>Notebook guide / FAQ / Briefing doc — auto-generated overviews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300" b="1" i="0">
                <a:solidFill>
                  <a:srgbClr val="222E3C"/>
                </a:solidFill>
                <a:latin typeface="Segoe UI"/>
              </a:rPr>
              <a:t>Audio Overview &amp; Mind map — alternate ways to review your sources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A Note on Privacy &amp;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19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!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Only upload files you have the right to use for schoolwork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!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Don't upload personal or sensitive information into any source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!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Follow your school's data &amp; AI-tool policy for what can be uploaded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!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When unsure, ask your teacher before uploading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Setting Up Your Notebook for 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20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1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Create a notebook: “Milestone 2.1 – [Your Topic]”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2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Upload your Independent Variable PDFs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3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Upload your Dependent Variable PDFs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4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Upload your Both-Variables PDFs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5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Rename each source clearly: Author, Year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ETHICAL 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Do's and Don'ts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21 /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20240"/>
            <a:ext cx="51663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920240"/>
            <a:ext cx="5166360" cy="640080"/>
          </a:xfrm>
          <a:prstGeom prst="roundRect">
            <a:avLst>
              <a:gd name="adj" fmla="val 6000"/>
            </a:avLst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40280"/>
            <a:ext cx="5166360" cy="320040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0976" y="2240280"/>
            <a:ext cx="100584" cy="118872"/>
          </a:xfrm>
          <a:prstGeom prst="line">
            <a:avLst/>
          </a:prstGeom>
          <a:ln w="444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60" y="2112264"/>
            <a:ext cx="201168" cy="246888"/>
          </a:xfrm>
          <a:prstGeom prst="line">
            <a:avLst/>
          </a:prstGeom>
          <a:ln w="444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99032" y="1938528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 Semibold"/>
              </a:rPr>
              <a:t>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43200"/>
            <a:ext cx="4526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2F9E6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Upload only sources you personally found and read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2F9E6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Ask AI to summarize, organize, and spot patterns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2F9E6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Click every citation and verify it against the original PDF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2F9E6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Rewrite AI output in your own words before submitting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2F9E6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Tell your teacher when and how you used AI, if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20240"/>
            <a:ext cx="51663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166360" cy="64008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240280"/>
            <a:ext cx="5166360" cy="32004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74536" y="2121408"/>
            <a:ext cx="256032" cy="256032"/>
          </a:xfrm>
          <a:prstGeom prst="line">
            <a:avLst/>
          </a:prstGeom>
          <a:ln w="444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574536" y="2121408"/>
            <a:ext cx="256032" cy="256032"/>
          </a:xfrm>
          <a:prstGeom prst="line">
            <a:avLst/>
          </a:prstGeom>
          <a:ln w="444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22592" y="1938528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 Semibold"/>
              </a:rPr>
              <a:t>DON'T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743200"/>
            <a:ext cx="452628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E4572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Ask AI to “find,” “recommend,” or “suggest” new sources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E4572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Paste raw AI output straight into your final paper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E4572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Trust a synthesis without opening the original source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E4572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Let AI decide your final research gap for you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800" b="1" i="0">
                <a:solidFill>
                  <a:srgbClr val="E4572E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222E3C"/>
                </a:solidFill>
                <a:latin typeface="Segoe UI"/>
              </a:rPr>
              <a:t>Upload full texts you don't have the right to share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ROLES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Who Does What?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22 / 48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82880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2743200"/>
                <a:gridCol w="2743200"/>
              </a:tblGrid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Task</a:t>
                      </a:r>
                    </a:p>
                  </a:txBody>
                  <a:tcPr marL="137160" marR="91440" marT="27432" marB="27432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AI (NotebookLM)</a:t>
                      </a:r>
                    </a:p>
                  </a:txBody>
                  <a:tcPr marL="137160" marR="91440" marT="27432" marB="27432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You</a:t>
                      </a:r>
                    </a:p>
                  </a:txBody>
                  <a:tcPr marL="137160" marR="91440" marT="27432" marB="27432" anchor="ctr">
                    <a:solidFill>
                      <a:srgbClr val="0F2A43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Finding sources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E4572E"/>
                          </a:solidFill>
                          <a:latin typeface="Segoe UI"/>
                        </a:rPr>
                        <a:t>Never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Always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Reading full sources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E4572E"/>
                          </a:solidFill>
                          <a:latin typeface="Segoe UI"/>
                        </a:rPr>
                        <a:t>Can't replace this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Always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Summarizing an uploaded source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5C6B7A"/>
                          </a:solidFill>
                          <a:latin typeface="Segoe UI"/>
                        </a:rPr>
                        <a:t>First draft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Verify &amp; rewrite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Spotting themes / patterns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5C6B7A"/>
                          </a:solidFill>
                          <a:latin typeface="Segoe UI"/>
                        </a:rPr>
                        <a:t>First draft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Confirm &amp; finalize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Deciding the final research gap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5C6B7A"/>
                          </a:solidFill>
                          <a:latin typeface="Segoe UI"/>
                        </a:rPr>
                        <a:t>Suggests only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Final call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Drafting review paragraphs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5C6B7A"/>
                          </a:solidFill>
                          <a:latin typeface="Segoe UI"/>
                        </a:rPr>
                        <a:t>First draft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Rewrite in own words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Checking citation accuracy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5C6B7A"/>
                          </a:solidFill>
                          <a:latin typeface="Segoe UI"/>
                        </a:rPr>
                        <a:t>Flags issues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Confirms against PDF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Formatting APA references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5C6B7A"/>
                          </a:solidFill>
                          <a:latin typeface="Segoe UI"/>
                        </a:rPr>
                        <a:t>Format only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Supplies all data</a:t>
                      </a:r>
                    </a:p>
                  </a:txBody>
                  <a:tcPr marL="137160" marR="91440" marT="27432" marB="27432" anchor="ctr">
                    <a:solidFill>
                      <a:srgbClr val="ECF2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222E3C"/>
                          </a:solidFill>
                          <a:latin typeface="Segoe UI"/>
                        </a:rPr>
                        <a:t>Final wording submitted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E4572E"/>
                          </a:solidFill>
                          <a:latin typeface="Segoe UI"/>
                        </a:rPr>
                        <a:t>Never as-is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E8C7E"/>
                          </a:solidFill>
                          <a:latin typeface="Segoe UI"/>
                        </a:rPr>
                        <a:t>Always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548640"/>
            <a:ext cx="402336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14395C"/>
                </a:solidFill>
                <a:latin typeface="Segoe UI Semi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B8A6"/>
                </a:solidFill>
                <a:latin typeface="Segoe UI"/>
              </a:rPr>
              <a:t>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505456"/>
            <a:ext cx="12801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7680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 Semibold"/>
              </a:rPr>
              <a:t>Building Your Literature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C7D3DE"/>
                </a:solidFill>
                <a:latin typeface="Segoe UI"/>
              </a:rPr>
              <a:t>Phase 2 prompts — one row at a time, then themes, then gaps.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23 /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Build One Matrix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24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Use after uploading ONE source at a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Using ONLY the source I uploaded titled "[source title],"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extract in my own simple words, based on this source alone: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1. Key Objectives (1–2 short paragraphs)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2. Key Methodology (1–2 short paragraphs)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3. Key Findings (1–2 short paragraphs)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4. Relevance to my study on [Independent Variable]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and [Dependent Variable] (1 paragraph)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Give me the exact page or section for each point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so I can verify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Group Sources Into Themes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25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Use after uploading all sources for one topic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Using only the sources I uploaded under [Independent /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Dependent / Both Variables], look across their Key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Findings and Key Objectives. Group them into 2–4 THEMES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— patterns that repeat across multiple sources.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For each theme give me: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- A short Theme Name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- The source numbers/titles that support it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- ONE synthesis sentence on what they say TOGETHER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- Whether the sources agree or disagree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Show me exactly where in each source you found this.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Spot the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26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Use after your themes are grouped for one topic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Using the themes we identified for [Topic name], answer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using only my uploaded sources: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1. DISAGREEMENT GAP — Which theme shows sources with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different or opposite results? How do they disagree?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2. MISSING PIECE GAP — What population, place, method,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or condition is NOT covered by any source?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3. THEY SAID SO GAP — Did any source say more research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is needed? Quote where it says this.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Point me to the exact source and page for each answer.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548640"/>
            <a:ext cx="402336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14395C"/>
                </a:solidFill>
                <a:latin typeface="Segoe UI Semibol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B8A6"/>
                </a:solidFill>
                <a:latin typeface="Segoe UI"/>
              </a:rPr>
              <a:t>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505456"/>
            <a:ext cx="12801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7680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 Semibold"/>
              </a:rPr>
              <a:t>Writing Your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C7D3DE"/>
                </a:solidFill>
                <a:latin typeface="Segoe UI"/>
              </a:rPr>
              <a:t>Phase 4 — draft theme by theme, then verify every 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27 / 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RULES BEFORE YOU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Ground Rules for the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28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Write theme by theme, never source by source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One theme = at least one full paragraph (5–8 sentences)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Every (Author, Year) you cite must be in your Reference List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5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Everything AI drafts here is a starting point, not final text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Introduction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29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Previews the review — no findings yet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Write a 2–3 sentence Introduction for my literature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review. It should: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1. State my general topic: [your general topic/title]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2. Preview what each section covers — Introduction,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literature on [IV], literature on [DV], studies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combining both variables, and a closing Summary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Do NOT include findings, themes, or results — this is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a map of the review, not an argument. Base it only on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the topics and themes already in this notebook.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Topic 1 or Topic 2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30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Reuse for both your IV and DV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Using my Theme Table for [Independent / Dependent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Variable], turn EACH theme into its own paragraph: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"Several studies on [variable] have found that [theme]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(Author, Year; Author, Year). For example, [detail].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However, [Author, Year] found something different.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Overall, these studies suggest that [synthesis]."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Rules: one paragraph per theme, 5–8 sentences, cite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at least 2 sources; state agree/disagree; group by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theme (not by source); use only my uploaded sources.</a:t>
            </a:r>
          </a:p>
          <a:p>
            <a:pPr>
              <a:lnSpc>
                <a:spcPct val="108000"/>
              </a:lnSpc>
            </a:pPr>
            <a:r>
              <a:rPr sz="1350" b="0" i="0">
                <a:solidFill>
                  <a:srgbClr val="CFE9E4"/>
                </a:solidFill>
                <a:latin typeface="Consolas"/>
              </a:rPr>
              <a:t>This is a DRAFT I will revise before submitting.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Topic 3 Section (Both Variables)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31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Focus on the relationship, not either variable alone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Using my Theme Table for sources that study [IV] and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[DV] together, write at least one paragraph per theme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(5–8 sentences) using the same sentence frame.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Focus each paragraph on HOW the two variables relate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to each other. Note any disagreement between the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combined studies. End the section with 1–2 sentences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on what is still missing — this should connect to my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research gap.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Use only my uploaded sources. This is a DRAFT to revise.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Summary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32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Ties the whole review back to your Final Research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Using the Theme Names across my IV, DV, and Both-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Variables sections, and my Final Research Gap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Statement: "[paste it]" — draft a Summary that: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1. Names the 2–3 themes that matter most across topics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2. Explains why the field still needs more research,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using my Final Research Gap Statement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3. Explains how my study will specifically fill it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Base this only on my uploaded sources and the theme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tables already built. This is a DRAFT for me to revise.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Whole-Review Coherence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33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Run this once all five sections are drafted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Here is my full literature review draft: [paste].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Do NOT rewrite my content or add new claims. Just flag: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1. Any ideas repeated across sections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2. Any paragraph that reads source-by-source instead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of theme-by-theme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3. Any transition that feels abrupt between sections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List the issues by section so I can fix them myself.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Full-Review Citation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34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Your last check before submitting the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Go through my full literature review draft: [paste].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For every (Author, Year) citation, confirm: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(a) it appears in a source I uploaded to this notebook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(b) the claim next to it is actually supported by that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 source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Flag any citation you cannot verify from my uploaded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sources — do not guess or fill in a citation that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isn't there.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548640"/>
            <a:ext cx="402336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14395C"/>
                </a:solidFill>
                <a:latin typeface="Segoe UI Semibold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B8A6"/>
                </a:solidFill>
                <a:latin typeface="Segoe UI"/>
              </a:rPr>
              <a:t>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505456"/>
            <a:ext cx="12801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7680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 Semibold"/>
              </a:rPr>
              <a:t>References &amp;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C7D3DE"/>
                </a:solidFill>
                <a:latin typeface="Segoe UI"/>
              </a:rPr>
              <a:t>Phases 5–6 — formatting help and building your problem statement.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35 /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Reference List Formatting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36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Formatting help only — never a source of new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385876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2990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Here is my reference list draft with Author, Year,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Title, Source, and page/URL for each entry: [paste].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Using APA 7th edition, check the FORMAT of each entry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only — do not add, remove, or change any author, year,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title, or URL I did not provide.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Flag any entry missing a required APA element (e.g.,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DOI, issue number, page range) so I can look it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0607040" cy="502920"/>
          </a:xfrm>
          <a:prstGeom prst="roundRect">
            <a:avLst>
              <a:gd name="adj" fmla="val 6000"/>
            </a:avLst>
          </a:prstGeom>
          <a:solidFill>
            <a:srgbClr val="FD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989320"/>
            <a:ext cx="91440" cy="5029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007608"/>
            <a:ext cx="10149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5A08"/>
                </a:solidFill>
                <a:latin typeface="Segoe UI"/>
              </a:rPr>
              <a:t>⚠  Never let AI invent a DOI, page number, or URL it wasn't given.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Problem Statement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37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Draft each component from your own finalized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Using my Final Research Gap Statement: "[paste it]" —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draft one sentence each for: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1. Background Context — the broader setting of my topic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2. Specific Problem or Gap — based only on my Final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  Research Gap Statement, not a new gap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3. Implications — who is affected if this stays unresolved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4. Objectives or Aims — what my study will do about it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Base this only on my research gap and topic — do not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introduce new sources or claims.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TEMPLATE PROMPT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Combine Into One Paragraph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38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0E8C7E"/>
                </a:solidFill>
                <a:latin typeface="Segoe UI"/>
              </a:rPr>
              <a:t>Smooth your four sentences into a single paragraph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1"/>
            <a:ext cx="10607040" cy="4224528"/>
          </a:xfrm>
          <a:prstGeom prst="roundRect">
            <a:avLst>
              <a:gd name="adj" fmla="val 6000"/>
            </a:avLst>
          </a:prstGeom>
          <a:solidFill>
            <a:srgbClr val="0C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49424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9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2A43"/>
                </a:solidFill>
                <a:latin typeface="Segoe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0058400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Here are my four Problem Statement sentences: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Background Context: [paste]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Specific Problem/Gap: [paste]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Implications: [paste]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Objectives/Aims: [paste]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Combine them into one smooth paragraph using connecting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words like "However," "This means that," or "Therefore."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Do not add new claims or sources — only combine and</a:t>
            </a:r>
          </a:p>
          <a:p>
            <a:pPr>
              <a:lnSpc>
                <a:spcPct val="108000"/>
              </a:lnSpc>
            </a:pPr>
            <a:r>
              <a:rPr sz="1500" b="0" i="0">
                <a:solidFill>
                  <a:srgbClr val="CFE9E4"/>
                </a:solidFill>
                <a:latin typeface="Consolas"/>
              </a:rPr>
              <a:t>smooth the sentences I wrote.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548640"/>
            <a:ext cx="402336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14395C"/>
                </a:solidFill>
                <a:latin typeface="Segoe UI Semibold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B8A6"/>
                </a:solidFill>
                <a:latin typeface="Segoe UI"/>
              </a:rPr>
              <a:t>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505456"/>
            <a:ext cx="12801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7680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 Semibold"/>
              </a:rPr>
              <a:t>Workflow, Pitfalls &amp;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C7D3DE"/>
                </a:solidFill>
                <a:latin typeface="Segoe UI"/>
              </a:rPr>
              <a:t>Putting it all together — from search to submission.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39 / 48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THE HUMAN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After Every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40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1" i="0">
                <a:solidFill>
                  <a:srgbClr val="0E8C7E"/>
                </a:solidFill>
                <a:latin typeface="Segoe UI"/>
              </a:rPr>
              <a:t>1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Open the cited source — confirm it says what the AI claims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1" i="0">
                <a:solidFill>
                  <a:srgbClr val="0E8C7E"/>
                </a:solidFill>
                <a:latin typeface="Segoe UI"/>
              </a:rPr>
              <a:t>2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Rewrite the output in your own voice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1" i="0">
                <a:solidFill>
                  <a:srgbClr val="0E8C7E"/>
                </a:solidFill>
                <a:latin typeface="Segoe UI"/>
              </a:rPr>
              <a:t>3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Check the tone matches an academic literature review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1" i="0">
                <a:solidFill>
                  <a:srgbClr val="0E8C7E"/>
                </a:solidFill>
                <a:latin typeface="Segoe UI"/>
              </a:rPr>
              <a:t>4   </a:t>
            </a:r>
            <a:r>
              <a:rPr sz="2500" b="0" i="0">
                <a:solidFill>
                  <a:srgbClr val="222E3C"/>
                </a:solidFill>
                <a:latin typeface="Segoe UI"/>
              </a:rPr>
              <a:t>Only then paste it into your matrix or paper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STAY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Common AI Pitfalls to Watch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41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E4572E"/>
                </a:solidFill>
                <a:latin typeface="Segoe UI"/>
              </a:rPr>
              <a:t>!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Fabricated citations, authors, or DOIs that don't exist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E4572E"/>
                </a:solidFill>
                <a:latin typeface="Segoe UI"/>
              </a:rPr>
              <a:t>!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Overgeneralized “themes” that flatten real disagreement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E4572E"/>
                </a:solidFill>
                <a:latin typeface="Segoe UI"/>
              </a:rPr>
              <a:t>!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Paragraphs that quietly slip back into source-by-source listing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E4572E"/>
                </a:solidFill>
                <a:latin typeface="Segoe UI"/>
              </a:rPr>
              <a:t>!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Confident-sounding claims not actually in your sources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E4572E"/>
                </a:solidFill>
                <a:latin typeface="Segoe UI"/>
              </a:rPr>
              <a:t>!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A polished tone that implies more consensus than your sources show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E4572E"/>
                </a:solidFill>
                <a:latin typeface="Segoe UI"/>
              </a:rPr>
              <a:t>!   </a:t>
            </a:r>
            <a:r>
              <a:rPr sz="2200" b="0" i="0">
                <a:solidFill>
                  <a:srgbClr val="222E3C"/>
                </a:solidFill>
                <a:latin typeface="Segoe UI"/>
              </a:rPr>
              <a:t>Reference entries AI “completes” with wrong page numbers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Full Workflow: Search to Submission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42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2120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1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Search: Google Scholar, ERIC, PubMed, Semantic Scholar, DOAJ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2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Expand: Research Rabbit &amp; Consensus — then screen every result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3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Download &amp; sort PDFs by topic (IV / DV / Both)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4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Upload to Gemini Notebook (NotebookLM)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5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Prompts 1–3: build your matrix, themes, and topic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52120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6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Combine into your Final Research Gap Statement (your step)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7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Prompts 4–9: draft, check, and audit your review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8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Prompt 10: format-check your APA reference list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9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Prompts 11–12: draft and combine your Problem Statement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0E8C7E"/>
                </a:solidFill>
                <a:latin typeface="Segoe UI"/>
              </a:rPr>
              <a:t>10   </a:t>
            </a:r>
            <a:r>
              <a:rPr sz="1900" b="0" i="0">
                <a:solidFill>
                  <a:srgbClr val="222E3C"/>
                </a:solidFill>
                <a:latin typeface="Segoe UI"/>
              </a:rPr>
              <a:t>Final read-through in your own voice before submitting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BEFORE YOU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Revision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43 /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72461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965960"/>
            <a:ext cx="99669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22E3C"/>
                </a:solidFill>
                <a:latin typeface="Segoe UI"/>
              </a:rPr>
              <a:t>Every source in my matrix is one I personally found and 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96361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689860"/>
            <a:ext cx="99669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22E3C"/>
                </a:solidFill>
                <a:latin typeface="Segoe UI"/>
              </a:rPr>
              <a:t>Every theme paragraph is written theme-by-theme, not source-by-source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20262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413760"/>
            <a:ext cx="99669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22E3C"/>
                </a:solidFill>
                <a:latin typeface="Segoe UI"/>
              </a:rPr>
              <a:t>Every (Author, Year) citation traces to a real, verified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44162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7660"/>
            <a:ext cx="99669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22E3C"/>
                </a:solidFill>
                <a:latin typeface="Segoe UI"/>
              </a:rPr>
              <a:t>Every AI-drafted sentence has been rewritten in my own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068062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861560"/>
            <a:ext cx="99669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22E3C"/>
                </a:solidFill>
                <a:latin typeface="Segoe UI"/>
              </a:rPr>
              <a:t>My reference list entries match my in-text citations exactly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791961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5585459"/>
            <a:ext cx="99669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22E3C"/>
                </a:solidFill>
                <a:latin typeface="Segoe UI"/>
              </a:rPr>
              <a:t>I disclosed my AI use, if my teacher requires it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Academic Integrity &amp;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44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AI-assisted is NOT AI-written: the final words must be yours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Disclose your AI use if your teacher or school requires it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When in doubt about a rule, ask before you submit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16B8A6"/>
                </a:solidFill>
                <a:latin typeface="Segoe UI"/>
              </a:rPr>
              <a:t>•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Integrity protects the credibility of your research, not just a grade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PRACTICE  · 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Matrix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45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1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Pick ONE source you've already found for Topic 1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2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Upload it to a test Gemini Notebook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3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Run Template Prompt 1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4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Compare the AI's summary to the actual PDF — what's right? What needs fixing?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PRACTICE  · 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Theme Paragraph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46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1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Using your Topic 1 Theme Table, pick ONE theme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2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Run Template Prompt 5 for that single theme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3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Rewrite the AI's paragraph in your own words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 i="0">
                <a:solidFill>
                  <a:srgbClr val="0E8C7E"/>
                </a:solidFill>
                <a:latin typeface="Segoe UI"/>
              </a:rPr>
              <a:t>4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Trade with a partner: can they verify every citation you used?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8C7E"/>
                </a:solidFill>
                <a:latin typeface="Segoe UI"/>
              </a:rPr>
              <a:t>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2A43"/>
                </a:solidFill>
                <a:latin typeface="Segoe UI Semibold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B8A6"/>
                </a:solidFill>
                <a:latin typeface="Segoe UI"/>
              </a:rPr>
              <a:t>Milestone 2.1</a:t>
            </a:r>
            <a:r>
              <a:rPr sz="1050" b="0" i="0">
                <a:solidFill>
                  <a:srgbClr val="C7D3DE"/>
                </a:solidFill>
                <a:latin typeface="Segoe UI"/>
              </a:rPr>
              <a:t>   ·   Ethical &amp; Effective Use of AI in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1967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7D3DE"/>
                </a:solidFill>
                <a:latin typeface="Segoe UI"/>
              </a:rPr>
              <a:t>47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?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What's one moment you'd be tempted to just copy AI output as-is?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?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How would you explain your research gap without reading it off a slide?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400" b="1" i="0">
                <a:solidFill>
                  <a:srgbClr val="F5A623"/>
                </a:solidFill>
                <a:latin typeface="Segoe UI"/>
              </a:rPr>
              <a:t>?   </a:t>
            </a:r>
            <a:r>
              <a:rPr sz="2400" b="0" i="0">
                <a:solidFill>
                  <a:srgbClr val="222E3C"/>
                </a:solidFill>
                <a:latin typeface="Segoe UI"/>
              </a:rPr>
              <a:t>If NotebookLM gave you a citation you couldn't find in your source, what would you do next?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3200400"/>
            <a:ext cx="4572000" cy="4572000"/>
          </a:xfrm>
          <a:prstGeom prst="ellipse">
            <a:avLst/>
          </a:prstGeom>
          <a:solidFill>
            <a:srgbClr val="14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 Semibold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889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7E2EC"/>
                </a:solidFill>
                <a:latin typeface="Segoe UI"/>
              </a:rPr>
              <a:t>Bring your matrix and review drafts to consultation / office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4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749039"/>
            <a:ext cx="128016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9966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C7D3DE"/>
                </a:solidFill>
                <a:latin typeface="Segoe UI"/>
              </a:rPr>
              <a:t>Remember:  </a:t>
            </a:r>
            <a:r>
              <a:rPr sz="2600" b="1" i="0">
                <a:solidFill>
                  <a:srgbClr val="16B8A6"/>
                </a:solidFill>
                <a:latin typeface="Segoe UI Semibold"/>
              </a:rPr>
              <a:t>You read. You decide. AI organizes.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