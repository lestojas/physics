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8596" y="5074920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3" name="Shape 1"/>
          <p:cNvSpPr/>
          <p:nvPr/>
        </p:nvSpPr>
        <p:spPr>
          <a:xfrm>
            <a:off x="5271516" y="5074920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4" name="Shape 2"/>
          <p:cNvSpPr/>
          <p:nvPr/>
        </p:nvSpPr>
        <p:spPr>
          <a:xfrm>
            <a:off x="5774436" y="5074920"/>
            <a:ext cx="201168" cy="201168"/>
          </a:xfrm>
          <a:prstGeom prst="ellipse">
            <a:avLst/>
          </a:prstGeom>
          <a:solidFill>
            <a:srgbClr val="7EE787"/>
          </a:solidFill>
          <a:ln/>
        </p:spPr>
      </p:sp>
      <p:sp>
        <p:nvSpPr>
          <p:cNvPr id="5" name="Shape 3"/>
          <p:cNvSpPr/>
          <p:nvPr/>
        </p:nvSpPr>
        <p:spPr>
          <a:xfrm>
            <a:off x="627735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6" name="Shape 4"/>
          <p:cNvSpPr/>
          <p:nvPr/>
        </p:nvSpPr>
        <p:spPr>
          <a:xfrm>
            <a:off x="6780276" y="5074920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7" name="Shape 5"/>
          <p:cNvSpPr/>
          <p:nvPr/>
        </p:nvSpPr>
        <p:spPr>
          <a:xfrm>
            <a:off x="7283196" y="507492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214884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0" y="3063240"/>
            <a:ext cx="12188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 Championship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0" y="388620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&amp; Vertical Motion  •  Projectile Motion  •  Uniform Circular Motion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0" y="56235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9.8 m/s² used throughout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Rounds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31464" cy="420624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103120"/>
            <a:ext cx="2691384" cy="54864"/>
          </a:xfrm>
          <a:prstGeom prst="roundRect">
            <a:avLst/>
          </a:prstGeom>
          <a:solidFill>
            <a:srgbClr val="4AA3F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2715768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3081528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3566160"/>
            <a:ext cx="2691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15 sec each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correct, 0 wrong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secret questions worth 20 pts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8744" y="1783080"/>
            <a:ext cx="3331464" cy="420624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48784" y="2103120"/>
            <a:ext cx="2691384" cy="54864"/>
          </a:xfrm>
          <a:prstGeom prst="roundRect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4748784" y="228600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48784" y="2715768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748784" y="3081528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48784" y="3566160"/>
            <a:ext cx="2691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· 5 min each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full credit, +15 partial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Flip First +5 · ✨ Mystery Multiplier ×2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17408" y="1783080"/>
            <a:ext cx="3331464" cy="4206240"/>
          </a:xfrm>
          <a:prstGeom prst="roundRect">
            <a:avLst>
              <a:gd name="adj" fmla="val 3294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37448" y="2103120"/>
            <a:ext cx="2691384" cy="54864"/>
          </a:xfrm>
          <a:prstGeom prst="roundRect">
            <a:avLst/>
          </a:prstGeom>
          <a:solidFill>
            <a:srgbClr val="B98CFF"/>
          </a:solidFill>
          <a:ln/>
        </p:spPr>
      </p:sp>
      <p:sp>
        <p:nvSpPr>
          <p:cNvPr id="18" name="Text 16"/>
          <p:cNvSpPr/>
          <p:nvPr/>
        </p:nvSpPr>
        <p:spPr>
          <a:xfrm>
            <a:off x="8537448" y="2286000"/>
            <a:ext cx="2691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537448" y="2715768"/>
            <a:ext cx="2691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37448" y="3081528"/>
            <a:ext cx="2691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37448" y="3566160"/>
            <a:ext cx="2691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questions · 30 sec each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 pts correct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Wildcard: 1 secret question worth 3× (45 pts)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10 min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0" y="18288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0" y="2697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162556" y="342900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19756" y="374904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questions are True / False: 15 sec.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pts for a correct answer, 0 for wrong.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Double Trouble: 2 questions are secretly worth 20 pts. Don't tell teams — reveal the point value only after boards are up.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Recall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peak of a ball tossed straight up, both its velocity AND its acceleration are zero.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zero at the peak, but acceleration is still −g at every instant, including the peak. That's exactly why the ball falls back down.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solving vertical motion problems using the standard sign convention (up = positive), the acceleration due to gravity should be written as positive while the object is rising and negative while it is falling.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Acceleration is always −g (downward), regardless of whether the object is rising, falling, or momentarily at rest at the peak. It never flips sign based on direction of motion.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stone thrown straight down and a stone simply dropped from rest are both considered “free fall” once released.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 means gravity alone is acting; it does not require starting from rest.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vertical circular motion, such as a Ferris wheel moving at constant speed, the magnitude of the centripetal acceleration is the same at the top of the loop as it is at the bottom.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a = v²/r and speed is constant everywhere on the loop, the magnitude never changes. (Direction, though, always points toward the center: downward at the top, upward at the bottom.)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54864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4864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object thrown straight up that returns to its launch height, the time it takes to rise equals the time it takes to fall back down.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mirror symmetry of free fall: t(up) = t(down) for a symmetric round trip.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uniform circular motion, the velocity vector is constant since the object's speed never changes.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is a vector; even though speed (magnitude) stays constant, the direction is continuously changing, so the velocity vector itself is not constant.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governing assumptions of projectile motion are that the free-fall acceleration stays constant throughout the flight, and that air resistance is negligible.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exactly the two core assumptions behind the ideal projectile-motion model.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of radius 1.0 m at a speed of 2.0 m/s. If the speed is increased to 4.0 m/s and the radius is increased to 4.0 m, the centripetal acceleration stays the same.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 = (2.0)²/1.0 = 4.0 m/s². a₂ = (4.0)²/4.0 = 4.0 m/s². They match: quadrupling v² (from doubling speed) is exactly canceled by quadrupling 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54864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A10"/>
          </a:solidFill>
          <a:ln w="12700">
            <a:solidFill>
              <a:srgbClr val="FFD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4864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DOUBLE TROUBLE — this question was secretly worth +20 points!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target is released to fall at the exact instant a projectile is fired directly at it, the projectile will miss the target — even if it has enough speed to reach the target's horizontal position before either one hits the ground — because gravity pulls both of them down and changes their relative positions.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5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projectile actually still hits the target. Both objects fall the same vertical distance at every instant, so the original aim stays true the whole way down.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projectile launched and landing at the same height, the horizontal range is greatest when the launch angle is exactly 45°.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4AA3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A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7D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9748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v₀²sin(2θ)/g is maximized when sin(2θ) = 1, i.e., when 2θ = 90°, so θ = 45°.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51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0" y="30175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 — Complete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the scores, then move to the next round.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· Rapid Recall complete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25 min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0" y="18288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0" y="2697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162556" y="342900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19756" y="374904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problems spanning all three topics — 5 min each including reveal.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pts full correct (solution + units), +15 pts partial credit.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First: the first team to finish correctly earns a +5 bonus.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Mystery Multiplier: one problem may be revealed as double points.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Showdown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074152" y="411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74152" y="411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mango falls from rest off a tree branch and lands on the ground 1.35 s later. Ignoring air resistance, how tall is the branch above the ground?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1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≈ 8.9 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Δy = ½gt² (v₀ = 0):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½(9.8)(1.35)² = 8.93 m ≈ 8.9 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074152" y="411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74152" y="411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fiesta booth, a player tosses a small ring at 5.80 m/s at an angle of 40° above the horizontal, aiming for a peg on a raised post 1.80 m away horizontally. The peg sits above the release point — this is an angled launch to a different landing height, so shortcut formulas do not apply. What is the height of the peg above the point where the ring left the player's hand?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2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Δy ≈ 0.71 m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v₀ₓ = 5.80cos40° = 4.44 m/s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v₀ᵧ = 5.80sin40° = 3.73 m/s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1.80/4.44 = 0.405 s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Δy = (3.73)(0.405) − ½(9.8)(0.405)² = 0.71 m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4864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3A241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4864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  If Mystery Multiplier was revealed on this problem — that team's points just doubled!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074152" y="411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74152" y="411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stationary exercise bike's front wheel at the gym has a radius of 0.33 m and spins at a constant rate of 180 rev/min. What is the centripetal acceleration of a reflector clipped to the outer rim?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3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≈ 117 m/s²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180 rev/min = 3 rev/s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2πrf = 2π(0.33)(3) = 6.22 m/s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v²/r = (6.22)²/0.33 = 117 m/s²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074152" y="411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74152" y="411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zookeeper tosses a piece of fruit straight down to a waiting animal from an elevated platform, releasing it at 3.20 m/s. Ignoring air resistance, what is the fruit's speed just before it lands, 1.10 s later?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4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≈ 14.0 m/s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v₀ + gt (both v₀ and a point downward):</a:t>
            </a:r>
            <a:endParaRPr lang="en-US" sz="1900" dirty="0"/>
          </a:p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3.20 + (9.8)(1.10) = 13.98 m/s ≈ 14.0 m/s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074152" y="41148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74152" y="4114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/ 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2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swings a 0.250-kg rubber ball tied to a string in a horizontal circle on a frictionless tabletop. The string is 0.400 m long, and the ball moves at a constant speed of 3.00 m/s. What is the tension in the string?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QUESTION 5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≈ 5.63 N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rgbClr val="F2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mv²/r = (0.250)(3.00)²/(0.400) = 5.63 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51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0" y="30175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 — Complete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the scores, then move to the next round.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· Problem Showdown complete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3 min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0" y="18288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0" y="26974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162556" y="342900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19756" y="374904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fast conceptual/identification questions — 30 sec each.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 pts for a correct answer.</a:t>
            </a:r>
            <a:endParaRPr lang="en-US" sz="1600" dirty="0"/>
          </a:p>
          <a:p>
            <a:pPr marL="203200" indent="-203200">
              <a:lnSpc>
                <a:spcPct val="120000"/>
              </a:lnSpc>
              <a:spcAft>
                <a:spcPts val="1400"/>
              </a:spcAft>
              <a:buSzPct val="100000"/>
              <a:buChar char="●"/>
            </a:pPr>
            <a:r>
              <a:rPr lang="en-US" sz="16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Wildcard: one question is secretly worth 3× points (45) — revealed only after boards are up. The dramatic closer!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we call motion in which gravity is the only force acting on an object, regardless of whether it was dropped, thrown up, or thrown down?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1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fall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name given to the apparent outward push you feel during a sharp turn, even though the only real force acting on you is directed inward?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2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Centrifugal “force”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fictitious/apparent effect. The real force (from the seat or door) is centripetal, pointing inward.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moves in a circle at constant speed. At the instant it is at the rightmost point of the circle and moving straight up, which direction is its acceleration pointing?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3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left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toward the center of the circle. Centripetal acceleration always points toward the center, perpendicular to the velocity at that instant.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ball is thrown horizontally off a cliff at the exact same instant an identical ball is dropped straight down from the same height. Ignoring air resistance, which ball hits the ground first?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4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— they land at the same time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and vertical motions are independent, so the horizontally-thrown ball's sideways motion doesn't slow its fall; both experience the same vertical acceleration from the same height.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531352" y="4114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31352" y="4114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4297680"/>
          </a:xfrm>
          <a:prstGeom prst="roundRect">
            <a:avLst>
              <a:gd name="adj" fmla="val 2979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371600"/>
            <a:ext cx="981151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what launch angle (measured from the horizontal) does projectile motion become identical to pure free fall?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QUESTION 5 OF 5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9994392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62633"/>
          </a:solidFill>
          <a:ln w="12700">
            <a:solidFill>
              <a:srgbClr val="7EE78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994392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D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90°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10908792" cy="2880360"/>
          </a:xfrm>
          <a:prstGeom prst="roundRect">
            <a:avLst>
              <a:gd name="adj" fmla="val 3810"/>
            </a:avLst>
          </a:prstGeom>
          <a:solidFill>
            <a:srgbClr val="1D1D28"/>
          </a:solidFill>
          <a:ln w="12700">
            <a:solidFill>
              <a:srgbClr val="3535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51760"/>
            <a:ext cx="999439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θ = 90°, v₀ₓ = v₀cos90° = 0, so the horizontal component vanishes entirely and only vertical motion remains, exactly matching free fall.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5486400"/>
            <a:ext cx="10908792" cy="502920"/>
          </a:xfrm>
          <a:prstGeom prst="roundRect">
            <a:avLst>
              <a:gd name="adj" fmla="val 18182"/>
            </a:avLst>
          </a:prstGeom>
          <a:solidFill>
            <a:srgbClr val="2A2340"/>
          </a:solidFill>
          <a:ln w="12700">
            <a:solidFill>
              <a:srgbClr val="B98C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48640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9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WILDCARD — this question was secretly worth +45 points (3×)!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· Lightning Final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6400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League · Kinematics Championship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3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8596" y="4114800"/>
            <a:ext cx="201168" cy="201168"/>
          </a:xfrm>
          <a:prstGeom prst="ellipse">
            <a:avLst/>
          </a:prstGeom>
          <a:solidFill>
            <a:srgbClr val="4AA3FF"/>
          </a:solidFill>
          <a:ln/>
        </p:spPr>
      </p:sp>
      <p:sp>
        <p:nvSpPr>
          <p:cNvPr id="3" name="Shape 1"/>
          <p:cNvSpPr/>
          <p:nvPr/>
        </p:nvSpPr>
        <p:spPr>
          <a:xfrm>
            <a:off x="5271516" y="4114800"/>
            <a:ext cx="201168" cy="201168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4" name="Shape 2"/>
          <p:cNvSpPr/>
          <p:nvPr/>
        </p:nvSpPr>
        <p:spPr>
          <a:xfrm>
            <a:off x="5774436" y="4114800"/>
            <a:ext cx="201168" cy="201168"/>
          </a:xfrm>
          <a:prstGeom prst="ellipse">
            <a:avLst/>
          </a:prstGeom>
          <a:solidFill>
            <a:srgbClr val="7EE787"/>
          </a:solidFill>
          <a:ln/>
        </p:spPr>
      </p:sp>
      <p:sp>
        <p:nvSpPr>
          <p:cNvPr id="5" name="Shape 3"/>
          <p:cNvSpPr/>
          <p:nvPr/>
        </p:nvSpPr>
        <p:spPr>
          <a:xfrm>
            <a:off x="6277356" y="411480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6" name="Shape 4"/>
          <p:cNvSpPr/>
          <p:nvPr/>
        </p:nvSpPr>
        <p:spPr>
          <a:xfrm>
            <a:off x="6780276" y="4114800"/>
            <a:ext cx="201168" cy="201168"/>
          </a:xfrm>
          <a:prstGeom prst="ellipse">
            <a:avLst/>
          </a:prstGeom>
          <a:solidFill>
            <a:srgbClr val="FFD24A"/>
          </a:solidFill>
          <a:ln/>
        </p:spPr>
      </p:sp>
      <p:sp>
        <p:nvSpPr>
          <p:cNvPr id="7" name="Shape 5"/>
          <p:cNvSpPr/>
          <p:nvPr/>
        </p:nvSpPr>
        <p:spPr>
          <a:xfrm>
            <a:off x="7283196" y="4114800"/>
            <a:ext cx="201168" cy="201168"/>
          </a:xfrm>
          <a:prstGeom prst="ellipse">
            <a:avLst/>
          </a:prstGeom>
          <a:solidFill>
            <a:srgbClr val="B98CFF"/>
          </a:solidFill>
          <a:ln/>
        </p:spPr>
      </p:sp>
      <p:sp>
        <p:nvSpPr>
          <p:cNvPr id="8" name="Text 6"/>
          <p:cNvSpPr/>
          <p:nvPr/>
        </p:nvSpPr>
        <p:spPr>
          <a:xfrm>
            <a:off x="0" y="19202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0" y="278892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F2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Standings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0" y="352044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every round and crown the Physics League champions!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2026-08-17T11:27:34Z</dcterms:created>
  <dcterms:modified xsi:type="dcterms:W3CDTF">2026-08-17T11:27:34Z</dcterms:modified>
</cp:coreProperties>
</file>