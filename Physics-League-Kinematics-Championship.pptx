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8596" y="5074920"/>
            <a:ext cx="201168" cy="201168"/>
          </a:xfrm>
          <a:prstGeom prst="ellipse">
            <a:avLst/>
          </a:prstGeom>
          <a:solidFill>
            <a:srgbClr val="4AA3FF"/>
          </a:solidFill>
          <a:ln/>
        </p:spPr>
      </p:sp>
      <p:sp>
        <p:nvSpPr>
          <p:cNvPr id="3" name="Shape 1"/>
          <p:cNvSpPr/>
          <p:nvPr/>
        </p:nvSpPr>
        <p:spPr>
          <a:xfrm>
            <a:off x="5271516" y="5074920"/>
            <a:ext cx="201168" cy="201168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4" name="Shape 2"/>
          <p:cNvSpPr/>
          <p:nvPr/>
        </p:nvSpPr>
        <p:spPr>
          <a:xfrm>
            <a:off x="5774436" y="5074920"/>
            <a:ext cx="201168" cy="201168"/>
          </a:xfrm>
          <a:prstGeom prst="ellipse">
            <a:avLst/>
          </a:prstGeom>
          <a:solidFill>
            <a:srgbClr val="7EE787"/>
          </a:solidFill>
          <a:ln/>
        </p:spPr>
      </p:sp>
      <p:sp>
        <p:nvSpPr>
          <p:cNvPr id="5" name="Shape 3"/>
          <p:cNvSpPr/>
          <p:nvPr/>
        </p:nvSpPr>
        <p:spPr>
          <a:xfrm>
            <a:off x="6277356" y="5074920"/>
            <a:ext cx="201168" cy="201168"/>
          </a:xfrm>
          <a:prstGeom prst="ellipse">
            <a:avLst/>
          </a:prstGeom>
          <a:solidFill>
            <a:srgbClr val="B98CFF"/>
          </a:solidFill>
          <a:ln/>
        </p:spPr>
      </p:sp>
      <p:sp>
        <p:nvSpPr>
          <p:cNvPr id="6" name="Shape 4"/>
          <p:cNvSpPr/>
          <p:nvPr/>
        </p:nvSpPr>
        <p:spPr>
          <a:xfrm>
            <a:off x="6780276" y="5074920"/>
            <a:ext cx="201168" cy="201168"/>
          </a:xfrm>
          <a:prstGeom prst="ellipse">
            <a:avLst/>
          </a:prstGeom>
          <a:solidFill>
            <a:srgbClr val="FFD24A"/>
          </a:solidFill>
          <a:ln/>
        </p:spPr>
      </p:sp>
      <p:sp>
        <p:nvSpPr>
          <p:cNvPr id="7" name="Shape 5"/>
          <p:cNvSpPr/>
          <p:nvPr/>
        </p:nvSpPr>
        <p:spPr>
          <a:xfrm>
            <a:off x="7283196" y="5074920"/>
            <a:ext cx="201168" cy="201168"/>
          </a:xfrm>
          <a:prstGeom prst="ellipse">
            <a:avLst/>
          </a:prstGeom>
          <a:solidFill>
            <a:srgbClr val="B98CFF"/>
          </a:solidFill>
          <a:ln/>
        </p:spPr>
      </p:sp>
      <p:sp>
        <p:nvSpPr>
          <p:cNvPr id="8" name="Text 6"/>
          <p:cNvSpPr/>
          <p:nvPr/>
        </p:nvSpPr>
        <p:spPr>
          <a:xfrm>
            <a:off x="0" y="2011680"/>
            <a:ext cx="121889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spc="2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</a:t>
            </a:r>
            <a:endParaRPr lang="en-US" sz="5800" dirty="0"/>
          </a:p>
        </p:txBody>
      </p:sp>
      <p:sp>
        <p:nvSpPr>
          <p:cNvPr id="9" name="Text 7"/>
          <p:cNvSpPr/>
          <p:nvPr/>
        </p:nvSpPr>
        <p:spPr>
          <a:xfrm>
            <a:off x="0" y="297180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Kinematics Championship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0" y="384048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Fall &amp; Vertical Motion  •  Projectile Motion  •  Uniform Circular Motion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0" y="562356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= 9.8 m/s² used throughout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Rounds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331464" cy="4297680"/>
          </a:xfrm>
          <a:prstGeom prst="roundRect">
            <a:avLst>
              <a:gd name="adj" fmla="val 329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057400"/>
            <a:ext cx="2691384" cy="54864"/>
          </a:xfrm>
          <a:prstGeom prst="roundRect">
            <a:avLst/>
          </a:prstGeom>
          <a:solidFill>
            <a:srgbClr val="4AA3FF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40280"/>
            <a:ext cx="2691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60120" y="2697480"/>
            <a:ext cx="2691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Recall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3090672"/>
            <a:ext cx="2691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3566160"/>
            <a:ext cx="269138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questions · 15 sec each</a:t>
            </a:r>
            <a:endParaRPr lang="en-US" sz="1500" dirty="0"/>
          </a:p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 pts correct, 0 wrong</a:t>
            </a:r>
            <a:endParaRPr lang="en-US" sz="1500" dirty="0"/>
          </a:p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Double Trouble: 2 secret questions worth 20 pts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428744" y="1737360"/>
            <a:ext cx="3331464" cy="4297680"/>
          </a:xfrm>
          <a:prstGeom prst="roundRect">
            <a:avLst>
              <a:gd name="adj" fmla="val 329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48784" y="2057400"/>
            <a:ext cx="2691384" cy="54864"/>
          </a:xfrm>
          <a:prstGeom prst="roundRect">
            <a:avLst/>
          </a:prstGeom>
          <a:solidFill>
            <a:srgbClr val="FF8A3D"/>
          </a:solidFill>
          <a:ln/>
        </p:spPr>
      </p:sp>
      <p:sp>
        <p:nvSpPr>
          <p:cNvPr id="12" name="Text 10"/>
          <p:cNvSpPr/>
          <p:nvPr/>
        </p:nvSpPr>
        <p:spPr>
          <a:xfrm>
            <a:off x="4748784" y="2240280"/>
            <a:ext cx="2691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748784" y="2697480"/>
            <a:ext cx="2691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Showdown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48784" y="3090672"/>
            <a:ext cx="2691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48784" y="3566160"/>
            <a:ext cx="269138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problems · 5 min each</a:t>
            </a:r>
            <a:endParaRPr lang="en-US" sz="1500" dirty="0"/>
          </a:p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 full / +15 partial (Problem 2 is ×2!)</a:t>
            </a:r>
            <a:endParaRPr lang="en-US" sz="1500" dirty="0"/>
          </a:p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First correct answer earns +5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17408" y="1737360"/>
            <a:ext cx="3331464" cy="4297680"/>
          </a:xfrm>
          <a:prstGeom prst="roundRect">
            <a:avLst>
              <a:gd name="adj" fmla="val 329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37448" y="2057400"/>
            <a:ext cx="2691384" cy="54864"/>
          </a:xfrm>
          <a:prstGeom prst="roundRect">
            <a:avLst/>
          </a:prstGeom>
          <a:solidFill>
            <a:srgbClr val="B98CFF"/>
          </a:solidFill>
          <a:ln/>
        </p:spPr>
      </p:sp>
      <p:sp>
        <p:nvSpPr>
          <p:cNvPr id="18" name="Text 16"/>
          <p:cNvSpPr/>
          <p:nvPr/>
        </p:nvSpPr>
        <p:spPr>
          <a:xfrm>
            <a:off x="8537448" y="2240280"/>
            <a:ext cx="2691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537448" y="2697480"/>
            <a:ext cx="2691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Lightning Final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537448" y="3090672"/>
            <a:ext cx="2691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37448" y="3566160"/>
            <a:ext cx="269138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questions · 30 sec each</a:t>
            </a:r>
            <a:endParaRPr lang="en-US" sz="1500" dirty="0"/>
          </a:p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pts correct · first correct earns +5</a:t>
            </a:r>
            <a:endParaRPr lang="en-US" sz="1500" dirty="0"/>
          </a:p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Last question is ×2 — 40 pts!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029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SETUP · ONE-TIME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896112"/>
            <a:ext cx="12188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Enable the Click-to-Start Timers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97280" y="1600200"/>
            <a:ext cx="9994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question slide has a countdown you start with one click. Do this once, before your event, in desktop PowerPoint (Windows or Mac).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908792" cy="3566160"/>
          </a:xfrm>
          <a:prstGeom prst="roundRect">
            <a:avLst>
              <a:gd name="adj" fmla="val 3590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2560320"/>
            <a:ext cx="990295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algn="l" indent="0" marL="0">
              <a:lnSpc>
                <a:spcPct val="125000"/>
              </a:lnSpc>
              <a:spcAft>
                <a:spcPts val="1600"/>
              </a:spcAft>
              <a:buNone/>
            </a:pPr>
            <a:r>
              <a:rPr lang="en-US" sz="19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this file in desktop PowerPoint, then File → Save As → PowerPoint Macro-Enabled Presentation (.pptm).</a:t>
            </a:r>
            <a:endParaRPr lang="en-US" sz="1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algn="l" indent="0" marL="0">
              <a:lnSpc>
                <a:spcPct val="125000"/>
              </a:lnSpc>
              <a:spcAft>
                <a:spcPts val="1600"/>
              </a:spcAft>
              <a:buNone/>
            </a:pPr>
            <a:r>
              <a:rPr lang="en-US" sz="19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Alt+F11 (Windows) or Fn+Option+F11 (Mac) to open the VBA editor.</a:t>
            </a:r>
            <a:endParaRPr lang="en-US" sz="1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algn="l" indent="0" marL="0">
              <a:lnSpc>
                <a:spcPct val="125000"/>
              </a:lnSpc>
              <a:spcAft>
                <a:spcPts val="1600"/>
              </a:spcAft>
              <a:buNone/>
            </a:pPr>
            <a:r>
              <a:rPr lang="en-US" sz="19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→ Module, then paste in the timer macro code (provided separately).</a:t>
            </a:r>
            <a:endParaRPr lang="en-US" sz="1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algn="l" indent="0" marL="0">
              <a:lnSpc>
                <a:spcPct val="125000"/>
              </a:lnSpc>
              <a:spcAft>
                <a:spcPts val="1600"/>
              </a:spcAft>
              <a:buNone/>
            </a:pPr>
            <a:r>
              <a:rPr lang="en-US" sz="19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into the module and press F5 to run “SetupTimerButtons” — once. A message box confirms how many buttons were wired.</a:t>
            </a:r>
            <a:endParaRPr lang="en-US" sz="1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pPr algn="l" indent="0" marL="0">
              <a:lnSpc>
                <a:spcPct val="125000"/>
              </a:lnSpc>
              <a:spcAft>
                <a:spcPts val="1600"/>
              </a:spcAft>
              <a:buNone/>
            </a:pPr>
            <a:r>
              <a:rPr lang="en-US" sz="19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and close the VBA editor. When you reopen the file later, click “Enable Content” to allow macros.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40080" y="59893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each question slide: edit the small time box if you want a different limit, then click ▶ START to run the countdown live.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029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ROUND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896112"/>
            <a:ext cx="12188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Team Names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0" y="1627632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each box below and type the team's name before Round 1 begins.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3392424" cy="1691640"/>
          </a:xfrm>
          <a:prstGeom prst="roundRect">
            <a:avLst>
              <a:gd name="adj" fmla="val 6486"/>
            </a:avLst>
          </a:prstGeom>
          <a:solidFill>
            <a:srgbClr val="1D1D28"/>
          </a:solidFill>
          <a:ln w="25400">
            <a:solidFill>
              <a:srgbClr val="FF5D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651760"/>
            <a:ext cx="256032" cy="256032"/>
          </a:xfrm>
          <a:prstGeom prst="ellipse">
            <a:avLst/>
          </a:prstGeom>
          <a:solidFill>
            <a:srgbClr val="FF5D7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108960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398264" y="2331720"/>
            <a:ext cx="3392424" cy="1691640"/>
          </a:xfrm>
          <a:prstGeom prst="roundRect">
            <a:avLst>
              <a:gd name="adj" fmla="val 6486"/>
            </a:avLst>
          </a:prstGeom>
          <a:solidFill>
            <a:srgbClr val="1D1D28"/>
          </a:solidFill>
          <a:ln w="25400">
            <a:solidFill>
              <a:srgbClr val="FF8A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18304" y="2651760"/>
            <a:ext cx="256032" cy="25603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0" name="Text 8"/>
          <p:cNvSpPr/>
          <p:nvPr/>
        </p:nvSpPr>
        <p:spPr>
          <a:xfrm>
            <a:off x="4672584" y="3108960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156448" y="2331720"/>
            <a:ext cx="3392424" cy="1691640"/>
          </a:xfrm>
          <a:prstGeom prst="roundRect">
            <a:avLst>
              <a:gd name="adj" fmla="val 6486"/>
            </a:avLst>
          </a:prstGeom>
          <a:solidFill>
            <a:srgbClr val="1D1D28"/>
          </a:solidFill>
          <a:ln w="25400">
            <a:solidFill>
              <a:srgbClr val="FFD2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76488" y="2651760"/>
            <a:ext cx="256032" cy="256032"/>
          </a:xfrm>
          <a:prstGeom prst="ellipse">
            <a:avLst/>
          </a:prstGeom>
          <a:solidFill>
            <a:srgbClr val="FFD24A"/>
          </a:solidFill>
          <a:ln/>
        </p:spPr>
      </p:sp>
      <p:sp>
        <p:nvSpPr>
          <p:cNvPr id="13" name="Text 11"/>
          <p:cNvSpPr/>
          <p:nvPr/>
        </p:nvSpPr>
        <p:spPr>
          <a:xfrm>
            <a:off x="8430768" y="3108960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3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40080" y="4389120"/>
            <a:ext cx="3392424" cy="1691640"/>
          </a:xfrm>
          <a:prstGeom prst="roundRect">
            <a:avLst>
              <a:gd name="adj" fmla="val 6486"/>
            </a:avLst>
          </a:prstGeom>
          <a:solidFill>
            <a:srgbClr val="1D1D28"/>
          </a:solidFill>
          <a:ln w="25400">
            <a:solidFill>
              <a:srgbClr val="37D6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4709160"/>
            <a:ext cx="256032" cy="256032"/>
          </a:xfrm>
          <a:prstGeom prst="ellipse">
            <a:avLst/>
          </a:prstGeom>
          <a:solidFill>
            <a:srgbClr val="37D67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166360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4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4398264" y="4389120"/>
            <a:ext cx="3392424" cy="1691640"/>
          </a:xfrm>
          <a:prstGeom prst="roundRect">
            <a:avLst>
              <a:gd name="adj" fmla="val 6486"/>
            </a:avLst>
          </a:prstGeom>
          <a:solidFill>
            <a:srgbClr val="1D1D28"/>
          </a:solidFill>
          <a:ln w="25400">
            <a:solidFill>
              <a:srgbClr val="4AA3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8304" y="4709160"/>
            <a:ext cx="256032" cy="256032"/>
          </a:xfrm>
          <a:prstGeom prst="ellipse">
            <a:avLst/>
          </a:prstGeom>
          <a:solidFill>
            <a:srgbClr val="4AA3FF"/>
          </a:solidFill>
          <a:ln/>
        </p:spPr>
      </p:sp>
      <p:sp>
        <p:nvSpPr>
          <p:cNvPr id="19" name="Text 17"/>
          <p:cNvSpPr/>
          <p:nvPr/>
        </p:nvSpPr>
        <p:spPr>
          <a:xfrm>
            <a:off x="4672584" y="5166360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56448" y="4389120"/>
            <a:ext cx="3392424" cy="1691640"/>
          </a:xfrm>
          <a:prstGeom prst="roundRect">
            <a:avLst>
              <a:gd name="adj" fmla="val 6486"/>
            </a:avLst>
          </a:prstGeom>
          <a:solidFill>
            <a:srgbClr val="1D1D28"/>
          </a:solidFill>
          <a:ln w="25400">
            <a:solidFill>
              <a:srgbClr val="B98C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76488" y="4709160"/>
            <a:ext cx="256032" cy="256032"/>
          </a:xfrm>
          <a:prstGeom prst="ellipse">
            <a:avLst/>
          </a:prstGeom>
          <a:solidFill>
            <a:srgbClr val="B98CFF"/>
          </a:solidFill>
          <a:ln/>
        </p:spPr>
      </p:sp>
      <p:sp>
        <p:nvSpPr>
          <p:cNvPr id="22" name="Text 20"/>
          <p:cNvSpPr/>
          <p:nvPr/>
        </p:nvSpPr>
        <p:spPr>
          <a:xfrm>
            <a:off x="8430768" y="5166360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6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Setup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3258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10 min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1737360"/>
            <a:ext cx="121889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Recall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0" y="265176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796796" y="3383280"/>
            <a:ext cx="8595360" cy="2743200"/>
          </a:xfrm>
          <a:prstGeom prst="roundRect">
            <a:avLst>
              <a:gd name="adj" fmla="val 4000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53996" y="3703320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questions are True / False: 15 sec.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 pts for a correct answer, 0 for wrong.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Double Trouble: 2 questions are secretly worth 20 pts. Don't tell teams — reveal the point value only after boards are up.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Recall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1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7880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8114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58114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54126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54126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7570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4AA3FF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77570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peak of a ball tossed straight up, both its velocity AND its acceleration are zero.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1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5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40080" y="245059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72491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is zero at the peak, but acceleration is still −g at every instant, including the peak. That's exactly why the ball falls back down.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2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7880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8114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58114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54126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54126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7570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4AA3FF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77570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solving vertical motion problems using the standard sign convention (up = positive), the acceleration due to gravity should be written as positive while the object is rising and negative while it is falling.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2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5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40080" y="245059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72491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Acceleration is always −g (downward), regardless of whether the object is rising, falling, or momentarily at rest at the peak. It never flips sign based on direction of motion.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3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7880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8114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58114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54126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54126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7570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4AA3FF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77570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stone thrown straight down and a stone simply dropped from rest are both considered “free fall” once released.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3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37D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40080" y="245059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72491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fall means gravity alone is acting; it does not require starting from rest.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4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7880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8114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58114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54126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54126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7570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4AA3FF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77570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vertical circular motion, such as a Ferris wheel moving at constant speed, the magnitude of the centripetal acceleration is the same at the top of the loop as it is at the bottom.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4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37D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40080" y="245059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72491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a = v²/r and speed is constant everywhere on the loop, the magnitude never changes. (Direction, though, always points toward the center: downward at the top, upward at the bottom.)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5943600"/>
            <a:ext cx="10908792" cy="502920"/>
          </a:xfrm>
          <a:prstGeom prst="roundRect">
            <a:avLst>
              <a:gd name="adj" fmla="val 18182"/>
            </a:avLst>
          </a:prstGeom>
          <a:solidFill>
            <a:srgbClr val="3A2A10"/>
          </a:solidFill>
          <a:ln w="12700">
            <a:solidFill>
              <a:srgbClr val="FFD2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94360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 DOUBLE TROUBLE — this question was secretly worth +20 points!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5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7880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8114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58114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54126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54126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7570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4AA3FF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77570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object thrown straight up that returns to its launch height, the time it takes to rise equals the time it takes to fall back down.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5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37D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40080" y="245059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72491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mirror symmetry of free fall: t(up) = t(down) for a symmetric round trip.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6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7880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8114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58114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54126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54126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7570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4AA3FF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77570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uniform circular motion, the velocity vector is constant since the object's speed never changes.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6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5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40080" y="245059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72491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is a vector; even though speed (magnitude) stays constant, the direction is continuously changing, so the velocity vector itself is not constant.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7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7880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8114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58114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54126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54126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7570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4AA3FF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77570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governing assumptions of projectile motion are that the free-fall acceleration stays constant throughout the flight, and that air resistance is negligible.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7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37D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40080" y="245059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72491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exactly the two core assumptions behind the ideal projectile-motion model.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8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7880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8114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58114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54126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54126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7570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4AA3FF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77570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ball moves in a circle of radius 1.0 m at a speed of 2.0 m/s. If the speed is increased to 4.0 m/s and the radius is increased to 4.0 m, the centripetal acceleration stays the same.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8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37D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40080" y="245059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72491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a₁ = (2.0)²/1.0 = 4.0 m/s². a₂ = (4.0)²/4.0 = 4.0 m/s². They match: quadrupling v² (from doubling speed) is exactly canceled by quadrupling r.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5943600"/>
            <a:ext cx="10908792" cy="502920"/>
          </a:xfrm>
          <a:prstGeom prst="roundRect">
            <a:avLst>
              <a:gd name="adj" fmla="val 18182"/>
            </a:avLst>
          </a:prstGeom>
          <a:solidFill>
            <a:srgbClr val="3A2A10"/>
          </a:solidFill>
          <a:ln w="12700">
            <a:solidFill>
              <a:srgbClr val="FFD2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94360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 DOUBLE TROUBLE — this question was secretly worth +20 points!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9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7880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8114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58114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54126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54126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7570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4AA3FF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77570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target is released to fall at the exact instant a projectile is fired directly at it, the projectile will miss the target — even if it has enough speed to reach the target's horizontal position before either one hits the ground — because gravity pulls both of them down and changes their relative positions.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9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5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40080" y="245059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72491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projectile actually still hits the target. Both objects fall the same vertical distance at every instant, so the original aim stays true the whole way down.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10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7880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8114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58114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54126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54126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7570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4AA3FF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77570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projectile launched and landing at the same height, the horizontal range is greatest when the launch angle is exactly 45°.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10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37D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40080" y="245059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72491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v₀²sin(2θ)/g is maximized when sin(2θ) = 1, i.e., when 2θ = 90°, so θ = 45°.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ROUND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850392"/>
            <a:ext cx="12188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Scores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0" y="1581912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each team's total points earned in Round 1 only.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248156" y="2286000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76756" y="2514600"/>
            <a:ext cx="201168" cy="201168"/>
          </a:xfrm>
          <a:prstGeom prst="ellipse">
            <a:avLst/>
          </a:prstGeom>
          <a:solidFill>
            <a:srgbClr val="FF5D73"/>
          </a:solidFill>
          <a:ln/>
        </p:spPr>
      </p:sp>
      <p:sp>
        <p:nvSpPr>
          <p:cNvPr id="7" name="Text 5"/>
          <p:cNvSpPr/>
          <p:nvPr/>
        </p:nvSpPr>
        <p:spPr>
          <a:xfrm>
            <a:off x="1842516" y="228600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9386316" y="2377440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86316" y="237744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248156" y="3072384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76756" y="3300984"/>
            <a:ext cx="201168" cy="201168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2" name="Text 10"/>
          <p:cNvSpPr/>
          <p:nvPr/>
        </p:nvSpPr>
        <p:spPr>
          <a:xfrm>
            <a:off x="1842516" y="3072384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386316" y="3163824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86316" y="3163824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1248156" y="3858768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76756" y="4087368"/>
            <a:ext cx="201168" cy="201168"/>
          </a:xfrm>
          <a:prstGeom prst="ellipse">
            <a:avLst/>
          </a:prstGeom>
          <a:solidFill>
            <a:srgbClr val="FFD24A"/>
          </a:solidFill>
          <a:ln/>
        </p:spPr>
      </p:sp>
      <p:sp>
        <p:nvSpPr>
          <p:cNvPr id="17" name="Text 15"/>
          <p:cNvSpPr/>
          <p:nvPr/>
        </p:nvSpPr>
        <p:spPr>
          <a:xfrm>
            <a:off x="1842516" y="3858768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9386316" y="3950208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86316" y="395020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248156" y="4645152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76756" y="4873752"/>
            <a:ext cx="201168" cy="201168"/>
          </a:xfrm>
          <a:prstGeom prst="ellipse">
            <a:avLst/>
          </a:prstGeom>
          <a:solidFill>
            <a:srgbClr val="37D67A"/>
          </a:solidFill>
          <a:ln/>
        </p:spPr>
      </p:sp>
      <p:sp>
        <p:nvSpPr>
          <p:cNvPr id="22" name="Text 20"/>
          <p:cNvSpPr/>
          <p:nvPr/>
        </p:nvSpPr>
        <p:spPr>
          <a:xfrm>
            <a:off x="1842516" y="4645152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4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386316" y="4736592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86316" y="473659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1248156" y="5431536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76756" y="5660136"/>
            <a:ext cx="201168" cy="201168"/>
          </a:xfrm>
          <a:prstGeom prst="ellipse">
            <a:avLst/>
          </a:prstGeom>
          <a:solidFill>
            <a:srgbClr val="4AA3FF"/>
          </a:solidFill>
          <a:ln/>
        </p:spPr>
      </p:sp>
      <p:sp>
        <p:nvSpPr>
          <p:cNvPr id="27" name="Text 25"/>
          <p:cNvSpPr/>
          <p:nvPr/>
        </p:nvSpPr>
        <p:spPr>
          <a:xfrm>
            <a:off x="1842516" y="5431536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9386316" y="5522976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86316" y="552297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1248156" y="6217920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476756" y="6446520"/>
            <a:ext cx="201168" cy="201168"/>
          </a:xfrm>
          <a:prstGeom prst="ellipse">
            <a:avLst/>
          </a:prstGeom>
          <a:solidFill>
            <a:srgbClr val="B98CFF"/>
          </a:solidFill>
          <a:ln/>
        </p:spPr>
      </p:sp>
      <p:sp>
        <p:nvSpPr>
          <p:cNvPr id="32" name="Text 30"/>
          <p:cNvSpPr/>
          <p:nvPr/>
        </p:nvSpPr>
        <p:spPr>
          <a:xfrm>
            <a:off x="1842516" y="621792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6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9386316" y="6309360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86316" y="630936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 scores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3258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25 min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1737360"/>
            <a:ext cx="121889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Showdown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0" y="265176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796796" y="3383280"/>
            <a:ext cx="8595360" cy="2743200"/>
          </a:xfrm>
          <a:prstGeom prst="roundRect">
            <a:avLst>
              <a:gd name="adj" fmla="val 4000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53996" y="3703320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problems spanning all three topics — 5 min each including reveal.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 pts full correct (solution + units), +15 pts partial credit.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Problem 2 is worth ×2 points — 60 full / 30 partial.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First correct answer earns a +5 bonus.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Showdown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1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42632" y="384048"/>
            <a:ext cx="228600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2632" y="384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 / +15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7880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8114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58114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5:00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54126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54126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7570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FF8A3D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77570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5:00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mango falls from rest off a tree branch and lands on the ground 1.35 s later. Ignoring air resistance, how tall is the branch above the ground?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1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38988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≈ 8.9 m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286000"/>
            <a:ext cx="10908792" cy="3063240"/>
          </a:xfrm>
          <a:prstGeom prst="roundRect">
            <a:avLst>
              <a:gd name="adj" fmla="val 3582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560320"/>
            <a:ext cx="999439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FORMULA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Δy = v₀t + ½gt²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ISOLATE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v₀ = 0  →  h = ½gt²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SUBSTITUTE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= ½(9.8)(1.35)²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≈ 8.9 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2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42632" y="384048"/>
            <a:ext cx="228600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2632" y="384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+60/+30 (×2!)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7880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8114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58114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5:00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54126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54126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7570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FF8A3D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77570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5:00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fiesta booth, a player tosses a small ring at 5.80 m/s at an angle of 40° above the horizontal, aiming for a peg on a raised post 1.80 m away horizontally. The peg sits above the release point — this is an angled launch to a different landing height, so shortcut formulas do not apply. What is the height of the peg above the point where the ring left the player's hand?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2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38988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Δy ≈ 0.71 m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286000"/>
            <a:ext cx="10908792" cy="3063240"/>
          </a:xfrm>
          <a:prstGeom prst="roundRect">
            <a:avLst>
              <a:gd name="adj" fmla="val 3582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560320"/>
            <a:ext cx="999439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FORMULA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v₀cosθ · t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ISOLATE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x / (v₀cosθ)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SUBSTITUTE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1.80 / (5.80cos40°)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≈ 0.405 s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FORMULA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Δy = v₀sinθ · t − ½gt²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SUBSTITUTE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Δy = 5.80sin40°(0.405) − ½(9.8)(0.405)²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Δy ≈ 0.71 m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5943600"/>
            <a:ext cx="10908792" cy="502920"/>
          </a:xfrm>
          <a:prstGeom prst="roundRect">
            <a:avLst>
              <a:gd name="adj" fmla="val 18182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94360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 ×2 PROBLEM — worth 60 full / 30 partial!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3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42632" y="384048"/>
            <a:ext cx="228600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2632" y="384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 / +15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7880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8114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58114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5:00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54126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54126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7570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FF8A3D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77570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5:00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stationary exercise bike's front wheel at the gym has a radius of 0.33 m and spins at a constant rate of 180 rev/min. What is the centripetal acceleration of a reflector clipped to the outer rim?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3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38988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≈ 117 m/s²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286000"/>
            <a:ext cx="10908792" cy="3063240"/>
          </a:xfrm>
          <a:prstGeom prst="roundRect">
            <a:avLst>
              <a:gd name="adj" fmla="val 3582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560320"/>
            <a:ext cx="999439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180 rev/min = 3 rev/s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FORMULA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2πrf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SUBSTITUTE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2π(0.33)(3)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≈ 6.22 m/s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FORMULA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v²/r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SUBSTITUTE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(6.22)²/0.33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≈ 117 m/s²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4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42632" y="384048"/>
            <a:ext cx="228600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2632" y="384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 / +15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7880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8114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58114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5:00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54126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54126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7570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FF8A3D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77570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5:00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zookeeper tosses a piece of fruit straight down to a waiting animal from an elevated platform, releasing it at 3.20 m/s. Ignoring air resistance, what is the fruit's speed just before it lands, 1.10 s later?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4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38988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≈ 14.0 m/s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286000"/>
            <a:ext cx="10908792" cy="3063240"/>
          </a:xfrm>
          <a:prstGeom prst="roundRect">
            <a:avLst>
              <a:gd name="adj" fmla="val 3582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560320"/>
            <a:ext cx="999439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FORMULA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v₀ + gt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SUBSTITUTE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3.20 + (9.8)(1.10)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≈ 14.0 m/s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5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42632" y="384048"/>
            <a:ext cx="228600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2632" y="384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 / +15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7880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8114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58114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5:00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54126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54126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7570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FF8A3D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77570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5:00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swings a 0.250-kg rubber ball tied to a string in a horizontal circle on a frictionless tabletop. The string is 0.400 m long, and the ball moves at a constant speed of 3.00 m/s. What is the tension in the string?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5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38988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≈ 5.63 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286000"/>
            <a:ext cx="10908792" cy="3063240"/>
          </a:xfrm>
          <a:prstGeom prst="roundRect">
            <a:avLst>
              <a:gd name="adj" fmla="val 3582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560320"/>
            <a:ext cx="999439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FORMULA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mv²/r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SUBSTITUTE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(0.250)(3.00)²/(0.400)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≈ 5.63 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ROUND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850392"/>
            <a:ext cx="12188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Scores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0" y="1581912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each team's total points earned in Round 2 only.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248156" y="2286000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76756" y="2514600"/>
            <a:ext cx="201168" cy="201168"/>
          </a:xfrm>
          <a:prstGeom prst="ellipse">
            <a:avLst/>
          </a:prstGeom>
          <a:solidFill>
            <a:srgbClr val="FF5D73"/>
          </a:solidFill>
          <a:ln/>
        </p:spPr>
      </p:sp>
      <p:sp>
        <p:nvSpPr>
          <p:cNvPr id="7" name="Text 5"/>
          <p:cNvSpPr/>
          <p:nvPr/>
        </p:nvSpPr>
        <p:spPr>
          <a:xfrm>
            <a:off x="1842516" y="228600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9386316" y="2377440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86316" y="237744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248156" y="3072384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76756" y="3300984"/>
            <a:ext cx="201168" cy="201168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2" name="Text 10"/>
          <p:cNvSpPr/>
          <p:nvPr/>
        </p:nvSpPr>
        <p:spPr>
          <a:xfrm>
            <a:off x="1842516" y="3072384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386316" y="3163824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86316" y="3163824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1248156" y="3858768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76756" y="4087368"/>
            <a:ext cx="201168" cy="201168"/>
          </a:xfrm>
          <a:prstGeom prst="ellipse">
            <a:avLst/>
          </a:prstGeom>
          <a:solidFill>
            <a:srgbClr val="FFD24A"/>
          </a:solidFill>
          <a:ln/>
        </p:spPr>
      </p:sp>
      <p:sp>
        <p:nvSpPr>
          <p:cNvPr id="17" name="Text 15"/>
          <p:cNvSpPr/>
          <p:nvPr/>
        </p:nvSpPr>
        <p:spPr>
          <a:xfrm>
            <a:off x="1842516" y="3858768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9386316" y="3950208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86316" y="395020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248156" y="4645152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76756" y="4873752"/>
            <a:ext cx="201168" cy="201168"/>
          </a:xfrm>
          <a:prstGeom prst="ellipse">
            <a:avLst/>
          </a:prstGeom>
          <a:solidFill>
            <a:srgbClr val="37D67A"/>
          </a:solidFill>
          <a:ln/>
        </p:spPr>
      </p:sp>
      <p:sp>
        <p:nvSpPr>
          <p:cNvPr id="22" name="Text 20"/>
          <p:cNvSpPr/>
          <p:nvPr/>
        </p:nvSpPr>
        <p:spPr>
          <a:xfrm>
            <a:off x="1842516" y="4645152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4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386316" y="4736592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86316" y="473659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1248156" y="5431536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76756" y="5660136"/>
            <a:ext cx="201168" cy="201168"/>
          </a:xfrm>
          <a:prstGeom prst="ellipse">
            <a:avLst/>
          </a:prstGeom>
          <a:solidFill>
            <a:srgbClr val="4AA3FF"/>
          </a:solidFill>
          <a:ln/>
        </p:spPr>
      </p:sp>
      <p:sp>
        <p:nvSpPr>
          <p:cNvPr id="27" name="Text 25"/>
          <p:cNvSpPr/>
          <p:nvPr/>
        </p:nvSpPr>
        <p:spPr>
          <a:xfrm>
            <a:off x="1842516" y="5431536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9386316" y="5522976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86316" y="552297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1248156" y="6217920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476756" y="6446520"/>
            <a:ext cx="201168" cy="201168"/>
          </a:xfrm>
          <a:prstGeom prst="ellipse">
            <a:avLst/>
          </a:prstGeom>
          <a:solidFill>
            <a:srgbClr val="B98CFF"/>
          </a:solidFill>
          <a:ln/>
        </p:spPr>
      </p:sp>
      <p:sp>
        <p:nvSpPr>
          <p:cNvPr id="32" name="Text 30"/>
          <p:cNvSpPr/>
          <p:nvPr/>
        </p:nvSpPr>
        <p:spPr>
          <a:xfrm>
            <a:off x="1842516" y="621792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6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9386316" y="6309360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86316" y="630936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 scores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3258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3 min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1737360"/>
            <a:ext cx="121889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Lightning Final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0" y="265176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796796" y="3383280"/>
            <a:ext cx="8595360" cy="2743200"/>
          </a:xfrm>
          <a:prstGeom prst="roundRect">
            <a:avLst>
              <a:gd name="adj" fmla="val 4000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53996" y="3703320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fast conceptual/identification questions — 30 sec each.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pts for a correct answer.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First correct answer earns a +5 bonus.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The final question is worth ×2 — 40 pts. The dramatic closer!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Lightning Final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1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7EE78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7880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8114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58114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54126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54126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7570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B98CFF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77570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we call motion in which gravity is the only force acting on an object, regardless of whether it was dropped, thrown up, or thrown down?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1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7EE78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fall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2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7EE78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7880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8114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58114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54126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54126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7570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B98CFF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77570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name given to the apparent outward push you feel during a sharp turn, even though the only real force acting on you is directed inward?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2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7EE78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Centrifugal “force”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40487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7919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fictitious/apparent effect. The real force (from the seat or door) is centripetal, pointing inward.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3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7880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8114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58114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54126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54126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7570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B98CFF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77570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ball moves in a circle at constant speed. At the instant it is at the rightmost point of the circle and moving straight up, which direction is its acceleration pointing?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3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left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40487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7919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toward the center of the circle. Centripetal acceleration always points toward the center, perpendicular to the velocity at that instant.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4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7880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8114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58114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54126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54126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7570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B98CFF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77570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ball is thrown horizontally off a cliff at the exact same instant an identical ball is dropped straight down from the same height. Ignoring air resistance, which ball hits the ground first?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4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— they land at the same time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40487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7919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and vertical motions are independent, so the horizontally-thrown ball's sideways motion doesn't slow its fall; both experience the same vertical acceleration from the same height.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5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7EE78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+40 (×2!)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7880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8114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58114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54126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54126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7570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B98CFF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77570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what launch angle (measured from the horizontal) does projectile motion become identical to pure free fall?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5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7EE78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90°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40487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7919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θ = 90°, v₀ₓ = v₀cos90° = 0, so the horizontal component vanishes entirely and only vertical motion remains, exactly matching free fall.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5943600"/>
            <a:ext cx="10908792" cy="502920"/>
          </a:xfrm>
          <a:prstGeom prst="roundRect">
            <a:avLst>
              <a:gd name="adj" fmla="val 18182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94360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 ×2 QUESTION — worth 40 points!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ROUND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850392"/>
            <a:ext cx="12188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Scores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0" y="1581912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each team's total points earned in Round 3 only.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248156" y="2286000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76756" y="2514600"/>
            <a:ext cx="201168" cy="201168"/>
          </a:xfrm>
          <a:prstGeom prst="ellipse">
            <a:avLst/>
          </a:prstGeom>
          <a:solidFill>
            <a:srgbClr val="FF5D73"/>
          </a:solidFill>
          <a:ln/>
        </p:spPr>
      </p:sp>
      <p:sp>
        <p:nvSpPr>
          <p:cNvPr id="7" name="Text 5"/>
          <p:cNvSpPr/>
          <p:nvPr/>
        </p:nvSpPr>
        <p:spPr>
          <a:xfrm>
            <a:off x="1842516" y="228600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9386316" y="2377440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86316" y="237744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248156" y="3072384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76756" y="3300984"/>
            <a:ext cx="201168" cy="201168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2" name="Text 10"/>
          <p:cNvSpPr/>
          <p:nvPr/>
        </p:nvSpPr>
        <p:spPr>
          <a:xfrm>
            <a:off x="1842516" y="3072384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386316" y="3163824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86316" y="3163824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1248156" y="3858768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76756" y="4087368"/>
            <a:ext cx="201168" cy="201168"/>
          </a:xfrm>
          <a:prstGeom prst="ellipse">
            <a:avLst/>
          </a:prstGeom>
          <a:solidFill>
            <a:srgbClr val="FFD24A"/>
          </a:solidFill>
          <a:ln/>
        </p:spPr>
      </p:sp>
      <p:sp>
        <p:nvSpPr>
          <p:cNvPr id="17" name="Text 15"/>
          <p:cNvSpPr/>
          <p:nvPr/>
        </p:nvSpPr>
        <p:spPr>
          <a:xfrm>
            <a:off x="1842516" y="3858768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9386316" y="3950208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86316" y="395020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248156" y="4645152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76756" y="4873752"/>
            <a:ext cx="201168" cy="201168"/>
          </a:xfrm>
          <a:prstGeom prst="ellipse">
            <a:avLst/>
          </a:prstGeom>
          <a:solidFill>
            <a:srgbClr val="37D67A"/>
          </a:solidFill>
          <a:ln/>
        </p:spPr>
      </p:sp>
      <p:sp>
        <p:nvSpPr>
          <p:cNvPr id="22" name="Text 20"/>
          <p:cNvSpPr/>
          <p:nvPr/>
        </p:nvSpPr>
        <p:spPr>
          <a:xfrm>
            <a:off x="1842516" y="4645152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4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386316" y="4736592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86316" y="473659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1248156" y="5431536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76756" y="5660136"/>
            <a:ext cx="201168" cy="201168"/>
          </a:xfrm>
          <a:prstGeom prst="ellipse">
            <a:avLst/>
          </a:prstGeom>
          <a:solidFill>
            <a:srgbClr val="4AA3FF"/>
          </a:solidFill>
          <a:ln/>
        </p:spPr>
      </p:sp>
      <p:sp>
        <p:nvSpPr>
          <p:cNvPr id="27" name="Text 25"/>
          <p:cNvSpPr/>
          <p:nvPr/>
        </p:nvSpPr>
        <p:spPr>
          <a:xfrm>
            <a:off x="1842516" y="5431536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9386316" y="5522976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86316" y="552297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1248156" y="6217920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476756" y="6446520"/>
            <a:ext cx="201168" cy="201168"/>
          </a:xfrm>
          <a:prstGeom prst="ellipse">
            <a:avLst/>
          </a:prstGeom>
          <a:solidFill>
            <a:srgbClr val="B98CFF"/>
          </a:solidFill>
          <a:ln/>
        </p:spPr>
      </p:sp>
      <p:sp>
        <p:nvSpPr>
          <p:cNvPr id="32" name="Text 30"/>
          <p:cNvSpPr/>
          <p:nvPr/>
        </p:nvSpPr>
        <p:spPr>
          <a:xfrm>
            <a:off x="1842516" y="621792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6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9386316" y="6309360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86316" y="630936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 scores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65760"/>
            <a:ext cx="12188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0" y="1051560"/>
            <a:ext cx="12188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Standings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0" y="173736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each row's Round 1 + Round 2 + Round 3 to find the TOTAL, then crown your champions!</a:t>
            </a:r>
            <a:endParaRPr lang="en-US" sz="16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31720"/>
          <a:ext cx="10908792" cy="3931920"/>
        </p:xfrm>
        <a:graphic>
          <a:graphicData uri="http://schemas.openxmlformats.org/drawingml/2006/table">
            <a:tbl>
              <a:tblPr/>
              <a:tblGrid>
                <a:gridCol w="3840480"/>
                <a:gridCol w="1856232"/>
                <a:gridCol w="1856232"/>
                <a:gridCol w="1856232"/>
                <a:gridCol w="2450592"/>
              </a:tblGrid>
              <a:tr h="5617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313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2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13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2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13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2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13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2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13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24A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FFD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FFD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FFD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FFD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FFD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FFD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Standings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2026-08-17T21:31:33Z</dcterms:created>
  <dcterms:modified xsi:type="dcterms:W3CDTF">2026-08-17T21:31:33Z</dcterms:modified>
</cp:coreProperties>
</file>