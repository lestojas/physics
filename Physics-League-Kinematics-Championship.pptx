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8596" y="5074920"/>
            <a:ext cx="201168" cy="201168"/>
          </a:xfrm>
          <a:prstGeom prst="ellipse">
            <a:avLst/>
          </a:prstGeom>
          <a:solidFill>
            <a:srgbClr val="4AA3FF"/>
          </a:solidFill>
          <a:ln/>
        </p:spPr>
      </p:sp>
      <p:sp>
        <p:nvSpPr>
          <p:cNvPr id="3" name="Shape 1"/>
          <p:cNvSpPr/>
          <p:nvPr/>
        </p:nvSpPr>
        <p:spPr>
          <a:xfrm>
            <a:off x="5271516" y="5074920"/>
            <a:ext cx="201168" cy="201168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4" name="Shape 2"/>
          <p:cNvSpPr/>
          <p:nvPr/>
        </p:nvSpPr>
        <p:spPr>
          <a:xfrm>
            <a:off x="5774436" y="5074920"/>
            <a:ext cx="201168" cy="201168"/>
          </a:xfrm>
          <a:prstGeom prst="ellipse">
            <a:avLst/>
          </a:prstGeom>
          <a:solidFill>
            <a:srgbClr val="7EE787"/>
          </a:solidFill>
          <a:ln/>
        </p:spPr>
      </p:sp>
      <p:sp>
        <p:nvSpPr>
          <p:cNvPr id="5" name="Shape 3"/>
          <p:cNvSpPr/>
          <p:nvPr/>
        </p:nvSpPr>
        <p:spPr>
          <a:xfrm>
            <a:off x="6277356" y="5074920"/>
            <a:ext cx="201168" cy="201168"/>
          </a:xfrm>
          <a:prstGeom prst="ellipse">
            <a:avLst/>
          </a:prstGeom>
          <a:solidFill>
            <a:srgbClr val="B98CFF"/>
          </a:solidFill>
          <a:ln/>
        </p:spPr>
      </p:sp>
      <p:sp>
        <p:nvSpPr>
          <p:cNvPr id="6" name="Shape 4"/>
          <p:cNvSpPr/>
          <p:nvPr/>
        </p:nvSpPr>
        <p:spPr>
          <a:xfrm>
            <a:off x="6780276" y="5074920"/>
            <a:ext cx="201168" cy="201168"/>
          </a:xfrm>
          <a:prstGeom prst="ellipse">
            <a:avLst/>
          </a:prstGeom>
          <a:solidFill>
            <a:srgbClr val="FFD24A"/>
          </a:solidFill>
          <a:ln/>
        </p:spPr>
      </p:sp>
      <p:sp>
        <p:nvSpPr>
          <p:cNvPr id="7" name="Shape 5"/>
          <p:cNvSpPr/>
          <p:nvPr/>
        </p:nvSpPr>
        <p:spPr>
          <a:xfrm>
            <a:off x="7283196" y="5074920"/>
            <a:ext cx="201168" cy="201168"/>
          </a:xfrm>
          <a:prstGeom prst="ellipse">
            <a:avLst/>
          </a:prstGeom>
          <a:solidFill>
            <a:srgbClr val="B98C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2011680"/>
            <a:ext cx="12188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2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0" y="29718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 Championship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Fall &amp; Vertical Motion  •  Projectile Motion  •  Uniform Circular Motion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0" y="5623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9.8 m/s² used throughout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Rounds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31464" cy="4297680"/>
          </a:xfrm>
          <a:prstGeom prst="roundRect">
            <a:avLst>
              <a:gd name="adj" fmla="val 329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57400"/>
            <a:ext cx="2691384" cy="54864"/>
          </a:xfrm>
          <a:prstGeom prst="roundRect">
            <a:avLst/>
          </a:prstGeom>
          <a:solidFill>
            <a:srgbClr val="4AA3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2691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Recall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090672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566160"/>
            <a:ext cx="26913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· 15 sec each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pts correct, 0 wrong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Double Trouble: 2 secret questions worth 20 pts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8744" y="1737360"/>
            <a:ext cx="3331464" cy="4297680"/>
          </a:xfrm>
          <a:prstGeom prst="roundRect">
            <a:avLst>
              <a:gd name="adj" fmla="val 329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48784" y="2057400"/>
            <a:ext cx="2691384" cy="54864"/>
          </a:xfrm>
          <a:prstGeom prst="roundRect">
            <a:avLst/>
          </a:prstGeom>
          <a:solidFill>
            <a:srgbClr val="FF8A3D"/>
          </a:solidFill>
          <a:ln/>
        </p:spPr>
      </p:sp>
      <p:sp>
        <p:nvSpPr>
          <p:cNvPr id="12" name="Text 10"/>
          <p:cNvSpPr/>
          <p:nvPr/>
        </p:nvSpPr>
        <p:spPr>
          <a:xfrm>
            <a:off x="4748784" y="224028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48784" y="2697480"/>
            <a:ext cx="2691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Showdown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48784" y="3090672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48784" y="3566160"/>
            <a:ext cx="26913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problems · 5 min each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full / +15 partial (Problem 2 is ×2!)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First correct answer earns +5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17408" y="1737360"/>
            <a:ext cx="3331464" cy="4297680"/>
          </a:xfrm>
          <a:prstGeom prst="roundRect">
            <a:avLst>
              <a:gd name="adj" fmla="val 329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37448" y="2057400"/>
            <a:ext cx="2691384" cy="54864"/>
          </a:xfrm>
          <a:prstGeom prst="roundRect">
            <a:avLst/>
          </a:prstGeom>
          <a:solidFill>
            <a:srgbClr val="B9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8537448" y="2240280"/>
            <a:ext cx="2691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537448" y="2697480"/>
            <a:ext cx="2691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Final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37448" y="3090672"/>
            <a:ext cx="2691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37448" y="3566160"/>
            <a:ext cx="26913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· 30 sec each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 correct · first correct earns +5</a:t>
            </a:r>
            <a:endParaRPr lang="en-US" sz="15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Last question is ×2 — 40 pts!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SETUP · ONE-TIME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896112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Enable the Click-to-Start Timers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160020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slide has a countdown you start with one click. Do this once, before your event, in desktop PowerPoint (Windows or Mac).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08792" cy="3566160"/>
          </a:xfrm>
          <a:prstGeom prst="roundRect">
            <a:avLst>
              <a:gd name="adj" fmla="val 3590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560320"/>
            <a:ext cx="99029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algn="l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this file in desktop PowerPoint, then File → Save As → PowerPoint Macro-Enabled Presentation (.pptm).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algn="l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Alt+F11 (Windows) or Fn+Option+F11 (Mac) to open the VBA editor.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algn="l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two provided macro files: File → Import File… for PhysicsLeagueTimer.bas and again for PhysicsLeagueTimerEvents.cls.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algn="l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“ThisPresentation” in the project tree and paste in the short startup snippet (provided separately).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algn="l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into PhysicsLeagueTimer.bas and press F5 to run “SetupTimerButtons” — once. A message box confirms how many buttons were wired.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algn="l"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close the VBA editor. When you reopen the file later, click “Enable Content” to allow macros.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question slide: edit the time box if needed, click ▶ START to run the countdown, or RESET to restore the original time. A finished timer resets itself automatically when you leave and return to its slide.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ROUND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896112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Team Names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627632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each box below and type the team's name before Round 1 begins.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92424" cy="1691640"/>
          </a:xfrm>
          <a:prstGeom prst="roundRect">
            <a:avLst>
              <a:gd name="adj" fmla="val 6486"/>
            </a:avLst>
          </a:prstGeom>
          <a:solidFill>
            <a:srgbClr val="1D1D28"/>
          </a:solidFill>
          <a:ln w="25400">
            <a:solidFill>
              <a:srgbClr val="FF5D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651760"/>
            <a:ext cx="256032" cy="256032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98264" y="2331720"/>
            <a:ext cx="3392424" cy="1691640"/>
          </a:xfrm>
          <a:prstGeom prst="roundRect">
            <a:avLst>
              <a:gd name="adj" fmla="val 6486"/>
            </a:avLst>
          </a:prstGeom>
          <a:solidFill>
            <a:srgbClr val="1D1D28"/>
          </a:solidFill>
          <a:ln w="25400">
            <a:solidFill>
              <a:srgbClr val="FF8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18304" y="2651760"/>
            <a:ext cx="256032" cy="256032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0" name="Text 8"/>
          <p:cNvSpPr/>
          <p:nvPr/>
        </p:nvSpPr>
        <p:spPr>
          <a:xfrm>
            <a:off x="4672584" y="310896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156448" y="2331720"/>
            <a:ext cx="3392424" cy="1691640"/>
          </a:xfrm>
          <a:prstGeom prst="roundRect">
            <a:avLst>
              <a:gd name="adj" fmla="val 6486"/>
            </a:avLst>
          </a:prstGeom>
          <a:solidFill>
            <a:srgbClr val="1D1D28"/>
          </a:solidFill>
          <a:ln w="25400">
            <a:solidFill>
              <a:srgbClr val="FFD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76488" y="2651760"/>
            <a:ext cx="256032" cy="256032"/>
          </a:xfrm>
          <a:prstGeom prst="ellipse">
            <a:avLst/>
          </a:prstGeom>
          <a:solidFill>
            <a:srgbClr val="FFD2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30768" y="310896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3392424" cy="1691640"/>
          </a:xfrm>
          <a:prstGeom prst="roundRect">
            <a:avLst>
              <a:gd name="adj" fmla="val 6486"/>
            </a:avLst>
          </a:prstGeom>
          <a:solidFill>
            <a:srgbClr val="1D1D28"/>
          </a:solidFill>
          <a:ln w="25400">
            <a:solidFill>
              <a:srgbClr val="37D6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709160"/>
            <a:ext cx="256032" cy="256032"/>
          </a:xfrm>
          <a:prstGeom prst="ellipse">
            <a:avLst/>
          </a:prstGeom>
          <a:solidFill>
            <a:srgbClr val="37D67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6636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398264" y="4389120"/>
            <a:ext cx="3392424" cy="1691640"/>
          </a:xfrm>
          <a:prstGeom prst="roundRect">
            <a:avLst>
              <a:gd name="adj" fmla="val 6486"/>
            </a:avLst>
          </a:prstGeom>
          <a:solidFill>
            <a:srgbClr val="1D1D28"/>
          </a:solidFill>
          <a:ln w="25400">
            <a:solidFill>
              <a:srgbClr val="4AA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18304" y="4709160"/>
            <a:ext cx="256032" cy="256032"/>
          </a:xfrm>
          <a:prstGeom prst="ellipse">
            <a:avLst/>
          </a:prstGeom>
          <a:solidFill>
            <a:srgbClr val="4AA3FF"/>
          </a:solidFill>
          <a:ln/>
        </p:spPr>
      </p:sp>
      <p:sp>
        <p:nvSpPr>
          <p:cNvPr id="19" name="Text 17"/>
          <p:cNvSpPr/>
          <p:nvPr/>
        </p:nvSpPr>
        <p:spPr>
          <a:xfrm>
            <a:off x="4672584" y="516636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156448" y="4389120"/>
            <a:ext cx="3392424" cy="1691640"/>
          </a:xfrm>
          <a:prstGeom prst="roundRect">
            <a:avLst>
              <a:gd name="adj" fmla="val 6486"/>
            </a:avLst>
          </a:prstGeom>
          <a:solidFill>
            <a:srgbClr val="1D1D28"/>
          </a:solidFill>
          <a:ln w="25400">
            <a:solidFill>
              <a:srgbClr val="B98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76488" y="4709160"/>
            <a:ext cx="256032" cy="256032"/>
          </a:xfrm>
          <a:prstGeom prst="ellipse">
            <a:avLst/>
          </a:prstGeom>
          <a:solidFill>
            <a:srgbClr val="B9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516636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Setup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25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10 min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1218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Recall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96796" y="3383280"/>
            <a:ext cx="8595360" cy="2743200"/>
          </a:xfrm>
          <a:prstGeom prst="roundRect">
            <a:avLst>
              <a:gd name="adj" fmla="val 4000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53996" y="370332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questions are True / False: 15 sec.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pts for a correct answer, 0 for wrong.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Double Trouble: 2 questions are secretly worth 20 pts. Don't tell teams — reveal the point value only after boards are up.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1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4AA3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peak of a ball tossed straight up, both its velocity AND its acceleration are zero.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1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is zero at the peak, but acceleration is still −g at every instant, including the peak. That's exactly why the ball falls back down.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2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4AA3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solving vertical motion problems using the standard sign convention (up = positive), the acceleration due to gravity should be written as positive while the object is rising and negative while it is falling.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2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is always −g (downward), regardless of whether the object is rising, falling, or momentarily at rest at the peak. It never flips sign based on direction of motion.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3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4AA3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stone thrown straight down and a stone simply dropped from rest are both considered “free fall” once released.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3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7D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fall means gravity alone is acting; it does not require starting from rest.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4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4AA3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vertical circular motion, such as a Ferris wheel moving at constant speed, the magnitude of the centripetal acceleration is the same at the top of the loop as it is at the bottom.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4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7D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a = v²/r and speed is constant everywhere on the loop, the magnitude never changes. (Direction, though, always points toward the center: downward at the top, upward at the bottom.)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8182"/>
            </a:avLst>
          </a:prstGeom>
          <a:solidFill>
            <a:srgbClr val="3A2A10"/>
          </a:solidFill>
          <a:ln w="12700">
            <a:solidFill>
              <a:srgbClr val="FFD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9436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DOUBLE TROUBLE — this question was secretly worth +20 points!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5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4AA3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object thrown straight up that returns to its launch height, the time it takes to rise equals the time it takes to fall back down.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5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7D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mirror symmetry of free fall: t(up) = t(down) for a symmetric round trip.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6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4AA3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uniform circular motion, the velocity vector is constant since the object's speed never changes.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6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is a vector; even though speed (magnitude) stays constant, the direction is continuously changing, so the velocity vector itself is not constant.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7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4AA3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governing assumptions of projectile motion are that the free-fall acceleration stays constant throughout the flight, and that air resistance is negligible.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7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7D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exactly the two core assumptions behind the ideal projectile-motion model.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8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4AA3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moves in a circle of radius 1.0 m at a speed of 2.0 m/s. If the speed is increased to 4.0 m/s and the radius is increased to 4.0 m, the centripetal acceleration stays the same.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8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7D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a₁ = (2.0)²/1.0 = 4.0 m/s². a₂ = (4.0)²/4.0 = 4.0 m/s². They match: quadrupling v² (from doubling speed) is exactly canceled by quadrupling 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8182"/>
            </a:avLst>
          </a:prstGeom>
          <a:solidFill>
            <a:srgbClr val="3A2A10"/>
          </a:solidFill>
          <a:ln w="12700">
            <a:solidFill>
              <a:srgbClr val="FFD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9436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DOUBLE TROUBLE — this question was secretly worth +20 points!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9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4AA3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target is released to fall at the exact instant a projectile is fired directly at it, the projectile will miss the target — even if it has enough speed to reach the target's horizontal position before either one hits the ground — because gravity pulls both of them down and changes their relative positions.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9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projectile actually still hits the target. Both objects fall the same vertical distance at every instant, so the original aim stays true the whole way down.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10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4AA3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projectile launched and landing at the same height, the horizontal range is greatest when the launch angle is exactly 45°.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QUESTION 10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4A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7D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2491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v₀²sin(2θ)/g is maximized when sin(2θ) = 1, i.e., when 2θ = 90°, so θ = 45°.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ROUND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850392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Scores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581912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each team's total points earned in Round 1 only.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248156" y="2286000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6756" y="2514600"/>
            <a:ext cx="201168" cy="20116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7" name="Text 5"/>
          <p:cNvSpPr/>
          <p:nvPr/>
        </p:nvSpPr>
        <p:spPr>
          <a:xfrm>
            <a:off x="1842516" y="22860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86316" y="23774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86316" y="23774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48156" y="3072384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6756" y="3300984"/>
            <a:ext cx="201168" cy="201168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2" name="Text 10"/>
          <p:cNvSpPr/>
          <p:nvPr/>
        </p:nvSpPr>
        <p:spPr>
          <a:xfrm>
            <a:off x="1842516" y="307238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386316" y="3163824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6316" y="31638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248156" y="3858768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76756" y="4087368"/>
            <a:ext cx="201168" cy="201168"/>
          </a:xfrm>
          <a:prstGeom prst="ellipse">
            <a:avLst/>
          </a:prstGeom>
          <a:solidFill>
            <a:srgbClr val="FFD24A"/>
          </a:solidFill>
          <a:ln/>
        </p:spPr>
      </p:sp>
      <p:sp>
        <p:nvSpPr>
          <p:cNvPr id="17" name="Text 15"/>
          <p:cNvSpPr/>
          <p:nvPr/>
        </p:nvSpPr>
        <p:spPr>
          <a:xfrm>
            <a:off x="1842516" y="38587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386316" y="3950208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6316" y="39502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248156" y="4645152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76756" y="4873752"/>
            <a:ext cx="201168" cy="201168"/>
          </a:xfrm>
          <a:prstGeom prst="ellipse">
            <a:avLst/>
          </a:prstGeom>
          <a:solidFill>
            <a:srgbClr val="37D67A"/>
          </a:solidFill>
          <a:ln/>
        </p:spPr>
      </p:sp>
      <p:sp>
        <p:nvSpPr>
          <p:cNvPr id="22" name="Text 20"/>
          <p:cNvSpPr/>
          <p:nvPr/>
        </p:nvSpPr>
        <p:spPr>
          <a:xfrm>
            <a:off x="1842516" y="46451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386316" y="4736592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6316" y="47365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248156" y="5431536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76756" y="5660136"/>
            <a:ext cx="201168" cy="201168"/>
          </a:xfrm>
          <a:prstGeom prst="ellipse">
            <a:avLst/>
          </a:prstGeom>
          <a:solidFill>
            <a:srgbClr val="4AA3FF"/>
          </a:solidFill>
          <a:ln/>
        </p:spPr>
      </p:sp>
      <p:sp>
        <p:nvSpPr>
          <p:cNvPr id="27" name="Text 25"/>
          <p:cNvSpPr/>
          <p:nvPr/>
        </p:nvSpPr>
        <p:spPr>
          <a:xfrm>
            <a:off x="1842516" y="543153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86316" y="5522976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86316" y="55229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248156" y="6217920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76756" y="6446520"/>
            <a:ext cx="201168" cy="201168"/>
          </a:xfrm>
          <a:prstGeom prst="ellipse">
            <a:avLst/>
          </a:prstGeom>
          <a:solidFill>
            <a:srgbClr val="B9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1842516" y="6217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386316" y="630936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4AA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86316" y="63093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Rapid Recall scores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25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25 min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1218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Showdown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96796" y="3383280"/>
            <a:ext cx="8595360" cy="2743200"/>
          </a:xfrm>
          <a:prstGeom prst="roundRect">
            <a:avLst>
              <a:gd name="adj" fmla="val 4000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53996" y="370332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problems spanning all three topics — 5 min each including reveal.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pts full correct (solution + units), +15 pts partial credit.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Problem 2 is worth ×2 points — 60 full / 30 partial.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First correct answer earns a +5 bonus.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Showdown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QUESTION 1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42632" y="384048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2632" y="384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/ +15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FF8A3D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mango falls from rest off a tree branch and lands on the ground 1.35 s later. Ignoring air resistance, how tall is the branch above the ground?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QUESTION 1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≈ 8.9 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08792" cy="3063240"/>
          </a:xfrm>
          <a:prstGeom prst="roundRect">
            <a:avLst>
              <a:gd name="adj" fmla="val 3582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99943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Δy = v₀t + ½gt²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v₀ = 0  →  h = ½gt²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SUBSTITUTE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½(9.8)(1.35)²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≈ 8.9 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QUESTION 2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42632" y="384048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2632" y="384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+60/+30 (×2!)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FF8A3D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fiesta booth, a player tosses a small ring at 5.80 m/s at an angle of 40° above the horizontal, aiming for a peg on a raised post 1.80 m away horizontally. The peg sits above the release point — this is an angled launch to a different landing height, so shortcut formulas do not apply. What is the height of the peg above the point where the ring left the player's hand?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QUESTION 2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Δy ≈ 0.71 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08792" cy="3063240"/>
          </a:xfrm>
          <a:prstGeom prst="roundRect">
            <a:avLst>
              <a:gd name="adj" fmla="val 3582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99943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v₀cosθ · t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x / (v₀cosθ)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SUBSTITUTE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1.80 / (5.80cos40°)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≈ 0.405 s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Δy = v₀sinθ · t − ½gt²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SUBSTITUTE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Δy = 5.80sin40°(0.405) − ½(9.8)(0.405)²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Δy ≈ 0.71 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8182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9436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×2 PROBLEM — worth 60 full / 30 partial!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QUESTION 3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42632" y="384048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2632" y="384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/ +15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FF8A3D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stationary exercise bike's front wheel at the gym has a radius of 0.33 m and spins at a constant rate of 180 rev/min. What is the centripetal acceleration of a reflector clipped to the outer rim?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QUESTION 3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≈ 117 m/s²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08792" cy="3063240"/>
          </a:xfrm>
          <a:prstGeom prst="roundRect">
            <a:avLst>
              <a:gd name="adj" fmla="val 3582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99943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rev/min = 3 rev/s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2πrf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SUBSTITUTE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2π(0.33)(3)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≈ 6.22 m/s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v²/r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SUBSTITUTE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(6.22)²/0.33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≈ 117 m/s²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QUESTION 4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42632" y="384048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2632" y="384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/ +15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FF8A3D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zookeeper tosses a piece of fruit straight down to a waiting animal from an elevated platform, releasing it at 3.20 m/s. Ignoring air resistance, what is the fruit's speed just before it lands, 1.10 s later?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QUESTION 4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≈ 14.0 m/s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08792" cy="3063240"/>
          </a:xfrm>
          <a:prstGeom prst="roundRect">
            <a:avLst>
              <a:gd name="adj" fmla="val 3582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99943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v₀ + gt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SUBSTITUTE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3.20 + (9.8)(1.10)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≈ 14.0 m/s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QUESTION 5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42632" y="384048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2632" y="384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/ +15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FF8A3D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swings a 0.250-kg rubber ball tied to a string in a horizontal circle on a frictionless tabletop. The string is 0.400 m long, and the ball moves at a constant speed of 3.00 m/s. What is the tension in the string?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QUESTION 5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≈ 5.63 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08792" cy="3063240"/>
          </a:xfrm>
          <a:prstGeom prst="roundRect">
            <a:avLst>
              <a:gd name="adj" fmla="val 3582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60320"/>
            <a:ext cx="99943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mv²/r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SUBSTITUTE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(0.250)(3.00)²/(0.400)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  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≈ 5.63 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ROUND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850392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Scores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581912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each team's total points earned in Round 2 only.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248156" y="2286000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6756" y="2514600"/>
            <a:ext cx="201168" cy="20116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7" name="Text 5"/>
          <p:cNvSpPr/>
          <p:nvPr/>
        </p:nvSpPr>
        <p:spPr>
          <a:xfrm>
            <a:off x="1842516" y="22860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86316" y="23774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86316" y="23774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48156" y="3072384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6756" y="3300984"/>
            <a:ext cx="201168" cy="201168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2" name="Text 10"/>
          <p:cNvSpPr/>
          <p:nvPr/>
        </p:nvSpPr>
        <p:spPr>
          <a:xfrm>
            <a:off x="1842516" y="307238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386316" y="3163824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6316" y="31638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248156" y="3858768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76756" y="4087368"/>
            <a:ext cx="201168" cy="201168"/>
          </a:xfrm>
          <a:prstGeom prst="ellipse">
            <a:avLst/>
          </a:prstGeom>
          <a:solidFill>
            <a:srgbClr val="FFD24A"/>
          </a:solidFill>
          <a:ln/>
        </p:spPr>
      </p:sp>
      <p:sp>
        <p:nvSpPr>
          <p:cNvPr id="17" name="Text 15"/>
          <p:cNvSpPr/>
          <p:nvPr/>
        </p:nvSpPr>
        <p:spPr>
          <a:xfrm>
            <a:off x="1842516" y="38587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386316" y="3950208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6316" y="39502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248156" y="4645152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76756" y="4873752"/>
            <a:ext cx="201168" cy="201168"/>
          </a:xfrm>
          <a:prstGeom prst="ellipse">
            <a:avLst/>
          </a:prstGeom>
          <a:solidFill>
            <a:srgbClr val="37D67A"/>
          </a:solidFill>
          <a:ln/>
        </p:spPr>
      </p:sp>
      <p:sp>
        <p:nvSpPr>
          <p:cNvPr id="22" name="Text 20"/>
          <p:cNvSpPr/>
          <p:nvPr/>
        </p:nvSpPr>
        <p:spPr>
          <a:xfrm>
            <a:off x="1842516" y="46451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386316" y="4736592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6316" y="47365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248156" y="5431536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76756" y="5660136"/>
            <a:ext cx="201168" cy="201168"/>
          </a:xfrm>
          <a:prstGeom prst="ellipse">
            <a:avLst/>
          </a:prstGeom>
          <a:solidFill>
            <a:srgbClr val="4AA3FF"/>
          </a:solidFill>
          <a:ln/>
        </p:spPr>
      </p:sp>
      <p:sp>
        <p:nvSpPr>
          <p:cNvPr id="27" name="Text 25"/>
          <p:cNvSpPr/>
          <p:nvPr/>
        </p:nvSpPr>
        <p:spPr>
          <a:xfrm>
            <a:off x="1842516" y="543153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86316" y="5522976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86316" y="55229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248156" y="6217920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76756" y="6446520"/>
            <a:ext cx="201168" cy="201168"/>
          </a:xfrm>
          <a:prstGeom prst="ellipse">
            <a:avLst/>
          </a:prstGeom>
          <a:solidFill>
            <a:srgbClr val="B9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1842516" y="6217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386316" y="630936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86316" y="63093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Problem Showdown scores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25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3 min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1218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Final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96796" y="3383280"/>
            <a:ext cx="8595360" cy="2743200"/>
          </a:xfrm>
          <a:prstGeom prst="roundRect">
            <a:avLst>
              <a:gd name="adj" fmla="val 4000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53996" y="370332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fast conceptual/identification questions — 30 sec each.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 for a correct answer.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First correct answer earns a +5 bonus.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The final question is worth ×2 — 40 pts. The dramatic closer!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Final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QUESTION 1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call motion in which gravity is the only force acting on an object, regardless of whether it was dropped, thrown up, or thrown down?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QUESTION 1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fall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QUESTION 2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name given to the apparent outward push you feel during a sharp turn, even though the only real force acting on you is directed inward?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QUESTION 2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Centrifugal “force”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7919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fictitious/apparent effect. The real force (from the seat or door) is centripetal, pointing inward.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QUESTION 3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moves in a circle at constant speed. At the instant it is at the rightmost point of the circle and moving straight up, which direction is its acceleration pointing?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QUESTION 3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left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7919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toward the center of the circle. Centripetal acceleration always points toward the center, perpendicular to the velocity at that instant.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QUESTION 4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is thrown horizontally off a cliff at the exact same instant an identical ball is dropped straight down from the same height. Ignoring air resistance, which ball hits the ground first?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QUESTION 4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— they land at the same time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7919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and vertical motions are independent, so the horizontally-thrown ball's sideways motion doesn't slow its fall; both experience the same vertical acceleration from the same height.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QUESTION 5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82712" y="3840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82712" y="384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(×2!)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90188" y="89611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92524" y="896112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9" name="TimerDuration"/>
          <p:cNvSpPr/>
          <p:nvPr/>
        </p:nvSpPr>
        <p:spPr>
          <a:xfrm>
            <a:off x="4192524" y="896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2644" y="896112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37D67A"/>
          </a:solidFill>
          <a:ln w="12700">
            <a:solidFill>
              <a:srgbClr val="37D67A"/>
            </a:solidFill>
            <a:prstDash val="solid"/>
          </a:ln>
        </p:spPr>
      </p:sp>
      <p:sp>
        <p:nvSpPr>
          <p:cNvPr id="11" name="TimerStartBtn"/>
          <p:cNvSpPr/>
          <p:nvPr/>
        </p:nvSpPr>
        <p:spPr>
          <a:xfrm>
            <a:off x="5152644" y="8961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87084" y="89611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D1D28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3" name="TimerDisplay"/>
          <p:cNvSpPr/>
          <p:nvPr/>
        </p:nvSpPr>
        <p:spPr>
          <a:xfrm>
            <a:off x="6387084" y="896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12964" y="896112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262633"/>
          </a:solidFill>
          <a:ln w="12700">
            <a:solidFill>
              <a:srgbClr val="9A9AB0"/>
            </a:solidFill>
            <a:prstDash val="solid"/>
          </a:ln>
        </p:spPr>
      </p:sp>
      <p:sp>
        <p:nvSpPr>
          <p:cNvPr id="15" name="TimerResetBtn"/>
          <p:cNvSpPr/>
          <p:nvPr/>
        </p:nvSpPr>
        <p:spPr>
          <a:xfrm>
            <a:off x="7712964" y="89611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371600"/>
            <a:ext cx="10908792" cy="4297680"/>
          </a:xfrm>
          <a:prstGeom prst="roundRect">
            <a:avLst>
              <a:gd name="adj" fmla="val 297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371600"/>
            <a:ext cx="981151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launch angle (measured from the horizontal) does projectile motion become identical to pure free fall?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QUESTION 5 OF 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720072" y="384048"/>
            <a:ext cx="1828800" cy="420624"/>
          </a:xfrm>
          <a:prstGeom prst="roundRect">
            <a:avLst>
              <a:gd name="adj" fmla="val 17391"/>
            </a:avLst>
          </a:prstGeom>
          <a:solidFill>
            <a:srgbClr val="262633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0072" y="384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79192"/>
            <a:ext cx="99943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θ = 90°, v₀ₓ = v₀cos90° = 0, so the horizontal component vanishes entirely and only vertical motion remains, exactly matching free fall.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8182"/>
            </a:avLst>
          </a:prstGeom>
          <a:solidFill>
            <a:srgbClr val="2A2340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9436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×2 QUESTION — worth 40 points!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ROUND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850392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Scores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581912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each team's total points earned in Round 3 only.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248156" y="2286000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6756" y="2514600"/>
            <a:ext cx="201168" cy="20116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7" name="Text 5"/>
          <p:cNvSpPr/>
          <p:nvPr/>
        </p:nvSpPr>
        <p:spPr>
          <a:xfrm>
            <a:off x="1842516" y="22860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86316" y="237744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86316" y="23774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48156" y="3072384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6756" y="3300984"/>
            <a:ext cx="201168" cy="201168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2" name="Text 10"/>
          <p:cNvSpPr/>
          <p:nvPr/>
        </p:nvSpPr>
        <p:spPr>
          <a:xfrm>
            <a:off x="1842516" y="307238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386316" y="3163824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6316" y="31638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248156" y="3858768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76756" y="4087368"/>
            <a:ext cx="201168" cy="201168"/>
          </a:xfrm>
          <a:prstGeom prst="ellipse">
            <a:avLst/>
          </a:prstGeom>
          <a:solidFill>
            <a:srgbClr val="FFD24A"/>
          </a:solidFill>
          <a:ln/>
        </p:spPr>
      </p:sp>
      <p:sp>
        <p:nvSpPr>
          <p:cNvPr id="17" name="Text 15"/>
          <p:cNvSpPr/>
          <p:nvPr/>
        </p:nvSpPr>
        <p:spPr>
          <a:xfrm>
            <a:off x="1842516" y="38587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386316" y="3950208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6316" y="39502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248156" y="4645152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76756" y="4873752"/>
            <a:ext cx="201168" cy="201168"/>
          </a:xfrm>
          <a:prstGeom prst="ellipse">
            <a:avLst/>
          </a:prstGeom>
          <a:solidFill>
            <a:srgbClr val="37D67A"/>
          </a:solidFill>
          <a:ln/>
        </p:spPr>
      </p:sp>
      <p:sp>
        <p:nvSpPr>
          <p:cNvPr id="22" name="Text 20"/>
          <p:cNvSpPr/>
          <p:nvPr/>
        </p:nvSpPr>
        <p:spPr>
          <a:xfrm>
            <a:off x="1842516" y="46451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386316" y="4736592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86316" y="47365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248156" y="5431536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76756" y="5660136"/>
            <a:ext cx="201168" cy="201168"/>
          </a:xfrm>
          <a:prstGeom prst="ellipse">
            <a:avLst/>
          </a:prstGeom>
          <a:solidFill>
            <a:srgbClr val="4AA3FF"/>
          </a:solidFill>
          <a:ln/>
        </p:spPr>
      </p:sp>
      <p:sp>
        <p:nvSpPr>
          <p:cNvPr id="27" name="Text 25"/>
          <p:cNvSpPr/>
          <p:nvPr/>
        </p:nvSpPr>
        <p:spPr>
          <a:xfrm>
            <a:off x="1842516" y="543153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86316" y="5522976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86316" y="55229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248156" y="6217920"/>
            <a:ext cx="9692640" cy="658368"/>
          </a:xfrm>
          <a:prstGeom prst="roundRect">
            <a:avLst>
              <a:gd name="adj" fmla="val 13889"/>
            </a:avLst>
          </a:prstGeom>
          <a:solidFill>
            <a:srgbClr val="1D1D28"/>
          </a:solidFill>
          <a:ln w="12700">
            <a:solidFill>
              <a:srgbClr val="3535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76756" y="6446520"/>
            <a:ext cx="201168" cy="201168"/>
          </a:xfrm>
          <a:prstGeom prst="ellipse">
            <a:avLst/>
          </a:prstGeom>
          <a:solidFill>
            <a:srgbClr val="B9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1842516" y="62179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386316" y="6309360"/>
            <a:ext cx="1371600" cy="475488"/>
          </a:xfrm>
          <a:prstGeom prst="roundRect">
            <a:avLst>
              <a:gd name="adj" fmla="val 15385"/>
            </a:avLst>
          </a:prstGeom>
          <a:solidFill>
            <a:srgbClr val="262633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86316" y="63093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Lightning Final scores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3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88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105156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Standings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7373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row's Round 1 + Round 2 + Round 3 to find the TOTAL, then crown your champions!</a:t>
            </a:r>
            <a:endParaRPr lang="en-US" sz="16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908792" cy="3931920"/>
        </p:xfrm>
        <a:graphic>
          <a:graphicData uri="http://schemas.openxmlformats.org/drawingml/2006/table">
            <a:tbl>
              <a:tblPr/>
              <a:tblGrid>
                <a:gridCol w="3840480"/>
                <a:gridCol w="1856232"/>
                <a:gridCol w="1856232"/>
                <a:gridCol w="1856232"/>
                <a:gridCol w="2450592"/>
              </a:tblGrid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3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1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4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D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D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D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D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D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33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F2F2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D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5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Standings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League · Kinematics Championship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2026-08-17T22:01:31Z</dcterms:created>
  <dcterms:modified xsi:type="dcterms:W3CDTF">2026-08-17T22:01:31Z</dcterms:modified>
</cp:coreProperties>
</file>