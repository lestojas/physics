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1" r:id="rId34"/>
    <p:sldId id="322" r:id="rId35"/>
    <p:sldId id="323" r:id="rId36"/>
    <p:sldId id="32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6309"/>
    <a:srgbClr val="F9770B"/>
    <a:srgbClr val="E86C06"/>
    <a:srgbClr val="1073A4"/>
    <a:srgbClr val="060BE0"/>
    <a:srgbClr val="FCC292"/>
    <a:srgbClr val="FFFFFF"/>
    <a:srgbClr val="F99039"/>
    <a:srgbClr val="B45404"/>
    <a:srgbClr val="FB9F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154" autoAdjust="0"/>
    <p:restoredTop sz="77332" autoAdjust="0"/>
  </p:normalViewPr>
  <p:slideViewPr>
    <p:cSldViewPr snapToGrid="0">
      <p:cViewPr>
        <p:scale>
          <a:sx n="83" d="100"/>
          <a:sy n="83" d="100"/>
        </p:scale>
        <p:origin x="568" y="96"/>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DEB12-848A-48B3-80BD-990890B8E47A}" type="datetimeFigureOut">
              <a:rPr lang="en-PH" smtClean="0"/>
              <a:t>7/9/26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2ACC9D-5E71-4A03-BD88-EA7951E000A5}" type="slidenum">
              <a:rPr lang="en-PH" smtClean="0"/>
              <a:t>‹#›</a:t>
            </a:fld>
            <a:endParaRPr lang="en-PH"/>
          </a:p>
        </p:txBody>
      </p:sp>
    </p:spTree>
    <p:extLst>
      <p:ext uri="{BB962C8B-B14F-4D97-AF65-F5344CB8AC3E}">
        <p14:creationId xmlns:p14="http://schemas.microsoft.com/office/powerpoint/2010/main" val="2381578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www.khanacademy.org/science/hs-chemistry/x2613d8165d88df5e:stoichiometry-and-the-mole/x2613d8165d88df5e:moles-and-molar-mass/a/scientific-notation-review" TargetMode="External"/><Relationship Id="rId4" Type="http://schemas.openxmlformats.org/officeDocument/2006/relationships/hyperlink" Target="https://teachwithmovies.org/powers-of-ten-or-cosmic-voyage/" TargetMode="External"/><Relationship Id="rId5" Type="http://schemas.openxmlformats.org/officeDocument/2006/relationships/hyperlink" Target="https://www.britannica.com/science/scientific-notation" TargetMode="External"/><Relationship Id="rId6" Type="http://schemas.openxmlformats.org/officeDocument/2006/relationships/hyperlink" Target="https://www.youtube.com/watch?v=pbPXxMsbDNA"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1E2ACC9D-5E71-4A03-BD88-EA7951E000A5}" type="slidenum">
              <a:rPr lang="en-PH" smtClean="0"/>
              <a:t>1</a:t>
            </a:fld>
            <a:endParaRPr lang="en-PH"/>
          </a:p>
        </p:txBody>
      </p:sp>
    </p:spTree>
    <p:extLst>
      <p:ext uri="{BB962C8B-B14F-4D97-AF65-F5344CB8AC3E}">
        <p14:creationId xmlns:p14="http://schemas.microsoft.com/office/powerpoint/2010/main" val="16636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Welcome, everyone. Before we can analyze how things move, we must establish a rigorous language for measurement. In physics, if we cannot measure it, we cannot model it. We call these measurable characteristics physical quantities. Think of it this way: a smartphone screen has a physical width, a physical weight, and a physical battery capacity you can read in digits. But how "cool" or "trendy" the phone is cannot be measured by any instrument—meaning it cannot be used in a physics equation.</a:t>
            </a:r>
            <a:endParaRPr lang="en-PH" b="1" dirty="0"/>
          </a:p>
        </p:txBody>
      </p:sp>
      <p:sp>
        <p:nvSpPr>
          <p:cNvPr id="4" name="Slide Number Placeholder 3"/>
          <p:cNvSpPr>
            <a:spLocks noGrp="1"/>
          </p:cNvSpPr>
          <p:nvPr>
            <p:ph type="sldNum" sz="quarter" idx="5"/>
          </p:nvPr>
        </p:nvSpPr>
        <p:spPr/>
        <p:txBody>
          <a:bodyPr/>
          <a:lstStyle/>
          <a:p>
            <a:fld id="{1E2ACC9D-5E71-4A03-BD88-EA7951E000A5}" type="slidenum">
              <a:rPr lang="en-PH" smtClean="0"/>
              <a:t>4</a:t>
            </a:fld>
            <a:endParaRPr lang="en-PH"/>
          </a:p>
        </p:txBody>
      </p:sp>
    </p:spTree>
    <p:extLst>
      <p:ext uri="{BB962C8B-B14F-4D97-AF65-F5344CB8AC3E}">
        <p14:creationId xmlns:p14="http://schemas.microsoft.com/office/powerpoint/2010/main" val="302945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5D65A-961D-C513-0D2C-464BE2C9B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F5294-8706-5C94-70A9-6728CBBAC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F3768-5DD6-765B-0B24-BE1F6997E8AE}"/>
              </a:ext>
            </a:extLst>
          </p:cNvPr>
          <p:cNvSpPr>
            <a:spLocks noGrp="1"/>
          </p:cNvSpPr>
          <p:nvPr>
            <p:ph type="body" idx="1"/>
          </p:nvPr>
        </p:nvSpPr>
        <p:spPr/>
        <p:txBody>
          <a:bodyPr/>
          <a:lstStyle/>
          <a:p>
            <a:r>
              <a:rPr lang="en-PH" dirty="0"/>
              <a:t>To ensure that a laboratory experiment conducted here yields the exact same calculated results as one conducted across the globe, the scientific community relies on the SI system. For our study of motion, we only need to worry about three absolute baselines: the meter for space, the kilogram for matter, and the second for time. To help build an intuition for these values, our textbook lists handy real-world benchmarks. A football field is around 91 meters long, an adult human has a mass around 100 kilograms, and a single normal human heartbeat takes just under one second. </a:t>
            </a:r>
          </a:p>
        </p:txBody>
      </p:sp>
      <p:sp>
        <p:nvSpPr>
          <p:cNvPr id="4" name="Slide Number Placeholder 3">
            <a:extLst>
              <a:ext uri="{FF2B5EF4-FFF2-40B4-BE49-F238E27FC236}">
                <a16:creationId xmlns:a16="http://schemas.microsoft.com/office/drawing/2014/main" id="{8F4E5E0F-5C14-2314-6EC6-0A2591163A0E}"/>
              </a:ext>
            </a:extLst>
          </p:cNvPr>
          <p:cNvSpPr>
            <a:spLocks noGrp="1"/>
          </p:cNvSpPr>
          <p:nvPr>
            <p:ph type="sldNum" sz="quarter" idx="5"/>
          </p:nvPr>
        </p:nvSpPr>
        <p:spPr/>
        <p:txBody>
          <a:bodyPr/>
          <a:lstStyle/>
          <a:p>
            <a:fld id="{1E2ACC9D-5E71-4A03-BD88-EA7951E000A5}" type="slidenum">
              <a:rPr lang="en-PH" smtClean="0"/>
              <a:t>5</a:t>
            </a:fld>
            <a:endParaRPr lang="en-PH"/>
          </a:p>
        </p:txBody>
      </p:sp>
    </p:spTree>
    <p:extLst>
      <p:ext uri="{BB962C8B-B14F-4D97-AF65-F5344CB8AC3E}">
        <p14:creationId xmlns:p14="http://schemas.microsoft.com/office/powerpoint/2010/main" val="3157759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0155C-534B-AA2B-D39B-266AC254C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B606C-98F1-0A90-36A0-F245133BB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E4C587-723A-C1D4-37FD-EAD6A7F702CF}"/>
              </a:ext>
            </a:extLst>
          </p:cNvPr>
          <p:cNvSpPr>
            <a:spLocks noGrp="1"/>
          </p:cNvSpPr>
          <p:nvPr>
            <p:ph type="body" idx="1"/>
          </p:nvPr>
        </p:nvSpPr>
        <p:spPr/>
        <p:txBody>
          <a:bodyPr/>
          <a:lstStyle/>
          <a:p>
            <a:r>
              <a:rPr lang="en-PH" dirty="0"/>
              <a:t>Physics handles everything from the scale of the cosmos to subatomic particles. To manage these shifts in scale without writing endless rows of zeros, we use standard metric prefixes and scientific notation. When solving problems, treating prefixes as simple multipliers—like swapping the letter 'k' for 'times ten to the third power'—saves you from making easy arithmetic slip-ups.</a:t>
            </a:r>
          </a:p>
          <a:p>
            <a:endParaRPr lang="en-PH" dirty="0"/>
          </a:p>
          <a:p>
            <a:r>
              <a:rPr lang="en-PH" sz="1200" b="1" u="none" strike="noStrike" kern="1200" dirty="0">
                <a:solidFill>
                  <a:schemeClr val="tx1"/>
                </a:solidFill>
                <a:effectLst/>
                <a:latin typeface="+mn-lt"/>
                <a:ea typeface="+mn-ea"/>
                <a:cs typeface="+mn-cs"/>
              </a:rPr>
              <a:t>For numbers \(\</a:t>
            </a:r>
            <a:r>
              <a:rPr lang="en-PH" sz="1200" b="1" u="none" strike="noStrike" kern="1200" dirty="0" err="1">
                <a:solidFill>
                  <a:schemeClr val="tx1"/>
                </a:solidFill>
                <a:effectLst/>
                <a:latin typeface="+mn-lt"/>
                <a:ea typeface="+mn-ea"/>
                <a:cs typeface="+mn-cs"/>
              </a:rPr>
              <a:t>ge</a:t>
            </a:r>
            <a:r>
              <a:rPr lang="en-PH" sz="1200" b="1" u="none" strike="noStrike" kern="1200" dirty="0">
                <a:solidFill>
                  <a:schemeClr val="tx1"/>
                </a:solidFill>
                <a:effectLst/>
                <a:latin typeface="+mn-lt"/>
                <a:ea typeface="+mn-ea"/>
                <a:cs typeface="+mn-cs"/>
              </a:rPr>
              <a:t> 10\):</a:t>
            </a:r>
            <a:r>
              <a:rPr lang="en-PH" sz="1200" b="0" u="none" strike="noStrike" kern="1200" dirty="0">
                <a:solidFill>
                  <a:schemeClr val="tx1"/>
                </a:solidFill>
                <a:effectLst/>
                <a:latin typeface="+mn-lt"/>
                <a:ea typeface="+mn-ea"/>
                <a:cs typeface="+mn-cs"/>
              </a:rPr>
              <a:t> Move the decimal point to the </a:t>
            </a:r>
            <a:r>
              <a:rPr lang="en-PH" sz="1200" b="1" u="none" strike="noStrike" kern="1200" dirty="0">
                <a:solidFill>
                  <a:schemeClr val="tx1"/>
                </a:solidFill>
                <a:effectLst/>
                <a:latin typeface="+mn-lt"/>
                <a:ea typeface="+mn-ea"/>
                <a:cs typeface="+mn-cs"/>
              </a:rPr>
              <a:t>left</a:t>
            </a:r>
            <a:r>
              <a:rPr lang="en-PH" sz="1200" b="0" u="none" strike="noStrike" kern="1200" dirty="0">
                <a:solidFill>
                  <a:schemeClr val="tx1"/>
                </a:solidFill>
                <a:effectLst/>
                <a:latin typeface="+mn-lt"/>
                <a:ea typeface="+mn-ea"/>
                <a:cs typeface="+mn-cs"/>
              </a:rPr>
              <a:t> until the coefficient is between \(1\) and \(10\). The exponent becomes </a:t>
            </a:r>
            <a:r>
              <a:rPr lang="en-PH" sz="1200" b="1" u="none" strike="noStrike" kern="1200" dirty="0">
                <a:solidFill>
                  <a:schemeClr val="tx1"/>
                </a:solidFill>
                <a:effectLst/>
                <a:latin typeface="+mn-lt"/>
                <a:ea typeface="+mn-ea"/>
                <a:cs typeface="+mn-cs"/>
              </a:rPr>
              <a:t>positive</a:t>
            </a:r>
            <a:r>
              <a:rPr lang="en-PH" sz="1200" b="0" u="none" strike="noStrike" kern="1200" dirty="0">
                <a:solidFill>
                  <a:schemeClr val="tx1"/>
                </a:solidFill>
                <a:effectLst/>
                <a:latin typeface="+mn-lt"/>
                <a:ea typeface="+mn-ea"/>
                <a:cs typeface="+mn-cs"/>
              </a:rPr>
              <a:t> and equals the number of places the decimal </a:t>
            </a:r>
            <a:r>
              <a:rPr lang="en-PH" sz="1200" b="0" u="none" strike="noStrike" kern="1200" dirty="0" err="1">
                <a:solidFill>
                  <a:schemeClr val="tx1"/>
                </a:solidFill>
                <a:effectLst/>
                <a:latin typeface="+mn-lt"/>
                <a:ea typeface="+mn-ea"/>
                <a:cs typeface="+mn-cs"/>
              </a:rPr>
              <a:t>moved.</a:t>
            </a:r>
            <a:r>
              <a:rPr lang="en-PH" sz="1200" b="0" i="1" u="none" strike="noStrike" kern="1200" dirty="0" err="1">
                <a:solidFill>
                  <a:schemeClr val="tx1"/>
                </a:solidFill>
                <a:effectLst/>
                <a:latin typeface="+mn-lt"/>
                <a:ea typeface="+mn-ea"/>
                <a:cs typeface="+mn-cs"/>
              </a:rPr>
              <a:t>Example</a:t>
            </a:r>
            <a:r>
              <a:rPr lang="en-PH" sz="1200" b="0" i="1" u="none" strike="noStrike" kern="1200" dirty="0">
                <a:solidFill>
                  <a:schemeClr val="tx1"/>
                </a:solidFill>
                <a:effectLst/>
                <a:latin typeface="+mn-lt"/>
                <a:ea typeface="+mn-ea"/>
                <a:cs typeface="+mn-cs"/>
              </a:rPr>
              <a:t>:</a:t>
            </a:r>
            <a:r>
              <a:rPr lang="en-PH" sz="1200" b="0" u="none" strike="noStrike" kern="1200" dirty="0">
                <a:solidFill>
                  <a:schemeClr val="tx1"/>
                </a:solidFill>
                <a:effectLst/>
                <a:latin typeface="+mn-lt"/>
                <a:ea typeface="+mn-ea"/>
                <a:cs typeface="+mn-cs"/>
              </a:rPr>
              <a:t> \(12,300\) becomes \(1.23 \times 10^4\) [</a:t>
            </a:r>
            <a:r>
              <a:rPr lang="en-PH" sz="1200" b="0" u="none" strike="noStrike" kern="1200" dirty="0">
                <a:solidFill>
                  <a:schemeClr val="tx1"/>
                </a:solidFill>
                <a:effectLst/>
                <a:latin typeface="+mn-lt"/>
                <a:ea typeface="+mn-ea"/>
                <a:cs typeface="+mn-cs"/>
                <a:hlinkClick r:id="rId3"/>
              </a:rPr>
              <a:t>1</a:t>
            </a:r>
            <a:r>
              <a:rPr lang="en-PH" sz="1200" b="0" u="none" strike="noStrike" kern="1200" dirty="0">
                <a:solidFill>
                  <a:schemeClr val="tx1"/>
                </a:solidFill>
                <a:effectLst/>
                <a:latin typeface="+mn-lt"/>
                <a:ea typeface="+mn-ea"/>
                <a:cs typeface="+mn-cs"/>
              </a:rPr>
              <a:t>, </a:t>
            </a:r>
            <a:r>
              <a:rPr lang="en-PH" sz="1200" b="0" u="none" strike="noStrike" kern="1200" dirty="0">
                <a:solidFill>
                  <a:schemeClr val="tx1"/>
                </a:solidFill>
                <a:effectLst/>
                <a:latin typeface="+mn-lt"/>
                <a:ea typeface="+mn-ea"/>
                <a:cs typeface="+mn-cs"/>
                <a:hlinkClick r:id="rId4"/>
              </a:rPr>
              <a:t>2</a:t>
            </a:r>
            <a:r>
              <a:rPr lang="en-PH" sz="1200" b="0" u="none" strike="noStrike" kern="1200" dirty="0">
                <a:solidFill>
                  <a:schemeClr val="tx1"/>
                </a:solidFill>
                <a:effectLst/>
                <a:latin typeface="+mn-lt"/>
                <a:ea typeface="+mn-ea"/>
                <a:cs typeface="+mn-cs"/>
              </a:rPr>
              <a:t>]</a:t>
            </a:r>
          </a:p>
          <a:p>
            <a:r>
              <a:rPr lang="en-PH" sz="1200" b="1" u="none" strike="noStrike" kern="1200" dirty="0">
                <a:solidFill>
                  <a:schemeClr val="tx1"/>
                </a:solidFill>
                <a:effectLst/>
                <a:latin typeface="+mn-lt"/>
                <a:ea typeface="+mn-ea"/>
                <a:cs typeface="+mn-cs"/>
              </a:rPr>
              <a:t>For numbers \(&lt;1\):</a:t>
            </a:r>
            <a:r>
              <a:rPr lang="en-PH" sz="1200" b="0" u="none" strike="noStrike" kern="1200" dirty="0">
                <a:solidFill>
                  <a:schemeClr val="tx1"/>
                </a:solidFill>
                <a:effectLst/>
                <a:latin typeface="+mn-lt"/>
                <a:ea typeface="+mn-ea"/>
                <a:cs typeface="+mn-cs"/>
              </a:rPr>
              <a:t> Move the decimal point to the </a:t>
            </a:r>
            <a:r>
              <a:rPr lang="en-PH" sz="1200" b="1" u="none" strike="noStrike" kern="1200" dirty="0">
                <a:solidFill>
                  <a:schemeClr val="tx1"/>
                </a:solidFill>
                <a:effectLst/>
                <a:latin typeface="+mn-lt"/>
                <a:ea typeface="+mn-ea"/>
                <a:cs typeface="+mn-cs"/>
              </a:rPr>
              <a:t>right</a:t>
            </a:r>
            <a:r>
              <a:rPr lang="en-PH" sz="1200" b="0" u="none" strike="noStrike" kern="1200" dirty="0">
                <a:solidFill>
                  <a:schemeClr val="tx1"/>
                </a:solidFill>
                <a:effectLst/>
                <a:latin typeface="+mn-lt"/>
                <a:ea typeface="+mn-ea"/>
                <a:cs typeface="+mn-cs"/>
              </a:rPr>
              <a:t> until the coefficient is between \(1\) and \(10\). The exponent becomes </a:t>
            </a:r>
            <a:r>
              <a:rPr lang="en-PH" sz="1200" b="1" u="none" strike="noStrike" kern="1200" dirty="0">
                <a:solidFill>
                  <a:schemeClr val="tx1"/>
                </a:solidFill>
                <a:effectLst/>
                <a:latin typeface="+mn-lt"/>
                <a:ea typeface="+mn-ea"/>
                <a:cs typeface="+mn-cs"/>
              </a:rPr>
              <a:t>negative</a:t>
            </a:r>
            <a:r>
              <a:rPr lang="en-PH" sz="1200" b="0" u="none" strike="noStrike" kern="1200" dirty="0">
                <a:solidFill>
                  <a:schemeClr val="tx1"/>
                </a:solidFill>
                <a:effectLst/>
                <a:latin typeface="+mn-lt"/>
                <a:ea typeface="+mn-ea"/>
                <a:cs typeface="+mn-cs"/>
              </a:rPr>
              <a:t> and equals the number of places the decimal </a:t>
            </a:r>
            <a:r>
              <a:rPr lang="en-PH" sz="1200" b="0" u="none" strike="noStrike" kern="1200" dirty="0" err="1">
                <a:solidFill>
                  <a:schemeClr val="tx1"/>
                </a:solidFill>
                <a:effectLst/>
                <a:latin typeface="+mn-lt"/>
                <a:ea typeface="+mn-ea"/>
                <a:cs typeface="+mn-cs"/>
              </a:rPr>
              <a:t>moved.</a:t>
            </a:r>
            <a:r>
              <a:rPr lang="en-PH" sz="1200" b="0" i="1" u="none" strike="noStrike" kern="1200" dirty="0" err="1">
                <a:solidFill>
                  <a:schemeClr val="tx1"/>
                </a:solidFill>
                <a:effectLst/>
                <a:latin typeface="+mn-lt"/>
                <a:ea typeface="+mn-ea"/>
                <a:cs typeface="+mn-cs"/>
              </a:rPr>
              <a:t>Example</a:t>
            </a:r>
            <a:r>
              <a:rPr lang="en-PH" sz="1200" b="0" i="1" u="none" strike="noStrike" kern="1200" dirty="0">
                <a:solidFill>
                  <a:schemeClr val="tx1"/>
                </a:solidFill>
                <a:effectLst/>
                <a:latin typeface="+mn-lt"/>
                <a:ea typeface="+mn-ea"/>
                <a:cs typeface="+mn-cs"/>
              </a:rPr>
              <a:t>:</a:t>
            </a:r>
            <a:r>
              <a:rPr lang="en-PH" sz="1200" b="0" u="none" strike="noStrike" kern="1200" dirty="0">
                <a:solidFill>
                  <a:schemeClr val="tx1"/>
                </a:solidFill>
                <a:effectLst/>
                <a:latin typeface="+mn-lt"/>
                <a:ea typeface="+mn-ea"/>
                <a:cs typeface="+mn-cs"/>
              </a:rPr>
              <a:t> \(0.0045\) becomes \(4.5 \times 10^{-3}\) [</a:t>
            </a:r>
            <a:r>
              <a:rPr lang="en-PH" sz="1200" b="0" u="none" strike="noStrike" kern="1200" dirty="0">
                <a:solidFill>
                  <a:schemeClr val="tx1"/>
                </a:solidFill>
                <a:effectLst/>
                <a:latin typeface="+mn-lt"/>
                <a:ea typeface="+mn-ea"/>
                <a:cs typeface="+mn-cs"/>
                <a:hlinkClick r:id="rId5"/>
              </a:rPr>
              <a:t>1</a:t>
            </a:r>
            <a:r>
              <a:rPr lang="en-PH" sz="1200" b="0" u="none" strike="noStrike" kern="1200" dirty="0">
                <a:solidFill>
                  <a:schemeClr val="tx1"/>
                </a:solidFill>
                <a:effectLst/>
                <a:latin typeface="+mn-lt"/>
                <a:ea typeface="+mn-ea"/>
                <a:cs typeface="+mn-cs"/>
              </a:rPr>
              <a:t>, </a:t>
            </a:r>
            <a:r>
              <a:rPr lang="en-PH" sz="1200" b="0" u="none" strike="noStrike" kern="1200" dirty="0">
                <a:solidFill>
                  <a:schemeClr val="tx1"/>
                </a:solidFill>
                <a:effectLst/>
                <a:latin typeface="+mn-lt"/>
                <a:ea typeface="+mn-ea"/>
                <a:cs typeface="+mn-cs"/>
                <a:hlinkClick r:id="rId6"/>
              </a:rPr>
              <a:t>2</a:t>
            </a:r>
            <a:r>
              <a:rPr lang="en-PH" sz="1200" b="0" u="none" strike="noStrike" kern="1200" dirty="0">
                <a:solidFill>
                  <a:schemeClr val="tx1"/>
                </a:solidFill>
                <a:effectLst/>
                <a:latin typeface="+mn-lt"/>
                <a:ea typeface="+mn-ea"/>
                <a:cs typeface="+mn-cs"/>
              </a:rPr>
              <a:t>]</a:t>
            </a:r>
          </a:p>
          <a:p>
            <a:endParaRPr lang="en-PH" dirty="0"/>
          </a:p>
        </p:txBody>
      </p:sp>
      <p:sp>
        <p:nvSpPr>
          <p:cNvPr id="4" name="Slide Number Placeholder 3">
            <a:extLst>
              <a:ext uri="{FF2B5EF4-FFF2-40B4-BE49-F238E27FC236}">
                <a16:creationId xmlns:a16="http://schemas.microsoft.com/office/drawing/2014/main" id="{CEAEDA02-C973-810F-F569-8E972FBAC24D}"/>
              </a:ext>
            </a:extLst>
          </p:cNvPr>
          <p:cNvSpPr>
            <a:spLocks noGrp="1"/>
          </p:cNvSpPr>
          <p:nvPr>
            <p:ph type="sldNum" sz="quarter" idx="5"/>
          </p:nvPr>
        </p:nvSpPr>
        <p:spPr/>
        <p:txBody>
          <a:bodyPr/>
          <a:lstStyle/>
          <a:p>
            <a:fld id="{1E2ACC9D-5E71-4A03-BD88-EA7951E000A5}" type="slidenum">
              <a:rPr lang="en-PH" smtClean="0"/>
              <a:t>6</a:t>
            </a:fld>
            <a:endParaRPr lang="en-PH"/>
          </a:p>
        </p:txBody>
      </p:sp>
    </p:spTree>
    <p:extLst>
      <p:ext uri="{BB962C8B-B14F-4D97-AF65-F5344CB8AC3E}">
        <p14:creationId xmlns:p14="http://schemas.microsoft.com/office/powerpoint/2010/main" val="3450497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437F3-ED82-ABBC-B2E2-E6F0F241F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B7DA9-57C3-E7DF-40E3-4F3794238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FE822-5F71-1C38-FCAA-7DAB85D5A76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030316F-F86D-8DB9-18CF-D9C4583821F7}"/>
              </a:ext>
            </a:extLst>
          </p:cNvPr>
          <p:cNvSpPr>
            <a:spLocks noGrp="1"/>
          </p:cNvSpPr>
          <p:nvPr>
            <p:ph type="sldNum" sz="quarter" idx="5"/>
          </p:nvPr>
        </p:nvSpPr>
        <p:spPr/>
        <p:txBody>
          <a:bodyPr/>
          <a:lstStyle/>
          <a:p>
            <a:fld id="{1E2ACC9D-5E71-4A03-BD88-EA7951E000A5}" type="slidenum">
              <a:rPr lang="en-PH" smtClean="0"/>
              <a:t>7</a:t>
            </a:fld>
            <a:endParaRPr lang="en-PH"/>
          </a:p>
        </p:txBody>
      </p:sp>
    </p:spTree>
    <p:extLst>
      <p:ext uri="{BB962C8B-B14F-4D97-AF65-F5344CB8AC3E}">
        <p14:creationId xmlns:p14="http://schemas.microsoft.com/office/powerpoint/2010/main" val="1787354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D2701-255B-D39E-6234-3E45B7854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661E2-7248-80CB-CEE9-F529D3480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AA821-1E90-6545-D7D1-395F4B6C9986}"/>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77811FB-6DAA-B1C0-50D9-9E33FEE8BDC0}"/>
              </a:ext>
            </a:extLst>
          </p:cNvPr>
          <p:cNvSpPr>
            <a:spLocks noGrp="1"/>
          </p:cNvSpPr>
          <p:nvPr>
            <p:ph type="sldNum" sz="quarter" idx="5"/>
          </p:nvPr>
        </p:nvSpPr>
        <p:spPr/>
        <p:txBody>
          <a:bodyPr/>
          <a:lstStyle/>
          <a:p>
            <a:fld id="{1E2ACC9D-5E71-4A03-BD88-EA7951E000A5}" type="slidenum">
              <a:rPr lang="en-PH" smtClean="0"/>
              <a:t>8</a:t>
            </a:fld>
            <a:endParaRPr lang="en-PH"/>
          </a:p>
        </p:txBody>
      </p:sp>
    </p:spTree>
    <p:extLst>
      <p:ext uri="{BB962C8B-B14F-4D97-AF65-F5344CB8AC3E}">
        <p14:creationId xmlns:p14="http://schemas.microsoft.com/office/powerpoint/2010/main" val="4253874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9D0D6-3E3E-BD9C-2DFE-9A8D517D3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C745D-7A11-93C4-9FFA-8A1E17F530B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0A8DCF5-3627-9966-23FC-8C64DC3EB958}"/>
                  </a:ext>
                </a:extLst>
              </p:cNvPr>
              <p:cNvSpPr>
                <a:spLocks noGrp="1"/>
              </p:cNvSpPr>
              <p:nvPr>
                <p:ph type="body" idx="1"/>
              </p:nvPr>
            </p:nvSpPr>
            <p:spPr/>
            <p:txBody>
              <a:bodyPr/>
              <a:lstStyle/>
              <a:p>
                <a:r>
                  <a:rPr lang="en-PH" b="0" dirty="0"/>
                  <a:t>85 mi/h,</a:t>
                </a:r>
              </a:p>
              <a:p>
                <a:r>
                  <a:rPr lang="en-PH" sz="1200" b="0" i="0" kern="1200" dirty="0">
                    <a:solidFill>
                      <a:schemeClr val="tx1"/>
                    </a:solidFill>
                    <a:effectLst/>
                    <a:latin typeface="+mn-lt"/>
                    <a:ea typeface="+mn-ea"/>
                    <a:cs typeface="+mn-cs"/>
                  </a:rPr>
                  <a:t>The driver is indeed exceeding the speed limit and should slow down</a:t>
                </a:r>
                <a:r>
                  <a:rPr lang="en-PH" dirty="0"/>
                  <a:t> </a:t>
                </a:r>
                <a:br>
                  <a:rPr lang="en-PH" dirty="0"/>
                </a:br>
                <a:endParaRPr lang="en-PH" b="0" dirty="0"/>
              </a:p>
            </p:txBody>
          </p:sp>
        </mc:Choice>
        <mc:Fallback xmlns="">
          <p:sp>
            <p:nvSpPr>
              <p:cNvPr id="3" name="Notes Placeholder 2">
                <a:extLst>
                  <a:ext uri="{FF2B5EF4-FFF2-40B4-BE49-F238E27FC236}">
                    <a16:creationId xmlns:a16="http://schemas.microsoft.com/office/drawing/2014/main" id="{40A8DCF5-3627-9966-23FC-8C64DC3EB958}"/>
                  </a:ext>
                </a:extLst>
              </p:cNvPr>
              <p:cNvSpPr>
                <a:spLocks noGrp="1"/>
              </p:cNvSpPr>
              <p:nvPr>
                <p:ph type="body" idx="1"/>
              </p:nvPr>
            </p:nvSpPr>
            <p:spPr/>
            <p:txBody>
              <a:bodyPr/>
              <a:lstStyle/>
              <a:p>
                <a:r>
                  <a:rPr lang="en-PH" dirty="0"/>
                  <a:t>REVIEW </a:t>
                </a:r>
                <a:r>
                  <a:rPr lang="en-PH" b="1" dirty="0"/>
                  <a:t>SCIENTIFIC NOTATION</a:t>
                </a:r>
              </a:p>
              <a:p>
                <a:r>
                  <a:rPr lang="en-PH" b="0" i="0">
                    <a:latin typeface="Cambria Math" panose="02040503050406030204" pitchFamily="18" charset="0"/>
                  </a:rPr>
                  <a:t>𝑎×10^𝑛</a:t>
                </a:r>
                <a:endParaRPr lang="en-PH" b="0" dirty="0"/>
              </a:p>
              <a:p>
                <a:r>
                  <a:rPr lang="en-PH" b="0" dirty="0"/>
                  <a:t>Coefficient: any number from 1 to 10, but not including 10</a:t>
                </a:r>
              </a:p>
              <a:p>
                <a:endParaRPr lang="en-PH" b="0" dirty="0"/>
              </a:p>
              <a:p>
                <a:pPr marL="228600" indent="-228600">
                  <a:buAutoNum type="arabicPeriod"/>
                </a:pPr>
                <a:r>
                  <a:rPr lang="en-PH" b="0" i="0">
                    <a:latin typeface="Cambria Math" panose="02040503050406030204" pitchFamily="18" charset="0"/>
                  </a:rPr>
                  <a:t>3.5×10^3</a:t>
                </a:r>
                <a:endParaRPr lang="en-PH" b="0" dirty="0"/>
              </a:p>
              <a:p>
                <a:pPr marL="228600" indent="-228600">
                  <a:buAutoNum type="arabicPeriod"/>
                </a:pPr>
                <a:r>
                  <a:rPr lang="en-PH" b="0" i="0">
                    <a:latin typeface="Cambria Math" panose="02040503050406030204" pitchFamily="18" charset="0"/>
                  </a:rPr>
                  <a:t>820×10^(−6)  𝑚=8.20×10^(−4)  𝑚</a:t>
                </a:r>
                <a:endParaRPr lang="en-PH" b="0" dirty="0"/>
              </a:p>
              <a:p>
                <a:pPr marL="228600" indent="-228600">
                  <a:buAutoNum type="arabicPeriod"/>
                </a:pPr>
                <a:r>
                  <a:rPr lang="en-PH" b="0" i="0">
                    <a:latin typeface="Cambria Math" panose="02040503050406030204" pitchFamily="18" charset="0"/>
                  </a:rPr>
                  <a:t>15×10^(−3)=1.5×10^(−2)  𝑚</a:t>
                </a:r>
                <a:endParaRPr lang="en-PH" b="0" dirty="0"/>
              </a:p>
              <a:p>
                <a:pPr marL="228600" indent="-228600">
                  <a:buAutoNum type="arabicPeriod"/>
                </a:pPr>
                <a:r>
                  <a:rPr lang="en-PH" b="0" i="0">
                    <a:latin typeface="Cambria Math" panose="02040503050406030204" pitchFamily="18" charset="0"/>
                  </a:rPr>
                  <a:t>750×10^6  𝑊=7.5×10^8  𝑊</a:t>
                </a:r>
                <a:endParaRPr lang="en-PH" b="0" dirty="0"/>
              </a:p>
              <a:p>
                <a:pPr marL="228600" indent="-228600">
                  <a:buAutoNum type="arabicPeriod"/>
                </a:pPr>
                <a:r>
                  <a:rPr lang="en-PH" b="0" i="0">
                    <a:latin typeface="Cambria Math" panose="02040503050406030204" pitchFamily="18" charset="0"/>
                  </a:rPr>
                  <a:t>633×10^(−9)=6.33×10^(−7)  𝑚</a:t>
                </a:r>
                <a:endParaRPr lang="en-PH" b="0" dirty="0"/>
              </a:p>
            </p:txBody>
          </p:sp>
        </mc:Fallback>
      </mc:AlternateContent>
      <p:sp>
        <p:nvSpPr>
          <p:cNvPr id="4" name="Slide Number Placeholder 3">
            <a:extLst>
              <a:ext uri="{FF2B5EF4-FFF2-40B4-BE49-F238E27FC236}">
                <a16:creationId xmlns:a16="http://schemas.microsoft.com/office/drawing/2014/main" id="{CAB1B2E0-8E55-5F5F-CA99-3EF8222FBB51}"/>
              </a:ext>
            </a:extLst>
          </p:cNvPr>
          <p:cNvSpPr>
            <a:spLocks noGrp="1"/>
          </p:cNvSpPr>
          <p:nvPr>
            <p:ph type="sldNum" sz="quarter" idx="5"/>
          </p:nvPr>
        </p:nvSpPr>
        <p:spPr/>
        <p:txBody>
          <a:bodyPr/>
          <a:lstStyle/>
          <a:p>
            <a:fld id="{1E2ACC9D-5E71-4A03-BD88-EA7951E000A5}" type="slidenum">
              <a:rPr lang="en-PH" smtClean="0"/>
              <a:t>9</a:t>
            </a:fld>
            <a:endParaRPr lang="en-PH"/>
          </a:p>
        </p:txBody>
      </p:sp>
    </p:spTree>
    <p:extLst>
      <p:ext uri="{BB962C8B-B14F-4D97-AF65-F5344CB8AC3E}">
        <p14:creationId xmlns:p14="http://schemas.microsoft.com/office/powerpoint/2010/main" val="2552030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36BFD-E53F-8737-5CBA-1573AAB36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D4AB0-3194-353C-4230-C13965788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D97D2-E73E-B616-3517-A52152725405}"/>
              </a:ext>
            </a:extLst>
          </p:cNvPr>
          <p:cNvSpPr>
            <a:spLocks noGrp="1"/>
          </p:cNvSpPr>
          <p:nvPr>
            <p:ph type="body" idx="1"/>
          </p:nvPr>
        </p:nvSpPr>
        <p:spPr/>
        <p:txBody>
          <a:bodyPr/>
          <a:lstStyle/>
          <a:p>
            <a:r>
              <a:rPr lang="en-PH" b="0" dirty="0"/>
              <a:t>85 mi/h,</a:t>
            </a:r>
          </a:p>
          <a:p>
            <a:r>
              <a:rPr lang="en-PH" sz="1200" b="0" i="0" kern="1200" dirty="0">
                <a:solidFill>
                  <a:schemeClr val="tx1"/>
                </a:solidFill>
                <a:effectLst/>
                <a:latin typeface="+mn-lt"/>
                <a:ea typeface="+mn-ea"/>
                <a:cs typeface="+mn-cs"/>
              </a:rPr>
              <a:t>The driver is indeed exceeding the speed limit and should slow down</a:t>
            </a:r>
            <a:r>
              <a:rPr lang="en-PH" dirty="0"/>
              <a:t> </a:t>
            </a:r>
            <a:br>
              <a:rPr lang="en-PH" dirty="0"/>
            </a:br>
            <a:endParaRPr lang="en-PH" b="0" dirty="0"/>
          </a:p>
        </p:txBody>
      </p:sp>
      <p:sp>
        <p:nvSpPr>
          <p:cNvPr id="4" name="Slide Number Placeholder 3">
            <a:extLst>
              <a:ext uri="{FF2B5EF4-FFF2-40B4-BE49-F238E27FC236}">
                <a16:creationId xmlns:a16="http://schemas.microsoft.com/office/drawing/2014/main" id="{A7BEF93B-87BC-C8DA-A941-CA7BDCF501F2}"/>
              </a:ext>
            </a:extLst>
          </p:cNvPr>
          <p:cNvSpPr>
            <a:spLocks noGrp="1"/>
          </p:cNvSpPr>
          <p:nvPr>
            <p:ph type="sldNum" sz="quarter" idx="5"/>
          </p:nvPr>
        </p:nvSpPr>
        <p:spPr/>
        <p:txBody>
          <a:bodyPr/>
          <a:lstStyle/>
          <a:p>
            <a:fld id="{1E2ACC9D-5E71-4A03-BD88-EA7951E000A5}" type="slidenum">
              <a:rPr lang="en-PH" smtClean="0"/>
              <a:t>10</a:t>
            </a:fld>
            <a:endParaRPr lang="en-PH"/>
          </a:p>
        </p:txBody>
      </p:sp>
    </p:spTree>
    <p:extLst>
      <p:ext uri="{BB962C8B-B14F-4D97-AF65-F5344CB8AC3E}">
        <p14:creationId xmlns:p14="http://schemas.microsoft.com/office/powerpoint/2010/main" val="27439941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whole session as answering one question twice: "why does this path curve, and what controls how much it curves?" We'll answer it first for things that fly through the air, then for things that spin. By the end of the hour, students should be ready to physically test the second answer with their own hands.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vivid images rather than the definition. Ask students what a diver's fall, welding sparks, and a fountain jet could possibly have in common - let them sit with that for a second before revealing it's the same geometric shape. This is the aha that should anchor the whole first half of the lesson: gravity writes the same signature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and conversational - students already have vector intuition from the prior unit. The key upgrade here is simultaneity: x and y aren't happening in sequence, they're happening together, at the same instant, for the same object.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minimal decomposition - one vector, split into two pieces. Be explicit that this is not the full vector-addition unit students will get in a week; it's just enough trigonometry to separate one launch velocity into its horizontal and vertical ingredients.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air-hockey-puck thought experiment straight from the reference text. Walk through it slowly: the puck moves at constant velocity in x; a puff of air in y adds a y-velocity but the x-velocity is completely unaffected. That independence is what lets us solve horizontal and vertical motion as two separate, simpler problems instead of one tangled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payoff of Slide 5 - students now see the independence principle turned into an actual toolkit. Emphasize the problem-solving habit: horizontal motion is always the easy constant-velocity equation; vertical motion is always the familiar free-fall equation from the previous unit, just relabeled with y instead of 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as convenience tools, not new physics - they're just Slide 7's equations pre-solved for one common situation. Stress the boundary condition hard; it's the single most common source of error when students first meet these formulas, since they're tempted to use them everywhere.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qualitative and visual - the goal is intuition, not derivation. A useful classroom demo: ask students to picture throwing a ball almost flat versus almost straight up, and predict which travels farther. Most will correctly sense that neither extreme wins.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directly back to the puma example - animals and athletes usually can't easily change their launch angle mid-jump, but they absolutely can generate more speed through stronger muscles or a longer running start. That's the real-world lever most commonly pulled.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short signpost slide, not a deep dive - just enough to reset student expectations before the vocabulary shift. Ask: if speed isn't changing, is this thing accelerating at all? Don't answer yet - that tension carries directly into the next few slides.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always-tangent idea out physically - imagine releasing a ball mid-spin on a string; it flies off in a straight line tangent to the circle at the release point, not toward the center and not along the circle. That tangent direction is the velocity direction at that instant.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deserves real airtime - it's one of the most persistent misconceptions in the whole unit. Use a whirling ball on a string: ask is its speed changing? (no) is its direction changing? (constantly) so is it accelerating? (yes). Make students say the answer out loud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derive this from scratch - that similar-triangles proof belongs in a more advanced course. What matters here is the shape of the relationship: acceleration grows with the square of speed, and grows as radius shrinks. Have students predict, before revealing the formula, whether doubling the speed should double or quadruple the acceleration - most will guess wrong.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practical translation tool rather than new physics - it converts between how fast and how long per lap, two ways of describing the exact same motion. This sets up both upcoming worked examples, which each hand students a period-like quantity instead of a speed.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conceptual and forward-looking rather than diving into free-body diagrams - that formal force analysis is intentionally saved for the Newton's Laws lesson. The goal today is just for students to recognize that acceleration toward the center implies some force pushing toward the center, and to start noticing that force in everyday situations.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this with students rather than papering over it - it's a good moment to model how real curricula sometimes split a single topic across two chapters, and how a careful student can still connect the dots. Full force-based problem-solving with free-body diagrams is intentionally deferred to August 4th.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formal launch of the carry-out-first-hand-investigations half of the competency. Spend real time here making sure students can articulate, in their own words, which variables they're changing on purpose versus which one they're just watching change as a result.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physical logic of why this setup works: the hanging washers provide a known, measurable force pulling the stopper inward - that known force stands in for centripetal force, letting students work backward to test the v-squared over r relationship. Emphasize basic safety: clear space, secure grip, safety glasses if available.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standard scientific-method practice, and it's worth naming explicitly: a prediction made before data collection is a hypothesis; the same claim made after seeing the data isn't testing anything. Have students commit their predictions to paper before touching any apparatus.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lab work gets tied back to the theory taught earlier in the period. Push students to use the phrase consistent with (or inconsistent with, if their data doesn't match) rather than just describing what happened - that's the difference between reporting and interpreting data.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comparison as the closing synthesis - students should be able to fill in every point from memory by now. This is also a natural moment to acknowledge, briefly, that both types of motion assumed a stationary observer watching from the ground - a detail that becomes important very soon.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D231-5A5D-10BC-483A-2614533DEF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C0318630-5072-8629-6852-A4F52E6D4D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DE76C94-BCA0-B018-EDF3-E85E3E67FCB7}"/>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1AFF62E8-9A41-FEB8-C329-FF41A50E5E3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CABDF1E-365E-886C-7DF4-7E1B9C8DC82F}"/>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3650630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52770-1A08-648D-6EF5-09385FC4594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0D7220B-8CA0-0576-134A-A8C07A73A4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AD64F12F-2C3E-E604-73E8-585689751A1A}"/>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220D934F-207A-B2F2-6538-E486D66FCF8A}"/>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0FE4680-7691-42E2-5B89-F4D02F8E17BC}"/>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4047622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4CFEA-0352-7CE4-A351-67A6D461B1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6FE4DEF7-10DF-B43C-25FE-7C71BFC3A8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E49F60-9E61-5B2A-541F-4E0F373B3E4C}"/>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0DF84D38-CD7C-FFA9-103F-3A8D79FF6F7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4ADB32C-B200-9F1E-9852-BD30E4046DC1}"/>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44165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4E14-E3CB-69D2-1621-C670B98F4F31}"/>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75A32CC1-6C1B-0899-CBC4-A6A5C70025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A75F1129-37DE-B114-A06E-80A2FC3724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9B1347B8-B4B3-CE4F-B570-A72824D9664F}"/>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6" name="Footer Placeholder 5">
            <a:extLst>
              <a:ext uri="{FF2B5EF4-FFF2-40B4-BE49-F238E27FC236}">
                <a16:creationId xmlns:a16="http://schemas.microsoft.com/office/drawing/2014/main" id="{95ED9CA1-EAB6-6A40-CBF0-0B4A1F806093}"/>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17E39E5-8878-31FD-23B3-3895C0FE2DDB}"/>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1168017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44E0-C8FC-1A22-0D89-EB5227930D3D}"/>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51D87131-03C7-DF6A-11E5-515BC599ED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D05215-207E-28C0-51FC-32E38EEB68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90DB04A7-E602-43F7-9382-5106F512E1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F942C-0D51-B146-0B3E-44F9333966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CC6E83BA-434D-9524-D5B2-3FE72F57F00C}"/>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8" name="Footer Placeholder 7">
            <a:extLst>
              <a:ext uri="{FF2B5EF4-FFF2-40B4-BE49-F238E27FC236}">
                <a16:creationId xmlns:a16="http://schemas.microsoft.com/office/drawing/2014/main" id="{B5942D20-B619-864B-8166-83B44876DB89}"/>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F2BD6B27-68B5-1712-1876-2B9004351C86}"/>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3403322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5A230-E23D-72CA-73DE-EA803A1C867D}"/>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C0687827-3B58-7B11-8B7A-473110A9FF16}"/>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4" name="Footer Placeholder 3">
            <a:extLst>
              <a:ext uri="{FF2B5EF4-FFF2-40B4-BE49-F238E27FC236}">
                <a16:creationId xmlns:a16="http://schemas.microsoft.com/office/drawing/2014/main" id="{22CF7CB5-5F2C-2F8D-6C74-1DCFD1797B39}"/>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613E43F0-FD37-67ED-B7BE-A65F928BDB5A}"/>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4043575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D215F6-0E66-108C-217C-F5B06CBB3DAF}"/>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3" name="Footer Placeholder 2">
            <a:extLst>
              <a:ext uri="{FF2B5EF4-FFF2-40B4-BE49-F238E27FC236}">
                <a16:creationId xmlns:a16="http://schemas.microsoft.com/office/drawing/2014/main" id="{4CA83FD0-F709-4DE7-0253-1246F3C9334C}"/>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2A58CF07-6C82-F6BA-4C02-CAC8561DEF41}"/>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3409714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D32D-81C2-1109-8F73-7C8739F613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23C0A27F-F5E8-328F-D961-35979707E9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ABD5426E-8C64-5E3B-0A03-C8A903DD32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D3E812-8945-5EB1-FBF3-5FCFA31975E0}"/>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6" name="Footer Placeholder 5">
            <a:extLst>
              <a:ext uri="{FF2B5EF4-FFF2-40B4-BE49-F238E27FC236}">
                <a16:creationId xmlns:a16="http://schemas.microsoft.com/office/drawing/2014/main" id="{AFC2D321-A5A6-6B69-3C04-FA42A9C1A80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D6BE3AAE-D96B-6B32-0164-7F0F1AAC4C68}"/>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674330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6251B-BE78-9867-0E70-EDBC73EA82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77CE01A9-4142-5F08-A230-6B22B080A2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0D8577C9-D160-947C-8131-712AFB12E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C19ED7-1726-3E20-A98A-ED32A66088A1}"/>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6" name="Footer Placeholder 5">
            <a:extLst>
              <a:ext uri="{FF2B5EF4-FFF2-40B4-BE49-F238E27FC236}">
                <a16:creationId xmlns:a16="http://schemas.microsoft.com/office/drawing/2014/main" id="{4B87D4A1-C7AC-7DE2-43A3-2410E52C076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7C39CE8E-578E-A541-6B18-9D76C2AB09C5}"/>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2177756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F3669-32EC-AD50-8AD0-DCFFF233F852}"/>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0E585D1E-6A4D-E1B6-C9F7-B06C2A686F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2DF9567-3F43-39CF-0011-3E53499CA614}"/>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EC88FD2A-EBFA-0478-A61E-97B15FCDCCB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06FEE10-1583-3157-20E5-072915CF6F3F}"/>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1213102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85DA39-3C47-9485-BC7D-718D55E04C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0C33C301-36FF-5992-CAB2-2563DB025C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5C9E48DB-1B29-2A56-D294-FA8AD679BE6D}"/>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68D26F9D-314C-0FB5-CAF2-C48E257CD4F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7A85A95-3FE6-BDF8-7D7A-FE69FE923E7C}"/>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34070661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0CEF22-FD99-7CD9-5DC5-B074276636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500DD933-472F-D748-0ABB-3378F11950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C8C1A73-229A-F9EE-78F0-19CB95C7FC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AFC89B7F-E88B-0B60-0A94-294D48462F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a:p>
        </p:txBody>
      </p:sp>
      <p:sp>
        <p:nvSpPr>
          <p:cNvPr id="6" name="Slide Number Placeholder 5">
            <a:extLst>
              <a:ext uri="{FF2B5EF4-FFF2-40B4-BE49-F238E27FC236}">
                <a16:creationId xmlns:a16="http://schemas.microsoft.com/office/drawing/2014/main" id="{20D6747C-E541-FD74-27F5-5D985089AE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52C195-8D30-4849-85E8-BFB6DB84648F}" type="slidenum">
              <a:rPr lang="en-PH" smtClean="0"/>
              <a:t>‹#›</a:t>
            </a:fld>
            <a:endParaRPr lang="en-PH"/>
          </a:p>
        </p:txBody>
      </p:sp>
    </p:spTree>
    <p:extLst>
      <p:ext uri="{BB962C8B-B14F-4D97-AF65-F5344CB8AC3E}">
        <p14:creationId xmlns:p14="http://schemas.microsoft.com/office/powerpoint/2010/main" val="1865035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BE629-9C22-3CEA-CCDE-633355DC193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7DD5996-59F8-EEBC-DC92-6EEC6E74E0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3" name="TextBox 2">
            <a:extLst>
              <a:ext uri="{FF2B5EF4-FFF2-40B4-BE49-F238E27FC236}">
                <a16:creationId xmlns:a16="http://schemas.microsoft.com/office/drawing/2014/main" id="{01F2C709-A240-87E9-6DED-CEA5B4C6A37B}"/>
              </a:ext>
            </a:extLst>
          </p:cNvPr>
          <p:cNvSpPr txBox="1"/>
          <p:nvPr/>
        </p:nvSpPr>
        <p:spPr>
          <a:xfrm>
            <a:off x="640080" y="411480"/>
            <a:ext cx="5486400" cy="457200"/>
          </a:xfrm>
          <a:prstGeom prst="rect">
            <a:avLst/>
          </a:prstGeom>
          <a:noFill/>
        </p:spPr>
        <p:txBody>
          <a:bodyPr wrap="square" rtlCol="0">
            <a:spAutoFit/>
          </a:bodyPr>
          <a:lstStyle/>
          <a:p>
            <a:r>
              <a:rPr lang="en-PH" sz="2400" b="1" i="1" dirty="0">
                <a:solidFill>
                  <a:srgbClr val="F9770B"/>
                </a:solidFill>
                <a:latin typeface="TT Hoves" panose="02000503030000020004" pitchFamily="50" charset="0"/>
              </a:rPr>
              <a:t>Physics 1</a:t>
            </a:r>
          </a:p>
        </p:txBody>
      </p:sp>
      <p:sp>
        <p:nvSpPr>
          <p:cNvPr id="14" name="TextBox 13">
            <a:extLst>
              <a:ext uri="{FF2B5EF4-FFF2-40B4-BE49-F238E27FC236}">
                <a16:creationId xmlns:a16="http://schemas.microsoft.com/office/drawing/2014/main" id="{47947670-37E1-5FDB-E9F5-6A0C11E4F2B3}"/>
              </a:ext>
            </a:extLst>
          </p:cNvPr>
          <p:cNvSpPr txBox="1"/>
          <p:nvPr/>
        </p:nvSpPr>
        <p:spPr>
          <a:xfrm>
            <a:off x="640080" y="6199632"/>
            <a:ext cx="10881360" cy="365760"/>
          </a:xfrm>
          <a:prstGeom prst="rect">
            <a:avLst/>
          </a:prstGeom>
          <a:noFill/>
        </p:spPr>
        <p:txBody>
          <a:bodyPr wrap="square" rtlCol="0">
            <a:spAutoFit/>
          </a:bodyPr>
          <a:lstStyle/>
          <a:p>
            <a:pPr algn="ctr"/>
            <a:r>
              <a:rPr lang="en-PH" sz="2000" i="1" dirty="0">
                <a:solidFill>
                  <a:schemeClr val="bg2">
                    <a:lumMod val="50000"/>
                  </a:schemeClr>
                </a:solidFill>
                <a:latin typeface="TT Hoves" panose="02000503030000020004" pitchFamily="50" charset="0"/>
              </a:rPr>
              <a:t>Prepared by </a:t>
            </a:r>
            <a:r>
              <a:rPr lang="en-PH" sz="2000" b="1" i="1" dirty="0">
                <a:solidFill>
                  <a:srgbClr val="F9770B"/>
                </a:solidFill>
                <a:latin typeface="TT Hoves" panose="02000503030000020004" pitchFamily="50" charset="0"/>
              </a:rPr>
              <a:t>Engr. Philip Jayson L. Lestojas</a:t>
            </a:r>
            <a:endParaRPr lang="en-PH" sz="2000" i="1" dirty="0">
              <a:solidFill>
                <a:srgbClr val="F9770B"/>
              </a:solidFill>
              <a:latin typeface="TT Hoves" panose="02000503030000020004" pitchFamily="50" charset="0"/>
            </a:endParaRPr>
          </a:p>
        </p:txBody>
      </p:sp>
      <p:sp>
        <p:nvSpPr>
          <p:cNvPr id="15" name="TextBox 14"/>
          <p:cNvSpPr txBox="1"/>
          <p:nvPr/>
        </p:nvSpPr>
        <p:spPr>
          <a:xfrm>
            <a:off x="640080" y="5074920"/>
            <a:ext cx="10881360" cy="822960"/>
          </a:xfrm>
          <a:prstGeom prst="rect">
            <a:avLst/>
          </a:prstGeom>
          <a:noFill/>
        </p:spPr>
        <p:txBody>
          <a:bodyPr wrap="square">
            <a:spAutoFit/>
          </a:bodyPr>
          <a:lstStyle/>
          <a:p>
            <a:pPr algn="ctr"/>
            <a:r>
              <a:rPr sz="3800" b="1">
                <a:latin typeface="TT Hoves ExtraBold"/>
              </a:rPr>
              <a:t>Projectile &amp; Circular Motion</a:t>
            </a:r>
          </a:p>
        </p:txBody>
      </p:sp>
      <p:sp>
        <p:nvSpPr>
          <p:cNvPr id="16" name="TextBox 15"/>
          <p:cNvSpPr txBox="1"/>
          <p:nvPr/>
        </p:nvSpPr>
        <p:spPr>
          <a:xfrm>
            <a:off x="640080" y="5788152"/>
            <a:ext cx="10881360" cy="457200"/>
          </a:xfrm>
          <a:prstGeom prst="rect">
            <a:avLst/>
          </a:prstGeom>
          <a:noFill/>
        </p:spPr>
        <p:txBody>
          <a:bodyPr wrap="square">
            <a:spAutoFit/>
          </a:bodyPr>
          <a:lstStyle/>
          <a:p>
            <a:pPr algn="ctr"/>
            <a:r>
              <a:rPr sz="1800" i="1">
                <a:latin typeface="TT Hoves"/>
              </a:rPr>
              <a:t>Motion in Two Dimensions  —  A First-Hand Investigation</a:t>
            </a:r>
          </a:p>
        </p:txBody>
      </p:sp>
    </p:spTree>
    <p:extLst>
      <p:ext uri="{BB962C8B-B14F-4D97-AF65-F5344CB8AC3E}">
        <p14:creationId xmlns:p14="http://schemas.microsoft.com/office/powerpoint/2010/main" val="2000679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6A392-8AE9-4B2A-B356-88267FE69389}"/>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ED4A2E74-629D-CD92-F111-E7B9DF93AEB6}"/>
              </a:ext>
            </a:extLst>
          </p:cNvPr>
          <p:cNvSpPr txBox="1"/>
          <p:nvPr/>
        </p:nvSpPr>
        <p:spPr>
          <a:xfrm>
            <a:off x="699400" y="619760"/>
            <a:ext cx="948944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Learning Competency</a:t>
            </a:r>
          </a:p>
        </p:txBody>
      </p:sp>
      <p:sp>
        <p:nvSpPr>
          <p:cNvPr id="4" name="TextBox 3">
            <a:extLst>
              <a:ext uri="{FF2B5EF4-FFF2-40B4-BE49-F238E27FC236}">
                <a16:creationId xmlns:a16="http://schemas.microsoft.com/office/drawing/2014/main" id="{EE76EB98-CF61-2512-3894-F1B8BDFD3E26}"/>
              </a:ext>
            </a:extLst>
          </p:cNvPr>
          <p:cNvSpPr txBox="1"/>
          <p:nvPr/>
        </p:nvSpPr>
        <p:spPr>
          <a:xfrm>
            <a:off x="749504" y="1674674"/>
            <a:ext cx="5814134" cy="1754326"/>
          </a:xfrm>
          <a:prstGeom prst="rect">
            <a:avLst/>
          </a:prstGeom>
          <a:noFill/>
        </p:spPr>
        <p:txBody>
          <a:bodyPr wrap="square">
            <a:spAutoFit/>
          </a:bodyPr>
          <a:lstStyle/>
          <a:p>
            <a:r>
              <a:rPr lang="en-PH" sz="3600">
                <a:latin typeface="TT Hoves" panose="02000503030000020004" pitchFamily="50" charset="0"/>
              </a:rPr>
              <a:t>Define the fundamental quantities and the basis of its SI units.</a:t>
            </a:r>
            <a:endParaRPr lang="en-PH" sz="3600" dirty="0">
              <a:latin typeface="TT Hoves" panose="02000503030000020004" pitchFamily="50" charset="0"/>
            </a:endParaRPr>
          </a:p>
        </p:txBody>
      </p:sp>
      <p:pic>
        <p:nvPicPr>
          <p:cNvPr id="6" name="Picture 5">
            <a:extLst>
              <a:ext uri="{FF2B5EF4-FFF2-40B4-BE49-F238E27FC236}">
                <a16:creationId xmlns:a16="http://schemas.microsoft.com/office/drawing/2014/main" id="{B7ECF8C2-D6B2-B225-82D5-289D6D5D0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9140" y="450936"/>
            <a:ext cx="3979403" cy="562446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Freeform: Shape 7">
            <a:extLst>
              <a:ext uri="{FF2B5EF4-FFF2-40B4-BE49-F238E27FC236}">
                <a16:creationId xmlns:a16="http://schemas.microsoft.com/office/drawing/2014/main" id="{79F1A5C0-5265-F8B7-569D-EABC841C6A7D}"/>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745A5F5D-569B-62A7-6B90-01589F321BE3}"/>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B4521DC9-AAA3-AB63-B4F3-D8D71EB66BF0}"/>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7" name="Freeform: Shape 11">
            <a:extLst>
              <a:ext uri="{FF2B5EF4-FFF2-40B4-BE49-F238E27FC236}">
                <a16:creationId xmlns:a16="http://schemas.microsoft.com/office/drawing/2014/main" id="{616E3609-DBCE-8316-696E-11BFE0DEE919}"/>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Tree>
    <p:extLst>
      <p:ext uri="{BB962C8B-B14F-4D97-AF65-F5344CB8AC3E}">
        <p14:creationId xmlns:p14="http://schemas.microsoft.com/office/powerpoint/2010/main" val="2376303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360C0-5EE5-4A32-53D0-A50D109174CC}"/>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55399DF9-DEE0-3816-4A38-8C65ACF67B85}"/>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EBB82D48-72C8-DF15-6833-DF3D5EE87871}"/>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B3DCD2F5-2BE6-E0D0-5410-0B6BBF9C11AE}"/>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454783B4-EDAD-14C3-1BE3-5A43E20F1978}"/>
              </a:ext>
            </a:extLst>
          </p:cNvPr>
          <p:cNvSpPr txBox="1"/>
          <p:nvPr/>
        </p:nvSpPr>
        <p:spPr>
          <a:xfrm>
            <a:off x="699400" y="619760"/>
            <a:ext cx="948944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Learning Objectives</a:t>
            </a:r>
          </a:p>
        </p:txBody>
      </p:sp>
      <p:sp>
        <p:nvSpPr>
          <p:cNvPr id="12" name="Freeform: Shape 11">
            <a:extLst>
              <a:ext uri="{FF2B5EF4-FFF2-40B4-BE49-F238E27FC236}">
                <a16:creationId xmlns:a16="http://schemas.microsoft.com/office/drawing/2014/main" id="{0596DFCA-6F48-0303-7E9A-89ED16F68BBE}"/>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7" name="TextBox 6">
            <a:extLst>
              <a:ext uri="{FF2B5EF4-FFF2-40B4-BE49-F238E27FC236}">
                <a16:creationId xmlns:a16="http://schemas.microsoft.com/office/drawing/2014/main" id="{D1B7530D-CC35-EA95-3062-3CA78047AEED}"/>
              </a:ext>
            </a:extLst>
          </p:cNvPr>
          <p:cNvSpPr txBox="1"/>
          <p:nvPr/>
        </p:nvSpPr>
        <p:spPr>
          <a:xfrm>
            <a:off x="1628384" y="1775520"/>
            <a:ext cx="10401056" cy="954107"/>
          </a:xfrm>
          <a:prstGeom prst="rect">
            <a:avLst/>
          </a:prstGeom>
          <a:noFill/>
        </p:spPr>
        <p:txBody>
          <a:bodyPr wrap="square" rtlCol="0">
            <a:spAutoFit/>
          </a:bodyPr>
          <a:lstStyle/>
          <a:p>
            <a:r>
              <a:rPr lang="en-PH" sz="2800" dirty="0">
                <a:latin typeface="TT Hoves" panose="02000503030000020004" pitchFamily="50" charset="0"/>
              </a:rPr>
              <a:t>Distinguish physical quantities from non-physical properties and identify the primary SI base units used in mechanics.</a:t>
            </a:r>
          </a:p>
        </p:txBody>
      </p:sp>
      <p:sp>
        <p:nvSpPr>
          <p:cNvPr id="14" name="TextBox 13">
            <a:extLst>
              <a:ext uri="{FF2B5EF4-FFF2-40B4-BE49-F238E27FC236}">
                <a16:creationId xmlns:a16="http://schemas.microsoft.com/office/drawing/2014/main" id="{68D300FA-8D3A-2AFD-492F-712B7478C157}"/>
              </a:ext>
            </a:extLst>
          </p:cNvPr>
          <p:cNvSpPr txBox="1"/>
          <p:nvPr/>
        </p:nvSpPr>
        <p:spPr>
          <a:xfrm>
            <a:off x="749504" y="1645859"/>
            <a:ext cx="9489440" cy="1200329"/>
          </a:xfrm>
          <a:prstGeom prst="rect">
            <a:avLst/>
          </a:prstGeom>
          <a:noFill/>
        </p:spPr>
        <p:txBody>
          <a:bodyPr wrap="square" rtlCol="0">
            <a:spAutoFit/>
          </a:bodyPr>
          <a:lstStyle/>
          <a:p>
            <a:r>
              <a:rPr lang="en-PH" sz="7200" dirty="0">
                <a:gradFill flip="none" rotWithShape="1">
                  <a:gsLst>
                    <a:gs pos="0">
                      <a:schemeClr val="bg1">
                        <a:lumMod val="50000"/>
                      </a:schemeClr>
                    </a:gs>
                    <a:gs pos="50000">
                      <a:schemeClr val="bg1">
                        <a:lumMod val="75000"/>
                      </a:schemeClr>
                    </a:gs>
                    <a:gs pos="100000">
                      <a:schemeClr val="bg1"/>
                    </a:gs>
                  </a:gsLst>
                  <a:path path="circle">
                    <a:fillToRect r="100000" b="100000"/>
                  </a:path>
                  <a:tileRect l="-100000" t="-100000"/>
                </a:gradFill>
                <a:latin typeface="TT Hoves ExtraBold" panose="02000903040000020004" pitchFamily="50" charset="0"/>
              </a:rPr>
              <a:t>1</a:t>
            </a:r>
          </a:p>
        </p:txBody>
      </p:sp>
      <p:sp>
        <p:nvSpPr>
          <p:cNvPr id="16" name="TextBox 15">
            <a:extLst>
              <a:ext uri="{FF2B5EF4-FFF2-40B4-BE49-F238E27FC236}">
                <a16:creationId xmlns:a16="http://schemas.microsoft.com/office/drawing/2014/main" id="{0AF6C98B-E2E9-CABE-07AC-9030E345B431}"/>
              </a:ext>
            </a:extLst>
          </p:cNvPr>
          <p:cNvSpPr txBox="1"/>
          <p:nvPr/>
        </p:nvSpPr>
        <p:spPr>
          <a:xfrm>
            <a:off x="699400" y="2843320"/>
            <a:ext cx="9489440" cy="1200329"/>
          </a:xfrm>
          <a:prstGeom prst="rect">
            <a:avLst/>
          </a:prstGeom>
          <a:noFill/>
        </p:spPr>
        <p:txBody>
          <a:bodyPr wrap="square" rtlCol="0">
            <a:spAutoFit/>
          </a:bodyPr>
          <a:lstStyle/>
          <a:p>
            <a:r>
              <a:rPr lang="en-PH" sz="7200" dirty="0">
                <a:gradFill flip="none" rotWithShape="1">
                  <a:gsLst>
                    <a:gs pos="0">
                      <a:schemeClr val="bg1">
                        <a:lumMod val="50000"/>
                      </a:schemeClr>
                    </a:gs>
                    <a:gs pos="50000">
                      <a:schemeClr val="bg1">
                        <a:lumMod val="75000"/>
                      </a:schemeClr>
                    </a:gs>
                    <a:gs pos="100000">
                      <a:schemeClr val="bg1"/>
                    </a:gs>
                  </a:gsLst>
                  <a:path path="circle">
                    <a:fillToRect r="100000" b="100000"/>
                  </a:path>
                  <a:tileRect l="-100000" t="-100000"/>
                </a:gradFill>
                <a:latin typeface="TT Hoves ExtraBold" panose="02000903040000020004" pitchFamily="50" charset="0"/>
              </a:rPr>
              <a:t>2</a:t>
            </a:r>
          </a:p>
        </p:txBody>
      </p:sp>
      <p:sp>
        <p:nvSpPr>
          <p:cNvPr id="18" name="TextBox 17">
            <a:extLst>
              <a:ext uri="{FF2B5EF4-FFF2-40B4-BE49-F238E27FC236}">
                <a16:creationId xmlns:a16="http://schemas.microsoft.com/office/drawing/2014/main" id="{1A11D946-1525-798C-16FA-A07EFC332EA4}"/>
              </a:ext>
            </a:extLst>
          </p:cNvPr>
          <p:cNvSpPr txBox="1"/>
          <p:nvPr/>
        </p:nvSpPr>
        <p:spPr>
          <a:xfrm>
            <a:off x="1628384" y="2951946"/>
            <a:ext cx="10033348" cy="954107"/>
          </a:xfrm>
          <a:prstGeom prst="rect">
            <a:avLst/>
          </a:prstGeom>
          <a:noFill/>
        </p:spPr>
        <p:txBody>
          <a:bodyPr wrap="square" rtlCol="0">
            <a:spAutoFit/>
          </a:bodyPr>
          <a:lstStyle/>
          <a:p>
            <a:r>
              <a:rPr lang="en-PH" sz="2800" dirty="0">
                <a:latin typeface="TT Hoves" panose="02000503030000020004" pitchFamily="50" charset="0"/>
              </a:rPr>
              <a:t>Express physical quantities across varying scales using metric prefixes and scientific notation.</a:t>
            </a:r>
          </a:p>
        </p:txBody>
      </p:sp>
      <p:sp>
        <p:nvSpPr>
          <p:cNvPr id="20" name="TextBox 19">
            <a:extLst>
              <a:ext uri="{FF2B5EF4-FFF2-40B4-BE49-F238E27FC236}">
                <a16:creationId xmlns:a16="http://schemas.microsoft.com/office/drawing/2014/main" id="{6A3D922A-D9D4-D5D6-42A2-2964E6622012}"/>
              </a:ext>
            </a:extLst>
          </p:cNvPr>
          <p:cNvSpPr txBox="1"/>
          <p:nvPr/>
        </p:nvSpPr>
        <p:spPr>
          <a:xfrm>
            <a:off x="699400" y="4011812"/>
            <a:ext cx="9489440" cy="1200329"/>
          </a:xfrm>
          <a:prstGeom prst="rect">
            <a:avLst/>
          </a:prstGeom>
          <a:noFill/>
        </p:spPr>
        <p:txBody>
          <a:bodyPr wrap="square" rtlCol="0">
            <a:spAutoFit/>
          </a:bodyPr>
          <a:lstStyle/>
          <a:p>
            <a:r>
              <a:rPr lang="en-PH" sz="7200" dirty="0">
                <a:gradFill flip="none" rotWithShape="1">
                  <a:gsLst>
                    <a:gs pos="0">
                      <a:schemeClr val="bg1">
                        <a:lumMod val="50000"/>
                      </a:schemeClr>
                    </a:gs>
                    <a:gs pos="50000">
                      <a:schemeClr val="bg1">
                        <a:lumMod val="75000"/>
                      </a:schemeClr>
                    </a:gs>
                    <a:gs pos="100000">
                      <a:schemeClr val="bg1"/>
                    </a:gs>
                  </a:gsLst>
                  <a:path path="circle">
                    <a:fillToRect r="100000" b="100000"/>
                  </a:path>
                  <a:tileRect l="-100000" t="-100000"/>
                </a:gradFill>
                <a:latin typeface="TT Hoves ExtraBold" panose="02000903040000020004" pitchFamily="50" charset="0"/>
              </a:rPr>
              <a:t>3</a:t>
            </a:r>
          </a:p>
        </p:txBody>
      </p:sp>
      <p:sp>
        <p:nvSpPr>
          <p:cNvPr id="22" name="TextBox 21">
            <a:extLst>
              <a:ext uri="{FF2B5EF4-FFF2-40B4-BE49-F238E27FC236}">
                <a16:creationId xmlns:a16="http://schemas.microsoft.com/office/drawing/2014/main" id="{557AE4C2-7F1F-10C0-A246-F4C3C209616C}"/>
              </a:ext>
            </a:extLst>
          </p:cNvPr>
          <p:cNvSpPr txBox="1"/>
          <p:nvPr/>
        </p:nvSpPr>
        <p:spPr>
          <a:xfrm>
            <a:off x="1628384" y="4128883"/>
            <a:ext cx="10033348" cy="954107"/>
          </a:xfrm>
          <a:prstGeom prst="rect">
            <a:avLst/>
          </a:prstGeom>
          <a:noFill/>
        </p:spPr>
        <p:txBody>
          <a:bodyPr wrap="square" rtlCol="0">
            <a:spAutoFit/>
          </a:bodyPr>
          <a:lstStyle/>
          <a:p>
            <a:r>
              <a:rPr lang="en-PH" sz="2800" dirty="0">
                <a:latin typeface="TT Hoves" panose="02000503030000020004" pitchFamily="50" charset="0"/>
              </a:rPr>
              <a:t>Convert units between metric and non-metric systems to solve real-world dimensional problems.</a:t>
            </a:r>
          </a:p>
        </p:txBody>
      </p:sp>
    </p:spTree>
    <p:extLst>
      <p:ext uri="{BB962C8B-B14F-4D97-AF65-F5344CB8AC3E}">
        <p14:creationId xmlns:p14="http://schemas.microsoft.com/office/powerpoint/2010/main" val="369278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55095-7D36-732A-93EC-5DE0226C2153}"/>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Physical Quantities</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398" y="1537117"/>
            <a:ext cx="10669642" cy="3970318"/>
          </a:xfrm>
          <a:prstGeom prst="rect">
            <a:avLst/>
          </a:prstGeom>
          <a:noFill/>
        </p:spPr>
        <p:txBody>
          <a:bodyPr wrap="square" rtlCol="0">
            <a:spAutoFit/>
          </a:bodyPr>
          <a:lstStyle/>
          <a:p>
            <a:r>
              <a:rPr lang="en-PH" sz="2800" dirty="0">
                <a:latin typeface="TT Hoves" panose="02000503030000020004" pitchFamily="50" charset="0"/>
              </a:rPr>
              <a:t>Physics relies entirely on objective, measurable properties of our universe.</a:t>
            </a:r>
          </a:p>
          <a:p>
            <a:pPr marL="457200" indent="-457200">
              <a:buFont typeface="Arial" panose="020B0604020202020204" pitchFamily="34" charset="0"/>
              <a:buChar char="•"/>
            </a:pPr>
            <a:r>
              <a:rPr lang="en-PH" sz="2800" b="1" dirty="0">
                <a:latin typeface="TT Hoves" panose="02000503030000020004" pitchFamily="50" charset="0"/>
              </a:rPr>
              <a:t>Physical Quantities</a:t>
            </a:r>
            <a:r>
              <a:rPr lang="en-PH" sz="2800" dirty="0">
                <a:latin typeface="TT Hoves" panose="02000503030000020004" pitchFamily="50" charset="0"/>
              </a:rPr>
              <a:t> are any quantifiable properties of an object or phenomenon that can be measured with an instrument or calculated.</a:t>
            </a:r>
          </a:p>
          <a:p>
            <a:pPr marL="457200" indent="-457200">
              <a:buFont typeface="Arial" panose="020B0604020202020204" pitchFamily="34" charset="0"/>
              <a:buChar char="•"/>
            </a:pPr>
            <a:r>
              <a:rPr lang="en-PH" sz="2800" dirty="0">
                <a:latin typeface="TT Hoves" panose="02000503030000020004" pitchFamily="50" charset="0"/>
              </a:rPr>
              <a:t>Non-physical properties, such as emotional states or subjective beauty, fall entirely outside the domain of empirical physics because they cannot be assigned a standardized numerical value.</a:t>
            </a:r>
          </a:p>
        </p:txBody>
      </p:sp>
    </p:spTree>
    <p:extLst>
      <p:ext uri="{BB962C8B-B14F-4D97-AF65-F5344CB8AC3E}">
        <p14:creationId xmlns:p14="http://schemas.microsoft.com/office/powerpoint/2010/main" val="382415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1ECB-4C2D-C032-050E-D7AE08D18EFD}"/>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1CE4860D-023F-E906-B048-28661628AC5B}"/>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6056DAF-C66F-FE65-F86B-AE475CF8BB6E}"/>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E9589210-8F4D-5A13-5B23-F2EE60D422DD}"/>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FF3B93C3-41F8-4035-CB05-4C38508E888B}"/>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SI Base Units</a:t>
            </a:r>
          </a:p>
        </p:txBody>
      </p:sp>
      <p:sp>
        <p:nvSpPr>
          <p:cNvPr id="12" name="Freeform: Shape 11">
            <a:extLst>
              <a:ext uri="{FF2B5EF4-FFF2-40B4-BE49-F238E27FC236}">
                <a16:creationId xmlns:a16="http://schemas.microsoft.com/office/drawing/2014/main" id="{8BFE8293-7D75-EEBF-C2C0-A8040DC500A6}"/>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B896015-5CDA-27BF-1A53-6FCD269C0969}"/>
                  </a:ext>
                </a:extLst>
              </p:cNvPr>
              <p:cNvSpPr txBox="1"/>
              <p:nvPr/>
            </p:nvSpPr>
            <p:spPr>
              <a:xfrm>
                <a:off x="699398" y="1537117"/>
                <a:ext cx="10669642" cy="2677656"/>
              </a:xfrm>
              <a:prstGeom prst="rect">
                <a:avLst/>
              </a:prstGeom>
              <a:noFill/>
            </p:spPr>
            <p:txBody>
              <a:bodyPr wrap="square" rtlCol="0">
                <a:spAutoFit/>
              </a:bodyPr>
              <a:lstStyle/>
              <a:p>
                <a:r>
                  <a:rPr lang="en-PH" sz="2800" dirty="0">
                    <a:latin typeface="TT Hoves" panose="02000503030000020004" pitchFamily="50" charset="0"/>
                  </a:rPr>
                  <a:t>Mechanics is completely built upon three primary base units from the International System of Units (SI).</a:t>
                </a:r>
              </a:p>
              <a:p>
                <a:endParaRPr lang="en-PH" sz="2800" dirty="0">
                  <a:latin typeface="TT Hoves" panose="02000503030000020004" pitchFamily="50" charset="0"/>
                </a:endParaRPr>
              </a:p>
              <a:p>
                <a:pPr marL="457200" indent="-457200">
                  <a:buFont typeface="Arial" panose="020B0604020202020204" pitchFamily="34" charset="0"/>
                  <a:buChar char="•"/>
                </a:pPr>
                <a:r>
                  <a:rPr lang="en-PH" sz="2800" b="1" dirty="0">
                    <a:latin typeface="TT Hoves" panose="02000503030000020004" pitchFamily="50" charset="0"/>
                  </a:rPr>
                  <a:t>Length (</a:t>
                </a:r>
                <a14:m>
                  <m:oMath xmlns:m="http://schemas.openxmlformats.org/officeDocument/2006/math">
                    <m:r>
                      <a:rPr lang="en-PH" sz="2800" i="1">
                        <a:latin typeface="Cambria Math" panose="02040503050406030204" pitchFamily="18" charset="0"/>
                      </a:rPr>
                      <m:t>𝐿</m:t>
                    </m:r>
                  </m:oMath>
                </a14:m>
                <a:r>
                  <a:rPr lang="en-PH" sz="2800" b="1" dirty="0">
                    <a:latin typeface="TT Hoves" panose="02000503030000020004" pitchFamily="50" charset="0"/>
                  </a:rPr>
                  <a:t>):</a:t>
                </a:r>
                <a:r>
                  <a:rPr lang="en-PH" sz="2800" dirty="0">
                    <a:latin typeface="TT Hoves" panose="02000503030000020004" pitchFamily="50" charset="0"/>
                  </a:rPr>
                  <a:t> Measured in </a:t>
                </a:r>
                <a:r>
                  <a:rPr lang="en-PH" sz="2800" b="1" dirty="0">
                    <a:latin typeface="TT Hoves" panose="02000503030000020004" pitchFamily="50" charset="0"/>
                  </a:rPr>
                  <a:t>meters (</a:t>
                </a:r>
                <a14:m>
                  <m:oMath xmlns:m="http://schemas.openxmlformats.org/officeDocument/2006/math">
                    <m:r>
                      <m:rPr>
                        <m:nor/>
                      </m:rPr>
                      <a:rPr lang="en-PH" sz="2800" i="0">
                        <a:latin typeface="TT Hoves" panose="02000503030000020004" pitchFamily="50" charset="0"/>
                      </a:rPr>
                      <m:t>m</m:t>
                    </m:r>
                  </m:oMath>
                </a14:m>
                <a:r>
                  <a:rPr lang="en-PH" sz="2800" b="1" dirty="0">
                    <a:latin typeface="TT Hoves" panose="02000503030000020004" pitchFamily="50" charset="0"/>
                  </a:rPr>
                  <a:t>)</a:t>
                </a:r>
                <a:endParaRPr lang="en-PH" sz="2800" dirty="0">
                  <a:latin typeface="TT Hoves" panose="02000503030000020004" pitchFamily="50" charset="0"/>
                </a:endParaRPr>
              </a:p>
              <a:p>
                <a:pPr marL="457200" indent="-457200">
                  <a:buFont typeface="Arial" panose="020B0604020202020204" pitchFamily="34" charset="0"/>
                  <a:buChar char="•"/>
                </a:pPr>
                <a:r>
                  <a:rPr lang="en-PH" sz="2800" b="1" dirty="0">
                    <a:latin typeface="TT Hoves" panose="02000503030000020004" pitchFamily="50" charset="0"/>
                  </a:rPr>
                  <a:t>Mass (</a:t>
                </a:r>
                <a14:m>
                  <m:oMath xmlns:m="http://schemas.openxmlformats.org/officeDocument/2006/math">
                    <m:r>
                      <a:rPr lang="en-PH" sz="2800" i="1">
                        <a:latin typeface="Cambria Math" panose="02040503050406030204" pitchFamily="18" charset="0"/>
                      </a:rPr>
                      <m:t>𝑀</m:t>
                    </m:r>
                  </m:oMath>
                </a14:m>
                <a:r>
                  <a:rPr lang="en-PH" sz="2800" b="1" dirty="0">
                    <a:latin typeface="TT Hoves" panose="02000503030000020004" pitchFamily="50" charset="0"/>
                  </a:rPr>
                  <a:t>):</a:t>
                </a:r>
                <a:r>
                  <a:rPr lang="en-PH" sz="2800" dirty="0">
                    <a:latin typeface="TT Hoves" panose="02000503030000020004" pitchFamily="50" charset="0"/>
                  </a:rPr>
                  <a:t> Measured in </a:t>
                </a:r>
                <a:r>
                  <a:rPr lang="en-PH" sz="2800" b="1" dirty="0">
                    <a:latin typeface="TT Hoves" panose="02000503030000020004" pitchFamily="50" charset="0"/>
                  </a:rPr>
                  <a:t>kilograms (</a:t>
                </a:r>
                <a14:m>
                  <m:oMath xmlns:m="http://schemas.openxmlformats.org/officeDocument/2006/math">
                    <m:r>
                      <m:rPr>
                        <m:nor/>
                      </m:rPr>
                      <a:rPr lang="en-PH" sz="2800" i="0">
                        <a:latin typeface="TT Hoves" panose="02000503030000020004" pitchFamily="50" charset="0"/>
                      </a:rPr>
                      <m:t>kg</m:t>
                    </m:r>
                  </m:oMath>
                </a14:m>
                <a:r>
                  <a:rPr lang="en-PH" sz="2800" b="1" dirty="0">
                    <a:latin typeface="TT Hoves" panose="02000503030000020004" pitchFamily="50" charset="0"/>
                  </a:rPr>
                  <a:t>)</a:t>
                </a:r>
                <a:endParaRPr lang="en-PH" sz="2800" dirty="0">
                  <a:latin typeface="TT Hoves" panose="02000503030000020004" pitchFamily="50" charset="0"/>
                </a:endParaRPr>
              </a:p>
              <a:p>
                <a:pPr marL="457200" indent="-457200">
                  <a:buFont typeface="Arial" panose="020B0604020202020204" pitchFamily="34" charset="0"/>
                  <a:buChar char="•"/>
                </a:pPr>
                <a:r>
                  <a:rPr lang="en-PH" sz="2800" b="1" dirty="0">
                    <a:latin typeface="TT Hoves" panose="02000503030000020004" pitchFamily="50" charset="0"/>
                  </a:rPr>
                  <a:t>Time (</a:t>
                </a:r>
                <a14:m>
                  <m:oMath xmlns:m="http://schemas.openxmlformats.org/officeDocument/2006/math">
                    <m:r>
                      <a:rPr lang="en-PH" sz="2800" i="1">
                        <a:latin typeface="Cambria Math" panose="02040503050406030204" pitchFamily="18" charset="0"/>
                      </a:rPr>
                      <m:t>𝑇</m:t>
                    </m:r>
                  </m:oMath>
                </a14:m>
                <a:r>
                  <a:rPr lang="en-PH" sz="2800" b="1" dirty="0">
                    <a:latin typeface="TT Hoves" panose="02000503030000020004" pitchFamily="50" charset="0"/>
                  </a:rPr>
                  <a:t>):</a:t>
                </a:r>
                <a:r>
                  <a:rPr lang="en-PH" sz="2800" dirty="0">
                    <a:latin typeface="TT Hoves" panose="02000503030000020004" pitchFamily="50" charset="0"/>
                  </a:rPr>
                  <a:t> Measured in </a:t>
                </a:r>
                <a:r>
                  <a:rPr lang="en-PH" sz="2800" b="1" dirty="0">
                    <a:latin typeface="TT Hoves" panose="02000503030000020004" pitchFamily="50" charset="0"/>
                  </a:rPr>
                  <a:t>seconds (</a:t>
                </a:r>
                <a14:m>
                  <m:oMath xmlns:m="http://schemas.openxmlformats.org/officeDocument/2006/math">
                    <m:r>
                      <m:rPr>
                        <m:nor/>
                      </m:rPr>
                      <a:rPr lang="en-PH" sz="2800" i="0">
                        <a:latin typeface="TT Hoves" panose="02000503030000020004" pitchFamily="50" charset="0"/>
                      </a:rPr>
                      <m:t>s</m:t>
                    </m:r>
                  </m:oMath>
                </a14:m>
                <a:r>
                  <a:rPr lang="en-PH" sz="2800" b="1" dirty="0">
                    <a:latin typeface="TT Hoves" panose="02000503030000020004" pitchFamily="50" charset="0"/>
                  </a:rPr>
                  <a:t>)</a:t>
                </a:r>
              </a:p>
            </p:txBody>
          </p:sp>
        </mc:Choice>
        <mc:Fallback xmlns="">
          <p:sp>
            <p:nvSpPr>
              <p:cNvPr id="9" name="TextBox 8">
                <a:extLst>
                  <a:ext uri="{FF2B5EF4-FFF2-40B4-BE49-F238E27FC236}">
                    <a16:creationId xmlns:a16="http://schemas.microsoft.com/office/drawing/2014/main" id="{BB896015-5CDA-27BF-1A53-6FCD269C0969}"/>
                  </a:ext>
                </a:extLst>
              </p:cNvPr>
              <p:cNvSpPr txBox="1">
                <a:spLocks noRot="1" noChangeAspect="1" noMove="1" noResize="1" noEditPoints="1" noAdjustHandles="1" noChangeArrowheads="1" noChangeShapeType="1" noTextEdit="1"/>
              </p:cNvSpPr>
              <p:nvPr/>
            </p:nvSpPr>
            <p:spPr>
              <a:xfrm>
                <a:off x="699398" y="1537117"/>
                <a:ext cx="10669642" cy="2677656"/>
              </a:xfrm>
              <a:prstGeom prst="rect">
                <a:avLst/>
              </a:prstGeom>
              <a:blipFill>
                <a:blip r:embed="rId3"/>
                <a:stretch>
                  <a:fillRect l="-1200" t="-2278" b="-5467"/>
                </a:stretch>
              </a:blipFill>
            </p:spPr>
            <p:txBody>
              <a:bodyPr/>
              <a:lstStyle/>
              <a:p>
                <a:r>
                  <a:rPr lang="en-PH">
                    <a:noFill/>
                  </a:rPr>
                  <a:t> </a:t>
                </a:r>
              </a:p>
            </p:txBody>
          </p:sp>
        </mc:Fallback>
      </mc:AlternateContent>
    </p:spTree>
    <p:extLst>
      <p:ext uri="{BB962C8B-B14F-4D97-AF65-F5344CB8AC3E}">
        <p14:creationId xmlns:p14="http://schemas.microsoft.com/office/powerpoint/2010/main" val="989536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92675-FCCC-4766-D4F3-EB98E4AE3506}"/>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37EBECD2-6A48-6967-F94E-3D570FD118F2}"/>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53CE191D-5AFE-DB22-36D2-4FB32C370E18}"/>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343CF871-22EC-61D9-18D7-EA956A6C2E25}"/>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94E61BA9-763D-9EF4-7BEA-FC347B147069}"/>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Metric Prefixes</a:t>
            </a:r>
          </a:p>
        </p:txBody>
      </p:sp>
      <p:sp>
        <p:nvSpPr>
          <p:cNvPr id="12" name="Freeform: Shape 11">
            <a:extLst>
              <a:ext uri="{FF2B5EF4-FFF2-40B4-BE49-F238E27FC236}">
                <a16:creationId xmlns:a16="http://schemas.microsoft.com/office/drawing/2014/main" id="{FAC4B74D-7C5E-7607-14F6-AA92844F821F}"/>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BC443784-9533-B794-7702-EA259839652F}"/>
                  </a:ext>
                </a:extLst>
              </p:cNvPr>
              <p:cNvSpPr txBox="1"/>
              <p:nvPr/>
            </p:nvSpPr>
            <p:spPr>
              <a:xfrm>
                <a:off x="699397" y="1537117"/>
                <a:ext cx="11075507" cy="1815882"/>
              </a:xfrm>
              <a:prstGeom prst="rect">
                <a:avLst/>
              </a:prstGeom>
              <a:noFill/>
            </p:spPr>
            <p:txBody>
              <a:bodyPr wrap="square" rtlCol="0">
                <a:spAutoFit/>
              </a:bodyPr>
              <a:lstStyle/>
              <a:p>
                <a:pPr marL="285750" indent="-285750">
                  <a:buFont typeface="Arial" panose="020B0604020202020204" pitchFamily="34" charset="0"/>
                  <a:buChar char="•"/>
                </a:pPr>
                <a:r>
                  <a:rPr lang="en-PH" sz="2800" dirty="0">
                    <a:latin typeface="TT Hoves" panose="02000503030000020004" pitchFamily="50" charset="0"/>
                  </a:rPr>
                  <a:t>Quantities tracking extreme scales are expressed uniformly using </a:t>
                </a:r>
                <a:r>
                  <a:rPr lang="en-PH" sz="2800" b="1" dirty="0">
                    <a:latin typeface="TT Hoves" panose="02000503030000020004" pitchFamily="50" charset="0"/>
                  </a:rPr>
                  <a:t>Scientific Notation</a:t>
                </a:r>
                <a:r>
                  <a:rPr lang="en-PH" sz="2800" dirty="0">
                    <a:latin typeface="TT Hoves" panose="02000503030000020004" pitchFamily="50" charset="0"/>
                  </a:rPr>
                  <a:t> (</a:t>
                </a:r>
                <a14:m>
                  <m:oMath xmlns:m="http://schemas.openxmlformats.org/officeDocument/2006/math">
                    <m:r>
                      <a:rPr lang="en-PH" sz="2800" i="1">
                        <a:latin typeface="Cambria Math" panose="02040503050406030204" pitchFamily="18" charset="0"/>
                      </a:rPr>
                      <m:t>𝑀</m:t>
                    </m:r>
                    <m:r>
                      <a:rPr lang="en-PH" sz="2800">
                        <a:latin typeface="Cambria Math" panose="02040503050406030204" pitchFamily="18" charset="0"/>
                      </a:rPr>
                      <m:t>×</m:t>
                    </m:r>
                    <m:sSup>
                      <m:sSupPr>
                        <m:ctrlPr>
                          <a:rPr lang="en-PH" sz="2800" i="1">
                            <a:latin typeface="Cambria Math" panose="02040503050406030204" pitchFamily="18" charset="0"/>
                          </a:rPr>
                        </m:ctrlPr>
                      </m:sSupPr>
                      <m:e>
                        <m:r>
                          <a:rPr lang="en-PH" sz="2800">
                            <a:latin typeface="Cambria Math" panose="02040503050406030204" pitchFamily="18" charset="0"/>
                          </a:rPr>
                          <m:t>10</m:t>
                        </m:r>
                      </m:e>
                      <m:sup>
                        <m:r>
                          <a:rPr lang="en-PH" sz="2800" i="1">
                            <a:latin typeface="Cambria Math" panose="02040503050406030204" pitchFamily="18" charset="0"/>
                          </a:rPr>
                          <m:t>𝑛</m:t>
                        </m:r>
                      </m:sup>
                    </m:sSup>
                  </m:oMath>
                </a14:m>
                <a:r>
                  <a:rPr lang="en-PH" sz="2800" dirty="0">
                    <a:latin typeface="TT Hoves" panose="02000503030000020004" pitchFamily="50" charset="0"/>
                  </a:rPr>
                  <a:t>).</a:t>
                </a:r>
              </a:p>
              <a:p>
                <a:endParaRPr lang="en-PH" sz="2800" dirty="0">
                  <a:latin typeface="TT Hoves" panose="02000503030000020004" pitchFamily="50" charset="0"/>
                </a:endParaRPr>
              </a:p>
              <a:p>
                <a:pPr marL="285750" indent="-285750">
                  <a:buFont typeface="Arial" panose="020B0604020202020204" pitchFamily="34" charset="0"/>
                  <a:buChar char="•"/>
                </a:pPr>
                <a:r>
                  <a:rPr lang="en-PH" sz="2800" i="1" dirty="0">
                    <a:latin typeface="TT Hoves" panose="02000503030000020004" pitchFamily="50" charset="0"/>
                  </a:rPr>
                  <a:t>Example:</a:t>
                </a:r>
                <a:r>
                  <a:rPr lang="en-PH" sz="2800" dirty="0">
                    <a:latin typeface="TT Hoves" panose="02000503030000020004" pitchFamily="50" charset="0"/>
                  </a:rPr>
                  <a:t> </a:t>
                </a:r>
                <a14:m>
                  <m:oMath xmlns:m="http://schemas.openxmlformats.org/officeDocument/2006/math">
                    <m:r>
                      <a:rPr lang="en-PH" sz="2800">
                        <a:latin typeface="Cambria Math" panose="02040503050406030204" pitchFamily="18" charset="0"/>
                      </a:rPr>
                      <m:t>45.2</m:t>
                    </m:r>
                    <m:r>
                      <m:rPr>
                        <m:nor/>
                      </m:rPr>
                      <a:rPr lang="en-PH" sz="2800" i="0">
                        <a:latin typeface="TT Hoves" panose="02000503030000020004" pitchFamily="50" charset="0"/>
                      </a:rPr>
                      <m:t> </m:t>
                    </m:r>
                    <m:r>
                      <m:rPr>
                        <m:nor/>
                      </m:rPr>
                      <a:rPr lang="en-PH" sz="2800" i="0">
                        <a:latin typeface="TT Hoves" panose="02000503030000020004" pitchFamily="50" charset="0"/>
                      </a:rPr>
                      <m:t>km</m:t>
                    </m:r>
                    <m:r>
                      <a:rPr lang="en-PH" sz="2800">
                        <a:latin typeface="Cambria Math" panose="02040503050406030204" pitchFamily="18" charset="0"/>
                      </a:rPr>
                      <m:t>=45.2×</m:t>
                    </m:r>
                    <m:sSup>
                      <m:sSupPr>
                        <m:ctrlPr>
                          <a:rPr lang="en-PH" sz="2800" i="1">
                            <a:latin typeface="Cambria Math" panose="02040503050406030204" pitchFamily="18" charset="0"/>
                          </a:rPr>
                        </m:ctrlPr>
                      </m:sSupPr>
                      <m:e>
                        <m:r>
                          <a:rPr lang="en-PH" sz="2800">
                            <a:latin typeface="Cambria Math" panose="02040503050406030204" pitchFamily="18" charset="0"/>
                          </a:rPr>
                          <m:t>10</m:t>
                        </m:r>
                      </m:e>
                      <m:sup>
                        <m:r>
                          <a:rPr lang="en-PH" sz="2800">
                            <a:latin typeface="Cambria Math" panose="02040503050406030204" pitchFamily="18" charset="0"/>
                          </a:rPr>
                          <m:t>3</m:t>
                        </m:r>
                      </m:sup>
                    </m:sSup>
                    <m:r>
                      <m:rPr>
                        <m:nor/>
                      </m:rPr>
                      <a:rPr lang="en-PH" sz="2800" i="0">
                        <a:latin typeface="TT Hoves" panose="02000503030000020004" pitchFamily="50" charset="0"/>
                      </a:rPr>
                      <m:t> </m:t>
                    </m:r>
                    <m:r>
                      <m:rPr>
                        <m:nor/>
                      </m:rPr>
                      <a:rPr lang="en-PH" sz="2800" i="0">
                        <a:latin typeface="TT Hoves" panose="02000503030000020004" pitchFamily="50" charset="0"/>
                      </a:rPr>
                      <m:t>m</m:t>
                    </m:r>
                  </m:oMath>
                </a14:m>
                <a:endParaRPr lang="en-PH" sz="2800" dirty="0">
                  <a:latin typeface="TT Hoves" panose="02000503030000020004" pitchFamily="50" charset="0"/>
                </a:endParaRPr>
              </a:p>
            </p:txBody>
          </p:sp>
        </mc:Choice>
        <mc:Fallback>
          <p:sp>
            <p:nvSpPr>
              <p:cNvPr id="9" name="TextBox 8">
                <a:extLst>
                  <a:ext uri="{FF2B5EF4-FFF2-40B4-BE49-F238E27FC236}">
                    <a16:creationId xmlns:a16="http://schemas.microsoft.com/office/drawing/2014/main" id="{BC443784-9533-B794-7702-EA259839652F}"/>
                  </a:ext>
                </a:extLst>
              </p:cNvPr>
              <p:cNvSpPr txBox="1">
                <a:spLocks noRot="1" noChangeAspect="1" noMove="1" noResize="1" noEditPoints="1" noAdjustHandles="1" noChangeArrowheads="1" noChangeShapeType="1" noTextEdit="1"/>
              </p:cNvSpPr>
              <p:nvPr/>
            </p:nvSpPr>
            <p:spPr>
              <a:xfrm>
                <a:off x="699397" y="1537117"/>
                <a:ext cx="11075507" cy="1815882"/>
              </a:xfrm>
              <a:prstGeom prst="rect">
                <a:avLst/>
              </a:prstGeom>
              <a:blipFill>
                <a:blip r:embed="rId3"/>
                <a:stretch>
                  <a:fillRect l="-1031" t="-3472" b="-8333"/>
                </a:stretch>
              </a:blipFill>
            </p:spPr>
            <p:txBody>
              <a:bodyPr/>
              <a:lstStyle/>
              <a:p>
                <a:r>
                  <a:rPr lang="en-US">
                    <a:noFill/>
                  </a:rPr>
                  <a:t> </a:t>
                </a:r>
              </a:p>
            </p:txBody>
          </p:sp>
        </mc:Fallback>
      </mc:AlternateContent>
    </p:spTree>
    <p:extLst>
      <p:ext uri="{BB962C8B-B14F-4D97-AF65-F5344CB8AC3E}">
        <p14:creationId xmlns:p14="http://schemas.microsoft.com/office/powerpoint/2010/main" val="858315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8ED30-2D27-49AB-1912-7D5D546F8EC3}"/>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D8FC1392-3749-C12F-FBF1-5AC06293E2E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9AA5AF2D-176D-00F9-03DC-0F6317948E17}"/>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8A105788-B85D-D5FF-A202-23EEB2D49EC7}"/>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B0D06600-1FD4-B6C9-BC91-EAC9D312B286}"/>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Metric Prefixes</a:t>
            </a:r>
          </a:p>
        </p:txBody>
      </p:sp>
      <p:sp>
        <p:nvSpPr>
          <p:cNvPr id="12" name="Freeform: Shape 11">
            <a:extLst>
              <a:ext uri="{FF2B5EF4-FFF2-40B4-BE49-F238E27FC236}">
                <a16:creationId xmlns:a16="http://schemas.microsoft.com/office/drawing/2014/main" id="{FB707D16-3867-13DB-F3D6-E4B1B878841E}"/>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pic>
        <p:nvPicPr>
          <p:cNvPr id="4" name="Picture 3">
            <a:extLst>
              <a:ext uri="{FF2B5EF4-FFF2-40B4-BE49-F238E27FC236}">
                <a16:creationId xmlns:a16="http://schemas.microsoft.com/office/drawing/2014/main" id="{241A534F-F29E-ACBB-7552-3C351B50D7EA}"/>
              </a:ext>
            </a:extLst>
          </p:cNvPr>
          <p:cNvPicPr>
            <a:picLocks noChangeAspect="1"/>
          </p:cNvPicPr>
          <p:nvPr/>
        </p:nvPicPr>
        <p:blipFill>
          <a:blip r:embed="rId3"/>
          <a:srcRect t="12689"/>
          <a:stretch>
            <a:fillRect/>
          </a:stretch>
        </p:blipFill>
        <p:spPr>
          <a:xfrm>
            <a:off x="699400" y="1497545"/>
            <a:ext cx="10754894" cy="3764265"/>
          </a:xfrm>
          <a:prstGeom prst="rect">
            <a:avLst/>
          </a:prstGeom>
        </p:spPr>
      </p:pic>
    </p:spTree>
    <p:extLst>
      <p:ext uri="{BB962C8B-B14F-4D97-AF65-F5344CB8AC3E}">
        <p14:creationId xmlns:p14="http://schemas.microsoft.com/office/powerpoint/2010/main" val="90928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89C32-F1B2-3B86-FD4C-37D2FB524151}"/>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83F8DCC5-0184-36AD-95E7-B16C4AB7DEF2}"/>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A0BAEFD9-D3B3-3910-0A35-D44E0588E827}"/>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EAFFE586-9DA1-4F42-A37F-08437AA2BFB2}"/>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94662012-79EF-2540-462B-CBD5960F06F0}"/>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Conversion of Units</a:t>
            </a:r>
          </a:p>
        </p:txBody>
      </p:sp>
      <p:sp>
        <p:nvSpPr>
          <p:cNvPr id="12" name="Freeform: Shape 11">
            <a:extLst>
              <a:ext uri="{FF2B5EF4-FFF2-40B4-BE49-F238E27FC236}">
                <a16:creationId xmlns:a16="http://schemas.microsoft.com/office/drawing/2014/main" id="{8934A560-4C75-093F-A3FF-9E3871FF3A98}"/>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pic>
        <p:nvPicPr>
          <p:cNvPr id="9" name="Picture 8">
            <a:extLst>
              <a:ext uri="{FF2B5EF4-FFF2-40B4-BE49-F238E27FC236}">
                <a16:creationId xmlns:a16="http://schemas.microsoft.com/office/drawing/2014/main" id="{4F13883E-EC11-0FF3-D089-234D9D3CE5DD}"/>
              </a:ext>
            </a:extLst>
          </p:cNvPr>
          <p:cNvPicPr>
            <a:picLocks noChangeAspect="1"/>
          </p:cNvPicPr>
          <p:nvPr/>
        </p:nvPicPr>
        <p:blipFill>
          <a:blip r:embed="rId3">
            <a:extLst>
              <a:ext uri="{28A0092B-C50C-407E-A947-70E740481C1C}">
                <a14:useLocalDpi xmlns:a14="http://schemas.microsoft.com/office/drawing/2010/main" val="0"/>
              </a:ext>
            </a:extLst>
          </a:blip>
          <a:srcRect t="11689" b="22009"/>
          <a:stretch>
            <a:fillRect/>
          </a:stretch>
        </p:blipFill>
        <p:spPr>
          <a:xfrm>
            <a:off x="82899" y="1578558"/>
            <a:ext cx="12026201" cy="4487498"/>
          </a:xfrm>
          <a:prstGeom prst="rect">
            <a:avLst/>
          </a:prstGeom>
        </p:spPr>
      </p:pic>
      <p:sp>
        <p:nvSpPr>
          <p:cNvPr id="4" name="TextBox 3">
            <a:extLst>
              <a:ext uri="{FF2B5EF4-FFF2-40B4-BE49-F238E27FC236}">
                <a16:creationId xmlns:a16="http://schemas.microsoft.com/office/drawing/2014/main" id="{60432954-4DE5-E1D9-B004-9DDB2D4C5947}"/>
              </a:ext>
            </a:extLst>
          </p:cNvPr>
          <p:cNvSpPr txBox="1"/>
          <p:nvPr/>
        </p:nvSpPr>
        <p:spPr>
          <a:xfrm>
            <a:off x="10060042" y="5674618"/>
            <a:ext cx="948318" cy="307777"/>
          </a:xfrm>
          <a:prstGeom prst="rect">
            <a:avLst/>
          </a:prstGeom>
          <a:solidFill>
            <a:schemeClr val="bg1"/>
          </a:solidFill>
        </p:spPr>
        <p:txBody>
          <a:bodyPr wrap="square" rtlCol="0">
            <a:spAutoFit/>
          </a:bodyPr>
          <a:lstStyle/>
          <a:p>
            <a:r>
              <a:rPr lang="en-PH" sz="1400" b="1" dirty="0">
                <a:solidFill>
                  <a:srgbClr val="F56309"/>
                </a:solidFill>
              </a:rPr>
              <a:t>1,609</a:t>
            </a:r>
            <a:r>
              <a:rPr lang="en-PH" sz="1400" dirty="0"/>
              <a:t> m</a:t>
            </a:r>
          </a:p>
        </p:txBody>
      </p:sp>
    </p:spTree>
    <p:extLst>
      <p:ext uri="{BB962C8B-B14F-4D97-AF65-F5344CB8AC3E}">
        <p14:creationId xmlns:p14="http://schemas.microsoft.com/office/powerpoint/2010/main" val="38013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AEB50-E371-A067-1374-A4927726D91F}"/>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A5088DE6-8927-351D-513E-7BC8DC178B3D}"/>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78469989-2F7B-AA23-BE7E-97251D211682}"/>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F5F4C292-724E-F483-182E-C3669803C0EE}"/>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1B0E7226-B551-9936-0A26-A4E4E2759FAB}"/>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Guided Example 1</a:t>
            </a:r>
          </a:p>
        </p:txBody>
      </p:sp>
      <p:sp>
        <p:nvSpPr>
          <p:cNvPr id="12" name="Freeform: Shape 11">
            <a:extLst>
              <a:ext uri="{FF2B5EF4-FFF2-40B4-BE49-F238E27FC236}">
                <a16:creationId xmlns:a16="http://schemas.microsoft.com/office/drawing/2014/main" id="{6F451486-4358-6231-6351-74E0813714DB}"/>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6" name="TextBox 5">
            <a:extLst>
              <a:ext uri="{FF2B5EF4-FFF2-40B4-BE49-F238E27FC236}">
                <a16:creationId xmlns:a16="http://schemas.microsoft.com/office/drawing/2014/main" id="{AD1AACE1-F016-3E0D-C374-56AA17FC8FC8}"/>
              </a:ext>
            </a:extLst>
          </p:cNvPr>
          <p:cNvSpPr txBox="1"/>
          <p:nvPr/>
        </p:nvSpPr>
        <p:spPr>
          <a:xfrm>
            <a:off x="699400" y="1450757"/>
            <a:ext cx="10594242" cy="954107"/>
          </a:xfrm>
          <a:prstGeom prst="rect">
            <a:avLst/>
          </a:prstGeom>
          <a:noFill/>
        </p:spPr>
        <p:txBody>
          <a:bodyPr wrap="square">
            <a:spAutoFit/>
          </a:bodyPr>
          <a:lstStyle/>
          <a:p>
            <a:pPr algn="just"/>
            <a:r>
              <a:rPr lang="en-PH" sz="2800" dirty="0">
                <a:latin typeface="TT Hoves" panose="02000503030000020004" pitchFamily="50" charset="0"/>
              </a:rPr>
              <a:t>On an interstate highway, a car is traveling at a speed of 38.0 m/s. Is the driver exceeding the speed limit of 75.0 mi/h?</a:t>
            </a:r>
          </a:p>
        </p:txBody>
      </p:sp>
      <p:sp>
        <p:nvSpPr>
          <p:cNvPr id="9" name="TextBox 8">
            <a:extLst>
              <a:ext uri="{FF2B5EF4-FFF2-40B4-BE49-F238E27FC236}">
                <a16:creationId xmlns:a16="http://schemas.microsoft.com/office/drawing/2014/main" id="{B97C6619-1A61-A6CA-6E16-6C1E56756F87}"/>
              </a:ext>
            </a:extLst>
          </p:cNvPr>
          <p:cNvSpPr txBox="1"/>
          <p:nvPr/>
        </p:nvSpPr>
        <p:spPr>
          <a:xfrm>
            <a:off x="699400" y="5591909"/>
            <a:ext cx="10594242" cy="646331"/>
          </a:xfrm>
          <a:prstGeom prst="rect">
            <a:avLst/>
          </a:prstGeom>
          <a:noFill/>
        </p:spPr>
        <p:txBody>
          <a:bodyPr wrap="square">
            <a:spAutoFit/>
          </a:bodyPr>
          <a:lstStyle/>
          <a:p>
            <a:r>
              <a:rPr lang="en-PH" dirty="0">
                <a:latin typeface="TT Hoves" panose="02000503030000020004" pitchFamily="50" charset="0"/>
              </a:rPr>
              <a:t>Reference: </a:t>
            </a:r>
            <a:r>
              <a:rPr lang="en-PH" dirty="0" err="1">
                <a:latin typeface="TT Hoves" panose="02000503030000020004" pitchFamily="50" charset="0"/>
              </a:rPr>
              <a:t>Serway</a:t>
            </a:r>
            <a:r>
              <a:rPr lang="en-PH" dirty="0">
                <a:latin typeface="TT Hoves" panose="02000503030000020004" pitchFamily="50" charset="0"/>
              </a:rPr>
              <a:t>, R. A., &amp; Jewett, J. W. (2019). Physics for scientists and engineers with modern physics (10th ed.). Cengage Learning.</a:t>
            </a:r>
          </a:p>
        </p:txBody>
      </p:sp>
    </p:spTree>
    <p:extLst>
      <p:ext uri="{BB962C8B-B14F-4D97-AF65-F5344CB8AC3E}">
        <p14:creationId xmlns:p14="http://schemas.microsoft.com/office/powerpoint/2010/main" val="3195470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1F50B-7AFC-C945-3C32-850E068CFC27}"/>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D2984605-0A15-D5EC-8032-CA57EBD3A7B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86719B2B-6600-1D10-1567-F1152AADEA8E}"/>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69631C54-2794-0677-C9A3-0729FA01974A}"/>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1F66DCD5-7064-92D4-A117-5997EA3FB6A0}"/>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Guided Example 2</a:t>
            </a:r>
          </a:p>
        </p:txBody>
      </p:sp>
      <p:sp>
        <p:nvSpPr>
          <p:cNvPr id="12" name="Freeform: Shape 11">
            <a:extLst>
              <a:ext uri="{FF2B5EF4-FFF2-40B4-BE49-F238E27FC236}">
                <a16:creationId xmlns:a16="http://schemas.microsoft.com/office/drawing/2014/main" id="{A5ACDAD8-9888-864D-B18B-171C476EBBBF}"/>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4283642-97D9-7F0A-29D7-8CDAA9E2B4CC}"/>
                  </a:ext>
                </a:extLst>
              </p:cNvPr>
              <p:cNvSpPr txBox="1"/>
              <p:nvPr/>
            </p:nvSpPr>
            <p:spPr>
              <a:xfrm>
                <a:off x="699400" y="1450757"/>
                <a:ext cx="10594242" cy="2246769"/>
              </a:xfrm>
              <a:prstGeom prst="rect">
                <a:avLst/>
              </a:prstGeom>
              <a:noFill/>
            </p:spPr>
            <p:txBody>
              <a:bodyPr wrap="square">
                <a:spAutoFit/>
              </a:bodyPr>
              <a:lstStyle/>
              <a:p>
                <a:pPr algn="just"/>
                <a:r>
                  <a:rPr lang="en-PH" sz="2800" dirty="0">
                    <a:latin typeface="TT Hoves" panose="02000503030000020004" pitchFamily="50" charset="0"/>
                  </a:rPr>
                  <a:t>Convert to basic SI units:</a:t>
                </a:r>
              </a:p>
              <a:p>
                <a:pPr marL="514350" indent="-514350" algn="just">
                  <a:buAutoNum type="alphaLcPeriod"/>
                </a:pPr>
                <a:r>
                  <a:rPr lang="en-PH" sz="2800" dirty="0">
                    <a:latin typeface="TT Hoves" panose="02000503030000020004" pitchFamily="50" charset="0"/>
                  </a:rPr>
                  <a:t>66 ft/s</a:t>
                </a:r>
              </a:p>
              <a:p>
                <a:pPr marL="514350" indent="-514350" algn="just">
                  <a:buAutoNum type="alphaLcPeriod"/>
                </a:pPr>
                <a:r>
                  <a:rPr lang="en-PH" sz="2800" dirty="0">
                    <a:latin typeface="TT Hoves" panose="02000503030000020004" pitchFamily="50" charset="0"/>
                  </a:rPr>
                  <a:t>60 mph</a:t>
                </a:r>
              </a:p>
              <a:p>
                <a:pPr marL="514350" indent="-514350" algn="just">
                  <a:buAutoNum type="alphaLcPeriod"/>
                </a:pPr>
                <a:r>
                  <a:rPr lang="en-PH" sz="2800" dirty="0">
                    <a:latin typeface="TT Hoves" panose="02000503030000020004" pitchFamily="50" charset="0"/>
                  </a:rPr>
                  <a:t>14 </a:t>
                </a:r>
                <a14:m>
                  <m:oMath xmlns:m="http://schemas.openxmlformats.org/officeDocument/2006/math">
                    <m:r>
                      <a:rPr lang="en-PH" sz="2800" b="0" i="1" smtClean="0">
                        <a:latin typeface="Cambria Math" panose="02040503050406030204" pitchFamily="18" charset="0"/>
                      </a:rPr>
                      <m:t>𝑖</m:t>
                    </m:r>
                    <m:sSup>
                      <m:sSupPr>
                        <m:ctrlPr>
                          <a:rPr lang="en-PH" sz="2800" b="0" i="1" smtClean="0">
                            <a:latin typeface="Cambria Math" panose="02040503050406030204" pitchFamily="18" charset="0"/>
                          </a:rPr>
                        </m:ctrlPr>
                      </m:sSupPr>
                      <m:e>
                        <m:r>
                          <a:rPr lang="en-PH" sz="2800" b="0" i="1" smtClean="0">
                            <a:latin typeface="Cambria Math" panose="02040503050406030204" pitchFamily="18" charset="0"/>
                          </a:rPr>
                          <m:t>𝑛</m:t>
                        </m:r>
                      </m:e>
                      <m:sup>
                        <m:r>
                          <a:rPr lang="en-PH" sz="2800" b="0" i="1" smtClean="0">
                            <a:latin typeface="Cambria Math" panose="02040503050406030204" pitchFamily="18" charset="0"/>
                          </a:rPr>
                          <m:t>2</m:t>
                        </m:r>
                      </m:sup>
                    </m:sSup>
                  </m:oMath>
                </a14:m>
                <a:endParaRPr lang="en-PH" sz="2800" dirty="0">
                  <a:latin typeface="TT Hoves" panose="02000503030000020004" pitchFamily="50" charset="0"/>
                </a:endParaRPr>
              </a:p>
              <a:p>
                <a:pPr marL="514350" indent="-514350" algn="just">
                  <a:buAutoNum type="alphaLcPeriod"/>
                </a:pPr>
                <a:endParaRPr lang="en-PH" sz="2800" dirty="0">
                  <a:latin typeface="TT Hoves" panose="02000503030000020004" pitchFamily="50" charset="0"/>
                </a:endParaRPr>
              </a:p>
            </p:txBody>
          </p:sp>
        </mc:Choice>
        <mc:Fallback xmlns="">
          <p:sp>
            <p:nvSpPr>
              <p:cNvPr id="6" name="TextBox 5">
                <a:extLst>
                  <a:ext uri="{FF2B5EF4-FFF2-40B4-BE49-F238E27FC236}">
                    <a16:creationId xmlns:a16="http://schemas.microsoft.com/office/drawing/2014/main" id="{D4283642-97D9-7F0A-29D7-8CDAA9E2B4CC}"/>
                  </a:ext>
                </a:extLst>
              </p:cNvPr>
              <p:cNvSpPr txBox="1">
                <a:spLocks noRot="1" noChangeAspect="1" noMove="1" noResize="1" noEditPoints="1" noAdjustHandles="1" noChangeArrowheads="1" noChangeShapeType="1" noTextEdit="1"/>
              </p:cNvSpPr>
              <p:nvPr/>
            </p:nvSpPr>
            <p:spPr>
              <a:xfrm>
                <a:off x="699400" y="1450757"/>
                <a:ext cx="10594242" cy="2246769"/>
              </a:xfrm>
              <a:prstGeom prst="rect">
                <a:avLst/>
              </a:prstGeom>
              <a:blipFill>
                <a:blip r:embed="rId3"/>
                <a:stretch>
                  <a:fillRect l="-1208" t="-2981"/>
                </a:stretch>
              </a:blipFill>
            </p:spPr>
            <p:txBody>
              <a:bodyPr/>
              <a:lstStyle/>
              <a:p>
                <a:r>
                  <a:rPr lang="en-PH">
                    <a:noFill/>
                  </a:rPr>
                  <a:t> </a:t>
                </a:r>
              </a:p>
            </p:txBody>
          </p:sp>
        </mc:Fallback>
      </mc:AlternateContent>
      <p:sp>
        <p:nvSpPr>
          <p:cNvPr id="9" name="TextBox 8">
            <a:extLst>
              <a:ext uri="{FF2B5EF4-FFF2-40B4-BE49-F238E27FC236}">
                <a16:creationId xmlns:a16="http://schemas.microsoft.com/office/drawing/2014/main" id="{604554FD-64F1-B96E-024D-5544267694EC}"/>
              </a:ext>
            </a:extLst>
          </p:cNvPr>
          <p:cNvSpPr txBox="1"/>
          <p:nvPr/>
        </p:nvSpPr>
        <p:spPr>
          <a:xfrm>
            <a:off x="699400" y="5591909"/>
            <a:ext cx="10594242" cy="646331"/>
          </a:xfrm>
          <a:prstGeom prst="rect">
            <a:avLst/>
          </a:prstGeom>
          <a:noFill/>
        </p:spPr>
        <p:txBody>
          <a:bodyPr wrap="square">
            <a:spAutoFit/>
          </a:bodyPr>
          <a:lstStyle/>
          <a:p>
            <a:r>
              <a:rPr lang="en-PH" dirty="0">
                <a:latin typeface="TT Hoves" panose="02000503030000020004" pitchFamily="50" charset="0"/>
              </a:rPr>
              <a:t>Reference: Knight, R. D. (2022). </a:t>
            </a:r>
            <a:r>
              <a:rPr lang="en-PH" i="1" dirty="0">
                <a:latin typeface="TT Hoves" panose="02000503030000020004" pitchFamily="50" charset="0"/>
              </a:rPr>
              <a:t>Physics for scientists and engineers: A strategic approach with modern physics</a:t>
            </a:r>
            <a:r>
              <a:rPr lang="en-PH" dirty="0">
                <a:latin typeface="TT Hoves" panose="02000503030000020004" pitchFamily="50" charset="0"/>
              </a:rPr>
              <a:t> (5th ed.). Pearson. </a:t>
            </a:r>
          </a:p>
        </p:txBody>
      </p:sp>
    </p:spTree>
    <p:extLst>
      <p:ext uri="{BB962C8B-B14F-4D97-AF65-F5344CB8AC3E}">
        <p14:creationId xmlns:p14="http://schemas.microsoft.com/office/powerpoint/2010/main" val="1410550478"/>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Motion in Two Dimensions — Today's Target</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200">
                <a:latin typeface="TT Hoves"/>
              </a:rPr>
              <a:t>Today's competency, stated plainly: </a:t>
            </a:r>
            <a:r>
              <a:rPr sz="2200" i="1">
                <a:latin typeface="TT Hoves"/>
              </a:rPr>
              <a:t>carry out first-hand investigations involving 2-dimensional projectile and circular motion to investigate factors such as speed, radius, and centripetal force.</a:t>
            </a:r>
          </a:p>
          <a:p>
            <a:pPr marL="457200" indent="-457200" algn="l">
              <a:lnSpc>
                <a:spcPct val="104000"/>
              </a:lnSpc>
              <a:spcBef>
                <a:spcPts val="0"/>
              </a:spcBef>
              <a:spcAft>
                <a:spcPts val="700"/>
              </a:spcAft>
              <a:buFont typeface="Arial" pitchFamily="34" charset="0"/>
              <a:buChar char="•"/>
            </a:pPr>
            <a:r>
              <a:rPr sz="2200">
                <a:latin typeface="TT Hoves"/>
              </a:rPr>
              <a:t>Two big ideas for the day, side by side:</a:t>
            </a:r>
          </a:p>
          <a:p>
            <a:pPr marL="457200" indent="-457200" algn="l">
              <a:lnSpc>
                <a:spcPct val="104000"/>
              </a:lnSpc>
              <a:spcBef>
                <a:spcPts val="0"/>
              </a:spcBef>
              <a:spcAft>
                <a:spcPts val="700"/>
              </a:spcAft>
              <a:buFont typeface="Arial" pitchFamily="34" charset="0"/>
              <a:buChar char="•"/>
            </a:pPr>
            <a:r>
              <a:rPr sz="2200" b="1">
                <a:latin typeface="TT Hoves"/>
              </a:rPr>
              <a:t>Projectile Motion</a:t>
            </a:r>
            <a:r>
              <a:rPr sz="2200">
                <a:latin typeface="TT Hoves"/>
              </a:rPr>
              <a:t> — a curved path caused by </a:t>
            </a:r>
            <a:r>
              <a:rPr sz="2200" i="1">
                <a:latin typeface="TT Hoves"/>
              </a:rPr>
              <a:t>gravity alone</a:t>
            </a:r>
            <a:r>
              <a:rPr sz="2200">
                <a:latin typeface="TT Hoves"/>
              </a:rPr>
              <a:t>, where speed and direction </a:t>
            </a:r>
            <a:r>
              <a:rPr sz="2200" i="1">
                <a:latin typeface="TT Hoves"/>
              </a:rPr>
              <a:t>both</a:t>
            </a:r>
            <a:r>
              <a:rPr sz="2200">
                <a:latin typeface="TT Hoves"/>
              </a:rPr>
              <a:t> change.</a:t>
            </a:r>
          </a:p>
          <a:p>
            <a:pPr marL="457200" indent="-457200" algn="l">
              <a:lnSpc>
                <a:spcPct val="104000"/>
              </a:lnSpc>
              <a:spcBef>
                <a:spcPts val="0"/>
              </a:spcBef>
              <a:spcAft>
                <a:spcPts val="700"/>
              </a:spcAft>
              <a:buFont typeface="Arial" pitchFamily="34" charset="0"/>
              <a:buChar char="•"/>
            </a:pPr>
            <a:r>
              <a:rPr sz="2200" b="1">
                <a:latin typeface="TT Hoves"/>
              </a:rPr>
              <a:t>Circular Motion</a:t>
            </a:r>
            <a:r>
              <a:rPr sz="2200">
                <a:latin typeface="TT Hoves"/>
              </a:rPr>
              <a:t> — a curved path caused by a </a:t>
            </a:r>
            <a:r>
              <a:rPr sz="2200" i="1">
                <a:latin typeface="TT Hoves"/>
              </a:rPr>
              <a:t>center-seeking pull</a:t>
            </a:r>
            <a:r>
              <a:rPr sz="2200">
                <a:latin typeface="TT Hoves"/>
              </a:rPr>
              <a:t>, where speed stays constant but </a:t>
            </a:r>
            <a:r>
              <a:rPr sz="2200" i="1">
                <a:latin typeface="TT Hoves"/>
              </a:rPr>
              <a:t>direction</a:t>
            </a:r>
            <a:r>
              <a:rPr sz="2200">
                <a:latin typeface="TT Hoves"/>
              </a:rPr>
              <a:t> constantly changes.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The Shape Hiding in Plain Sight</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800">
                <a:latin typeface="TT Hoves"/>
              </a:rPr>
              <a:t>A diver leaving a cliff. Sparks flying off a welder's torch. Water arcing out of a park fountain.</a:t>
            </a:r>
          </a:p>
          <a:p>
            <a:pPr marL="457200" indent="-457200" algn="l">
              <a:lnSpc>
                <a:spcPct val="104000"/>
              </a:lnSpc>
              <a:spcBef>
                <a:spcPts val="0"/>
              </a:spcBef>
              <a:spcAft>
                <a:spcPts val="700"/>
              </a:spcAft>
              <a:buFont typeface="Arial" pitchFamily="34" charset="0"/>
              <a:buChar char="•"/>
            </a:pPr>
            <a:r>
              <a:rPr sz="2800">
                <a:latin typeface="TT Hoves"/>
              </a:rPr>
              <a:t>All three trace the </a:t>
            </a:r>
            <a:r>
              <a:rPr sz="2800" i="1">
                <a:latin typeface="TT Hoves"/>
              </a:rPr>
              <a:t>exact same curve</a:t>
            </a:r>
            <a:r>
              <a:rPr sz="2800">
                <a:latin typeface="TT Hoves"/>
              </a:rPr>
              <a:t> — even though nobody planned it that way.</a:t>
            </a:r>
          </a:p>
          <a:p>
            <a:pPr marL="457200" indent="-457200" algn="l">
              <a:lnSpc>
                <a:spcPct val="104000"/>
              </a:lnSpc>
              <a:spcBef>
                <a:spcPts val="0"/>
              </a:spcBef>
              <a:spcAft>
                <a:spcPts val="700"/>
              </a:spcAft>
              <a:buFont typeface="Arial" pitchFamily="34" charset="0"/>
              <a:buChar char="•"/>
            </a:pPr>
            <a:r>
              <a:rPr sz="2800">
                <a:latin typeface="TT Hoves"/>
              </a:rPr>
              <a:t>That curve has a name: the </a:t>
            </a:r>
            <a:r>
              <a:rPr sz="2800" b="1" i="1">
                <a:latin typeface="TT Hoves"/>
              </a:rPr>
              <a:t>parabola</a:t>
            </a:r>
            <a:r>
              <a:rPr sz="2800">
                <a:latin typeface="TT Hoves"/>
              </a:rPr>
              <a:t>, and it shows up </a:t>
            </a:r>
            <a:r>
              <a:rPr sz="2800" i="1">
                <a:latin typeface="TT Hoves"/>
              </a:rPr>
              <a:t>any time</a:t>
            </a:r>
            <a:r>
              <a:rPr sz="2800">
                <a:latin typeface="TT Hoves"/>
              </a:rPr>
              <a:t> something launches into the air and gravity is the only thing acting on it afterward.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Locating a Particle in Two Dimensions</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500">
                <a:latin typeface="TT Hoves"/>
              </a:rPr>
              <a:t>In </a:t>
            </a:r>
            <a:r>
              <a:rPr sz="2500" i="1">
                <a:latin typeface="TT Hoves"/>
              </a:rPr>
              <a:t>one</a:t>
            </a:r>
            <a:r>
              <a:rPr sz="2500">
                <a:latin typeface="TT Hoves"/>
              </a:rPr>
              <a:t> dimension, a single number tells you where something is.</a:t>
            </a:r>
          </a:p>
          <a:p>
            <a:pPr marL="457200" indent="-457200" algn="l">
              <a:lnSpc>
                <a:spcPct val="104000"/>
              </a:lnSpc>
              <a:spcBef>
                <a:spcPts val="0"/>
              </a:spcBef>
              <a:spcAft>
                <a:spcPts val="700"/>
              </a:spcAft>
              <a:buFont typeface="Arial" pitchFamily="34" charset="0"/>
              <a:buChar char="•"/>
            </a:pPr>
            <a:r>
              <a:rPr sz="2500">
                <a:latin typeface="TT Hoves"/>
              </a:rPr>
              <a:t>In </a:t>
            </a:r>
            <a:r>
              <a:rPr sz="2500" i="1">
                <a:latin typeface="TT Hoves"/>
              </a:rPr>
              <a:t>two</a:t>
            </a:r>
            <a:r>
              <a:rPr sz="2500">
                <a:latin typeface="TT Hoves"/>
              </a:rPr>
              <a:t> dimensions, you need </a:t>
            </a:r>
            <a:r>
              <a:rPr sz="2500" b="1">
                <a:latin typeface="TT Hoves"/>
              </a:rPr>
              <a:t>two numbers at once</a:t>
            </a:r>
            <a:r>
              <a:rPr sz="2500">
                <a:latin typeface="TT Hoves"/>
              </a:rPr>
              <a:t> — an </a:t>
            </a:r>
            <a:r>
              <a:rPr sz="2500" i="1">
                <a:latin typeface="TT Hoves"/>
              </a:rPr>
              <a:t>x</a:t>
            </a:r>
            <a:r>
              <a:rPr sz="2500">
                <a:latin typeface="TT Hoves"/>
              </a:rPr>
              <a:t>-position and a </a:t>
            </a:r>
            <a:r>
              <a:rPr sz="2500" i="1">
                <a:latin typeface="TT Hoves"/>
              </a:rPr>
              <a:t>y</a:t>
            </a:r>
            <a:r>
              <a:rPr sz="2500">
                <a:latin typeface="TT Hoves"/>
              </a:rPr>
              <a:t>-position — tracked </a:t>
            </a:r>
            <a:r>
              <a:rPr sz="2500" i="1">
                <a:latin typeface="TT Hoves"/>
              </a:rPr>
              <a:t>simultaneously</a:t>
            </a:r>
            <a:r>
              <a:rPr sz="2500">
                <a:latin typeface="TT Hoves"/>
              </a:rPr>
              <a:t>, not one after the other.</a:t>
            </a:r>
          </a:p>
          <a:p>
            <a:pPr marL="457200" indent="-457200" algn="l">
              <a:lnSpc>
                <a:spcPct val="104000"/>
              </a:lnSpc>
              <a:spcBef>
                <a:spcPts val="0"/>
              </a:spcBef>
              <a:spcAft>
                <a:spcPts val="700"/>
              </a:spcAft>
              <a:buFont typeface="Arial" pitchFamily="34" charset="0"/>
              <a:buChar char="•"/>
            </a:pPr>
            <a:r>
              <a:rPr sz="2500">
                <a:latin typeface="TT Hoves"/>
              </a:rPr>
              <a:t>This pair is bundled into a single arrow called the </a:t>
            </a:r>
            <a:r>
              <a:rPr sz="2500" b="1">
                <a:latin typeface="TT Hoves"/>
              </a:rPr>
              <a:t>position vector</a:t>
            </a:r>
            <a:r>
              <a:rPr sz="2500">
                <a:latin typeface="TT Hoves"/>
              </a:rPr>
              <a:t>, pointing from the origin to wherever the object currently 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Breaking Velocity Into Two Directions</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400">
                <a:latin typeface="TT Hoves"/>
              </a:rPr>
              <a:t>Any launch velocity can be split into two perpendicular ingredients:</a:t>
            </a:r>
          </a:p>
          <a:p>
            <a:pPr algn="ctr">
              <a:lnSpc>
                <a:spcPct val="104000"/>
              </a:lnSpc>
              <a:spcBef>
                <a:spcPts val="400"/>
              </a:spcBef>
              <a:spcAft>
                <a:spcPts val="700"/>
              </a:spcAft>
              <a:buNone/>
            </a:pPr>
            <a:r>
              <a:rPr sz="2600" b="1" i="1">
                <a:latin typeface="TT Hoves"/>
              </a:rPr>
              <a:t>v</a:t>
            </a:r>
            <a:r>
              <a:rPr sz="2392" baseline="-25000">
                <a:latin typeface="TT Hoves"/>
              </a:rPr>
              <a:t>x</a:t>
            </a:r>
            <a:r>
              <a:rPr sz="2600" b="1">
                <a:latin typeface="TT Hoves"/>
              </a:rPr>
              <a:t> = </a:t>
            </a:r>
            <a:r>
              <a:rPr sz="2600" b="1" i="1">
                <a:latin typeface="TT Hoves"/>
              </a:rPr>
              <a:t>v</a:t>
            </a:r>
            <a:r>
              <a:rPr sz="2392" baseline="-25000">
                <a:latin typeface="TT Hoves"/>
              </a:rPr>
              <a:t>i</a:t>
            </a:r>
            <a:r>
              <a:rPr sz="2600" b="1">
                <a:latin typeface="TT Hoves"/>
              </a:rPr>
              <a:t> cos </a:t>
            </a:r>
            <a:r>
              <a:rPr sz="2600" b="1" i="1">
                <a:latin typeface="TT Hoves"/>
              </a:rPr>
              <a:t>θ</a:t>
            </a:r>
            <a:r>
              <a:rPr sz="2392" baseline="-25000">
                <a:latin typeface="TT Hoves"/>
              </a:rPr>
              <a:t>i</a:t>
            </a:r>
            <a:r>
              <a:rPr sz="2600" b="1">
                <a:latin typeface="TT Hoves"/>
              </a:rPr>
              <a:t>          </a:t>
            </a:r>
            <a:r>
              <a:rPr sz="2600" b="1" i="1">
                <a:latin typeface="TT Hoves"/>
              </a:rPr>
              <a:t>v</a:t>
            </a:r>
            <a:r>
              <a:rPr sz="2392" baseline="-25000">
                <a:latin typeface="TT Hoves"/>
              </a:rPr>
              <a:t>y</a:t>
            </a:r>
            <a:r>
              <a:rPr sz="2600" b="1">
                <a:latin typeface="TT Hoves"/>
              </a:rPr>
              <a:t> = </a:t>
            </a:r>
            <a:r>
              <a:rPr sz="2600" b="1" i="1">
                <a:latin typeface="TT Hoves"/>
              </a:rPr>
              <a:t>v</a:t>
            </a:r>
            <a:r>
              <a:rPr sz="2392" baseline="-25000">
                <a:latin typeface="TT Hoves"/>
              </a:rPr>
              <a:t>i</a:t>
            </a:r>
            <a:r>
              <a:rPr sz="2600" b="1">
                <a:latin typeface="TT Hoves"/>
              </a:rPr>
              <a:t> sin </a:t>
            </a:r>
            <a:r>
              <a:rPr sz="2600" b="1" i="1">
                <a:latin typeface="TT Hoves"/>
              </a:rPr>
              <a:t>θ</a:t>
            </a:r>
            <a:r>
              <a:rPr sz="2392" baseline="-25000">
                <a:latin typeface="TT Hoves"/>
              </a:rPr>
              <a:t>i</a:t>
            </a:r>
          </a:p>
          <a:p>
            <a:pPr marL="457200" indent="-457200" algn="l">
              <a:lnSpc>
                <a:spcPct val="104000"/>
              </a:lnSpc>
              <a:spcBef>
                <a:spcPts val="0"/>
              </a:spcBef>
              <a:spcAft>
                <a:spcPts val="700"/>
              </a:spcAft>
              <a:buFont typeface="Arial" pitchFamily="34" charset="0"/>
              <a:buChar char="•"/>
            </a:pPr>
            <a:r>
              <a:rPr sz="2400">
                <a:latin typeface="TT Hoves"/>
              </a:rPr>
              <a:t>Think of a cannon fired at an angle: part of its "push" sends the ball </a:t>
            </a:r>
            <a:r>
              <a:rPr sz="2400" i="1">
                <a:latin typeface="TT Hoves"/>
              </a:rPr>
              <a:t>forward</a:t>
            </a:r>
            <a:r>
              <a:rPr sz="2400">
                <a:latin typeface="TT Hoves"/>
              </a:rPr>
              <a:t>, part of it sends the ball </a:t>
            </a:r>
            <a:r>
              <a:rPr sz="2400" i="1">
                <a:latin typeface="TT Hoves"/>
              </a:rPr>
              <a:t>upward</a:t>
            </a:r>
            <a:r>
              <a:rPr sz="2400">
                <a:latin typeface="TT Hoves"/>
              </a:rPr>
              <a:t> — and </a:t>
            </a:r>
            <a:r>
              <a:rPr sz="2400" i="1">
                <a:latin typeface="TT Hoves"/>
              </a:rPr>
              <a:t>trigonometry</a:t>
            </a:r>
            <a:r>
              <a:rPr sz="2400">
                <a:latin typeface="TT Hoves"/>
              </a:rPr>
              <a:t> tells you exactly how much of each.</a:t>
            </a:r>
          </a:p>
          <a:p>
            <a:pPr marL="457200" indent="-457200" algn="l">
              <a:lnSpc>
                <a:spcPct val="104000"/>
              </a:lnSpc>
              <a:spcBef>
                <a:spcPts val="0"/>
              </a:spcBef>
              <a:spcAft>
                <a:spcPts val="700"/>
              </a:spcAft>
              <a:buFont typeface="Arial" pitchFamily="34" charset="0"/>
              <a:buChar char="•"/>
            </a:pPr>
            <a:r>
              <a:rPr sz="2400">
                <a:latin typeface="TT Hoves"/>
              </a:rPr>
              <a:t>This is the </a:t>
            </a:r>
            <a:r>
              <a:rPr sz="2400" i="1">
                <a:latin typeface="TT Hoves"/>
              </a:rPr>
              <a:t>only</a:t>
            </a:r>
            <a:r>
              <a:rPr sz="2400">
                <a:latin typeface="TT Hoves"/>
              </a:rPr>
              <a:t> piece of vector-splitting needed for today — no adding multiple vectors together yet (that's Aug 4's job).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The Independence Principle</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200">
                <a:latin typeface="TT Hoves"/>
              </a:rPr>
              <a:t>Picture a hockey puck gliding in a straight line across a frictionless table.</a:t>
            </a:r>
          </a:p>
          <a:p>
            <a:pPr marL="457200" indent="-457200" algn="l">
              <a:lnSpc>
                <a:spcPct val="104000"/>
              </a:lnSpc>
              <a:spcBef>
                <a:spcPts val="0"/>
              </a:spcBef>
              <a:spcAft>
                <a:spcPts val="700"/>
              </a:spcAft>
              <a:buFont typeface="Arial" pitchFamily="34" charset="0"/>
              <a:buChar char="•"/>
            </a:pPr>
            <a:r>
              <a:rPr sz="2200">
                <a:latin typeface="TT Hoves"/>
              </a:rPr>
              <a:t>Someone gives it a </a:t>
            </a:r>
            <a:r>
              <a:rPr sz="2200" i="1">
                <a:latin typeface="TT Hoves"/>
              </a:rPr>
              <a:t>single sideways puff of air</a:t>
            </a:r>
            <a:r>
              <a:rPr sz="2200">
                <a:latin typeface="TT Hoves"/>
              </a:rPr>
              <a:t>. The puck now drifts diagonally — but its </a:t>
            </a:r>
            <a:r>
              <a:rPr sz="2200" i="1">
                <a:latin typeface="TT Hoves"/>
              </a:rPr>
              <a:t>original</a:t>
            </a:r>
            <a:r>
              <a:rPr sz="2200">
                <a:latin typeface="TT Hoves"/>
              </a:rPr>
              <a:t> forward speed never changed one bit.</a:t>
            </a:r>
          </a:p>
          <a:p>
            <a:pPr marL="457200" indent="-457200" algn="l">
              <a:lnSpc>
                <a:spcPct val="104000"/>
              </a:lnSpc>
              <a:spcBef>
                <a:spcPts val="0"/>
              </a:spcBef>
              <a:spcAft>
                <a:spcPts val="700"/>
              </a:spcAft>
              <a:buFont typeface="Arial" pitchFamily="34" charset="0"/>
              <a:buChar char="•"/>
            </a:pPr>
            <a:r>
              <a:rPr sz="2200">
                <a:latin typeface="TT Hoves"/>
              </a:rPr>
              <a:t>The generalization: </a:t>
            </a:r>
            <a:r>
              <a:rPr sz="2200" b="1" i="1">
                <a:latin typeface="TT Hoves"/>
              </a:rPr>
              <a:t>motion in two dimensions can be modeled as two independent motions in each of the two perpendicular directions</a:t>
            </a:r>
            <a:r>
              <a:rPr sz="2200">
                <a:latin typeface="TT Hoves"/>
              </a:rPr>
              <a:t> — a nudge in </a:t>
            </a:r>
            <a:r>
              <a:rPr sz="2200" i="1">
                <a:latin typeface="TT Hoves"/>
              </a:rPr>
              <a:t>y</a:t>
            </a:r>
            <a:r>
              <a:rPr sz="2200">
                <a:latin typeface="TT Hoves"/>
              </a:rPr>
              <a:t> never touches what's happening in </a:t>
            </a:r>
            <a:r>
              <a:rPr sz="2200" i="1">
                <a:latin typeface="TT Hoves"/>
              </a:rPr>
              <a:t>x</a:t>
            </a:r>
            <a:r>
              <a:rPr sz="2200">
                <a:latin typeface="TT Hoves"/>
              </a:rPr>
              <a:t>, and vice versa.</a:t>
            </a:r>
          </a:p>
          <a:p>
            <a:pPr marL="457200" indent="-457200" algn="l">
              <a:lnSpc>
                <a:spcPct val="104000"/>
              </a:lnSpc>
              <a:spcBef>
                <a:spcPts val="0"/>
              </a:spcBef>
              <a:spcAft>
                <a:spcPts val="700"/>
              </a:spcAft>
              <a:buFont typeface="Arial" pitchFamily="34" charset="0"/>
              <a:buChar char="•"/>
            </a:pPr>
            <a:r>
              <a:rPr sz="2200">
                <a:latin typeface="TT Hoves"/>
              </a:rPr>
              <a:t>This is </a:t>
            </a:r>
            <a:r>
              <a:rPr sz="2200" i="1">
                <a:latin typeface="TT Hoves"/>
              </a:rPr>
              <a:t>the</a:t>
            </a:r>
            <a:r>
              <a:rPr sz="2200">
                <a:latin typeface="TT Hoves"/>
              </a:rPr>
              <a:t> single most important idea in projectile motion. Everything else today builds on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The Governing Equations of Projectile Motion</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500">
                <a:latin typeface="TT Hoves"/>
              </a:rPr>
              <a:t>Two separate "mini-problems" run on the same clock, </a:t>
            </a:r>
            <a:r>
              <a:rPr sz="2500" i="1">
                <a:latin typeface="TT Hoves"/>
              </a:rPr>
              <a:t>t</a:t>
            </a:r>
            <a:r>
              <a:rPr sz="2500">
                <a:latin typeface="TT Hoves"/>
              </a:rPr>
              <a:t> — horizontal is </a:t>
            </a:r>
            <a:r>
              <a:rPr sz="2500" i="1">
                <a:latin typeface="TT Hoves"/>
              </a:rPr>
              <a:t>constant velocity</a:t>
            </a:r>
            <a:r>
              <a:rPr sz="2500">
                <a:latin typeface="TT Hoves"/>
              </a:rPr>
              <a:t>, vertical is </a:t>
            </a:r>
            <a:r>
              <a:rPr sz="2500" i="1">
                <a:latin typeface="TT Hoves"/>
              </a:rPr>
              <a:t>constant acceleration</a:t>
            </a:r>
            <a:r>
              <a:rPr sz="2500">
                <a:latin typeface="TT Hoves"/>
              </a:rPr>
              <a:t> (a = –g):</a:t>
            </a:r>
          </a:p>
          <a:p>
            <a:pPr algn="ctr">
              <a:lnSpc>
                <a:spcPct val="104000"/>
              </a:lnSpc>
              <a:spcBef>
                <a:spcPts val="400"/>
              </a:spcBef>
              <a:spcAft>
                <a:spcPts val="700"/>
              </a:spcAft>
              <a:buNone/>
            </a:pPr>
            <a:r>
              <a:rPr sz="2700" b="1" i="1">
                <a:latin typeface="TT Hoves"/>
              </a:rPr>
              <a:t>x</a:t>
            </a:r>
            <a:r>
              <a:rPr sz="2484" baseline="-25000">
                <a:latin typeface="TT Hoves"/>
              </a:rPr>
              <a:t>f</a:t>
            </a:r>
            <a:r>
              <a:rPr sz="2700" b="1">
                <a:latin typeface="TT Hoves"/>
              </a:rPr>
              <a:t> = </a:t>
            </a:r>
            <a:r>
              <a:rPr sz="2700" b="1" i="1">
                <a:latin typeface="TT Hoves"/>
              </a:rPr>
              <a:t>x</a:t>
            </a:r>
            <a:r>
              <a:rPr sz="2484" baseline="-25000">
                <a:latin typeface="TT Hoves"/>
              </a:rPr>
              <a:t>i</a:t>
            </a:r>
            <a:r>
              <a:rPr sz="2700" b="1">
                <a:latin typeface="TT Hoves"/>
              </a:rPr>
              <a:t> + </a:t>
            </a:r>
            <a:r>
              <a:rPr sz="2700" b="1" i="1">
                <a:latin typeface="TT Hoves"/>
              </a:rPr>
              <a:t>v</a:t>
            </a:r>
            <a:r>
              <a:rPr sz="2484" baseline="-25000">
                <a:latin typeface="TT Hoves"/>
              </a:rPr>
              <a:t>xi</a:t>
            </a:r>
            <a:r>
              <a:rPr sz="2700" b="1" i="1">
                <a:latin typeface="TT Hoves"/>
              </a:rPr>
              <a:t>t</a:t>
            </a:r>
            <a:r>
              <a:rPr sz="2700" b="1">
                <a:latin typeface="TT Hoves"/>
              </a:rPr>
              <a:t>          </a:t>
            </a:r>
            <a:r>
              <a:rPr sz="2700" b="1" i="1">
                <a:latin typeface="TT Hoves"/>
              </a:rPr>
              <a:t>y</a:t>
            </a:r>
            <a:r>
              <a:rPr sz="2484" baseline="-25000">
                <a:latin typeface="TT Hoves"/>
              </a:rPr>
              <a:t>f</a:t>
            </a:r>
            <a:r>
              <a:rPr sz="2700" b="1">
                <a:latin typeface="TT Hoves"/>
              </a:rPr>
              <a:t> = </a:t>
            </a:r>
            <a:r>
              <a:rPr sz="2700" b="1" i="1">
                <a:latin typeface="TT Hoves"/>
              </a:rPr>
              <a:t>y</a:t>
            </a:r>
            <a:r>
              <a:rPr sz="2484" baseline="-25000">
                <a:latin typeface="TT Hoves"/>
              </a:rPr>
              <a:t>i</a:t>
            </a:r>
            <a:r>
              <a:rPr sz="2700" b="1">
                <a:latin typeface="TT Hoves"/>
              </a:rPr>
              <a:t> + </a:t>
            </a:r>
            <a:r>
              <a:rPr sz="2700" b="1" i="1">
                <a:latin typeface="TT Hoves"/>
              </a:rPr>
              <a:t>v</a:t>
            </a:r>
            <a:r>
              <a:rPr sz="2484" baseline="-25000">
                <a:latin typeface="TT Hoves"/>
              </a:rPr>
              <a:t>yi</a:t>
            </a:r>
            <a:r>
              <a:rPr sz="2700" b="1" i="1">
                <a:latin typeface="TT Hoves"/>
              </a:rPr>
              <a:t>t</a:t>
            </a:r>
            <a:r>
              <a:rPr sz="2700" b="1">
                <a:latin typeface="TT Hoves"/>
              </a:rPr>
              <a:t> – ½</a:t>
            </a:r>
            <a:r>
              <a:rPr sz="2700" b="1" i="1">
                <a:latin typeface="TT Hoves"/>
              </a:rPr>
              <a:t>g</a:t>
            </a:r>
            <a:r>
              <a:rPr sz="2700" b="1" i="1">
                <a:latin typeface="TT Hoves"/>
              </a:rPr>
              <a:t>t</a:t>
            </a:r>
            <a:r>
              <a:rPr sz="2484" baseline="30000">
                <a:latin typeface="TT Hoves"/>
              </a:rPr>
              <a:t>2</a:t>
            </a:r>
          </a:p>
          <a:p>
            <a:pPr algn="ctr">
              <a:lnSpc>
                <a:spcPct val="104000"/>
              </a:lnSpc>
              <a:spcBef>
                <a:spcPts val="400"/>
              </a:spcBef>
              <a:spcAft>
                <a:spcPts val="700"/>
              </a:spcAft>
              <a:buNone/>
            </a:pPr>
            <a:r>
              <a:rPr sz="2700" b="1" i="1">
                <a:latin typeface="TT Hoves"/>
              </a:rPr>
              <a:t>v</a:t>
            </a:r>
            <a:r>
              <a:rPr sz="2484" baseline="-25000">
                <a:latin typeface="TT Hoves"/>
              </a:rPr>
              <a:t>yf</a:t>
            </a:r>
            <a:r>
              <a:rPr sz="2700" b="1">
                <a:latin typeface="TT Hoves"/>
              </a:rPr>
              <a:t> = </a:t>
            </a:r>
            <a:r>
              <a:rPr sz="2700" b="1" i="1">
                <a:latin typeface="TT Hoves"/>
              </a:rPr>
              <a:t>v</a:t>
            </a:r>
            <a:r>
              <a:rPr sz="2484" baseline="-25000">
                <a:latin typeface="TT Hoves"/>
              </a:rPr>
              <a:t>yi</a:t>
            </a:r>
            <a:r>
              <a:rPr sz="2700" b="1">
                <a:latin typeface="TT Hoves"/>
              </a:rPr>
              <a:t> – </a:t>
            </a:r>
            <a:r>
              <a:rPr sz="2700" b="1" i="1">
                <a:latin typeface="TT Hoves"/>
              </a:rPr>
              <a:t>g</a:t>
            </a:r>
            <a:r>
              <a:rPr sz="2700" b="1" i="1">
                <a:latin typeface="TT Hoves"/>
              </a:rPr>
              <a:t>t</a:t>
            </a:r>
          </a:p>
          <a:p>
            <a:pPr marL="457200" indent="-457200" algn="l">
              <a:lnSpc>
                <a:spcPct val="104000"/>
              </a:lnSpc>
              <a:spcBef>
                <a:spcPts val="0"/>
              </a:spcBef>
              <a:spcAft>
                <a:spcPts val="700"/>
              </a:spcAft>
              <a:buFont typeface="Arial" pitchFamily="34" charset="0"/>
              <a:buChar char="•"/>
            </a:pPr>
            <a:r>
              <a:rPr sz="2500" i="1">
                <a:latin typeface="TT Hoves"/>
              </a:rPr>
              <a:t>g</a:t>
            </a:r>
            <a:r>
              <a:rPr sz="2500">
                <a:latin typeface="TT Hoves"/>
              </a:rPr>
              <a:t> is the only acceleration in the whole system, and it only ever touches the </a:t>
            </a:r>
            <a:r>
              <a:rPr sz="2500" i="1">
                <a:latin typeface="TT Hoves"/>
              </a:rPr>
              <a:t>y</a:t>
            </a:r>
            <a:r>
              <a:rPr sz="2500">
                <a:latin typeface="TT Hoves"/>
              </a:rPr>
              <a:t>-equations.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2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Special-Case Shortcuts — Range and Max Height</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500">
                <a:latin typeface="TT Hoves"/>
              </a:rPr>
              <a:t>When a projectile launches and lands at the </a:t>
            </a:r>
            <a:r>
              <a:rPr sz="2500" i="1">
                <a:latin typeface="TT Hoves"/>
              </a:rPr>
              <a:t>same height</a:t>
            </a:r>
            <a:r>
              <a:rPr sz="2500">
                <a:latin typeface="TT Hoves"/>
              </a:rPr>
              <a:t>, two shortcut formulas save time:</a:t>
            </a:r>
          </a:p>
          <a:p>
            <a:pPr algn="ctr">
              <a:lnSpc>
                <a:spcPct val="104000"/>
              </a:lnSpc>
              <a:spcBef>
                <a:spcPts val="400"/>
              </a:spcBef>
              <a:spcAft>
                <a:spcPts val="700"/>
              </a:spcAft>
              <a:buNone/>
            </a:pPr>
            <a:r>
              <a:rPr sz="2700" b="1" i="1">
                <a:latin typeface="TT Hoves"/>
              </a:rPr>
              <a:t>h</a:t>
            </a:r>
            <a:r>
              <a:rPr sz="2700" b="1">
                <a:latin typeface="TT Hoves"/>
              </a:rPr>
              <a:t> = </a:t>
            </a:r>
            <a:r>
              <a:rPr sz="2700" b="1" i="1">
                <a:latin typeface="TT Hoves"/>
              </a:rPr>
              <a:t>v</a:t>
            </a:r>
            <a:r>
              <a:rPr sz="2484" baseline="-25000">
                <a:latin typeface="TT Hoves"/>
              </a:rPr>
              <a:t>i</a:t>
            </a:r>
            <a:r>
              <a:rPr sz="2484" baseline="30000">
                <a:latin typeface="TT Hoves"/>
              </a:rPr>
              <a:t>2</a:t>
            </a:r>
            <a:r>
              <a:rPr sz="2700" b="1">
                <a:latin typeface="TT Hoves"/>
              </a:rPr>
              <a:t> sin</a:t>
            </a:r>
            <a:r>
              <a:rPr sz="2484" baseline="30000">
                <a:latin typeface="TT Hoves"/>
              </a:rPr>
              <a:t>2</a:t>
            </a:r>
            <a:r>
              <a:rPr sz="2700" b="1" i="1">
                <a:latin typeface="TT Hoves"/>
              </a:rPr>
              <a:t>θ</a:t>
            </a:r>
            <a:r>
              <a:rPr sz="2484" baseline="-25000">
                <a:latin typeface="TT Hoves"/>
              </a:rPr>
              <a:t>i</a:t>
            </a:r>
            <a:r>
              <a:rPr sz="2700" b="1">
                <a:latin typeface="TT Hoves"/>
              </a:rPr>
              <a:t>  /  2</a:t>
            </a:r>
            <a:r>
              <a:rPr sz="2700" b="1" i="1">
                <a:latin typeface="TT Hoves"/>
              </a:rPr>
              <a:t>g</a:t>
            </a:r>
            <a:r>
              <a:rPr sz="2700" b="1">
                <a:latin typeface="TT Hoves"/>
              </a:rPr>
              <a:t>            </a:t>
            </a:r>
            <a:r>
              <a:rPr sz="2700" b="1" i="1">
                <a:latin typeface="TT Hoves"/>
              </a:rPr>
              <a:t>R</a:t>
            </a:r>
            <a:r>
              <a:rPr sz="2700" b="1">
                <a:latin typeface="TT Hoves"/>
              </a:rPr>
              <a:t> = </a:t>
            </a:r>
            <a:r>
              <a:rPr sz="2700" b="1" i="1">
                <a:latin typeface="TT Hoves"/>
              </a:rPr>
              <a:t>v</a:t>
            </a:r>
            <a:r>
              <a:rPr sz="2484" baseline="-25000">
                <a:latin typeface="TT Hoves"/>
              </a:rPr>
              <a:t>i</a:t>
            </a:r>
            <a:r>
              <a:rPr sz="2484" baseline="30000">
                <a:latin typeface="TT Hoves"/>
              </a:rPr>
              <a:t>2</a:t>
            </a:r>
            <a:r>
              <a:rPr sz="2700" b="1">
                <a:latin typeface="TT Hoves"/>
              </a:rPr>
              <a:t> sin 2</a:t>
            </a:r>
            <a:r>
              <a:rPr sz="2700" b="1" i="1">
                <a:latin typeface="TT Hoves"/>
              </a:rPr>
              <a:t>θ</a:t>
            </a:r>
            <a:r>
              <a:rPr sz="2484" baseline="-25000">
                <a:latin typeface="TT Hoves"/>
              </a:rPr>
              <a:t>i</a:t>
            </a:r>
            <a:r>
              <a:rPr sz="2700" b="1">
                <a:latin typeface="TT Hoves"/>
              </a:rPr>
              <a:t>  /  </a:t>
            </a:r>
            <a:r>
              <a:rPr sz="2700" b="1" i="1">
                <a:latin typeface="TT Hoves"/>
              </a:rPr>
              <a:t>g</a:t>
            </a:r>
          </a:p>
          <a:p>
            <a:pPr marL="457200" indent="-457200" algn="l">
              <a:lnSpc>
                <a:spcPct val="104000"/>
              </a:lnSpc>
              <a:spcBef>
                <a:spcPts val="0"/>
              </a:spcBef>
              <a:spcAft>
                <a:spcPts val="700"/>
              </a:spcAft>
              <a:buFont typeface="Arial" pitchFamily="34" charset="0"/>
              <a:buChar char="•"/>
            </a:pPr>
            <a:r>
              <a:rPr sz="2500" b="1" i="1">
                <a:latin typeface="TT Hoves"/>
              </a:rPr>
              <a:t>Important boundary:</a:t>
            </a:r>
            <a:r>
              <a:rPr sz="2500">
                <a:latin typeface="TT Hoves"/>
              </a:rPr>
              <a:t> these only work for a </a:t>
            </a:r>
            <a:r>
              <a:rPr sz="2500" i="1">
                <a:latin typeface="TT Hoves"/>
              </a:rPr>
              <a:t>symmetric</a:t>
            </a:r>
            <a:r>
              <a:rPr sz="2500">
                <a:latin typeface="TT Hoves"/>
              </a:rPr>
              <a:t> trip — same launch and landing level. If a ball is thrown off a cliff or lands on a slope, these formulas </a:t>
            </a:r>
            <a:r>
              <a:rPr sz="2500" i="1">
                <a:latin typeface="TT Hoves"/>
              </a:rPr>
              <a:t>don't apply</a:t>
            </a:r>
            <a:r>
              <a:rPr sz="2500">
                <a:latin typeface="TT Hoves"/>
              </a:rPr>
              <a:t> — go back to the full equations from the previous slide instead.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How Launch Angle Changes the Flight</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500">
                <a:latin typeface="TT Hoves"/>
              </a:rPr>
              <a:t>Same </a:t>
            </a:r>
            <a:r>
              <a:rPr sz="2500" i="1">
                <a:latin typeface="TT Hoves"/>
              </a:rPr>
              <a:t>speed</a:t>
            </a:r>
            <a:r>
              <a:rPr sz="2500">
                <a:latin typeface="TT Hoves"/>
              </a:rPr>
              <a:t>, different </a:t>
            </a:r>
            <a:r>
              <a:rPr sz="2500" i="1">
                <a:latin typeface="TT Hoves"/>
              </a:rPr>
              <a:t>angle</a:t>
            </a:r>
            <a:r>
              <a:rPr sz="2500">
                <a:latin typeface="TT Hoves"/>
              </a:rPr>
              <a:t> → dramatically different paths.</a:t>
            </a:r>
          </a:p>
          <a:p>
            <a:pPr marL="457200" indent="-457200" algn="l">
              <a:lnSpc>
                <a:spcPct val="104000"/>
              </a:lnSpc>
              <a:spcBef>
                <a:spcPts val="0"/>
              </a:spcBef>
              <a:spcAft>
                <a:spcPts val="700"/>
              </a:spcAft>
              <a:buFont typeface="Arial" pitchFamily="34" charset="0"/>
              <a:buChar char="•"/>
            </a:pPr>
            <a:r>
              <a:rPr sz="2500">
                <a:latin typeface="TT Hoves"/>
              </a:rPr>
              <a:t>A shallow angle sends an object </a:t>
            </a:r>
            <a:r>
              <a:rPr sz="2500" i="1">
                <a:latin typeface="TT Hoves"/>
              </a:rPr>
              <a:t>far but low</a:t>
            </a:r>
            <a:r>
              <a:rPr sz="2500">
                <a:latin typeface="TT Hoves"/>
              </a:rPr>
              <a:t>; a steep angle sends it </a:t>
            </a:r>
            <a:r>
              <a:rPr sz="2500" i="1">
                <a:latin typeface="TT Hoves"/>
              </a:rPr>
              <a:t>high but not far</a:t>
            </a:r>
            <a:r>
              <a:rPr sz="2500">
                <a:latin typeface="TT Hoves"/>
              </a:rPr>
              <a:t>.</a:t>
            </a:r>
          </a:p>
          <a:p>
            <a:pPr marL="457200" indent="-457200" algn="l">
              <a:lnSpc>
                <a:spcPct val="104000"/>
              </a:lnSpc>
              <a:spcBef>
                <a:spcPts val="0"/>
              </a:spcBef>
              <a:spcAft>
                <a:spcPts val="700"/>
              </a:spcAft>
              <a:buFont typeface="Arial" pitchFamily="34" charset="0"/>
              <a:buChar char="•"/>
            </a:pPr>
            <a:r>
              <a:rPr sz="2500">
                <a:latin typeface="TT Hoves"/>
              </a:rPr>
              <a:t>Somewhere between those extremes is a launch angle that maximizes horizontal distance for a given speed — the range formula reveals </a:t>
            </a:r>
            <a:r>
              <a:rPr sz="2500" i="1">
                <a:latin typeface="TT Hoves"/>
              </a:rPr>
              <a:t>which</a:t>
            </a:r>
            <a:r>
              <a:rPr sz="2500">
                <a:latin typeface="TT Hoves"/>
              </a:rPr>
              <a:t> angle that is, without needing to test every possibility by hand.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How Launch Speed Changes the Flight</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500">
                <a:latin typeface="TT Hoves"/>
              </a:rPr>
              <a:t>Same </a:t>
            </a:r>
            <a:r>
              <a:rPr sz="2500" i="1">
                <a:latin typeface="TT Hoves"/>
              </a:rPr>
              <a:t>angle</a:t>
            </a:r>
            <a:r>
              <a:rPr sz="2500">
                <a:latin typeface="TT Hoves"/>
              </a:rPr>
              <a:t>, different </a:t>
            </a:r>
            <a:r>
              <a:rPr sz="2500" i="1">
                <a:latin typeface="TT Hoves"/>
              </a:rPr>
              <a:t>speed</a:t>
            </a:r>
            <a:r>
              <a:rPr sz="2500">
                <a:latin typeface="TT Hoves"/>
              </a:rPr>
              <a:t> → same </a:t>
            </a:r>
            <a:r>
              <a:rPr sz="2500" i="1">
                <a:latin typeface="TT Hoves"/>
              </a:rPr>
              <a:t>shape</a:t>
            </a:r>
            <a:r>
              <a:rPr sz="2500">
                <a:latin typeface="TT Hoves"/>
              </a:rPr>
              <a:t>, different </a:t>
            </a:r>
            <a:r>
              <a:rPr sz="2500" i="1">
                <a:latin typeface="TT Hoves"/>
              </a:rPr>
              <a:t>scale</a:t>
            </a:r>
            <a:r>
              <a:rPr sz="2500">
                <a:latin typeface="TT Hoves"/>
              </a:rPr>
              <a:t>.</a:t>
            </a:r>
          </a:p>
          <a:p>
            <a:pPr marL="457200" indent="-457200" algn="l">
              <a:lnSpc>
                <a:spcPct val="104000"/>
              </a:lnSpc>
              <a:spcBef>
                <a:spcPts val="0"/>
              </a:spcBef>
              <a:spcAft>
                <a:spcPts val="700"/>
              </a:spcAft>
              <a:buFont typeface="Arial" pitchFamily="34" charset="0"/>
              <a:buChar char="•"/>
            </a:pPr>
            <a:r>
              <a:rPr sz="2500">
                <a:latin typeface="TT Hoves"/>
              </a:rPr>
              <a:t>Doubling the launch speed doesn't just double the range — because speed appears </a:t>
            </a:r>
            <a:r>
              <a:rPr sz="2500" i="1">
                <a:latin typeface="TT Hoves"/>
              </a:rPr>
              <a:t>squared</a:t>
            </a:r>
            <a:r>
              <a:rPr sz="2500">
                <a:latin typeface="TT Hoves"/>
              </a:rPr>
              <a:t> in both the range and max-height formulas, the effect compounds fast.</a:t>
            </a:r>
          </a:p>
          <a:p>
            <a:pPr marL="457200" indent="-457200" algn="l">
              <a:lnSpc>
                <a:spcPct val="104000"/>
              </a:lnSpc>
              <a:spcBef>
                <a:spcPts val="0"/>
              </a:spcBef>
              <a:spcAft>
                <a:spcPts val="700"/>
              </a:spcAft>
              <a:buFont typeface="Arial" pitchFamily="34" charset="0"/>
              <a:buChar char="•"/>
            </a:pPr>
            <a:r>
              <a:rPr sz="2500">
                <a:latin typeface="TT Hoves"/>
              </a:rPr>
              <a:t>This matters anywhere launch speed is the variable an athlete, engineer, or animal can actually control — angle is often fixed by circumstance, but speed rarely 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2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From Straight Lines to Circles — A New Kind of Motion</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500">
                <a:latin typeface="TT Hoves"/>
              </a:rPr>
              <a:t>Everything so far involved a </a:t>
            </a:r>
            <a:r>
              <a:rPr sz="2500" i="1">
                <a:latin typeface="TT Hoves"/>
              </a:rPr>
              <a:t>changing</a:t>
            </a:r>
            <a:r>
              <a:rPr sz="2500">
                <a:latin typeface="TT Hoves"/>
              </a:rPr>
              <a:t> speed and a </a:t>
            </a:r>
            <a:r>
              <a:rPr sz="2500" i="1">
                <a:latin typeface="TT Hoves"/>
              </a:rPr>
              <a:t>changing</a:t>
            </a:r>
            <a:r>
              <a:rPr sz="2500">
                <a:latin typeface="TT Hoves"/>
              </a:rPr>
              <a:t> direction, both driven by gravity.</a:t>
            </a:r>
          </a:p>
          <a:p>
            <a:pPr marL="457200" indent="-457200" algn="l">
              <a:lnSpc>
                <a:spcPct val="104000"/>
              </a:lnSpc>
              <a:spcBef>
                <a:spcPts val="0"/>
              </a:spcBef>
              <a:spcAft>
                <a:spcPts val="700"/>
              </a:spcAft>
              <a:buFont typeface="Arial" pitchFamily="34" charset="0"/>
              <a:buChar char="•"/>
            </a:pPr>
            <a:r>
              <a:rPr sz="2500">
                <a:latin typeface="TT Hoves"/>
              </a:rPr>
              <a:t>Now: a Ferris wheel car, a satellite in orbit, a car rounding a curve — all moving at </a:t>
            </a:r>
            <a:r>
              <a:rPr sz="2500" i="1">
                <a:latin typeface="TT Hoves"/>
              </a:rPr>
              <a:t>roughly constant speed</a:t>
            </a:r>
            <a:r>
              <a:rPr sz="2500">
                <a:latin typeface="TT Hoves"/>
              </a:rPr>
              <a:t>, yet still very clearly </a:t>
            </a:r>
            <a:r>
              <a:rPr sz="2500" i="1">
                <a:latin typeface="TT Hoves"/>
              </a:rPr>
              <a:t>not</a:t>
            </a:r>
            <a:r>
              <a:rPr sz="2500">
                <a:latin typeface="TT Hoves"/>
              </a:rPr>
              <a:t> moving in a straight line.</a:t>
            </a:r>
          </a:p>
          <a:p>
            <a:pPr marL="457200" indent="-457200" algn="l">
              <a:lnSpc>
                <a:spcPct val="104000"/>
              </a:lnSpc>
              <a:spcBef>
                <a:spcPts val="0"/>
              </a:spcBef>
              <a:spcAft>
                <a:spcPts val="700"/>
              </a:spcAft>
              <a:buFont typeface="Arial" pitchFamily="34" charset="0"/>
              <a:buChar char="•"/>
            </a:pPr>
            <a:r>
              <a:rPr sz="2500">
                <a:latin typeface="TT Hoves"/>
              </a:rPr>
              <a:t>That's </a:t>
            </a:r>
            <a:r>
              <a:rPr sz="2500" b="1" i="1">
                <a:latin typeface="TT Hoves"/>
              </a:rPr>
              <a:t>circular motion</a:t>
            </a:r>
            <a:r>
              <a:rPr sz="2500">
                <a:latin typeface="TT Hoves"/>
              </a:rPr>
              <a:t> — a different curved path, driven by a completely different cause.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Uniform Circular Motion Defined</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500">
                <a:latin typeface="TT Hoves"/>
              </a:rPr>
              <a:t>When an object travels a circular path at a </a:t>
            </a:r>
            <a:r>
              <a:rPr sz="2500" i="1">
                <a:latin typeface="TT Hoves"/>
              </a:rPr>
              <a:t>constant speed</a:t>
            </a:r>
            <a:r>
              <a:rPr sz="2500">
                <a:latin typeface="TT Hoves"/>
              </a:rPr>
              <a:t>, physicists call it </a:t>
            </a:r>
            <a:r>
              <a:rPr sz="2500" b="1" i="1">
                <a:latin typeface="TT Hoves"/>
              </a:rPr>
              <a:t>uniform circular motion</a:t>
            </a:r>
            <a:r>
              <a:rPr sz="2500">
                <a:latin typeface="TT Hoves"/>
              </a:rPr>
              <a:t> — common enough to earn its own name and its own toolkit of equations.</a:t>
            </a:r>
          </a:p>
          <a:p>
            <a:pPr marL="457200" indent="-457200" algn="l">
              <a:lnSpc>
                <a:spcPct val="104000"/>
              </a:lnSpc>
              <a:spcBef>
                <a:spcPts val="0"/>
              </a:spcBef>
              <a:spcAft>
                <a:spcPts val="700"/>
              </a:spcAft>
              <a:buFont typeface="Arial" pitchFamily="34" charset="0"/>
              <a:buChar char="•"/>
            </a:pPr>
            <a:r>
              <a:rPr sz="2500">
                <a:latin typeface="TT Hoves"/>
              </a:rPr>
              <a:t>A spinning record, a carousel horse, a satellite in a circular orbit — all textbook examples of the same underlying motion.</a:t>
            </a:r>
          </a:p>
          <a:p>
            <a:pPr marL="457200" indent="-457200" algn="l">
              <a:lnSpc>
                <a:spcPct val="104000"/>
              </a:lnSpc>
              <a:spcBef>
                <a:spcPts val="0"/>
              </a:spcBef>
              <a:spcAft>
                <a:spcPts val="700"/>
              </a:spcAft>
              <a:buFont typeface="Arial" pitchFamily="34" charset="0"/>
              <a:buChar char="•"/>
            </a:pPr>
            <a:r>
              <a:rPr sz="2500">
                <a:latin typeface="TT Hoves"/>
              </a:rPr>
              <a:t>The one thing that's </a:t>
            </a:r>
            <a:r>
              <a:rPr sz="2500" i="1">
                <a:latin typeface="TT Hoves"/>
              </a:rPr>
              <a:t>always</a:t>
            </a:r>
            <a:r>
              <a:rPr sz="2500">
                <a:latin typeface="TT Hoves"/>
              </a:rPr>
              <a:t> true: the velocity vector is </a:t>
            </a:r>
            <a:r>
              <a:rPr sz="2500" i="1">
                <a:latin typeface="TT Hoves"/>
              </a:rPr>
              <a:t>tangent</a:t>
            </a:r>
            <a:r>
              <a:rPr sz="2500">
                <a:latin typeface="TT Hoves"/>
              </a:rPr>
              <a:t> to the circle at every instant, and </a:t>
            </a:r>
            <a:r>
              <a:rPr sz="2500" i="1">
                <a:latin typeface="TT Hoves"/>
              </a:rPr>
              <a:t>perpendicular</a:t>
            </a:r>
            <a:r>
              <a:rPr sz="2500">
                <a:latin typeface="TT Hoves"/>
              </a:rPr>
              <a:t> to the radius.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Why Constant Speed Still Means Accelerating</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800">
                <a:latin typeface="TT Hoves"/>
              </a:rPr>
              <a:t>Common misconception: "constant speed" means "no acceleration." </a:t>
            </a:r>
            <a:r>
              <a:rPr sz="2800" b="1">
                <a:latin typeface="TT Hoves"/>
              </a:rPr>
              <a:t>False.</a:t>
            </a:r>
          </a:p>
          <a:p>
            <a:pPr marL="457200" indent="-457200" algn="l">
              <a:lnSpc>
                <a:spcPct val="104000"/>
              </a:lnSpc>
              <a:spcBef>
                <a:spcPts val="0"/>
              </a:spcBef>
              <a:spcAft>
                <a:spcPts val="700"/>
              </a:spcAft>
              <a:buFont typeface="Arial" pitchFamily="34" charset="0"/>
              <a:buChar char="•"/>
            </a:pPr>
            <a:r>
              <a:rPr sz="2800" b="1" i="1">
                <a:latin typeface="TT Hoves"/>
              </a:rPr>
              <a:t>Acceleration is a change in velocity — and velocity is a vector, made of both speed and direction.</a:t>
            </a:r>
          </a:p>
          <a:p>
            <a:pPr marL="457200" indent="-457200" algn="l">
              <a:lnSpc>
                <a:spcPct val="104000"/>
              </a:lnSpc>
              <a:spcBef>
                <a:spcPts val="0"/>
              </a:spcBef>
              <a:spcAft>
                <a:spcPts val="700"/>
              </a:spcAft>
              <a:buFont typeface="Arial" pitchFamily="34" charset="0"/>
              <a:buChar char="•"/>
            </a:pPr>
            <a:r>
              <a:rPr sz="2800">
                <a:latin typeface="TT Hoves"/>
              </a:rPr>
              <a:t>In circular motion, the </a:t>
            </a:r>
            <a:r>
              <a:rPr sz="2800" i="1">
                <a:latin typeface="TT Hoves"/>
              </a:rPr>
              <a:t>speed</a:t>
            </a:r>
            <a:r>
              <a:rPr sz="2800">
                <a:latin typeface="TT Hoves"/>
              </a:rPr>
              <a:t> never changes, but the </a:t>
            </a:r>
            <a:r>
              <a:rPr sz="2800" i="1">
                <a:latin typeface="TT Hoves"/>
              </a:rPr>
              <a:t>direction</a:t>
            </a:r>
            <a:r>
              <a:rPr sz="2800">
                <a:latin typeface="TT Hoves"/>
              </a:rPr>
              <a:t> is changing at every single instant — and that alone is enough to count as acceleration.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2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Centripetal Acceleration — Always Toward the Center</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algn="ctr">
              <a:lnSpc>
                <a:spcPct val="104000"/>
              </a:lnSpc>
              <a:spcBef>
                <a:spcPts val="400"/>
              </a:spcBef>
              <a:spcAft>
                <a:spcPts val="700"/>
              </a:spcAft>
              <a:buNone/>
            </a:pPr>
            <a:r>
              <a:rPr sz="2700" b="1" i="1">
                <a:latin typeface="TT Hoves"/>
              </a:rPr>
              <a:t>a</a:t>
            </a:r>
            <a:r>
              <a:rPr sz="2484" baseline="-25000">
                <a:latin typeface="TT Hoves"/>
              </a:rPr>
              <a:t>c</a:t>
            </a:r>
            <a:r>
              <a:rPr sz="2700" b="1">
                <a:latin typeface="TT Hoves"/>
              </a:rPr>
              <a:t> = </a:t>
            </a:r>
            <a:r>
              <a:rPr sz="2700" b="1" i="1">
                <a:latin typeface="TT Hoves"/>
              </a:rPr>
              <a:t>v</a:t>
            </a:r>
            <a:r>
              <a:rPr sz="2484" baseline="30000">
                <a:latin typeface="TT Hoves"/>
              </a:rPr>
              <a:t>2</a:t>
            </a:r>
            <a:r>
              <a:rPr sz="2700" b="1">
                <a:latin typeface="TT Hoves"/>
              </a:rPr>
              <a:t>  /  </a:t>
            </a:r>
            <a:r>
              <a:rPr sz="2700" b="1" i="1">
                <a:latin typeface="TT Hoves"/>
              </a:rPr>
              <a:t>r</a:t>
            </a:r>
          </a:p>
          <a:p>
            <a:pPr marL="457200" indent="-457200" algn="l">
              <a:lnSpc>
                <a:spcPct val="104000"/>
              </a:lnSpc>
              <a:spcBef>
                <a:spcPts val="0"/>
              </a:spcBef>
              <a:spcAft>
                <a:spcPts val="700"/>
              </a:spcAft>
              <a:buFont typeface="Arial" pitchFamily="34" charset="0"/>
              <a:buChar char="•"/>
            </a:pPr>
            <a:r>
              <a:rPr sz="2500">
                <a:latin typeface="TT Hoves"/>
              </a:rPr>
              <a:t>Called </a:t>
            </a:r>
            <a:r>
              <a:rPr sz="2500" b="1" i="1">
                <a:latin typeface="TT Hoves"/>
              </a:rPr>
              <a:t>centripetal</a:t>
            </a:r>
            <a:r>
              <a:rPr sz="2500">
                <a:latin typeface="TT Hoves"/>
              </a:rPr>
              <a:t> acceleration — literally "center-seeking."</a:t>
            </a:r>
          </a:p>
          <a:p>
            <a:pPr marL="457200" indent="-457200" algn="l">
              <a:lnSpc>
                <a:spcPct val="104000"/>
              </a:lnSpc>
              <a:spcBef>
                <a:spcPts val="0"/>
              </a:spcBef>
              <a:spcAft>
                <a:spcPts val="700"/>
              </a:spcAft>
              <a:buFont typeface="Arial" pitchFamily="34" charset="0"/>
              <a:buChar char="•"/>
            </a:pPr>
            <a:r>
              <a:rPr sz="2500">
                <a:latin typeface="TT Hoves"/>
              </a:rPr>
              <a:t>It </a:t>
            </a:r>
            <a:r>
              <a:rPr sz="2500" i="1">
                <a:latin typeface="TT Hoves"/>
              </a:rPr>
              <a:t>always</a:t>
            </a:r>
            <a:r>
              <a:rPr sz="2500">
                <a:latin typeface="TT Hoves"/>
              </a:rPr>
              <a:t> points from the object straight toward the center of the circle, never along the path itself.</a:t>
            </a:r>
          </a:p>
          <a:p>
            <a:pPr marL="457200" indent="-457200" algn="l">
              <a:lnSpc>
                <a:spcPct val="104000"/>
              </a:lnSpc>
              <a:spcBef>
                <a:spcPts val="0"/>
              </a:spcBef>
              <a:spcAft>
                <a:spcPts val="700"/>
              </a:spcAft>
              <a:buFont typeface="Arial" pitchFamily="34" charset="0"/>
              <a:buChar char="•"/>
            </a:pPr>
            <a:r>
              <a:rPr sz="2500">
                <a:latin typeface="TT Hoves"/>
              </a:rPr>
              <a:t>Bigger speed </a:t>
            </a:r>
            <a:r>
              <a:rPr sz="2500" i="1">
                <a:latin typeface="TT Hoves"/>
              </a:rPr>
              <a:t>or</a:t>
            </a:r>
            <a:r>
              <a:rPr sz="2500">
                <a:latin typeface="TT Hoves"/>
              </a:rPr>
              <a:t> smaller radius → bigger acceleration. That relationship is the entire foundation of today's upcoming investigation.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Measuring the Motion — Period and Speed</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algn="ctr">
              <a:lnSpc>
                <a:spcPct val="104000"/>
              </a:lnSpc>
              <a:spcBef>
                <a:spcPts val="400"/>
              </a:spcBef>
              <a:spcAft>
                <a:spcPts val="700"/>
              </a:spcAft>
              <a:buNone/>
            </a:pPr>
            <a:r>
              <a:rPr sz="2400" b="1" i="1">
                <a:latin typeface="TT Hoves"/>
              </a:rPr>
              <a:t>T</a:t>
            </a:r>
            <a:r>
              <a:rPr sz="2400" b="1">
                <a:latin typeface="TT Hoves"/>
              </a:rPr>
              <a:t> = 2π</a:t>
            </a:r>
            <a:r>
              <a:rPr sz="2400" b="1" i="1">
                <a:latin typeface="TT Hoves"/>
              </a:rPr>
              <a:t>r</a:t>
            </a:r>
            <a:r>
              <a:rPr sz="2400" b="1">
                <a:latin typeface="TT Hoves"/>
              </a:rPr>
              <a:t>  /  </a:t>
            </a:r>
            <a:r>
              <a:rPr sz="2400" b="1" i="1">
                <a:latin typeface="TT Hoves"/>
              </a:rPr>
              <a:t>v</a:t>
            </a:r>
          </a:p>
          <a:p>
            <a:pPr marL="457200" indent="-457200" algn="l">
              <a:lnSpc>
                <a:spcPct val="104000"/>
              </a:lnSpc>
              <a:spcBef>
                <a:spcPts val="0"/>
              </a:spcBef>
              <a:spcAft>
                <a:spcPts val="700"/>
              </a:spcAft>
              <a:buFont typeface="Arial" pitchFamily="34" charset="0"/>
              <a:buChar char="•"/>
            </a:pPr>
            <a:r>
              <a:rPr sz="2200">
                <a:latin typeface="TT Hoves"/>
              </a:rPr>
              <a:t>The </a:t>
            </a:r>
            <a:r>
              <a:rPr sz="2200" b="1" i="1">
                <a:latin typeface="TT Hoves"/>
              </a:rPr>
              <a:t>period</a:t>
            </a:r>
            <a:r>
              <a:rPr sz="2200">
                <a:latin typeface="TT Hoves"/>
              </a:rPr>
              <a:t> </a:t>
            </a:r>
            <a:r>
              <a:rPr sz="2200" i="1">
                <a:latin typeface="TT Hoves"/>
              </a:rPr>
              <a:t>T</a:t>
            </a:r>
            <a:r>
              <a:rPr sz="2200">
                <a:latin typeface="TT Hoves"/>
              </a:rPr>
              <a:t> is simply the time for </a:t>
            </a:r>
            <a:r>
              <a:rPr sz="2200" i="1">
                <a:latin typeface="TT Hoves"/>
              </a:rPr>
              <a:t>one full lap</a:t>
            </a:r>
            <a:r>
              <a:rPr sz="2200">
                <a:latin typeface="TT Hoves"/>
              </a:rPr>
              <a:t> around the circle.</a:t>
            </a:r>
          </a:p>
          <a:p>
            <a:pPr marL="457200" indent="-457200" algn="l">
              <a:lnSpc>
                <a:spcPct val="104000"/>
              </a:lnSpc>
              <a:spcBef>
                <a:spcPts val="0"/>
              </a:spcBef>
              <a:spcAft>
                <a:spcPts val="700"/>
              </a:spcAft>
              <a:buFont typeface="Arial" pitchFamily="34" charset="0"/>
              <a:buChar char="•"/>
            </a:pPr>
            <a:r>
              <a:rPr sz="2200">
                <a:latin typeface="TT Hoves"/>
              </a:rPr>
              <a:t>Useful because </a:t>
            </a:r>
            <a:r>
              <a:rPr sz="2200" i="1">
                <a:latin typeface="TT Hoves"/>
              </a:rPr>
              <a:t>T</a:t>
            </a:r>
            <a:r>
              <a:rPr sz="2200">
                <a:latin typeface="TT Hoves"/>
              </a:rPr>
              <a:t> is often the number you actually </a:t>
            </a:r>
            <a:r>
              <a:rPr sz="2200" i="1">
                <a:latin typeface="TT Hoves"/>
              </a:rPr>
              <a:t>know</a:t>
            </a:r>
            <a:r>
              <a:rPr sz="2200">
                <a:latin typeface="TT Hoves"/>
              </a:rPr>
              <a:t> in real life — a satellite's orbital period, a wheel's rotations per minute, a Ferris wheel's ride time — while </a:t>
            </a:r>
            <a:r>
              <a:rPr sz="2200" i="1">
                <a:latin typeface="TT Hoves"/>
              </a:rPr>
              <a:t>v</a:t>
            </a:r>
            <a:r>
              <a:rPr sz="2200">
                <a:latin typeface="TT Hoves"/>
              </a:rPr>
              <a:t> is usually the harder number to measure directly.</a:t>
            </a:r>
          </a:p>
          <a:p>
            <a:pPr marL="457200" indent="-457200" algn="l">
              <a:lnSpc>
                <a:spcPct val="104000"/>
              </a:lnSpc>
              <a:spcBef>
                <a:spcPts val="0"/>
              </a:spcBef>
              <a:spcAft>
                <a:spcPts val="700"/>
              </a:spcAft>
              <a:buFont typeface="Arial" pitchFamily="34" charset="0"/>
              <a:buChar char="•"/>
            </a:pPr>
            <a:r>
              <a:rPr sz="2200">
                <a:latin typeface="TT Hoves"/>
              </a:rPr>
              <a:t>This equation is really just "distance = speed × time," rearranged, applied to the circle's circumference.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2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Centripetal Force — The Push Toward the Center</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algn="ctr">
              <a:lnSpc>
                <a:spcPct val="104000"/>
              </a:lnSpc>
              <a:spcBef>
                <a:spcPts val="400"/>
              </a:spcBef>
              <a:spcAft>
                <a:spcPts val="700"/>
              </a:spcAft>
              <a:buNone/>
            </a:pPr>
            <a:r>
              <a:rPr sz="2300" b="1" i="1">
                <a:latin typeface="TT Hoves"/>
              </a:rPr>
              <a:t>F</a:t>
            </a:r>
            <a:r>
              <a:rPr sz="2116" baseline="-25000">
                <a:latin typeface="TT Hoves"/>
              </a:rPr>
              <a:t>c</a:t>
            </a:r>
            <a:r>
              <a:rPr sz="2300" b="1">
                <a:latin typeface="TT Hoves"/>
              </a:rPr>
              <a:t> = </a:t>
            </a:r>
            <a:r>
              <a:rPr sz="2300" b="1" i="1">
                <a:latin typeface="TT Hoves"/>
              </a:rPr>
              <a:t>m</a:t>
            </a:r>
            <a:r>
              <a:rPr sz="2300" b="1" i="1">
                <a:latin typeface="TT Hoves"/>
              </a:rPr>
              <a:t>v</a:t>
            </a:r>
            <a:r>
              <a:rPr sz="2116" baseline="30000">
                <a:latin typeface="TT Hoves"/>
              </a:rPr>
              <a:t>2</a:t>
            </a:r>
            <a:r>
              <a:rPr sz="2300" b="1">
                <a:latin typeface="TT Hoves"/>
              </a:rPr>
              <a:t>  /  </a:t>
            </a:r>
            <a:r>
              <a:rPr sz="2300" b="1" i="1">
                <a:latin typeface="TT Hoves"/>
              </a:rPr>
              <a:t>r</a:t>
            </a:r>
          </a:p>
          <a:p>
            <a:pPr marL="457200" indent="-457200" algn="l">
              <a:lnSpc>
                <a:spcPct val="104000"/>
              </a:lnSpc>
              <a:spcBef>
                <a:spcPts val="0"/>
              </a:spcBef>
              <a:spcAft>
                <a:spcPts val="700"/>
              </a:spcAft>
              <a:buFont typeface="Arial" pitchFamily="34" charset="0"/>
              <a:buChar char="•"/>
            </a:pPr>
            <a:r>
              <a:rPr sz="2100">
                <a:latin typeface="TT Hoves"/>
              </a:rPr>
              <a:t>Acceleration doesn't happen on its own — something has to </a:t>
            </a:r>
            <a:r>
              <a:rPr sz="2100" i="1">
                <a:latin typeface="TT Hoves"/>
              </a:rPr>
              <a:t>cause</a:t>
            </a:r>
            <a:r>
              <a:rPr sz="2100">
                <a:latin typeface="TT Hoves"/>
              </a:rPr>
              <a:t> it. For circular motion, that cause is the </a:t>
            </a:r>
            <a:r>
              <a:rPr sz="2100" b="1" i="1">
                <a:latin typeface="TT Hoves"/>
              </a:rPr>
              <a:t>centripetal force</a:t>
            </a:r>
            <a:r>
              <a:rPr sz="2100">
                <a:latin typeface="TT Hoves"/>
              </a:rPr>
              <a:t>, always aimed toward the center, same direction as the acceleration it produces.</a:t>
            </a:r>
          </a:p>
          <a:p>
            <a:pPr marL="457200" indent="-457200" algn="l">
              <a:lnSpc>
                <a:spcPct val="104000"/>
              </a:lnSpc>
              <a:spcBef>
                <a:spcPts val="0"/>
              </a:spcBef>
              <a:spcAft>
                <a:spcPts val="700"/>
              </a:spcAft>
              <a:buFont typeface="Arial" pitchFamily="34" charset="0"/>
              <a:buChar char="•"/>
            </a:pPr>
            <a:r>
              <a:rPr sz="2100">
                <a:latin typeface="TT Hoves"/>
              </a:rPr>
              <a:t>In real life, that force wears many disguises: </a:t>
            </a:r>
            <a:r>
              <a:rPr sz="2100" i="1">
                <a:latin typeface="TT Hoves"/>
              </a:rPr>
              <a:t>tension</a:t>
            </a:r>
            <a:r>
              <a:rPr sz="2100">
                <a:latin typeface="TT Hoves"/>
              </a:rPr>
              <a:t> in a swung string, </a:t>
            </a:r>
            <a:r>
              <a:rPr sz="2100" i="1">
                <a:latin typeface="TT Hoves"/>
              </a:rPr>
              <a:t>friction</a:t>
            </a:r>
            <a:r>
              <a:rPr sz="2100">
                <a:latin typeface="TT Hoves"/>
              </a:rPr>
              <a:t> between tires and road on a curve, </a:t>
            </a:r>
            <a:r>
              <a:rPr sz="2100" i="1">
                <a:latin typeface="TT Hoves"/>
              </a:rPr>
              <a:t>gravity</a:t>
            </a:r>
            <a:r>
              <a:rPr sz="2100">
                <a:latin typeface="TT Hoves"/>
              </a:rPr>
              <a:t> pulling a satellite inward.</a:t>
            </a:r>
          </a:p>
          <a:p>
            <a:pPr marL="457200" indent="-457200" algn="l">
              <a:lnSpc>
                <a:spcPct val="104000"/>
              </a:lnSpc>
              <a:spcBef>
                <a:spcPts val="0"/>
              </a:spcBef>
              <a:spcAft>
                <a:spcPts val="700"/>
              </a:spcAft>
              <a:buFont typeface="Arial" pitchFamily="34" charset="0"/>
              <a:buChar char="•"/>
            </a:pPr>
            <a:r>
              <a:rPr sz="2100">
                <a:latin typeface="TT Hoves"/>
              </a:rPr>
              <a:t>This formula is really just Newton's second law (F = ma), applied to the acceleration formula — a preview of the dynamics work coming on August 4th.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Heads-Up: A Gap in This Chapter's Problems</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200">
                <a:latin typeface="TT Hoves"/>
              </a:rPr>
              <a:t>This textbook chapter covers circular motion purely as </a:t>
            </a:r>
            <a:r>
              <a:rPr sz="2200" b="1" i="1">
                <a:latin typeface="TT Hoves"/>
              </a:rPr>
              <a:t>kinematics</a:t>
            </a:r>
            <a:r>
              <a:rPr sz="2200">
                <a:latin typeface="TT Hoves"/>
              </a:rPr>
              <a:t> — acceleration, period, and speed — because </a:t>
            </a:r>
            <a:r>
              <a:rPr sz="2200" i="1">
                <a:latin typeface="TT Hoves"/>
              </a:rPr>
              <a:t>force</a:t>
            </a:r>
            <a:r>
              <a:rPr sz="2200">
                <a:latin typeface="TT Hoves"/>
              </a:rPr>
              <a:t> isn't formally introduced until the </a:t>
            </a:r>
            <a:r>
              <a:rPr sz="2200" i="1">
                <a:latin typeface="TT Hoves"/>
              </a:rPr>
              <a:t>next</a:t>
            </a:r>
            <a:r>
              <a:rPr sz="2200">
                <a:latin typeface="TT Hoves"/>
              </a:rPr>
              <a:t> chapter (Newton's Laws).</a:t>
            </a:r>
          </a:p>
          <a:p>
            <a:pPr marL="457200" indent="-457200" algn="l">
              <a:lnSpc>
                <a:spcPct val="104000"/>
              </a:lnSpc>
              <a:spcBef>
                <a:spcPts val="0"/>
              </a:spcBef>
              <a:spcAft>
                <a:spcPts val="700"/>
              </a:spcAft>
              <a:buFont typeface="Arial" pitchFamily="34" charset="0"/>
              <a:buChar char="•"/>
            </a:pPr>
            <a:r>
              <a:rPr sz="2200">
                <a:latin typeface="TT Hoves"/>
              </a:rPr>
              <a:t>Result: none of this chapter's practice problems ask students to solve for centripetal </a:t>
            </a:r>
            <a:r>
              <a:rPr sz="2200" i="1">
                <a:latin typeface="TT Hoves"/>
              </a:rPr>
              <a:t>force</a:t>
            </a:r>
            <a:r>
              <a:rPr sz="2200">
                <a:latin typeface="TT Hoves"/>
              </a:rPr>
              <a:t> numerically.</a:t>
            </a:r>
          </a:p>
          <a:p>
            <a:pPr marL="457200" indent="-457200" algn="l">
              <a:lnSpc>
                <a:spcPct val="104000"/>
              </a:lnSpc>
              <a:spcBef>
                <a:spcPts val="0"/>
              </a:spcBef>
              <a:spcAft>
                <a:spcPts val="700"/>
              </a:spcAft>
              <a:buFont typeface="Arial" pitchFamily="34" charset="0"/>
              <a:buChar char="•"/>
            </a:pPr>
            <a:r>
              <a:rPr sz="2200" b="1">
                <a:latin typeface="TT Hoves"/>
              </a:rPr>
              <a:t>Workaround:</a:t>
            </a:r>
            <a:r>
              <a:rPr sz="2200">
                <a:latin typeface="TT Hoves"/>
              </a:rPr>
              <a:t> since Fᴄ = m·v²/r = m·aᴄ , force and acceleration scale </a:t>
            </a:r>
            <a:r>
              <a:rPr sz="2200" i="1">
                <a:latin typeface="TT Hoves"/>
              </a:rPr>
              <a:t>identically</a:t>
            </a:r>
            <a:r>
              <a:rPr sz="2200">
                <a:latin typeface="TT Hoves"/>
              </a:rPr>
              <a:t> for a fixed mass — every acceleration problem coming up doubles as a force problem in disguise, once mass is added.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25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The Investigation Question — What Affects Centripetal Force?</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400">
                <a:latin typeface="TT Hoves"/>
              </a:rPr>
              <a:t>Today's guiding question, the one students will physically test: </a:t>
            </a:r>
            <a:r>
              <a:rPr sz="2400" b="1" i="1">
                <a:latin typeface="TT Hoves"/>
              </a:rPr>
              <a:t>how do speed and radius affect the centripetal force needed to keep an object moving in a circle?</a:t>
            </a:r>
          </a:p>
          <a:p>
            <a:pPr marL="457200" indent="-457200" algn="l">
              <a:lnSpc>
                <a:spcPct val="104000"/>
              </a:lnSpc>
              <a:spcBef>
                <a:spcPts val="0"/>
              </a:spcBef>
              <a:spcAft>
                <a:spcPts val="700"/>
              </a:spcAft>
              <a:buFont typeface="Arial" pitchFamily="34" charset="0"/>
              <a:buChar char="•"/>
            </a:pPr>
            <a:r>
              <a:rPr sz="2400">
                <a:latin typeface="TT Hoves"/>
              </a:rPr>
              <a:t>Before any data collection, the variables need to be sorted:</a:t>
            </a:r>
          </a:p>
          <a:p>
            <a:pPr marL="457200" indent="-457200" algn="l">
              <a:lnSpc>
                <a:spcPct val="104000"/>
              </a:lnSpc>
              <a:spcBef>
                <a:spcPts val="0"/>
              </a:spcBef>
              <a:spcAft>
                <a:spcPts val="700"/>
              </a:spcAft>
              <a:buFont typeface="Arial" pitchFamily="34" charset="0"/>
              <a:buChar char="•"/>
            </a:pPr>
            <a:r>
              <a:rPr sz="2400" b="1">
                <a:latin typeface="TT Hoves"/>
              </a:rPr>
              <a:t>Independent variables:</a:t>
            </a:r>
            <a:r>
              <a:rPr sz="2400">
                <a:latin typeface="TT Hoves"/>
              </a:rPr>
              <a:t> speed and radius.</a:t>
            </a:r>
          </a:p>
          <a:p>
            <a:pPr marL="457200" indent="-457200" algn="l">
              <a:lnSpc>
                <a:spcPct val="104000"/>
              </a:lnSpc>
              <a:spcBef>
                <a:spcPts val="0"/>
              </a:spcBef>
              <a:spcAft>
                <a:spcPts val="700"/>
              </a:spcAft>
              <a:buFont typeface="Arial" pitchFamily="34" charset="0"/>
              <a:buChar char="•"/>
            </a:pPr>
            <a:r>
              <a:rPr sz="2400" b="1">
                <a:latin typeface="TT Hoves"/>
              </a:rPr>
              <a:t>Dependent variable:</a:t>
            </a:r>
            <a:r>
              <a:rPr sz="2400">
                <a:latin typeface="TT Hoves"/>
              </a:rPr>
              <a:t> centripetal force.</a:t>
            </a:r>
          </a:p>
          <a:p>
            <a:pPr marL="457200" indent="-457200" algn="l">
              <a:lnSpc>
                <a:spcPct val="104000"/>
              </a:lnSpc>
              <a:spcBef>
                <a:spcPts val="0"/>
              </a:spcBef>
              <a:spcAft>
                <a:spcPts val="700"/>
              </a:spcAft>
              <a:buFont typeface="Arial" pitchFamily="34" charset="0"/>
              <a:buChar char="•"/>
            </a:pPr>
            <a:r>
              <a:rPr sz="2400" b="1">
                <a:latin typeface="TT Hoves"/>
              </a:rPr>
              <a:t>Controlled variable:</a:t>
            </a:r>
            <a:r>
              <a:rPr sz="2400">
                <a:latin typeface="TT Hoves"/>
              </a:rPr>
              <a:t> the mass of the spinning object.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Apparatus and Setup for the Investigation</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200">
                <a:latin typeface="TT Hoves"/>
              </a:rPr>
              <a:t>Classic classroom setup: a small stopper (or rubber tube) tied to one end of a string, threaded through a hollow tube, with a set of washers hung from the other end to provide a known, adjustable pulling force.</a:t>
            </a:r>
          </a:p>
          <a:p>
            <a:pPr marL="457200" indent="-457200" algn="l">
              <a:lnSpc>
                <a:spcPct val="104000"/>
              </a:lnSpc>
              <a:spcBef>
                <a:spcPts val="0"/>
              </a:spcBef>
              <a:spcAft>
                <a:spcPts val="700"/>
              </a:spcAft>
              <a:buFont typeface="Arial" pitchFamily="34" charset="0"/>
              <a:buChar char="•"/>
            </a:pPr>
            <a:r>
              <a:rPr sz="2200">
                <a:latin typeface="TT Hoves"/>
              </a:rPr>
              <a:t>The stopper is whirled overhead in a horizontal circle; the string length between hand and stopper sets the </a:t>
            </a:r>
            <a:r>
              <a:rPr sz="2200" i="1">
                <a:latin typeface="TT Hoves"/>
              </a:rPr>
              <a:t>radius</a:t>
            </a:r>
            <a:r>
              <a:rPr sz="2200">
                <a:latin typeface="TT Hoves"/>
              </a:rPr>
              <a:t>, and the speed of the whirl is adjusted so the hanging washers stay steady.</a:t>
            </a:r>
          </a:p>
          <a:p>
            <a:pPr marL="457200" indent="-457200" algn="l">
              <a:lnSpc>
                <a:spcPct val="104000"/>
              </a:lnSpc>
              <a:spcBef>
                <a:spcPts val="0"/>
              </a:spcBef>
              <a:spcAft>
                <a:spcPts val="700"/>
              </a:spcAft>
              <a:buFont typeface="Arial" pitchFamily="34" charset="0"/>
              <a:buChar char="•"/>
            </a:pPr>
            <a:r>
              <a:rPr sz="2200">
                <a:latin typeface="TT Hoves"/>
              </a:rPr>
              <a:t>If a physical apparatus isn't available, a simulation of the same setup works identically for testing the same variables.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33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Predicting the Relationships Before Testing</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100">
                <a:latin typeface="TT Hoves"/>
              </a:rPr>
              <a:t>Before collecting a single data point, use the formula itself to make a prediction:</a:t>
            </a:r>
          </a:p>
          <a:p>
            <a:pPr algn="ctr">
              <a:lnSpc>
                <a:spcPct val="104000"/>
              </a:lnSpc>
              <a:spcBef>
                <a:spcPts val="400"/>
              </a:spcBef>
              <a:spcAft>
                <a:spcPts val="700"/>
              </a:spcAft>
              <a:buNone/>
            </a:pPr>
            <a:r>
              <a:rPr sz="2300" b="1" i="1">
                <a:latin typeface="TT Hoves"/>
              </a:rPr>
              <a:t>F</a:t>
            </a:r>
            <a:r>
              <a:rPr sz="2116" baseline="-25000">
                <a:latin typeface="TT Hoves"/>
              </a:rPr>
              <a:t>c</a:t>
            </a:r>
            <a:r>
              <a:rPr sz="2300" b="1">
                <a:latin typeface="TT Hoves"/>
              </a:rPr>
              <a:t> = </a:t>
            </a:r>
            <a:r>
              <a:rPr sz="2300" b="1" i="1">
                <a:latin typeface="TT Hoves"/>
              </a:rPr>
              <a:t>m</a:t>
            </a:r>
            <a:r>
              <a:rPr sz="2300" b="1" i="1">
                <a:latin typeface="TT Hoves"/>
              </a:rPr>
              <a:t>v</a:t>
            </a:r>
            <a:r>
              <a:rPr sz="2116" baseline="30000">
                <a:latin typeface="TT Hoves"/>
              </a:rPr>
              <a:t>2</a:t>
            </a:r>
            <a:r>
              <a:rPr sz="2300" b="1">
                <a:latin typeface="TT Hoves"/>
              </a:rPr>
              <a:t>  /  </a:t>
            </a:r>
            <a:r>
              <a:rPr sz="2300" b="1" i="1">
                <a:latin typeface="TT Hoves"/>
              </a:rPr>
              <a:t>r</a:t>
            </a:r>
          </a:p>
          <a:p>
            <a:pPr marL="457200" indent="-457200" algn="l">
              <a:lnSpc>
                <a:spcPct val="104000"/>
              </a:lnSpc>
              <a:spcBef>
                <a:spcPts val="0"/>
              </a:spcBef>
              <a:spcAft>
                <a:spcPts val="700"/>
              </a:spcAft>
              <a:buFont typeface="Arial" pitchFamily="34" charset="0"/>
              <a:buChar char="•"/>
            </a:pPr>
            <a:r>
              <a:rPr sz="2100">
                <a:latin typeface="TT Hoves"/>
              </a:rPr>
              <a:t>Holding radius and mass fixed, doubling speed should </a:t>
            </a:r>
            <a:r>
              <a:rPr sz="2100" i="1">
                <a:latin typeface="TT Hoves"/>
              </a:rPr>
              <a:t>quadruple</a:t>
            </a:r>
            <a:r>
              <a:rPr sz="2100">
                <a:latin typeface="TT Hoves"/>
              </a:rPr>
              <a:t> the force needed (speed is squared).</a:t>
            </a:r>
          </a:p>
          <a:p>
            <a:pPr marL="457200" indent="-457200" algn="l">
              <a:lnSpc>
                <a:spcPct val="104000"/>
              </a:lnSpc>
              <a:spcBef>
                <a:spcPts val="0"/>
              </a:spcBef>
              <a:spcAft>
                <a:spcPts val="700"/>
              </a:spcAft>
              <a:buFont typeface="Arial" pitchFamily="34" charset="0"/>
              <a:buChar char="•"/>
            </a:pPr>
            <a:r>
              <a:rPr sz="2100">
                <a:latin typeface="TT Hoves"/>
              </a:rPr>
              <a:t>Holding speed and mass fixed, doubling the radius should </a:t>
            </a:r>
            <a:r>
              <a:rPr sz="2100" i="1">
                <a:latin typeface="TT Hoves"/>
              </a:rPr>
              <a:t>halve</a:t>
            </a:r>
            <a:r>
              <a:rPr sz="2100">
                <a:latin typeface="TT Hoves"/>
              </a:rPr>
              <a:t> the force needed (radius is in the denominator).</a:t>
            </a:r>
          </a:p>
          <a:p>
            <a:pPr marL="457200" indent="-457200" algn="l">
              <a:lnSpc>
                <a:spcPct val="104000"/>
              </a:lnSpc>
              <a:spcBef>
                <a:spcPts val="0"/>
              </a:spcBef>
              <a:spcAft>
                <a:spcPts val="700"/>
              </a:spcAft>
              <a:buFont typeface="Arial" pitchFamily="34" charset="0"/>
              <a:buChar char="•"/>
            </a:pPr>
            <a:r>
              <a:rPr sz="2100">
                <a:latin typeface="TT Hoves"/>
              </a:rPr>
              <a:t>Writing these predictions down </a:t>
            </a:r>
            <a:r>
              <a:rPr sz="2100" i="1">
                <a:latin typeface="TT Hoves"/>
              </a:rPr>
              <a:t>before</a:t>
            </a:r>
            <a:r>
              <a:rPr sz="2100">
                <a:latin typeface="TT Hoves"/>
              </a:rPr>
              <a:t> testing turns the lab from "collect random numbers" into "test a specific claim."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2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From Data to Conclusion — Linking Results to the Formula</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700"/>
              </a:spcAft>
              <a:buFont typeface="Arial" pitchFamily="34" charset="0"/>
              <a:buChar char="•"/>
            </a:pPr>
            <a:r>
              <a:rPr sz="2300">
                <a:latin typeface="TT Hoves"/>
              </a:rPr>
              <a:t>Collected numbers alone aren't a conclusion — a conclusion </a:t>
            </a:r>
            <a:r>
              <a:rPr sz="2300" i="1">
                <a:latin typeface="TT Hoves"/>
              </a:rPr>
              <a:t>explains</a:t>
            </a:r>
            <a:r>
              <a:rPr sz="2300">
                <a:latin typeface="TT Hoves"/>
              </a:rPr>
              <a:t> what the numbers mean.</a:t>
            </a:r>
          </a:p>
          <a:p>
            <a:pPr marL="457200" indent="-457200" algn="l">
              <a:lnSpc>
                <a:spcPct val="104000"/>
              </a:lnSpc>
              <a:spcBef>
                <a:spcPts val="0"/>
              </a:spcBef>
              <a:spcAft>
                <a:spcPts val="700"/>
              </a:spcAft>
              <a:buFont typeface="Arial" pitchFamily="34" charset="0"/>
              <a:buChar char="•"/>
            </a:pPr>
            <a:r>
              <a:rPr sz="2300">
                <a:latin typeface="TT Hoves"/>
              </a:rPr>
              <a:t>A strong conclusion does three things: states what was changed, states what happened to the force as a result, and explicitly connects that pattern back to Fᴄ = m·v²/r.</a:t>
            </a:r>
          </a:p>
          <a:p>
            <a:pPr marL="457200" indent="-457200" algn="l">
              <a:lnSpc>
                <a:spcPct val="104000"/>
              </a:lnSpc>
              <a:spcBef>
                <a:spcPts val="0"/>
              </a:spcBef>
              <a:spcAft>
                <a:spcPts val="700"/>
              </a:spcAft>
              <a:buFont typeface="Arial" pitchFamily="34" charset="0"/>
              <a:buChar char="•"/>
            </a:pPr>
            <a:r>
              <a:rPr sz="2300">
                <a:latin typeface="TT Hoves"/>
              </a:rPr>
              <a:t>Example structure (not a required script): </a:t>
            </a:r>
            <a:r>
              <a:rPr sz="2300" i="1">
                <a:latin typeface="TT Hoves"/>
              </a:rPr>
              <a:t>"As the radius increased while speed was held constant, the measured force decreased — consistent with the inverse relationship predicted by the formula."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25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Projectile vs. Circular Motion — Two Types, One Framework</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058" y="1536192"/>
            <a:ext cx="10671048" cy="4270248"/>
          </a:xfrm>
          <a:prstGeom prst="rect">
            <a:avLst/>
          </a:prstGeom>
          <a:noFill/>
        </p:spPr>
        <p:txBody>
          <a:bodyPr wrap="square" rtlCol="0">
            <a:noAutofit/>
          </a:bodyPr>
          <a:lstStyle/>
          <a:p>
            <a:pPr marL="457200" indent="-457200" algn="l">
              <a:lnSpc>
                <a:spcPct val="104000"/>
              </a:lnSpc>
              <a:spcBef>
                <a:spcPts val="0"/>
              </a:spcBef>
              <a:spcAft>
                <a:spcPts val="500"/>
              </a:spcAft>
              <a:buFont typeface="Arial" pitchFamily="34" charset="0"/>
              <a:buChar char="•"/>
            </a:pPr>
            <a:r>
              <a:rPr sz="1900" b="1">
                <a:latin typeface="TT Hoves"/>
              </a:rPr>
              <a:t>Cause of curving</a:t>
            </a:r>
            <a:r>
              <a:rPr sz="1900">
                <a:latin typeface="TT Hoves"/>
              </a:rPr>
              <a:t> — Projectile: gravity (constant, downward);  Circular: centripetal force (toward the center).</a:t>
            </a:r>
          </a:p>
          <a:p>
            <a:pPr marL="457200" indent="-457200" algn="l">
              <a:lnSpc>
                <a:spcPct val="104000"/>
              </a:lnSpc>
              <a:spcBef>
                <a:spcPts val="0"/>
              </a:spcBef>
              <a:spcAft>
                <a:spcPts val="500"/>
              </a:spcAft>
              <a:buFont typeface="Arial" pitchFamily="34" charset="0"/>
              <a:buChar char="•"/>
            </a:pPr>
            <a:r>
              <a:rPr sz="1900" b="1">
                <a:latin typeface="TT Hoves"/>
              </a:rPr>
              <a:t>Speed</a:t>
            </a:r>
            <a:r>
              <a:rPr sz="1900">
                <a:latin typeface="TT Hoves"/>
              </a:rPr>
              <a:t> — Projectile: changes throughout flight;  Circular: stays constant.</a:t>
            </a:r>
          </a:p>
          <a:p>
            <a:pPr marL="457200" indent="-457200" algn="l">
              <a:lnSpc>
                <a:spcPct val="104000"/>
              </a:lnSpc>
              <a:spcBef>
                <a:spcPts val="0"/>
              </a:spcBef>
              <a:spcAft>
                <a:spcPts val="500"/>
              </a:spcAft>
              <a:buFont typeface="Arial" pitchFamily="34" charset="0"/>
              <a:buChar char="•"/>
            </a:pPr>
            <a:r>
              <a:rPr sz="1900" b="1">
                <a:latin typeface="TT Hoves"/>
              </a:rPr>
              <a:t>Direction</a:t>
            </a:r>
            <a:r>
              <a:rPr sz="1900">
                <a:latin typeface="TT Hoves"/>
              </a:rPr>
              <a:t> — Projectile: changes;  Circular: changes.</a:t>
            </a:r>
          </a:p>
          <a:p>
            <a:pPr marL="457200" indent="-457200" algn="l">
              <a:lnSpc>
                <a:spcPct val="104000"/>
              </a:lnSpc>
              <a:spcBef>
                <a:spcPts val="0"/>
              </a:spcBef>
              <a:spcAft>
                <a:spcPts val="500"/>
              </a:spcAft>
              <a:buFont typeface="Arial" pitchFamily="34" charset="0"/>
              <a:buChar char="•"/>
            </a:pPr>
            <a:r>
              <a:rPr sz="1900" b="1">
                <a:latin typeface="TT Hoves"/>
              </a:rPr>
              <a:t>Acceleration direction</a:t>
            </a:r>
            <a:r>
              <a:rPr sz="1900">
                <a:latin typeface="TT Hoves"/>
              </a:rPr>
              <a:t> — Projectile: always straight down;  Circular: always toward the center.</a:t>
            </a:r>
          </a:p>
          <a:p>
            <a:pPr marL="457200" indent="-457200" algn="l">
              <a:lnSpc>
                <a:spcPct val="104000"/>
              </a:lnSpc>
              <a:spcBef>
                <a:spcPts val="0"/>
              </a:spcBef>
              <a:spcAft>
                <a:spcPts val="500"/>
              </a:spcAft>
              <a:buFont typeface="Arial" pitchFamily="34" charset="0"/>
              <a:buChar char="•"/>
            </a:pPr>
            <a:r>
              <a:rPr sz="1900" b="1">
                <a:latin typeface="TT Hoves"/>
              </a:rPr>
              <a:t>Everyday example</a:t>
            </a:r>
            <a:r>
              <a:rPr sz="1900">
                <a:latin typeface="TT Hoves"/>
              </a:rPr>
              <a:t> — Projectile: a thrown ball;  Circular: a car rounding a curve.</a:t>
            </a:r>
          </a:p>
          <a:p>
            <a:pPr marL="457200" indent="-457200" algn="l">
              <a:lnSpc>
                <a:spcPct val="104000"/>
              </a:lnSpc>
              <a:spcBef>
                <a:spcPts val="0"/>
              </a:spcBef>
              <a:spcAft>
                <a:spcPts val="500"/>
              </a:spcAft>
              <a:buFont typeface="Arial" pitchFamily="34" charset="0"/>
              <a:buChar char="•"/>
            </a:pPr>
            <a:r>
              <a:rPr sz="1900">
                <a:latin typeface="TT Hoves"/>
              </a:rPr>
              <a:t>Both are genuinely </a:t>
            </a:r>
            <a:r>
              <a:rPr sz="1900" i="1">
                <a:latin typeface="TT Hoves"/>
              </a:rPr>
              <a:t>two-dimensional</a:t>
            </a:r>
            <a:r>
              <a:rPr sz="1900">
                <a:latin typeface="TT Hoves"/>
              </a:rPr>
              <a:t> motions — but the </a:t>
            </a:r>
            <a:r>
              <a:rPr sz="1900" i="1">
                <a:latin typeface="TT Hoves"/>
              </a:rPr>
              <a:t>reason</a:t>
            </a:r>
            <a:r>
              <a:rPr sz="1900">
                <a:latin typeface="TT Hoves"/>
              </a:rPr>
              <a:t> each one curves is completely different, and that difference is the entire story of today's lesson.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759</TotalTime>
  <Words>868</Words>
  <Application>Microsoft Macintosh PowerPoint</Application>
  <PresentationFormat>Widescreen</PresentationFormat>
  <Paragraphs>73</Paragraphs>
  <Slides>10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Cambria Math</vt:lpstr>
      <vt:lpstr>TT Hoves</vt:lpstr>
      <vt:lpstr>TT Hoves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Philip Jayson Lestojas</dc:creator>
  <cp:lastModifiedBy>Philip Jayson Lestojas</cp:lastModifiedBy>
  <cp:revision>26</cp:revision>
  <dcterms:created xsi:type="dcterms:W3CDTF">2026-06-30T07:32:24Z</dcterms:created>
  <dcterms:modified xsi:type="dcterms:W3CDTF">2026-07-09T04:54:57Z</dcterms:modified>
</cp:coreProperties>
</file>