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02" r:id="rId3"/>
    <p:sldId id="258" r:id="rId4"/>
    <p:sldId id="276" r:id="rId5"/>
    <p:sldId id="342" r:id="rId6"/>
    <p:sldId id="343" r:id="rId7"/>
    <p:sldId id="307" r:id="rId8"/>
    <p:sldId id="323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309"/>
    <a:srgbClr val="F9770B"/>
    <a:srgbClr val="E86C06"/>
    <a:srgbClr val="1073A4"/>
    <a:srgbClr val="060BE0"/>
    <a:srgbClr val="FCC292"/>
    <a:srgbClr val="FFFFFF"/>
    <a:srgbClr val="F99039"/>
    <a:srgbClr val="B45404"/>
    <a:srgbClr val="FB9F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6416" autoAdjust="0"/>
  </p:normalViewPr>
  <p:slideViewPr>
    <p:cSldViewPr snapToGrid="0">
      <p:cViewPr varScale="1">
        <p:scale>
          <a:sx n="90" d="100"/>
          <a:sy n="90" d="100"/>
        </p:scale>
        <p:origin x="186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EB12-848A-48B3-80BD-990890B8E47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ACC9D-5E71-4A03-BD88-EA7951E000A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1578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36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</a:t>
            </a:r>
            <a:r>
              <a:rPr lang="en-US" b="1" dirty="0"/>
              <a:t>CALCULATING MOTION IN ONE DIMENSION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25009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8439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60B9-6652-1A2E-05A3-A2881B1B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20663-F437-5D6B-7720-6012B7A6C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3EF55AC-E0DA-B06C-1477-4507FEAFB5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PH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"If I told you a car was '30 meters away,' would that be enough information?" It isn't — away from </a:t>
                </a:r>
                <a:r>
                  <a:rPr lang="en-PH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</a:t>
                </a:r>
                <a:r>
                  <a:rPr lang="en-PH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</a:p>
              <a:p>
                <a:endParaRPr lang="en-PH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PH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Emphasize that the "particle model" is a simplification — we don't care about the car's length or the driver's arm movements, only where one representative point on the car is at each moment.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3EF55AC-E0DA-B06C-1477-4507FEAFB5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PH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Real-Life Example:</a:t>
                </a:r>
                <a:r>
                  <a:rPr lang="en-PH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 delivery driver tracks their route along a straight highway using a central distribution hub as the </a:t>
                </a:r>
                <a:r>
                  <a:rPr lang="en-PH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Origin (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𝑥=0</a:t>
                </a:r>
                <a:r>
                  <a:rPr lang="en-PH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en-PH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Drop-offs located 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10</a:t>
                </a:r>
                <a:r>
                  <a:rPr lang="en-PH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kilometers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PH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the East are marked at 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𝑥=+10</a:t>
                </a:r>
                <a:r>
                  <a:rPr lang="en-PH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km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PH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while drop-offs located 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r>
                  <a:rPr lang="en-PH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kilometers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PH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the West are marked at 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𝑥=−5</a:t>
                </a:r>
                <a:r>
                  <a:rPr lang="en-PH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km</a:t>
                </a:r>
                <a:r>
                  <a:rPr lang="en-P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PH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42634-74B4-F1F5-7DD6-727411680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8803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7D6F-7AE8-21ED-F686-BA7DC5CD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5B045-CABC-4083-B326-379E56039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DAAF2-525B-7012-73D5-7C02774D7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I told you a car was '30 meters away,' would that be enough information?" It isn't — away 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PH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Emphasize that the "particle model" is a simplification — we don't care about the car's length or the driver's arm movements, only where one representative point on the car is at each moment.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73C5A-AE38-ADB7-4FA3-420BC58DD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3987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4E3E-BB7D-B058-D588-E9FEA991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EEBFD-1113-A2A8-4927-D55072B49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D5868-4325-2849-D778-A21B381AA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I told you a car was '30 meters away,' would that be enough information?" It isn't — away 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PH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Emphasize that the "particle model" is a simplification — we don't care about the car's length or the driver's arm movements, only where one representative point on the car is at each moment.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2619D-1702-0300-B177-3F62F775E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56067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2185-F836-CD27-C013-BDF88810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A208F-5B91-1C64-D0D4-E89757064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E83DE-5C3A-5822-0F26-37792D03F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39CBE-3DE6-01D5-4CA5-0F7051EA0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0341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5B11-5F2E-50DB-3EF1-A46C7ACB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364FC-3039-30C6-209D-727383702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D31B0-85D8-FFF6-8CD3-E993128ED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7C720-5F98-7456-2F78-BBDA3E6C7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712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89D2-E896-44F7-933E-5F497836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B5287-30E1-F343-A497-EB57A0754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11E66-ACF1-DF1D-CFCB-A3502491B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979C-E5EE-EF1E-3BF8-5C1A27AB5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63164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E77B-C0D0-DE3F-37F4-3C9378CD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C5FF5-B8E9-2794-64F6-13DEF2BE1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459C0-9DBD-9BFC-540B-41A48C954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B67DD-86DE-D379-BCEF-0D1B0ED75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0464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8D029-88DE-A4A9-21B9-11C66EC3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0EDC5-C2BD-4BBD-BA4D-E8C5B09CA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89066-DC2A-5F79-A284-0440CB4F8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67FDC-F8DF-70D7-9028-8DA21B868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8849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BC0E-C38A-0411-3AEE-917E59249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EB939-7973-5039-E788-C1C454F73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A1AB6-96B5-4A2E-475A-7E1AC70D3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8264-9636-F870-A888-41B53058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8940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771CD-89AF-EE29-C04C-C1CBFC15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62648-F782-A45F-1110-94271387A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A45AB-206B-E59A-48AF-6179847D1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0BBEC-BE3C-9B2D-4221-4F01C0D45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4845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652B-7D36-79E3-1064-6F8F3409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3735E-304D-2367-4A32-9D68E8696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C8811-74E9-B404-57B4-9CC90CB7C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82C3B-ADBA-9595-4FF6-84917B367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423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54449-23EF-8336-573F-3FB91864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9BB43-2045-7989-5B6A-3094F6252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09F5A-2BAD-99A8-0DEE-9F88A7309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249ED-A3C6-DC1B-B103-790F38151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5089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F9AD-173A-933C-8CCF-5074EC05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13C39-1873-78CD-98B7-C3CEBBC3F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8FE8B-19D0-5BB2-6437-27B172C12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53BB6-937F-270C-571E-C2DC73F4E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232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E29BA-BA10-47B7-A5E4-2D9260885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C0E5D-8551-424D-B171-E77064464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A1933-BF1B-8D3C-5806-C914570FE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0D8C5-881B-1F9B-889F-DAA34B298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2892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8B70-CD67-9DE4-7A13-4705E92E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46526-0839-0538-B29E-4D4410018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77C43-390C-E2FF-54DA-AFCB2199B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through the formula slowly: subtract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started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PH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ended</a:t>
            </a:r>
            <a:r>
              <a:rPr lang="en-PH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Stress that displacement is blind to the journey — if a car drives forward, backs up, and ends up exactly where it started, its displacement is zero, no matter how much ground it actually covered. 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853C-6E29-BC20-5F80-520459BAD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ACC9D-5E71-4A03-BD88-EA7951E000A5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23691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D231-5A5D-10BC-483A-2614533DE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18630-5072-8629-6852-A4F52E6D4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76C94-BCA0-B018-EDF3-E85E3E67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F62E8-9A41-FEB8-C329-FF41A50E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BDF1E-365E-886C-7DF4-7E1B9C8D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063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2770-1A08-648D-6EF5-09385FC4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220B-8CA0-0576-134A-A8C07A73A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4F12F-2C3E-E604-73E8-58568975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D934F-207A-B2F2-6538-E486D66FC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E4680-7691-42E2-5B89-F4D02F8E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762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CFEA-0352-7CE4-A351-67A6D461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4DEF7-10DF-B43C-25FE-7C71BFC3A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9F60-9E61-5B2A-541F-4E0F373B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4D38-CD7C-FFA9-103F-3A8D79FF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B32C-B200-9F1E-9852-BD30E404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4165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4E14-E3CB-69D2-1621-C670B98F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32CC1-6C1B-0899-CBC4-A6A5C7002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F1129-37DE-B114-A06E-80A2FC372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347B8-B4B3-CE4F-B570-A72824D9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D9CA1-EAB6-6A40-CBF0-0B4A1F80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E39E5-8878-31FD-23B3-3895C0FE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801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44E0-C8FC-1A22-0D89-EB522793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87131-03C7-DF6A-11E5-515BC599E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05215-207E-28C0-51FC-32E38EEB6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B04A7-E602-43F7-9382-5106F512E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F942C-0D51-B146-0B3E-44F933396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E83BA-434D-9524-D5B2-3FE72F57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42D20-B619-864B-8166-83B44876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D6B27-68B5-1712-1876-2B900435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332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230-E23D-72CA-73DE-EA803A1C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87827-3B58-7B11-8B7A-473110A9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F7CB5-5F2C-2F8D-6C74-1DCFD179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E43F0-FD37-67ED-B7BE-A65F928B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357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215F6-0E66-108C-217C-F5B06CBB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83FD0-F709-4DE7-0253-1246F3C9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8CF07-6C82-F6BA-4C02-CAC8561D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971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D32D-81C2-1109-8F73-7C8739F6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0A27F-F5E8-328F-D961-35979707E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5426E-8C64-5E3B-0A03-C8A903DD3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3E812-8945-5EB1-FBF3-5FCFA319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2D321-A5A6-6B69-3C04-FA42A9C1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E3AAE-D96B-6B32-0164-7F0F1AAC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433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251B-BE78-9867-0E70-EDBC73EA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CE01A9-4142-5F08-A230-6B22B080A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577C9-D160-947C-8131-712AFB12E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19ED7-1726-3E20-A98A-ED32A6608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7D4A1-C7AC-7DE2-43A3-2410E52C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9CE8E-578E-A541-6B18-9D76C2AB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775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3669-32EC-AD50-8AD0-DCFFF233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85D1E-6A4D-E1B6-C9F7-B06C2A686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F9567-3F43-39CF-0011-3E53499C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8FD2A-EBFA-0478-A61E-97B15FCD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FEE10-1583-3157-20E5-072915CF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310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5DA39-3C47-9485-BC7D-718D55E04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3C301-36FF-5992-CAB2-2563DB025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E48DB-1B29-2A56-D294-FA8AD679B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26F9D-314C-0FB5-CAF2-C48E257C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85A95-3FE6-BDF8-7D7A-FE69FE92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706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CEF22-FD99-7CD9-5DC5-B07427663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DD933-472F-D748-0ABB-3378F1195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C1A73-229A-F9EE-78F0-19CB95C7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9DAD0-98E5-4506-B350-F72DCA2C145A}" type="datetimeFigureOut">
              <a:rPr lang="en-PH" smtClean="0"/>
              <a:t>7/16/26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89B7F-E88B-0B60-0A94-294D48462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6747C-E541-FD74-27F5-5D985089A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2C195-8D30-4849-85E8-BFB6DB84648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6503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E629-9C22-3CEA-CCDE-633355DC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DD5996-59F8-EEBC-DC92-6EEC6E74E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F2C709-A240-87E9-6DED-CEA5B4C6A37B}"/>
              </a:ext>
            </a:extLst>
          </p:cNvPr>
          <p:cNvSpPr txBox="1"/>
          <p:nvPr/>
        </p:nvSpPr>
        <p:spPr>
          <a:xfrm>
            <a:off x="1676661" y="2233684"/>
            <a:ext cx="4610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i="1" dirty="0">
                <a:solidFill>
                  <a:srgbClr val="F9770B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47670-37E1-5FDB-E9F5-6A0C11E4F2B3}"/>
              </a:ext>
            </a:extLst>
          </p:cNvPr>
          <p:cNvSpPr txBox="1"/>
          <p:nvPr/>
        </p:nvSpPr>
        <p:spPr>
          <a:xfrm>
            <a:off x="4801055" y="4266824"/>
            <a:ext cx="676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i="1" dirty="0">
                <a:solidFill>
                  <a:schemeClr val="bg2">
                    <a:lumMod val="50000"/>
                  </a:schemeClr>
                </a:solidFill>
                <a:latin typeface="TT Hoves" panose="02000503030000020004" pitchFamily="50" charset="0"/>
              </a:rPr>
              <a:t>Prepared by </a:t>
            </a:r>
            <a:r>
              <a:rPr lang="en-PH" sz="2000" b="1" i="1" dirty="0">
                <a:solidFill>
                  <a:srgbClr val="F9770B"/>
                </a:solidFill>
                <a:latin typeface="TT Hoves" panose="02000503030000020004" pitchFamily="50" charset="0"/>
              </a:rPr>
              <a:t>Engr. Philip Jayson L. Lestojas</a:t>
            </a:r>
            <a:endParaRPr lang="en-PH" sz="2000" i="1" dirty="0">
              <a:solidFill>
                <a:srgbClr val="F9770B"/>
              </a:solidFill>
              <a:latin typeface="TT Hoves" panose="02000503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679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6A392-8AE9-4B2A-B356-88267FE6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3138B50-70E5-468B-DFA8-A72FBD22403A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17EAB-841F-3F88-B1C8-2ABDDFA44B32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97A93-5CCF-4BB9-9FAF-85380E8FA5D0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A2E74-629D-CD92-F111-E7B9DF93AEB6}"/>
              </a:ext>
            </a:extLst>
          </p:cNvPr>
          <p:cNvSpPr txBox="1"/>
          <p:nvPr/>
        </p:nvSpPr>
        <p:spPr>
          <a:xfrm>
            <a:off x="699400" y="619760"/>
            <a:ext cx="9489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Learning Competency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F7386E0-573A-57DA-B50B-1F1A26315B10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662FE1-B640-D9D7-1039-26DAECDA8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140" y="450936"/>
            <a:ext cx="3979403" cy="56244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C30151-E5EB-76BC-0695-048101F51096}"/>
              </a:ext>
            </a:extLst>
          </p:cNvPr>
          <p:cNvSpPr txBox="1"/>
          <p:nvPr/>
        </p:nvSpPr>
        <p:spPr>
          <a:xfrm>
            <a:off x="749504" y="1674674"/>
            <a:ext cx="58141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T Hoves" panose="02000503030000020004" pitchFamily="50" charset="0"/>
              </a:rPr>
              <a:t>Derive the four kinematic equations and their various forms through algebraic methods to solve various cases of uniformly accelerated motion (horizontal and vertical).</a:t>
            </a:r>
            <a:endParaRPr lang="en-PH" sz="3600" dirty="0">
              <a:latin typeface="TT Hoves" panose="02000503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30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60C0-5EE5-4A32-53D0-A50D1091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5399DF9-DEE0-3816-4A38-8C65ACF67B85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82D48-72C8-DF15-6833-DF3D5EE87871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CD2F5-2BE6-E0D0-5410-0B6BBF9C11AE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783B4-EDAD-14C3-1BE3-5A43E20F1978}"/>
              </a:ext>
            </a:extLst>
          </p:cNvPr>
          <p:cNvSpPr txBox="1"/>
          <p:nvPr/>
        </p:nvSpPr>
        <p:spPr>
          <a:xfrm>
            <a:off x="699400" y="619760"/>
            <a:ext cx="9489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Learning Objectives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96DFCA-6F48-0303-7E9A-89ED16F68BBE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300FA-8D3A-2AFD-492F-712B7478C157}"/>
              </a:ext>
            </a:extLst>
          </p:cNvPr>
          <p:cNvSpPr txBox="1"/>
          <p:nvPr/>
        </p:nvSpPr>
        <p:spPr>
          <a:xfrm>
            <a:off x="749504" y="1645859"/>
            <a:ext cx="9489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5000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TT Hoves ExtraBold" panose="02000903040000020004" pitchFamily="50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F6C98B-E2E9-CABE-07AC-9030E345B431}"/>
              </a:ext>
            </a:extLst>
          </p:cNvPr>
          <p:cNvSpPr txBox="1"/>
          <p:nvPr/>
        </p:nvSpPr>
        <p:spPr>
          <a:xfrm>
            <a:off x="699400" y="3291875"/>
            <a:ext cx="9489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5000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TT Hoves ExtraBold" panose="02000903040000020004" pitchFamily="50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D922A-D9D4-D5D6-42A2-2964E6622012}"/>
              </a:ext>
            </a:extLst>
          </p:cNvPr>
          <p:cNvSpPr txBox="1"/>
          <p:nvPr/>
        </p:nvSpPr>
        <p:spPr>
          <a:xfrm>
            <a:off x="699400" y="4570235"/>
            <a:ext cx="9489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200" dirty="0"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5000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TT Hoves ExtraBold" panose="02000903040000020004" pitchFamily="50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7FB8C-E6A7-31A7-02BB-BB857277717F}"/>
              </a:ext>
            </a:extLst>
          </p:cNvPr>
          <p:cNvSpPr txBox="1"/>
          <p:nvPr/>
        </p:nvSpPr>
        <p:spPr>
          <a:xfrm>
            <a:off x="1628384" y="1775520"/>
            <a:ext cx="9489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sz="2800" dirty="0">
                <a:latin typeface="TT Hoves" panose="02000503030000020004" pitchFamily="2" charset="77"/>
              </a:rPr>
              <a:t>Derive the four kinematic equations of uniformly accelerated motion algebraically from the definitions of displacement, velocity, and acceleration.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6AB75-1873-B1FB-6837-48EA630DC0B7}"/>
              </a:ext>
            </a:extLst>
          </p:cNvPr>
          <p:cNvSpPr txBox="1"/>
          <p:nvPr/>
        </p:nvSpPr>
        <p:spPr>
          <a:xfrm>
            <a:off x="1628384" y="3400501"/>
            <a:ext cx="100333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latin typeface="TT Hoves" panose="02000503030000020004" pitchFamily="2" charset="77"/>
              </a:rPr>
              <a:t>Apply the four kinematic equations to solve real-world problems involving uniformly accelerated horizontal motion.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9CEDB-E3DD-9197-1FE5-93906434D3A3}"/>
              </a:ext>
            </a:extLst>
          </p:cNvPr>
          <p:cNvSpPr txBox="1"/>
          <p:nvPr/>
        </p:nvSpPr>
        <p:spPr>
          <a:xfrm>
            <a:off x="1628384" y="4687306"/>
            <a:ext cx="100333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sz="2800" dirty="0">
                <a:latin typeface="TT Hoves" panose="02000503030000020004" pitchFamily="2" charset="77"/>
              </a:rPr>
              <a:t>Value the importance of correct sign conventions and precise reasoning when interpreting the velocity and acceleration of everyday moving objects.</a:t>
            </a:r>
          </a:p>
        </p:txBody>
      </p:sp>
    </p:spTree>
    <p:extLst>
      <p:ext uri="{BB962C8B-B14F-4D97-AF65-F5344CB8AC3E}">
        <p14:creationId xmlns:p14="http://schemas.microsoft.com/office/powerpoint/2010/main" val="369278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3A54-3124-753C-D54E-A825BD69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143E3DC-ABB3-FF18-8D96-C8D5932EEDF1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1AE05-C8A0-7733-C82B-3D21940A8728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0150C-9E9A-2036-BA61-B11E2E1C48F3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86AE5-5F08-27B3-52BF-FD44F8B29B52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The Language of Motion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9E351AF-34CE-D629-2BA8-3C459D10B1E6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87F375-B47A-B3E9-25E5-86B9F3F00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865684"/>
              </p:ext>
            </p:extLst>
          </p:nvPr>
        </p:nvGraphicFramePr>
        <p:xfrm>
          <a:off x="838200" y="1521877"/>
          <a:ext cx="10515600" cy="4053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074188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57836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1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Symbol</a:t>
                      </a:r>
                      <a:endParaRPr lang="en-PH" sz="2800" b="0" i="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1" i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Meaning</a:t>
                      </a:r>
                      <a:endParaRPr lang="en-PH" sz="2800" b="0" i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800" b="0" i="1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x</a:t>
                      </a:r>
                      <a:r>
                        <a:rPr lang="en-PH" sz="2800" b="0" i="1" baseline="-2500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o</a:t>
                      </a:r>
                      <a:r>
                        <a:rPr lang="en-PH" sz="2800" b="0" i="1" baseline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 or </a:t>
                      </a:r>
                      <a:r>
                        <a:rPr lang="en-PH" sz="2800" b="0" i="1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x</a:t>
                      </a:r>
                      <a:r>
                        <a:rPr lang="en-PH" sz="2800" b="0" i="1" baseline="-2500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i</a:t>
                      </a:r>
                      <a:endParaRPr lang="en-PH" sz="2800" b="0" i="0" baseline="-2500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initial position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00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1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x</a:t>
                      </a: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 or </a:t>
                      </a:r>
                      <a:r>
                        <a:rPr lang="en-PH" sz="2800" b="0" i="1" dirty="0" err="1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x</a:t>
                      </a:r>
                      <a:r>
                        <a:rPr lang="en-PH" sz="2800" b="0" i="1" baseline="-25000" dirty="0" err="1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f</a:t>
                      </a:r>
                      <a:endParaRPr lang="en-PH" sz="2800" b="0" i="0" baseline="-2500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final position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29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1" dirty="0" err="1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v</a:t>
                      </a:r>
                      <a:r>
                        <a:rPr lang="en-PH" sz="2800" b="0" i="1" baseline="-25000" dirty="0" err="1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o</a:t>
                      </a:r>
                      <a:r>
                        <a:rPr lang="en-PH" sz="2800" b="0" i="1" baseline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 or </a:t>
                      </a:r>
                      <a:r>
                        <a:rPr lang="en-PH" sz="2800" b="0" i="1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v</a:t>
                      </a:r>
                      <a:r>
                        <a:rPr lang="en-PH" sz="2800" b="0" i="1" baseline="-2500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i</a:t>
                      </a:r>
                      <a:endParaRPr lang="en-PH" sz="2800" b="0" i="0" baseline="-2500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initial velocity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97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1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v</a:t>
                      </a: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 or </a:t>
                      </a:r>
                      <a:r>
                        <a:rPr lang="en-PH" sz="2800" b="0" i="1" dirty="0" err="1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v</a:t>
                      </a:r>
                      <a:r>
                        <a:rPr lang="en-PH" sz="2800" b="0" i="1" baseline="-25000" dirty="0" err="1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f</a:t>
                      </a:r>
                      <a:endParaRPr lang="en-PH" sz="2800" b="0" i="0" baseline="-2500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final velocity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29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1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t</a:t>
                      </a:r>
                      <a:endParaRPr lang="en-PH" sz="2800" b="0" i="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elapsed time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310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1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a</a:t>
                      </a:r>
                      <a:endParaRPr lang="en-PH" sz="2800" b="0" i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acceleration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731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4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5E18-87DD-196E-D9BB-73363371D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6A34030-C4F3-F761-AA91-9CB71813126F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BC3A-24A6-C60F-D158-3AE05675B40C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70DB4-CB6D-CB80-2809-BC14C985183F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90BBEF9-672F-3A84-28AB-169B95279383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E12EE1-016E-C4A5-033A-0980E5A7C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785604"/>
              </p:ext>
            </p:extLst>
          </p:nvPr>
        </p:nvGraphicFramePr>
        <p:xfrm>
          <a:off x="838200" y="1521877"/>
          <a:ext cx="7010400" cy="3474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074188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57836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1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Time (s)</a:t>
                      </a:r>
                      <a:endParaRPr lang="en-PH" sz="2800" b="0" i="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1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Velocity (m/s)</a:t>
                      </a:r>
                      <a:endParaRPr lang="en-PH" sz="2800" b="0" i="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800" b="0" i="0" baseline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00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1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1</a:t>
                      </a:r>
                      <a:endParaRPr lang="en-PH" sz="2800" b="0" i="0" baseline="-25000" dirty="0">
                        <a:solidFill>
                          <a:srgbClr val="000000"/>
                        </a:solidFill>
                        <a:effectLst/>
                        <a:latin typeface="TT Hoves" panose="02000503030000020004" pitchFamily="2" charset="7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29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baseline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97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baseline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29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baseline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400"/>
                        </a:spcAft>
                        <a:buNone/>
                      </a:pPr>
                      <a:r>
                        <a:rPr lang="en-PH" sz="2800" b="0" i="0" dirty="0">
                          <a:solidFill>
                            <a:srgbClr val="000000"/>
                          </a:solidFill>
                          <a:effectLst/>
                          <a:latin typeface="TT Hoves" panose="02000503030000020004" pitchFamily="2" charset="77"/>
                        </a:rPr>
                        <a:t>8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3198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B12E5A-CC25-731F-AE00-6854ACE7B637}"/>
              </a:ext>
            </a:extLst>
          </p:cNvPr>
          <p:cNvSpPr txBox="1"/>
          <p:nvPr/>
        </p:nvSpPr>
        <p:spPr>
          <a:xfrm>
            <a:off x="699400" y="656154"/>
            <a:ext cx="10793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latin typeface="TT Hoves" panose="02000503030000020004" pitchFamily="2" charset="77"/>
              </a:rPr>
              <a:t>Imagine you’re watching a car move. Its speedometer shows:</a:t>
            </a:r>
          </a:p>
        </p:txBody>
      </p:sp>
    </p:spTree>
    <p:extLst>
      <p:ext uri="{BB962C8B-B14F-4D97-AF65-F5344CB8AC3E}">
        <p14:creationId xmlns:p14="http://schemas.microsoft.com/office/powerpoint/2010/main" val="117338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CE7A-C058-0AD9-5014-D61E60C1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BC494BB-EDF1-E618-2808-E37BBAD2E2F9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13DC6-7E4E-6F17-859B-8C867DBE1777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D62CC-EBBE-6950-925C-24CDCE0EFCE6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3A817A-480C-83B0-E5F0-AD50D70353DD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F1AA83E-31A6-4455-9403-ADCE67CEE1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6666198"/>
                  </p:ext>
                </p:extLst>
              </p:nvPr>
            </p:nvGraphicFramePr>
            <p:xfrm>
              <a:off x="838200" y="1521877"/>
              <a:ext cx="10227906" cy="3474720"/>
            </p:xfrm>
            <a:graphic>
              <a:graphicData uri="http://schemas.openxmlformats.org/drawingml/2006/table">
                <a:tbl>
                  <a:tblPr/>
                  <a:tblGrid>
                    <a:gridCol w="3409302">
                      <a:extLst>
                        <a:ext uri="{9D8B030D-6E8A-4147-A177-3AD203B41FA5}">
                          <a16:colId xmlns:a16="http://schemas.microsoft.com/office/drawing/2014/main" val="3707418818"/>
                        </a:ext>
                      </a:extLst>
                    </a:gridCol>
                    <a:gridCol w="3409302">
                      <a:extLst>
                        <a:ext uri="{9D8B030D-6E8A-4147-A177-3AD203B41FA5}">
                          <a16:colId xmlns:a16="http://schemas.microsoft.com/office/drawing/2014/main" val="3857836326"/>
                        </a:ext>
                      </a:extLst>
                    </a:gridCol>
                    <a:gridCol w="3409302">
                      <a:extLst>
                        <a:ext uri="{9D8B030D-6E8A-4147-A177-3AD203B41FA5}">
                          <a16:colId xmlns:a16="http://schemas.microsoft.com/office/drawing/2014/main" val="4060147340"/>
                        </a:ext>
                      </a:extLst>
                    </a:gridCol>
                  </a:tblGrid>
                  <a:tr h="474874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Time (s)</a:t>
                          </a:r>
                          <a:endParaRPr lang="en-PH" sz="2800" b="0" i="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Velocity (m/s)</a:t>
                          </a:r>
                          <a:endParaRPr lang="en-PH" sz="2800" b="0" i="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en-US" sz="28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PH" sz="2800" b="1" i="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55944"/>
                      </a:ext>
                    </a:extLst>
                  </a:tr>
                  <a:tr h="5580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0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0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-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6300513"/>
                      </a:ext>
                    </a:extLst>
                  </a:tr>
                  <a:tr h="558014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1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1</a:t>
                          </a:r>
                          <a:endParaRPr lang="en-PH" sz="2800" b="0" i="0" baseline="-2500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8029860"/>
                      </a:ext>
                    </a:extLst>
                  </a:tr>
                  <a:tr h="558014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4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1975028"/>
                      </a:ext>
                    </a:extLst>
                  </a:tr>
                  <a:tr h="558014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3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6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29457"/>
                      </a:ext>
                    </a:extLst>
                  </a:tr>
                  <a:tr h="558014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4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8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93198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F1AA83E-31A6-4455-9403-ADCE67CEE1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6666198"/>
                  </p:ext>
                </p:extLst>
              </p:nvPr>
            </p:nvGraphicFramePr>
            <p:xfrm>
              <a:off x="838200" y="1521877"/>
              <a:ext cx="10227906" cy="3474720"/>
            </p:xfrm>
            <a:graphic>
              <a:graphicData uri="http://schemas.openxmlformats.org/drawingml/2006/table">
                <a:tbl>
                  <a:tblPr/>
                  <a:tblGrid>
                    <a:gridCol w="3409302">
                      <a:extLst>
                        <a:ext uri="{9D8B030D-6E8A-4147-A177-3AD203B41FA5}">
                          <a16:colId xmlns:a16="http://schemas.microsoft.com/office/drawing/2014/main" val="3707418818"/>
                        </a:ext>
                      </a:extLst>
                    </a:gridCol>
                    <a:gridCol w="3409302">
                      <a:extLst>
                        <a:ext uri="{9D8B030D-6E8A-4147-A177-3AD203B41FA5}">
                          <a16:colId xmlns:a16="http://schemas.microsoft.com/office/drawing/2014/main" val="3857836326"/>
                        </a:ext>
                      </a:extLst>
                    </a:gridCol>
                    <a:gridCol w="3409302">
                      <a:extLst>
                        <a:ext uri="{9D8B030D-6E8A-4147-A177-3AD203B41FA5}">
                          <a16:colId xmlns:a16="http://schemas.microsoft.com/office/drawing/2014/main" val="4060147340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Time (s)</a:t>
                          </a:r>
                          <a:endParaRPr lang="en-PH" sz="2800" b="0" i="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Velocity (m/s)</a:t>
                          </a:r>
                          <a:endParaRPr lang="en-PH" sz="2800" b="0" i="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4348" r="-372" b="-5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594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0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0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-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63005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1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1</a:t>
                          </a:r>
                          <a:endParaRPr lang="en-PH" sz="2800" b="0" i="0" baseline="-2500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802986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4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197502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3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6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2945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baseline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4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8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+2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93198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4797423-758C-7175-7433-51A8B7EA923C}"/>
              </a:ext>
            </a:extLst>
          </p:cNvPr>
          <p:cNvSpPr txBox="1"/>
          <p:nvPr/>
        </p:nvSpPr>
        <p:spPr>
          <a:xfrm>
            <a:off x="699400" y="656154"/>
            <a:ext cx="10793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latin typeface="TT Hoves" panose="02000503030000020004" pitchFamily="2" charset="77"/>
              </a:rPr>
              <a:t>Imagine you’re watching a car move. Its speedometer shows:</a:t>
            </a:r>
          </a:p>
        </p:txBody>
      </p:sp>
    </p:spTree>
    <p:extLst>
      <p:ext uri="{BB962C8B-B14F-4D97-AF65-F5344CB8AC3E}">
        <p14:creationId xmlns:p14="http://schemas.microsoft.com/office/powerpoint/2010/main" val="118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90CB-4FD0-4617-7048-914E089EC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52F2876-8FD6-DB7D-495A-892C65A3EE7E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31739-7E73-0118-DE00-836B879CF240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CD111-4E98-6B97-2B66-E152FD2BB7EF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92BA0B-EE4C-35C4-E626-0AC963FEDC8F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What Makes Acceleration “Uniform”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0CA992-E00B-B795-5308-5575976551BA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9AF6D-BB41-F2EA-9BE7-00C2B4CE7FDB}"/>
              </a:ext>
            </a:extLst>
          </p:cNvPr>
          <p:cNvSpPr txBox="1"/>
          <p:nvPr/>
        </p:nvSpPr>
        <p:spPr>
          <a:xfrm>
            <a:off x="699398" y="1537117"/>
            <a:ext cx="10793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2800" dirty="0">
                <a:latin typeface="TT Hoves" panose="02000503030000020004" pitchFamily="2" charset="77"/>
              </a:rPr>
              <a:t>Acceleration is </a:t>
            </a:r>
            <a:r>
              <a:rPr lang="en-PH" sz="2800" i="1" dirty="0">
                <a:latin typeface="TT Hoves" panose="02000503030000020004" pitchFamily="2" charset="77"/>
              </a:rPr>
              <a:t>uniform</a:t>
            </a:r>
            <a:r>
              <a:rPr lang="en-PH" sz="2800" dirty="0">
                <a:latin typeface="TT Hoves" panose="02000503030000020004" pitchFamily="2" charset="77"/>
              </a:rPr>
              <a:t> (or </a:t>
            </a:r>
            <a:r>
              <a:rPr lang="en-PH" sz="2800" i="1" dirty="0">
                <a:latin typeface="TT Hoves" panose="02000503030000020004" pitchFamily="2" charset="77"/>
              </a:rPr>
              <a:t>constant</a:t>
            </a:r>
            <a:r>
              <a:rPr lang="en-PH" sz="2800" dirty="0">
                <a:latin typeface="TT Hoves" panose="02000503030000020004" pitchFamily="2" charset="77"/>
              </a:rPr>
              <a:t>) when velocity changes by the </a:t>
            </a:r>
            <a:r>
              <a:rPr lang="en-PH" sz="2800" b="1" dirty="0">
                <a:latin typeface="TT Hoves" panose="02000503030000020004" pitchFamily="2" charset="77"/>
              </a:rPr>
              <a:t>same amount in every equal time interval</a:t>
            </a:r>
            <a:r>
              <a:rPr lang="en-PH" sz="2800" dirty="0">
                <a:latin typeface="TT Hoves" panose="02000503030000020004" pitchFamily="2" charset="77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latin typeface="TT Hoves" panose="02000503030000020004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2800" dirty="0">
                <a:latin typeface="TT Hoves" panose="02000503030000020004" pitchFamily="2" charset="77"/>
              </a:rPr>
              <a:t>This is </a:t>
            </a:r>
            <a:r>
              <a:rPr lang="en-PH" sz="2800" i="1" dirty="0">
                <a:latin typeface="TT Hoves" panose="02000503030000020004" pitchFamily="2" charset="77"/>
              </a:rPr>
              <a:t>not</a:t>
            </a:r>
            <a:r>
              <a:rPr lang="en-PH" sz="2800" dirty="0">
                <a:latin typeface="TT Hoves" panose="02000503030000020004" pitchFamily="2" charset="77"/>
              </a:rPr>
              <a:t> the same as constant velocity — the object's speed is changing, but the </a:t>
            </a:r>
            <a:r>
              <a:rPr lang="en-PH" sz="2800" i="1" dirty="0">
                <a:latin typeface="TT Hoves" panose="02000503030000020004" pitchFamily="2" charset="77"/>
              </a:rPr>
              <a:t>rate</a:t>
            </a:r>
            <a:r>
              <a:rPr lang="en-PH" sz="2800" dirty="0">
                <a:latin typeface="TT Hoves" panose="02000503030000020004" pitchFamily="2" charset="77"/>
              </a:rPr>
              <a:t> of that change never does.</a:t>
            </a:r>
          </a:p>
        </p:txBody>
      </p:sp>
    </p:spTree>
    <p:extLst>
      <p:ext uri="{BB962C8B-B14F-4D97-AF65-F5344CB8AC3E}">
        <p14:creationId xmlns:p14="http://schemas.microsoft.com/office/powerpoint/2010/main" val="295931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5B76-AE1F-FA5C-1190-D6A49D21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D1AF2C-2E7F-5A0A-E988-EDF5D70F79F9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A635E-CD26-2F35-E288-9AEC18F6603E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252C3-CB04-C1B9-0125-7BCDC4CFCCFA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AA7AB-AA8B-1A20-3DE5-585A691F280E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What Makes Acceleration “Uniform”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2EAF417-4D6B-2A0D-7284-6EDF8A4A0D73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F3D3B-7D96-679B-971C-3650E98E4D56}"/>
              </a:ext>
            </a:extLst>
          </p:cNvPr>
          <p:cNvSpPr txBox="1"/>
          <p:nvPr/>
        </p:nvSpPr>
        <p:spPr>
          <a:xfrm>
            <a:off x="699398" y="1537117"/>
            <a:ext cx="1079320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2800" b="1" dirty="0">
                <a:latin typeface="TT Hoves" panose="02000503030000020004" pitchFamily="2" charset="77"/>
              </a:rPr>
              <a:t>Drag racer</a:t>
            </a:r>
            <a:r>
              <a:rPr lang="en-PH" sz="2800" dirty="0">
                <a:latin typeface="TT Hoves" panose="02000503030000020004" pitchFamily="2" charset="77"/>
              </a:rPr>
              <a:t> launching off the line:</a:t>
            </a:r>
          </a:p>
          <a:p>
            <a:pPr lvl="2"/>
            <a:r>
              <a:rPr lang="en-PH" sz="2800" i="1" dirty="0">
                <a:latin typeface="TT Hoves" panose="02000503030000020004" pitchFamily="2" charset="77"/>
              </a:rPr>
              <a:t>velocity climbs at a steady, engineered rate.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2800" b="1" dirty="0">
                <a:latin typeface="TT Hoves" panose="02000503030000020004" pitchFamily="2" charset="77"/>
              </a:rPr>
              <a:t>Train leaving a station</a:t>
            </a:r>
            <a:r>
              <a:rPr lang="en-PH" sz="2800" dirty="0">
                <a:latin typeface="TT Hoves" panose="02000503030000020004" pitchFamily="2" charset="77"/>
              </a:rPr>
              <a:t>:</a:t>
            </a:r>
          </a:p>
          <a:p>
            <a:pPr lvl="2"/>
            <a:r>
              <a:rPr lang="en-PH" sz="2800" i="1" dirty="0">
                <a:latin typeface="TT Hoves" panose="02000503030000020004" pitchFamily="2" charset="77"/>
              </a:rPr>
              <a:t>smooth, constant push from the motor before reaching cruising speed.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2800" b="1" dirty="0">
                <a:latin typeface="TT Hoves" panose="02000503030000020004" pitchFamily="2" charset="77"/>
              </a:rPr>
              <a:t>Car braking for a red light:</a:t>
            </a:r>
            <a:r>
              <a:rPr lang="en-PH" sz="2800" dirty="0">
                <a:latin typeface="TT Hoves" panose="02000503030000020004" pitchFamily="2" charset="77"/>
              </a:rPr>
              <a:t> </a:t>
            </a:r>
          </a:p>
          <a:p>
            <a:r>
              <a:rPr lang="en-PH" sz="2800" dirty="0">
                <a:latin typeface="TT Hoves" panose="02000503030000020004" pitchFamily="2" charset="77"/>
              </a:rPr>
              <a:t>	</a:t>
            </a:r>
            <a:r>
              <a:rPr lang="en-PH" sz="2800" i="1" dirty="0">
                <a:latin typeface="TT Hoves" panose="02000503030000020004" pitchFamily="2" charset="77"/>
              </a:rPr>
              <a:t>velocity falls at a steady rate.</a:t>
            </a:r>
          </a:p>
        </p:txBody>
      </p:sp>
    </p:spTree>
    <p:extLst>
      <p:ext uri="{BB962C8B-B14F-4D97-AF65-F5344CB8AC3E}">
        <p14:creationId xmlns:p14="http://schemas.microsoft.com/office/powerpoint/2010/main" val="35016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81C42-B640-1278-D5F6-159B6ED9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0073377-BC64-0C51-5F05-8D97FBB6D935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9C3BB-9713-E70E-0BE5-7736ED5DAED8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96A0E-8CC2-30E3-7D32-093E54609B24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0AB10-A2EC-C806-23FD-25EB4CBEEE9A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The Four Kinematic Equations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173659-8BA6-EA80-E89C-2136D88A6D83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F6FC141-0C10-F5A4-0BEA-5D21F2AA4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7129748"/>
                  </p:ext>
                </p:extLst>
              </p:nvPr>
            </p:nvGraphicFramePr>
            <p:xfrm>
              <a:off x="838200" y="1521877"/>
              <a:ext cx="10515600" cy="3639820"/>
            </p:xfrm>
            <a:graphic>
              <a:graphicData uri="http://schemas.openxmlformats.org/drawingml/2006/table">
                <a:tbl>
                  <a:tblPr/>
                  <a:tblGrid>
                    <a:gridCol w="2442210">
                      <a:extLst>
                        <a:ext uri="{9D8B030D-6E8A-4147-A177-3AD203B41FA5}">
                          <a16:colId xmlns:a16="http://schemas.microsoft.com/office/drawing/2014/main" val="4140854137"/>
                        </a:ext>
                      </a:extLst>
                    </a:gridCol>
                    <a:gridCol w="4568190">
                      <a:extLst>
                        <a:ext uri="{9D8B030D-6E8A-4147-A177-3AD203B41FA5}">
                          <a16:colId xmlns:a16="http://schemas.microsoft.com/office/drawing/2014/main" val="27159467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62826768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Equation</a:t>
                          </a:r>
                          <a:endParaRPr lang="en-PH" sz="2800" b="0" i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Formula</a:t>
                          </a:r>
                          <a:endParaRPr lang="en-PH" sz="2800" b="0" i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Absent Variable</a:t>
                          </a:r>
                          <a:endParaRPr lang="en-PH" sz="2800" b="0" i="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11885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1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sSub>
                                  <m:sSubPr>
                                    <m:ctrlP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b="0" i="1" dirty="0" err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PH" sz="2800" b="0" i="1" dirty="0" err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position (x)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59252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+</m:t>
                                </m:r>
                                <m:f>
                                  <m:fPr>
                                    <m:ctrlP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final velocity (v)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25984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3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+ 2</m:t>
                                </m:r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sSub>
                                  <m:sSubPr>
                                    <m:ctrlPr>
                                      <a:rPr lang="en-US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800" b="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PH" sz="28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time (t)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24736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4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+</m:t>
                                </m:r>
                                <m:f>
                                  <m:fPr>
                                    <m:ctrlP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PH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PH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acceleration (a)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9943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F6FC141-0C10-F5A4-0BEA-5D21F2AA4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7129748"/>
                  </p:ext>
                </p:extLst>
              </p:nvPr>
            </p:nvGraphicFramePr>
            <p:xfrm>
              <a:off x="838200" y="1521877"/>
              <a:ext cx="10515600" cy="3639820"/>
            </p:xfrm>
            <a:graphic>
              <a:graphicData uri="http://schemas.openxmlformats.org/drawingml/2006/table">
                <a:tbl>
                  <a:tblPr/>
                  <a:tblGrid>
                    <a:gridCol w="2442210">
                      <a:extLst>
                        <a:ext uri="{9D8B030D-6E8A-4147-A177-3AD203B41FA5}">
                          <a16:colId xmlns:a16="http://schemas.microsoft.com/office/drawing/2014/main" val="4140854137"/>
                        </a:ext>
                      </a:extLst>
                    </a:gridCol>
                    <a:gridCol w="4568190">
                      <a:extLst>
                        <a:ext uri="{9D8B030D-6E8A-4147-A177-3AD203B41FA5}">
                          <a16:colId xmlns:a16="http://schemas.microsoft.com/office/drawing/2014/main" val="27159467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628267685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Equation</a:t>
                          </a:r>
                          <a:endParaRPr lang="en-PH" sz="2800" b="0" i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Formula</a:t>
                          </a:r>
                          <a:endParaRPr lang="en-PH" sz="2800" b="0" i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1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Absent Variable</a:t>
                          </a:r>
                          <a:endParaRPr lang="en-PH" sz="2800" b="0" i="0" dirty="0">
                            <a:solidFill>
                              <a:srgbClr val="000000"/>
                            </a:solidFill>
                            <a:effectLst/>
                            <a:latin typeface="TT Hoves" panose="02000503030000020004" pitchFamily="2" charset="77"/>
                          </a:endParaRP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118857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1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611" t="-104348" r="-77222" b="-4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position (x)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5925220"/>
                      </a:ext>
                    </a:extLst>
                  </a:tr>
                  <a:tr h="95123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2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611" t="-125333" r="-77222" b="-1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final velocity (v)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259846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3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611" t="-367391" r="-77222" b="-1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time (t)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2473649"/>
                      </a:ext>
                    </a:extLst>
                  </a:tr>
                  <a:tr h="95123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4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611" t="-286667" r="-7722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PH" sz="2800" b="0" i="0" dirty="0">
                              <a:solidFill>
                                <a:srgbClr val="000000"/>
                              </a:solidFill>
                              <a:effectLst/>
                              <a:latin typeface="TT Hoves" panose="02000503030000020004" pitchFamily="2" charset="77"/>
                            </a:rPr>
                            <a:t>acceleration (a)</a:t>
                          </a:r>
                        </a:p>
                      </a:txBody>
                      <a:tcPr marL="114300" marR="114300" marT="76200" marB="76200" anchor="ctr">
                        <a:lnL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9943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0804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F508-7C29-84F2-FF5F-A1C76974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F34D07-BAFC-858E-3441-2190AD18EC63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D3D24-7B9E-3664-38B2-AD3C517BF156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B3DE8-80BE-2B22-BB98-47421A1BC50F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58EAB-90A1-3BB1-DAEB-110E2F91ED8E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Deriving Equation 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F39DB44-8D94-E4D7-5329-C420E9E90B8D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C2EF43-F8DB-CD29-5195-080BFCD4843F}"/>
                  </a:ext>
                </a:extLst>
              </p:cNvPr>
              <p:cNvSpPr txBox="1"/>
              <p:nvPr/>
            </p:nvSpPr>
            <p:spPr>
              <a:xfrm>
                <a:off x="699398" y="1537117"/>
                <a:ext cx="10793204" cy="4812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b="1" dirty="0">
                    <a:latin typeface="TT Hoves" panose="02000503030000020004" pitchFamily="2" charset="77"/>
                  </a:rPr>
                  <a:t>EQUATION 1: Velocity as a Function of Time</a:t>
                </a:r>
              </a:p>
              <a:p>
                <a:endParaRPr lang="en-PH" sz="2800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Start from the definition of acceleration: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  <a:p>
                <a:endParaRPr lang="en-PH" sz="2800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Multiply both sides by </a:t>
                </a:r>
                <a:r>
                  <a:rPr lang="en-PH" sz="2800" i="1" dirty="0">
                    <a:latin typeface="TT Hoves" panose="02000503030000020004" pitchFamily="2" charset="77"/>
                  </a:rPr>
                  <a:t>t</a:t>
                </a:r>
                <a:r>
                  <a:rPr lang="en-PH" sz="2800" dirty="0">
                    <a:latin typeface="TT Hoves" panose="02000503030000020004" pitchFamily="2" charset="77"/>
                  </a:rPr>
                  <a:t> and isolate </a:t>
                </a:r>
                <a:r>
                  <a:rPr lang="en-PH" sz="2800" i="1" dirty="0">
                    <a:latin typeface="TT Hoves" panose="02000503030000020004" pitchFamily="2" charset="77"/>
                  </a:rPr>
                  <a:t>v</a:t>
                </a:r>
                <a:r>
                  <a:rPr lang="en-PH" sz="2800" dirty="0">
                    <a:latin typeface="TT Hoves" panose="02000503030000020004" pitchFamily="2" charset="77"/>
                  </a:rPr>
                  <a:t>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𝑎𝑡</m:t>
                          </m:r>
                        </m:e>
                      </m:borderBox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  <a:p>
                <a:endParaRPr lang="en-PH" sz="2800" dirty="0">
                  <a:latin typeface="TT Hoves" panose="02000503030000020004" pitchFamily="2" charset="7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C2EF43-F8DB-CD29-5195-080BFCD48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98" y="1537117"/>
                <a:ext cx="10793204" cy="4812215"/>
              </a:xfrm>
              <a:prstGeom prst="rect">
                <a:avLst/>
              </a:prstGeom>
              <a:blipFill>
                <a:blip r:embed="rId3"/>
                <a:stretch>
                  <a:fillRect l="-1176" t="-1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102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1E90-CA50-2D7C-B914-734E0FC3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050216B-4240-49BB-EC52-4061C058910A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A6708-28AB-E178-06B2-40F863E998EF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1FDD4-C4BE-4C80-4B4C-70985514AB5E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E7DCE1-C759-7027-0EC9-81DDD78C7464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Guided Example 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8D50A5-46D9-3C3A-2296-4763F493945E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F6C25-54C4-4D31-045E-BE4C3350084A}"/>
              </a:ext>
            </a:extLst>
          </p:cNvPr>
          <p:cNvSpPr txBox="1"/>
          <p:nvPr/>
        </p:nvSpPr>
        <p:spPr>
          <a:xfrm>
            <a:off x="699398" y="1537117"/>
            <a:ext cx="10793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sz="2800" dirty="0">
                <a:latin typeface="TT Hoves" panose="02000503030000020004" pitchFamily="2" charset="77"/>
              </a:rPr>
              <a:t>A parcel of air moving in a straight tube with a constant acceleration of −4.00 m/s² has a velocity of 13.0 m/s at 10:05:00 a.m. </a:t>
            </a:r>
          </a:p>
          <a:p>
            <a:pPr algn="just"/>
            <a:r>
              <a:rPr lang="en-PH" sz="2800" dirty="0">
                <a:latin typeface="TT Hoves" panose="02000503030000020004" pitchFamily="2" charset="77"/>
              </a:rPr>
              <a:t>(a) What is its velocity at 10:05:01 a.m.? </a:t>
            </a:r>
          </a:p>
          <a:p>
            <a:pPr algn="just"/>
            <a:r>
              <a:rPr lang="en-PH" sz="2800" dirty="0">
                <a:latin typeface="TT Hoves" panose="02000503030000020004" pitchFamily="2" charset="77"/>
              </a:rPr>
              <a:t>(b) At 10:05:04 a.m.? </a:t>
            </a:r>
          </a:p>
          <a:p>
            <a:pPr algn="just"/>
            <a:r>
              <a:rPr lang="en-PH" sz="2800" dirty="0">
                <a:latin typeface="TT Hoves" panose="02000503030000020004" pitchFamily="2" charset="77"/>
              </a:rPr>
              <a:t>(c) At 10:04:59 a.m.?</a:t>
            </a:r>
          </a:p>
        </p:txBody>
      </p:sp>
    </p:spTree>
    <p:extLst>
      <p:ext uri="{BB962C8B-B14F-4D97-AF65-F5344CB8AC3E}">
        <p14:creationId xmlns:p14="http://schemas.microsoft.com/office/powerpoint/2010/main" val="4097853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D6BDE-1ADB-C7E2-0E39-38401E26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AC0E0A-85F7-06AD-5CDD-7E36C7A40746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04E8A-8905-B4C3-4527-E0FE697DBDBA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0A040-C4D2-2143-F5F3-DC6DE4759BCD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AF5576-0A70-0501-3535-D4C1D2871EDF}"/>
              </a:ext>
            </a:extLst>
          </p:cNvPr>
          <p:cNvSpPr txBox="1"/>
          <p:nvPr/>
        </p:nvSpPr>
        <p:spPr>
          <a:xfrm>
            <a:off x="699400" y="619760"/>
            <a:ext cx="1144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Average Velocity under</a:t>
            </a:r>
          </a:p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Constant Acceleration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F54039-D221-D7B3-E528-D1D5466B51B9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006F00-915F-10F7-332B-738AC79DA67C}"/>
                  </a:ext>
                </a:extLst>
              </p:cNvPr>
              <p:cNvSpPr txBox="1"/>
              <p:nvPr/>
            </p:nvSpPr>
            <p:spPr>
              <a:xfrm>
                <a:off x="699400" y="2260540"/>
                <a:ext cx="10793204" cy="302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  <a:p>
                <a:endParaRPr lang="en-PH" sz="2800" dirty="0">
                  <a:latin typeface="TT Hoves" panose="02000503030000020004" pitchFamily="2" charset="77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PH" sz="2800" dirty="0">
                    <a:latin typeface="TT Hoves" panose="02000503030000020004" pitchFamily="2" charset="77"/>
                  </a:rPr>
                  <a:t>This shortcut — the simple arithmetic mean — is valid </a:t>
                </a:r>
                <a:r>
                  <a:rPr lang="en-PH" sz="2800" b="1" dirty="0">
                    <a:latin typeface="TT Hoves" panose="02000503030000020004" pitchFamily="2" charset="77"/>
                  </a:rPr>
                  <a:t>only</a:t>
                </a:r>
                <a:r>
                  <a:rPr lang="en-PH" sz="2800" dirty="0">
                    <a:latin typeface="TT Hoves" panose="02000503030000020004" pitchFamily="2" charset="77"/>
                  </a:rPr>
                  <a:t> because acceleration is constant.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PH" sz="2800" dirty="0">
                    <a:latin typeface="TT Hoves" panose="02000503030000020004" pitchFamily="2" charset="77"/>
                  </a:rPr>
                  <a:t>If acceleration varied, the true average velocity could be </a:t>
                </a:r>
                <a:r>
                  <a:rPr lang="en-PH" sz="2800" i="1" dirty="0">
                    <a:latin typeface="TT Hoves" panose="02000503030000020004" pitchFamily="2" charset="77"/>
                  </a:rPr>
                  <a:t>anywhere</a:t>
                </a:r>
                <a:r>
                  <a:rPr lang="en-PH" sz="2800" dirty="0">
                    <a:latin typeface="TT Hoves" panose="02000503030000020004" pitchFamily="2" charset="77"/>
                  </a:rPr>
                  <a:t> between v₀ and v — not necessarily the midpoint.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006F00-915F-10F7-332B-738AC79DA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0" y="2260540"/>
                <a:ext cx="10793204" cy="3026598"/>
              </a:xfrm>
              <a:prstGeom prst="rect">
                <a:avLst/>
              </a:prstGeom>
              <a:blipFill>
                <a:blip r:embed="rId3"/>
                <a:stretch>
                  <a:fillRect l="-1059" b="-4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157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EFE2-8FDC-AF49-B7C6-2F8BD5C0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F0BF5ED-0D20-22DB-7C6D-A8546DBDC14A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BF033-5FD8-9A21-0E52-7CEEC4A85C69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D1D4F-B2B8-A114-8A63-268C77D2A1FA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BD7D7-34DF-A5B7-93FF-7CE5394A0FE8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Deriving Equation 4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FD01608-71A0-7808-98AD-0EB9BB050050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F47C92-9397-48C0-F696-787866F19707}"/>
                  </a:ext>
                </a:extLst>
              </p:cNvPr>
              <p:cNvSpPr txBox="1"/>
              <p:nvPr/>
            </p:nvSpPr>
            <p:spPr>
              <a:xfrm>
                <a:off x="699398" y="1521877"/>
                <a:ext cx="10793204" cy="4577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b="1" dirty="0">
                    <a:latin typeface="TT Hoves" panose="02000503030000020004" pitchFamily="2" charset="77"/>
                  </a:rPr>
                  <a:t>EQUATION 4: Position from Average Velocity</a:t>
                </a:r>
              </a:p>
              <a:p>
                <a:endParaRPr lang="en-PH" sz="2800" b="1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Start from displacement = average velocity × time: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PH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PH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PH" sz="2800" b="0" dirty="0">
                  <a:latin typeface="TT Hoves" panose="02000503030000020004" pitchFamily="2" charset="77"/>
                </a:endParaRPr>
              </a:p>
              <a:p>
                <a:endParaRPr lang="en-PH" sz="2800" b="0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Substitute the midpoint average velocity: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PH" sz="2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borderBox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F47C92-9397-48C0-F696-787866F19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98" y="1521877"/>
                <a:ext cx="10793204" cy="4577792"/>
              </a:xfrm>
              <a:prstGeom prst="rect">
                <a:avLst/>
              </a:prstGeom>
              <a:blipFill>
                <a:blip r:embed="rId3"/>
                <a:stretch>
                  <a:fillRect l="-1176" t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87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70C4-41D4-ACA9-8E0B-8F35C1FB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FDF7A09-7E52-53F9-BDD0-AADD69871C5B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EA491-DF40-7171-00E6-D645785DA643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71B2A-A2C1-C0EE-30C4-9E6A5BD0F7B2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3BF09-9C52-06DF-89D2-61AFFB7C06F7}"/>
              </a:ext>
            </a:extLst>
          </p:cNvPr>
          <p:cNvSpPr txBox="1"/>
          <p:nvPr/>
        </p:nvSpPr>
        <p:spPr>
          <a:xfrm>
            <a:off x="699400" y="631792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Guided Example 2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54D5977-0D7D-9B79-20BB-6C143DC7B4F1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763EE0-9073-D728-08D0-538A06E3911D}"/>
                  </a:ext>
                </a:extLst>
              </p:cNvPr>
              <p:cNvSpPr txBox="1"/>
              <p:nvPr/>
            </p:nvSpPr>
            <p:spPr>
              <a:xfrm>
                <a:off x="699400" y="1537117"/>
                <a:ext cx="1079320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PH" sz="2800" dirty="0">
                    <a:latin typeface="TT Hoves" panose="02000503030000020004" pitchFamily="2" charset="77"/>
                  </a:rPr>
                  <a:t>A jet lands on an aircraft carrier at a speed of 140 mi/h (≈ 63 m/s). </a:t>
                </a:r>
              </a:p>
              <a:p>
                <a:pPr algn="just"/>
                <a:r>
                  <a:rPr lang="en-PH" sz="2800" dirty="0">
                    <a:latin typeface="TT Hoves" panose="02000503030000020004" pitchFamily="2" charset="77"/>
                  </a:rPr>
                  <a:t>(A) What is its acceleration (assumed constant) if it stops in 2.0 s due to an arresting cable that snags the jet and brings it to a stop? </a:t>
                </a:r>
              </a:p>
              <a:p>
                <a:pPr algn="just"/>
                <a:r>
                  <a:rPr lang="en-PH" sz="2800" dirty="0">
                    <a:latin typeface="TT Hoves" panose="02000503030000020004" pitchFamily="2" charset="77"/>
                  </a:rPr>
                  <a:t>(B) If the jet touches down at position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PH" sz="28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PH" sz="2800" dirty="0">
                    <a:latin typeface="TT Hoves" panose="02000503030000020004" pitchFamily="2" charset="77"/>
                  </a:rPr>
                  <a:t>, what is its final position?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763EE0-9073-D728-08D0-538A06E39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0" y="1537117"/>
                <a:ext cx="10793202" cy="2677656"/>
              </a:xfrm>
              <a:prstGeom prst="rect">
                <a:avLst/>
              </a:prstGeom>
              <a:blipFill>
                <a:blip r:embed="rId3"/>
                <a:stretch>
                  <a:fillRect l="-1176" t="-2358" r="-1176" b="-5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55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49D1-B381-336E-5A14-A5E061C4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724178A-085B-2171-3D0A-50F02BD04073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B28D0-1FF7-FE3F-4DCA-776D1E20C060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20A26-1798-E273-89C2-7CD2E946DBB0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0DB19-6466-5CF5-4639-0A3493127EE6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Deriving Equation 2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5C65AC-62E6-768D-784C-EC07DA7911D3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09F868-E588-E2A6-2718-4B686442C12D}"/>
                  </a:ext>
                </a:extLst>
              </p:cNvPr>
              <p:cNvSpPr txBox="1"/>
              <p:nvPr/>
            </p:nvSpPr>
            <p:spPr>
              <a:xfrm>
                <a:off x="699398" y="1521877"/>
                <a:ext cx="10793204" cy="4481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b="1" dirty="0">
                    <a:latin typeface="TT Hoves" panose="02000503030000020004" pitchFamily="2" charset="77"/>
                  </a:rPr>
                  <a:t>EQUATION 2: Position as a Function of Time</a:t>
                </a:r>
              </a:p>
              <a:p>
                <a:endParaRPr lang="en-PH" sz="2800" b="1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Substitute Equation 1 (v = v₀ + at) into Equation 4: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PH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28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PH" sz="2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</m:e>
                          </m:d>
                        </m:e>
                      </m:d>
                      <m:r>
                        <a:rPr lang="en-PH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Simplify: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09F868-E588-E2A6-2718-4B686442C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98" y="1521877"/>
                <a:ext cx="10793204" cy="4481868"/>
              </a:xfrm>
              <a:prstGeom prst="rect">
                <a:avLst/>
              </a:prstGeom>
              <a:blipFill>
                <a:blip r:embed="rId3"/>
                <a:stretch>
                  <a:fillRect l="-1176" t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3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8BE1-7FAD-E6B0-29B9-E38D8D5C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167DE0A-7D44-30D8-D647-A62B4D7706B2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DF9C5-5894-C5CA-8BC2-71980DD121E4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9F272-39DF-8084-A33A-911BA1A87BA9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84933-A797-0E14-BA1E-4B45899E1483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Guided Example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96C2189-21B8-87A2-AFA7-6DEEACE9D5B0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863074-D2AC-EE91-C6D9-AD94A045CDC1}"/>
                  </a:ext>
                </a:extLst>
              </p:cNvPr>
              <p:cNvSpPr txBox="1"/>
              <p:nvPr/>
            </p:nvSpPr>
            <p:spPr>
              <a:xfrm>
                <a:off x="699398" y="1537117"/>
                <a:ext cx="1079320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PH" sz="2800" dirty="0">
                    <a:latin typeface="TT Hoves" panose="02000503030000020004" pitchFamily="2" charset="77"/>
                  </a:rPr>
                  <a:t>An object moving with uniform acceleration has a velocity of 12.0 cm/s in the positive </a:t>
                </a:r>
                <a14:m>
                  <m:oMath xmlns:m="http://schemas.openxmlformats.org/officeDocument/2006/math">
                    <m:r>
                      <a:rPr lang="en-PH" sz="28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PH" sz="2800" dirty="0">
                    <a:latin typeface="TT Hoves" panose="02000503030000020004" pitchFamily="2" charset="77"/>
                  </a:rPr>
                  <a:t> direction when its </a:t>
                </a:r>
                <a14:m>
                  <m:oMath xmlns:m="http://schemas.openxmlformats.org/officeDocument/2006/math">
                    <m:r>
                      <a:rPr lang="en-PH" sz="28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PH" sz="2800" dirty="0">
                    <a:latin typeface="TT Hoves" panose="02000503030000020004" pitchFamily="2" charset="77"/>
                  </a:rPr>
                  <a:t>coordinate is 3.00 cm. If its </a:t>
                </a:r>
                <a14:m>
                  <m:oMath xmlns:m="http://schemas.openxmlformats.org/officeDocument/2006/math">
                    <m:r>
                      <a:rPr lang="en-PH" sz="28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PH" sz="2800" dirty="0">
                    <a:latin typeface="TT Hoves" panose="02000503030000020004" pitchFamily="2" charset="77"/>
                  </a:rPr>
                  <a:t> coordinate 2.00 s later is −5.00 cm, what is its acceleration?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863074-D2AC-EE91-C6D9-AD94A045C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98" y="1537117"/>
                <a:ext cx="10793204" cy="1384995"/>
              </a:xfrm>
              <a:prstGeom prst="rect">
                <a:avLst/>
              </a:prstGeom>
              <a:blipFill>
                <a:blip r:embed="rId3"/>
                <a:stretch>
                  <a:fillRect l="-1176" t="-4545" r="-1176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821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9F9B1-79D1-F75A-A609-068C8C97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5A3E05-0891-061A-5BF9-F3377BD8F103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BF62F-75B5-A613-D5B5-B8D6EB7D3F71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2063D-4B88-38EE-009E-52161552FEE8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98A55-F7FE-7CC8-6204-4F48BA6B3EE1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Deriving Equation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6B0CCB-3DE7-4341-7730-26C4239926BB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03A0CC-8B9F-45FB-5457-FC4BCD97DB6D}"/>
                  </a:ext>
                </a:extLst>
              </p:cNvPr>
              <p:cNvSpPr txBox="1"/>
              <p:nvPr/>
            </p:nvSpPr>
            <p:spPr>
              <a:xfrm>
                <a:off x="699398" y="1521877"/>
                <a:ext cx="10793204" cy="4929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b="1" dirty="0">
                    <a:latin typeface="TT Hoves" panose="02000503030000020004" pitchFamily="2" charset="77"/>
                  </a:rPr>
                  <a:t>EQUATION 3: Eliminating Time</a:t>
                </a:r>
              </a:p>
              <a:p>
                <a:endParaRPr lang="en-PH" sz="2800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Solve Equation 1 for time: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  <a:p>
                <a:endParaRPr lang="en-PH" sz="2800" dirty="0">
                  <a:latin typeface="TT Hoves" panose="02000503030000020004" pitchFamily="2" charset="77"/>
                </a:endParaRPr>
              </a:p>
              <a:p>
                <a:r>
                  <a:rPr lang="en-PH" sz="2800" dirty="0">
                    <a:latin typeface="TT Hoves" panose="02000503030000020004" pitchFamily="2" charset="77"/>
                  </a:rPr>
                  <a:t>Substitute into Equation 4 and simplify:</a:t>
                </a:r>
                <a:br>
                  <a:rPr lang="en-PH" sz="2800" dirty="0">
                    <a:latin typeface="TT Hoves" panose="02000503030000020004" pitchFamily="2" charset="77"/>
                  </a:rPr>
                </a:br>
                <a:endParaRPr lang="en-PH" sz="2800" dirty="0">
                  <a:latin typeface="TT Hoves" panose="02000503030000020004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PH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PH" sz="280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PH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PH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PH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2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en-PH" sz="2800" dirty="0">
                  <a:latin typeface="TT Hoves" panose="02000503030000020004" pitchFamily="2" charset="77"/>
                </a:endParaRPr>
              </a:p>
              <a:p>
                <a:endParaRPr lang="en-PH" sz="2800" b="1" dirty="0">
                  <a:latin typeface="TT Hoves" panose="02000503030000020004" pitchFamily="2" charset="7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03A0CC-8B9F-45FB-5457-FC4BCD97D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98" y="1521877"/>
                <a:ext cx="10793204" cy="4929683"/>
              </a:xfrm>
              <a:prstGeom prst="rect">
                <a:avLst/>
              </a:prstGeom>
              <a:blipFill>
                <a:blip r:embed="rId3"/>
                <a:stretch>
                  <a:fillRect l="-1176" t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52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59E3-BECD-B22B-CAE3-A93CACC3E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DD17E56-7A1A-3FC4-99E6-A42507280ADB}"/>
              </a:ext>
            </a:extLst>
          </p:cNvPr>
          <p:cNvSpPr/>
          <p:nvPr/>
        </p:nvSpPr>
        <p:spPr>
          <a:xfrm>
            <a:off x="-5080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F6001-E241-AC5C-5DA1-FA2672274B02}"/>
              </a:ext>
            </a:extLst>
          </p:cNvPr>
          <p:cNvSpPr txBox="1"/>
          <p:nvPr/>
        </p:nvSpPr>
        <p:spPr>
          <a:xfrm>
            <a:off x="6882584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200" dirty="0">
                <a:solidFill>
                  <a:schemeClr val="bg1"/>
                </a:solidFill>
                <a:latin typeface="TT Hoves" panose="02000503030000020004" pitchFamily="50" charset="0"/>
              </a:rPr>
              <a:t>Prepared by </a:t>
            </a:r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Engr. Philip Jayson L. Lestojas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1D540-36B6-5DBC-E600-94A14FA40EC1}"/>
              </a:ext>
            </a:extLst>
          </p:cNvPr>
          <p:cNvSpPr txBox="1"/>
          <p:nvPr/>
        </p:nvSpPr>
        <p:spPr>
          <a:xfrm>
            <a:off x="699400" y="6512560"/>
            <a:ext cx="461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chemeClr val="bg1"/>
                </a:solidFill>
                <a:latin typeface="TT Hoves" panose="02000503030000020004" pitchFamily="50" charset="0"/>
              </a:rPr>
              <a:t>Physics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8D37F-59CE-2ECF-7CF7-188AC897D117}"/>
              </a:ext>
            </a:extLst>
          </p:cNvPr>
          <p:cNvSpPr txBox="1"/>
          <p:nvPr/>
        </p:nvSpPr>
        <p:spPr>
          <a:xfrm>
            <a:off x="699400" y="619760"/>
            <a:ext cx="1144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800" dirty="0">
                <a:gradFill flip="none" rotWithShape="1">
                  <a:gsLst>
                    <a:gs pos="0">
                      <a:srgbClr val="B45404"/>
                    </a:gs>
                    <a:gs pos="50000">
                      <a:srgbClr val="E86C06"/>
                    </a:gs>
                    <a:gs pos="100000">
                      <a:srgbClr val="F9770B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TT Hoves ExtraBold" panose="02000903040000020004" pitchFamily="50" charset="0"/>
              </a:rPr>
              <a:t>Guided Example 4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0AA5E2-AE61-52FD-FE88-1C93EAD364D1}"/>
              </a:ext>
            </a:extLst>
          </p:cNvPr>
          <p:cNvSpPr/>
          <p:nvPr/>
        </p:nvSpPr>
        <p:spPr>
          <a:xfrm>
            <a:off x="12029440" y="6441440"/>
            <a:ext cx="12192000" cy="416560"/>
          </a:xfrm>
          <a:custGeom>
            <a:avLst/>
            <a:gdLst>
              <a:gd name="csX0" fmla="*/ 0 w 12192000"/>
              <a:gd name="csY0" fmla="*/ 0 h 416560"/>
              <a:gd name="csX1" fmla="*/ 1790144 w 12192000"/>
              <a:gd name="csY1" fmla="*/ 0 h 416560"/>
              <a:gd name="csX2" fmla="*/ 2028904 w 12192000"/>
              <a:gd name="csY2" fmla="*/ 238760 h 416560"/>
              <a:gd name="csX3" fmla="*/ 7939692 w 12192000"/>
              <a:gd name="csY3" fmla="*/ 238760 h 416560"/>
              <a:gd name="csX4" fmla="*/ 8178452 w 12192000"/>
              <a:gd name="csY4" fmla="*/ 0 h 416560"/>
              <a:gd name="csX5" fmla="*/ 12192000 w 12192000"/>
              <a:gd name="csY5" fmla="*/ 0 h 416560"/>
              <a:gd name="csX6" fmla="*/ 12192000 w 12192000"/>
              <a:gd name="csY6" fmla="*/ 416560 h 416560"/>
              <a:gd name="csX7" fmla="*/ 0 w 12192000"/>
              <a:gd name="csY7" fmla="*/ 416560 h 416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416560">
                <a:moveTo>
                  <a:pt x="0" y="0"/>
                </a:moveTo>
                <a:lnTo>
                  <a:pt x="1790144" y="0"/>
                </a:lnTo>
                <a:lnTo>
                  <a:pt x="2028904" y="238760"/>
                </a:lnTo>
                <a:lnTo>
                  <a:pt x="7939692" y="238760"/>
                </a:lnTo>
                <a:lnTo>
                  <a:pt x="8178452" y="0"/>
                </a:lnTo>
                <a:lnTo>
                  <a:pt x="12192000" y="0"/>
                </a:lnTo>
                <a:lnTo>
                  <a:pt x="1219200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F977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36273B-3430-02E7-D1E1-0960791C193D}"/>
                  </a:ext>
                </a:extLst>
              </p:cNvPr>
              <p:cNvSpPr txBox="1"/>
              <p:nvPr/>
            </p:nvSpPr>
            <p:spPr>
              <a:xfrm>
                <a:off x="699398" y="1537117"/>
                <a:ext cx="10793204" cy="186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PH" sz="2800" dirty="0">
                    <a:latin typeface="TT Hoves" panose="02000503030000020004" pitchFamily="2" charset="77"/>
                  </a:rPr>
                  <a:t>An electron in a cathode-ray tube accelerates uniformly from </a:t>
                </a:r>
                <a14:m>
                  <m:oMath xmlns:m="http://schemas.openxmlformats.org/officeDocument/2006/math"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2.00 × 10⁴ </m:t>
                    </m:r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800" dirty="0">
                    <a:latin typeface="TT Hoves" panose="02000503030000020004" pitchFamily="2" charset="77"/>
                  </a:rPr>
                  <a:t>to </a:t>
                </a:r>
                <a14:m>
                  <m:oMath xmlns:m="http://schemas.openxmlformats.org/officeDocument/2006/math"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6.00 × 10⁶ </m:t>
                    </m:r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PH" sz="2800" dirty="0">
                    <a:latin typeface="TT Hoves" panose="02000503030000020004" pitchFamily="2" charset="77"/>
                  </a:rPr>
                  <a:t> over 1.50 cm. </a:t>
                </a:r>
              </a:p>
              <a:p>
                <a:pPr algn="just"/>
                <a:r>
                  <a:rPr lang="en-PH" sz="2800" dirty="0">
                    <a:latin typeface="TT Hoves" panose="02000503030000020004" pitchFamily="2" charset="77"/>
                  </a:rPr>
                  <a:t>(a) In what time interval does the electron travel this 1.50 cm? (b) What is its acceleration?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36273B-3430-02E7-D1E1-0960791C1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98" y="1537117"/>
                <a:ext cx="10793204" cy="1868460"/>
              </a:xfrm>
              <a:prstGeom prst="rect">
                <a:avLst/>
              </a:prstGeom>
              <a:blipFill>
                <a:blip r:embed="rId3"/>
                <a:stretch>
                  <a:fillRect l="-1176" t="-3356" r="-1176" b="-7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86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1747</Words>
  <Application>Microsoft Macintosh PowerPoint</Application>
  <PresentationFormat>Widescreen</PresentationFormat>
  <Paragraphs>208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TT Hoves</vt:lpstr>
      <vt:lpstr>TT Hoves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Jayson Lestojas</dc:creator>
  <cp:lastModifiedBy>Philip Jayson Lestojas</cp:lastModifiedBy>
  <cp:revision>58</cp:revision>
  <dcterms:created xsi:type="dcterms:W3CDTF">2026-06-30T07:32:24Z</dcterms:created>
  <dcterms:modified xsi:type="dcterms:W3CDTF">2026-07-16T15:27:48Z</dcterms:modified>
</cp:coreProperties>
</file>