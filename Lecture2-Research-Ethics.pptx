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for Lecture 2: Research Ethics. Target competencies: (9) apply ethical standards in all stages of the research process, and (10) demonstrate proper citation of sources. Audience: Grade 12 STEM, Senior High School. The whole lecture is built around one recurring case study — the Barangay Water Filter Project — so students experience ethics and citation as a connected story rather than disconnected rules.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note on structure before you build: this script uses one recurring case study across the whole lecture so students experience research ethics and citation as a connected story, not a list of disconnected rules. Reusing it repeatedly also reduces cognitive load. All textbook-sourced material is from Creswell &amp; Creswell (2023), Research Design, Chapter 4 — the 'Ethical Issues' section and Table 4.1. Examples not found in the textbook are labeled Instructor-Created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this scenario cold — don't define anything yet. The goal is to let students feel the tension in the questions before you hand them vocabulary. Ask the class: "What could go wrong here, even if the science is done perfectly?" Let a few students answer. The point you're building toward is that good science and ethical science are not automatically the same thing — you can run a flawless experiment and still cause harm, deceive people, or take credit unfairly. Do not resolve any of the three bullet questions yet; tell students you'll return to this exact scenario throughout the lesson.</a:t>
            </a:r>
          </a:p>
          <a:p/>
          <a:p>
            <a:r>
              <a:t>Visual: a rural well/water source with a filter setup beside it — grounds the abstract 'ethics' topic in a tangible object students can picture throughout the lecture.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reframes a term students already encountered briefly in Lecture 1 (when weighing 'ethical, social, and environmental factors' for a proposal). Here, make clear that ethics isn't a single feasibility checkbox — it's a standard that has to be re-applied at every single stage of the process. This flowchart previews the structure you'll return to later in the lecture (Slides 12-16), so tell students explicitly: 'Keep this five-stage map in your head — we're going to walk through each one.' This is a structural anchor, not a topic to dwell on yet.</a:t>
            </a:r>
          </a:p>
          <a:p/>
          <a:p>
            <a:r>
              <a:t>Visual: a horizontal five-stage process flowchart, kept minimal; it reappears highlighted stage-by-stage in Slides 12-16 to reinforce continuity.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clean, quotable definition here — this is the term they'll be tested on, so it should be crisp and memorable. Emphasize the why embedded in the definition: ethics isn't an abstract philosophical add-on, it exists specifically because research affects real people and real outcomes. Tie it back to Slide 1: the water filter researchers are dealing with real households whose water safety may depend on accurate, honest results. This is a good moment to explicitly note the connection to Lecture 1's competency on 'basic steps in the research process' — ethics governs how each of those steps is carried out.</a:t>
            </a:r>
          </a:p>
          <a:p/>
          <a:p>
            <a:r>
              <a:t>Visual: none necessary — a clean, high-contrast definition slide is more effective than added imagery.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column using the water filter scenario as a running example: if researchers mislead a household about how their water data will be used, they harm a participant; if they only report favorable filter results, they compromise the findings; if either of those things comes to light later, it damages the researcher's credibility for any future work. Emphasize that these three protections are interconnected — a violation in one almost always damages the others too. This slide answers 'why should I care?' before moving into the specific standards.</a:t>
            </a:r>
          </a:p>
          <a:p/>
          <a:p>
            <a:r>
              <a:t>Visual: none necessary — the three-column layout itself is the visual.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lesson's first 'apply it' moment — resist the urge to give answers immediately. Let pairs work through all four prompts for 3-4 minutes. Expect students to intuitively identify participant protection (#1) and community protection (#2) fairly easily; #3 (crediting the earlier researcher) and #4 (future readers) are usually harder for them to articulate this early — that's fine, since citation and honest reporting haven't been formally introduced yet. Use this gap productively: tell students 'we'll come back to #3 and #4 later in this lesson' to build anticipation without previewing content.</a:t>
            </a:r>
          </a:p>
          <a:p/>
          <a:p>
            <a:r>
              <a:t>Visual: none necessary.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'table of contents' slide for the next four concept slides — introduce all four principles briefly here, then go deeper one at a time. Tell students they don't need to memorize the exact wording yet; they'll see each principle applied to the water filter case individually. The four principles map roughly onto what professional research communities across all fields (health, social science, engineering) treat as baseline ethical standards — you're teaching the shared core, not any one field's specific code.</a:t>
            </a:r>
          </a:p>
          <a:p/>
          <a:p>
            <a:r>
              <a:t>Visual: a 2x2 grid/matrix, color-coded by principle so the same four colors can be reused later (Slide 11) for quick visual recall.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Honesty is usually the easiest of the four principles for students to grasp intuitively, so move through the definition quickly and spend more time on the example. Emphasize that dishonesty in research isn't always dramatic fabrication — it's often subtler, like rounding numbers favorably, leaving out an inconvenient data point, or overstating certainty. Ask students: 'Why might a researcher feel tempted to round up a disappointing result?' This surfaces the human pressure (wanting your project to 'succeed') that makes this standard necessary in the first place.</a:t>
            </a:r>
          </a:p>
          <a:p/>
          <a:p>
            <a:r>
              <a:t>Visual: none necessary — the example is brief enough to sit directly on the concept slide.</a:t>
            </a:r>
          </a:p>
          <a:p/>
          <a:p>
            <a:r>
              <a:t>[Provenance] The EXAMPLE on this slide is an instructor-created scenario (not drawn from the textbook). This label is kept in the notes only, not on the student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deliberately simple and plain-language — students do not need formal consent forms or IRB procedures at this level; they need to understand the principle of voluntary, informed participation. Contrast the example with what a violation would look like: quietly testing a household's water without telling them, or implying that participation is mandatory. Ask students to notice that 'respect' here is really about honesty toward participants, which is the same value from Slide 7 — just aimed outward at the people involved rather than at the data.</a:t>
            </a:r>
          </a:p>
          <a:p/>
          <a:p>
            <a:r>
              <a:t>Visual: none necessary.</a:t>
            </a:r>
          </a:p>
          <a:p/>
          <a:p>
            <a:r>
              <a:t>[Provenance] The EXAMPLE on this slide is an instructor-created scenario (not drawn from the textbook). This label is kept in the notes only, not on the student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principle often confuses students with 'avoiding harm' (the next slide) — clarify the distinction directly: confidentiality is specifically about identity protection, while avoiding harm is broader. Use the example to show a concrete before/after of how identifying details get removed from a report. You can ask: 'Why would a household care if their name appears in a public research report, even if the finding itself is positive?' — this helps students see that privacy matters regardless of whether the information seems sensitive.</a:t>
            </a:r>
          </a:p>
          <a:p/>
          <a:p>
            <a:r>
              <a:t>Visual: none necessary.</a:t>
            </a:r>
          </a:p>
          <a:p/>
          <a:p>
            <a:r>
              <a:t>[Provenance] The EXAMPLE on this slide is an instructor-created scenario (not drawn from the textbook). This label is kept in the notes only, not on the student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broadest of the four principles, so anchor it firmly with the example — the 'failed filter left installed' detail is important because it shows harm can happen even after data collection ends, purely through the physical consequences of the research existing in a real place. Ask students to brainstorm one additional way the water filter study could unintentionally harm the community (e.g., taking up residents' time repeatedly, raising false hope about water safety). This principle is also where research most visibly touches the environment, since the community's water source itself is the site of study.</a:t>
            </a:r>
          </a:p>
          <a:p/>
          <a:p>
            <a:r>
              <a:t>Visual: none necessary.</a:t>
            </a:r>
          </a:p>
          <a:p/>
          <a:p>
            <a:r>
              <a:t>[Provenance] The EXAMPLE on this slide is an instructor-created scenario (not drawn from the textbook). This label is kept in the notes only, not on the student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consolidation activity for the four core standards — resist explaining the answers until students have attempted all four matches. The intended mapping is: 1 -&gt; Respect for Participants, 2 -&gt; Confidentiality, 3 -&gt; Honesty and Integrity, 4 -&gt; Avoiding Harm. Some students may reasonably argue overlaps (e.g., #1 could also touch 'avoiding harm') — use that as a teaching moment: in real research, violations often overlap, but naming the primary standard at risk builds precision in ethical reasoning. This activity should take no more than 5 minutes.</a:t>
            </a:r>
          </a:p>
          <a:p/>
          <a:p>
            <a:r>
              <a:t>Visual: a branching decision-tree with the four standards as endpoint nodes (reusing the four colors from Slide 6's matrix).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begins the second major arc of the lecture — walking through the five-stage flowchart from Slide 2 in detail, one stage per slide. Reintroducing the same flowchart graphic (now with 'Planning' highlighted) gives students a visual anchor showing exactly where they are in the bigger picture. The key idea here is intentionality: ethical planning isn't passive, it requires actively asking 'who benefits from this research, and could this topic cause harm before I've even started?'</a:t>
            </a:r>
          </a:p>
          <a:p/>
          <a:p>
            <a:r>
              <a:t>Visual: the same five-stage flowchart from Slide 2, with the 'Planning' box highlighted. Reusing this exact graphic across Slides 12-15 lets students track lesson progress at a glance.</a:t>
            </a:r>
          </a:p>
          <a:p/>
          <a:p>
            <a:r>
              <a:t>[Provenance] The EXAMPLE on this slide is an instructor-created scenario (not drawn from the textbook). This label is kept in the notes only, not on the student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that this slide revisits 'honesty' and 'respect' from Slides 7-8, but now applied specifically to the action of collecting data, not the general principle. This repetition is intentional — it shows students that the same standards show up again and again across different stages, which is the core idea of the whole lecture. The fabrication example is worth dwelling on: ask students why a researcher under time pressure might be tempted to 'fill in' a missing data point, and why that's fundamentally different from honestly reporting an incomplete dataset.</a:t>
            </a:r>
          </a:p>
          <a:p/>
          <a:p>
            <a:r>
              <a:t>Visual: same flowchart graphic, now with 'Collecting Data' highlighted.</a:t>
            </a:r>
          </a:p>
          <a:p/>
          <a:p>
            <a:r>
              <a:t>[Provenance] The EXAMPLE on this slide is an instructor-created scenario (not drawn from the textbook). This label is kept in the notes only, not on the student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stage is where 'honesty' (Slide 7) becomes most concrete and testable — students can directly see what selective reporting would look like using real numbers. Ask the class: 'If you were the researcher and only 3 out of 10 households improved, how would you feel about reporting that?' This surfaces the emotional pull toward dishonesty (disappointment, fear of a 'failed' project) and lets you explicitly state that an honestly reported 'mixed' result is not a failure — it's good research.</a:t>
            </a:r>
          </a:p>
          <a:p/>
          <a:p>
            <a:r>
              <a:t>Visual: same flowchart graphic, now with 'Analyzing Data' highlighted.</a:t>
            </a:r>
          </a:p>
          <a:p/>
          <a:p>
            <a:r>
              <a:t>[Provenance] The EXAMPLE on this slide is an instructor-created scenario (not drawn from the textbook). This label is kept in the notes only, not on the student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pivot slide of the entire lecture — deliver it with a clear tonal shift to signal that a new (but connected) topic is beginning. Don't elaborate on 'giving credit' yet beyond this one line; the next section will unpack it fully. The goal here is continuity: students should feel that citation isn't an unrelated skill being bolted onto an ethics lesson, but simply what 'honest reporting' requires when your work builds on someone else's — which directly echoes the original filter design mentioned in the Slide 1 scenario.</a:t>
            </a:r>
          </a:p>
          <a:p/>
          <a:p>
            <a:r>
              <a:t>Visual: same flowchart with 'Reporting' highlighted, plus an arrow pointing toward the next section's title to foreshadow the shift without a separate recap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consolidation activity for the entire 'stages' section (Slides 12-15) — students should place each numbered action onto the appropriate stage of the flowchart (physically, if using printed handouts, or verbally/digitally otherwise). Correct mapping: 1 -&gt; Planning, 2 -&gt; Collecting, 3 -&gt; Analyzing, 4 -&gt; Reporting. Item 4 deliberately foreshadows the citation section without teaching it yet — if students struggle to explain why it belongs at the reporting stage, that's expected; simply confirm it's coming up next.</a:t>
            </a:r>
          </a:p>
          <a:p/>
          <a:p>
            <a:r>
              <a:t>Visual: the recurring five-stage flowchart used as an interactive sorting surface, with the four numbered actions as draggable cards (digital) or sticky notes (physical).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move on this slide is framing — students often think of plagiarism as a school-specific 'rule' about citations, disconnected from real ethics. Explicitly connect it back to Slide 7's 'Honesty and Integrity' standard: taking credit for someone else's work is a form of dishonesty, just directed at ideas instead of data. This reframe is what makes the citation mechanics that follow feel meaningful rather than arbitrary.</a:t>
            </a:r>
          </a:p>
          <a:p/>
          <a:p>
            <a:r>
              <a:t>Visual: none necessary.</a:t>
            </a:r>
          </a:p>
          <a:p/>
          <a:p>
            <a:r>
              <a:t>[Provenance] The EXAMPLE on this slide is an instructor-created scenario (not drawn from the textbook). This label is kept in the notes only, not on the student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students already recognize direct copy-paste plagiarism as wrong; the harder concept — and the one worth spending more time on — is uncredited paraphrasing. Many students genuinely believe that rewording something in their own words makes citation unnecessary. Correct this directly: the idea still originated with someone else, so credit is still owed, even if not a single word is copied. This distinction directly sets up why citation applies to paraphrased material, not just direct quotes, which matters for the mechanics slides ahead.</a:t>
            </a:r>
          </a:p>
          <a:p/>
          <a:p>
            <a:r>
              <a:t>Visual: none necessary — the two-column layout is the visual.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question students are often silently asking: 'Why does this even matter if I'm not trying to steal anything?' Reframe citation as a positive practice rather than a defensive one — it's not just about avoiding punishment, it's a normal and expected part of how all researchers build on each other's work. Use the water filter example one more time: citing the earlier student's design doesn't weaken the new researchers' work — it actually strengthens their credibility by showing their design has a legitimate foundation.</a:t>
            </a:r>
          </a:p>
          <a:p/>
          <a:p>
            <a:r>
              <a:t>Visual: a concept map with 'Citation' at the center and three branches to the three reasons.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should feel almost too simple by this point — that's intentional, since it confirms students have internalized the core idea before adding citation mechanics on top. Version B is correct because it names the source of the idea; Version A presents the same claim as if it were the researchers' own original finding. Use this moment to explicitly preview: 'Version B shows an in-text citation — next, we'll learn exactly how to build one properly.' This is a natural, low-key transition rather than a formal 'forward bridge' recap.</a:t>
            </a:r>
          </a:p>
          <a:p/>
          <a:p>
            <a:r>
              <a:t>Visual: none necessary.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Establish this two-part structure clearly before diving into either part individually — students need to understand that in-text citations and reference list entries are not two separate skills, but two connected halves of the same citation. A useful analogy: the in-text citation is like a claim ticket, and the reference list entry is what you get when you redeem it — full details are only in the reference list, so the in-text note only needs to be short enough to point there.</a:t>
            </a:r>
          </a:p>
          <a:p/>
          <a:p>
            <a:r>
              <a:t>Visual: a two-box diagram connected by an arrow — '(Reyes, 2022)' in the text box linking to the fuller reference entry box. This visual reappears conceptually in Slides 22 and 24.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focus tightly on the author-date format — this is the one pattern students need to master, and introducing multiple citation styles at this stage would only create confusion (that comparison is intentionally left for later, more advanced coursework). Point out the small but important difference between the two example rows: a paraphrase only needs (Author, Year), while a direct quote also requires a page number, since you're pointing to the source's exact wording. Have students identify which format the earlier Slide 20 'Version B' used (a paraphrase, so no page number was needed).</a:t>
            </a:r>
          </a:p>
          <a:p/>
          <a:p>
            <a:r>
              <a:t>Visual: none necessary — the table format is the clearest visual here.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two or three minutes to write both citations independently before reviewing as a class. Expected answers: (1) '...removes 80% of sediment (Dela Cruz, 2021).' and (2) '...within 48 hours' (Dela Cruz, 2021, p. 9).' Common student errors to watch for: forgetting the comma between author and year, forgetting 'p.' before the page number, or adding a page number to the paraphrase (unnecessary, since only direct quotes require one). Correct these live as a class.</a:t>
            </a:r>
          </a:p>
          <a:p/>
          <a:p>
            <a:r>
              <a:t>Visual: none necessary.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these three templates as patterns to recognize, not to memorize by rote — students will look these up when writing real papers, so the goal is familiarity with the structure, not flawless recall under pressure. Point out what stays consistent across all three: author and year always come first, matching the in-text citation students just practiced. What changes is only the middle — title formatting and source-specific details like journal name or URL.</a:t>
            </a:r>
          </a:p>
          <a:p/>
          <a:p>
            <a:r>
              <a:t>Visual: three side-by-side template cards, visually distinct by source type (book, journal, website icons) so students can quickly identify which format applies to their own source.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specifically so students can see a complete, realistic reference list — not just an abstract template. Walk through each entry and have students point out which part of the template (from Slide 24) each piece corresponds to: author, year, title, and publisher/journal/site details. This is a good moment to note the italics convention (book and journal titles are italicized; article and webpage titles are not) since it's a common formatting slip.</a:t>
            </a:r>
          </a:p>
          <a:p/>
          <a:p>
            <a:r>
              <a:t>Visual: none necessary — the three fully formatted entries are themselves the instructional content.</a:t>
            </a:r>
          </a:p>
          <a:p/>
          <a:p>
            <a:r>
              <a:t>[Provenance] These three sample reference entries are instructor-created and formatted for illustration only.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culminating skills-practice slide for citation mechanics — students now assemble a complete entry from raw, unordered information rather than filling in a partial template. Expected answer: 'Dela Cruz, A. (2021). Sand filtration effectiveness in rural water systems. Journal of Applied Environmental Science, 9(3), 112-120.' Have a few students share their answers aloud or on the board, and use any discrepancies (missing italics, wrong punctuation, misplaced year) as quick, low-stakes correction opportunities before moving to the final application.</a:t>
            </a:r>
          </a:p>
          <a:p/>
          <a:p>
            <a:r>
              <a:t>Visual: none necessary.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lecture by returning to the exact scenario from Slide 1, now fully resolved through everything students have learned — this bookends the lesson without introducing new content or previewing future lessons. Work through the checklist as a class, calling back to the specific slide where each item was covered (Honesty -&gt; Slide 7, Consent -&gt; Slide 8, Confidentiality -&gt; Slide 9, Harm -&gt; Slide 10, Citation -&gt; Slides 17-26). End by emphasizing the throughline of the entire lesson: ethical research and well-cited research are not two separate obligations — both come from the same underlying commitment to honesty and respect for other people's contributions.</a:t>
            </a:r>
          </a:p>
          <a:p/>
          <a:p>
            <a:r>
              <a:t>Visual: a checklist graphic with checkable boxes beside each item — a practical audit tool students can reuse for their own future research reports.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Slide-to-Competency Alignment Map. Slides 1-5 build the foundation (Comp. 9); Slides 6-11 cover the four core ethical standards (Comp. 9); Slides 12-16 apply ethics across all stages of the research process (Comp. 9); Slides 17-20 use plagiarism as the ethical bridge into citation (Comp. 9 to 10); Slides 21-26 teach APA citation mechanics, in-text and reference list (Comp. 10); Slide 27 is integrated ethics + citation application (Comp. 9 &amp; 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91440"/>
            <a:ext cx="12374575" cy="70408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16975" y="4114800"/>
            <a:ext cx="5852160" cy="5852160"/>
          </a:xfrm>
          <a:prstGeom prst="ellipse">
            <a:avLst/>
          </a:prstGeom>
          <a:noFill/>
          <a:ln w="1778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265615" y="4663440"/>
            <a:ext cx="4754880" cy="4754880"/>
          </a:xfrm>
          <a:prstGeom prst="ellipse">
            <a:avLst/>
          </a:prstGeom>
          <a:noFill/>
          <a:ln w="17780">
            <a:solidFill>
              <a:srgbClr val="E9C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814255" y="5212080"/>
            <a:ext cx="3657600" cy="3657600"/>
          </a:xfrm>
          <a:prstGeom prst="ellipse">
            <a:avLst/>
          </a:prstGeom>
          <a:noFill/>
          <a:ln w="1778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62895" y="5760720"/>
            <a:ext cx="2560320" cy="2560320"/>
          </a:xfrm>
          <a:prstGeom prst="ellipse">
            <a:avLst/>
          </a:prstGeom>
          <a:noFill/>
          <a:ln w="17780">
            <a:solidFill>
              <a:srgbClr val="E9C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11535" y="6309360"/>
            <a:ext cx="1463040" cy="1463040"/>
          </a:xfrm>
          <a:prstGeom prst="ellipse">
            <a:avLst/>
          </a:prstGeom>
          <a:noFill/>
          <a:ln w="1778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0"/>
            <a:ext cx="256032" cy="685800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17320"/>
            <a:ext cx="8778240" cy="457200"/>
          </a:xfrm>
          <a:prstGeom prst="rect">
            <a:avLst/>
          </a:prstGeom>
          <a:noFill/>
        </p:spPr>
        <p:txBody>
          <a:bodyPr wrap="square" anchor="t" lIns="0" rIns="0" tIns="0" bIns="0">
            <a:spAutoFit/>
          </a:bodyPr>
          <a:lstStyle/>
          <a:p>
            <a:pPr algn="l">
              <a:lnSpc>
                <a:spcPct val="106000"/>
              </a:lnSpc>
              <a:spcBef>
                <a:spcPts val="0"/>
              </a:spcBef>
              <a:spcAft>
                <a:spcPts val="0"/>
              </a:spcAft>
            </a:pPr>
            <a:r>
              <a:rPr sz="2800" b="1" i="0">
                <a:solidFill>
                  <a:srgbClr val="E9C46A"/>
                </a:solidFill>
                <a:latin typeface="Segoe UI Semibold"/>
              </a:rPr>
              <a:t>LECTURE 2</a:t>
            </a:r>
          </a:p>
        </p:txBody>
      </p:sp>
      <p:sp>
        <p:nvSpPr>
          <p:cNvPr id="12" name="TextBox 11"/>
          <p:cNvSpPr txBox="1"/>
          <p:nvPr/>
        </p:nvSpPr>
        <p:spPr>
          <a:xfrm>
            <a:off x="822960" y="1874519"/>
            <a:ext cx="9692640" cy="2194560"/>
          </a:xfrm>
          <a:prstGeom prst="rect">
            <a:avLst/>
          </a:prstGeom>
          <a:noFill/>
        </p:spPr>
        <p:txBody>
          <a:bodyPr wrap="square" anchor="t" lIns="0" rIns="0" tIns="0" bIns="0">
            <a:spAutoFit/>
          </a:bodyPr>
          <a:lstStyle/>
          <a:p>
            <a:pPr algn="l">
              <a:lnSpc>
                <a:spcPct val="100000"/>
              </a:lnSpc>
              <a:spcBef>
                <a:spcPts val="0"/>
              </a:spcBef>
              <a:spcAft>
                <a:spcPts val="200"/>
              </a:spcAft>
            </a:pPr>
            <a:r>
              <a:rPr sz="6000" b="1" i="0">
                <a:solidFill>
                  <a:srgbClr val="FFFFFF"/>
                </a:solidFill>
                <a:latin typeface="Segoe UI Semibold"/>
              </a:rPr>
              <a:t>Research Ethics</a:t>
            </a:r>
          </a:p>
          <a:p>
            <a:pPr algn="l">
              <a:lnSpc>
                <a:spcPct val="106000"/>
              </a:lnSpc>
              <a:spcBef>
                <a:spcPts val="0"/>
              </a:spcBef>
              <a:spcAft>
                <a:spcPts val="0"/>
              </a:spcAft>
            </a:pPr>
            <a:r>
              <a:rPr sz="2800" b="0" i="1">
                <a:solidFill>
                  <a:srgbClr val="CFE6E2"/>
                </a:solidFill>
                <a:latin typeface="Segoe UI Light"/>
              </a:rPr>
              <a:t>Doing science honestly — from planning to citation</a:t>
            </a:r>
          </a:p>
        </p:txBody>
      </p:sp>
      <p:sp>
        <p:nvSpPr>
          <p:cNvPr id="13" name="Rounded Rectangle 12"/>
          <p:cNvSpPr/>
          <p:nvPr/>
        </p:nvSpPr>
        <p:spPr>
          <a:xfrm>
            <a:off x="868680" y="4297680"/>
            <a:ext cx="9326880" cy="530352"/>
          </a:xfrm>
          <a:prstGeom prst="roundRect">
            <a:avLst>
              <a:gd name="adj" fmla="val 50000"/>
            </a:avLst>
          </a:prstGeom>
          <a:solidFill>
            <a:srgbClr val="14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4297680"/>
            <a:ext cx="8961120" cy="530352"/>
          </a:xfrm>
          <a:prstGeom prst="rect">
            <a:avLst/>
          </a:prstGeom>
          <a:noFill/>
        </p:spPr>
        <p:txBody>
          <a:bodyPr wrap="square" anchor="ctr" lIns="0" rIns="0" tIns="0" bIns="0">
            <a:spAutoFit/>
          </a:bodyPr>
          <a:lstStyle/>
          <a:p>
            <a:pPr algn="l">
              <a:lnSpc>
                <a:spcPct val="106000"/>
              </a:lnSpc>
              <a:spcBef>
                <a:spcPts val="0"/>
              </a:spcBef>
              <a:spcAft>
                <a:spcPts val="0"/>
              </a:spcAft>
            </a:pPr>
            <a:r>
              <a:rPr sz="1600" b="1" i="0">
                <a:solidFill>
                  <a:srgbClr val="FFFFFF"/>
                </a:solidFill>
                <a:latin typeface="Segoe UI Semibold"/>
              </a:rPr>
              <a:t>Competency 9 · Apply ethical standards in all stages of research</a:t>
            </a:r>
          </a:p>
        </p:txBody>
      </p:sp>
      <p:sp>
        <p:nvSpPr>
          <p:cNvPr id="15" name="Rounded Rectangle 14"/>
          <p:cNvSpPr/>
          <p:nvPr/>
        </p:nvSpPr>
        <p:spPr>
          <a:xfrm>
            <a:off x="868680" y="4937760"/>
            <a:ext cx="9326880" cy="530352"/>
          </a:xfrm>
          <a:prstGeom prst="roundRect">
            <a:avLst>
              <a:gd name="adj" fmla="val 50000"/>
            </a:avLst>
          </a:prstGeom>
          <a:solidFill>
            <a:srgbClr val="14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4937760"/>
            <a:ext cx="8961120" cy="530352"/>
          </a:xfrm>
          <a:prstGeom prst="rect">
            <a:avLst/>
          </a:prstGeom>
          <a:noFill/>
        </p:spPr>
        <p:txBody>
          <a:bodyPr wrap="square" anchor="ctr" lIns="0" rIns="0" tIns="0" bIns="0">
            <a:spAutoFit/>
          </a:bodyPr>
          <a:lstStyle/>
          <a:p>
            <a:pPr algn="l">
              <a:lnSpc>
                <a:spcPct val="106000"/>
              </a:lnSpc>
              <a:spcBef>
                <a:spcPts val="0"/>
              </a:spcBef>
              <a:spcAft>
                <a:spcPts val="0"/>
              </a:spcAft>
            </a:pPr>
            <a:r>
              <a:rPr sz="1600" b="1" i="0">
                <a:solidFill>
                  <a:srgbClr val="FFFFFF"/>
                </a:solidFill>
                <a:latin typeface="Segoe UI Semibold"/>
              </a:rPr>
              <a:t>Competency 10 · Demonstrate proper citation of sources</a:t>
            </a:r>
          </a:p>
        </p:txBody>
      </p:sp>
      <p:sp>
        <p:nvSpPr>
          <p:cNvPr id="17" name="TextBox 16"/>
          <p:cNvSpPr txBox="1"/>
          <p:nvPr/>
        </p:nvSpPr>
        <p:spPr>
          <a:xfrm>
            <a:off x="896112" y="5806440"/>
            <a:ext cx="9144000" cy="457200"/>
          </a:xfrm>
          <a:prstGeom prst="rect">
            <a:avLst/>
          </a:prstGeom>
          <a:noFill/>
        </p:spPr>
        <p:txBody>
          <a:bodyPr wrap="square" anchor="t" lIns="0" rIns="0" tIns="0" bIns="0">
            <a:spAutoFit/>
          </a:bodyPr>
          <a:lstStyle/>
          <a:p>
            <a:pPr algn="l">
              <a:lnSpc>
                <a:spcPct val="106000"/>
              </a:lnSpc>
              <a:spcBef>
                <a:spcPts val="0"/>
              </a:spcBef>
              <a:spcAft>
                <a:spcPts val="0"/>
              </a:spcAft>
            </a:pPr>
            <a:r>
              <a:rPr sz="1700" b="0" i="0">
                <a:solidFill>
                  <a:srgbClr val="9FC7C2"/>
                </a:solidFill>
                <a:latin typeface="Segoe UI"/>
              </a:rPr>
              <a:t>Grade 12 STEM · Senior High School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0F4C5C"/>
                </a:solidFill>
                <a:latin typeface="Segoe UI Semibold"/>
              </a:rPr>
              <a:t>FOUNDATIONS OF RESEARCH ETHICS</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How This Lecture Works</a:t>
            </a:r>
          </a:p>
        </p:txBody>
      </p:sp>
      <p:sp>
        <p:nvSpPr>
          <p:cNvPr id="7" name="Rectangle 6"/>
          <p:cNvSpPr/>
          <p:nvPr/>
        </p:nvSpPr>
        <p:spPr>
          <a:xfrm>
            <a:off x="658368" y="1572768"/>
            <a:ext cx="1463040"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00</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TextBox 9"/>
          <p:cNvSpPr txBox="1"/>
          <p:nvPr/>
        </p:nvSpPr>
        <p:spPr>
          <a:xfrm>
            <a:off x="640080" y="1874519"/>
            <a:ext cx="5532120" cy="4206240"/>
          </a:xfrm>
          <a:prstGeom prst="rect">
            <a:avLst/>
          </a:prstGeom>
          <a:noFill/>
        </p:spPr>
        <p:txBody>
          <a:bodyPr wrap="square" anchor="t" lIns="0" rIns="0" tIns="0" bIns="0">
            <a:spAutoFit/>
          </a:bodyPr>
          <a:lstStyle/>
          <a:p>
            <a:pPr algn="l">
              <a:lnSpc>
                <a:spcPct val="106000"/>
              </a:lnSpc>
              <a:spcBef>
                <a:spcPts val="0"/>
              </a:spcBef>
              <a:spcAft>
                <a:spcPts val="600"/>
              </a:spcAft>
            </a:pPr>
            <a:r>
              <a:rPr sz="2300" b="1" i="0">
                <a:solidFill>
                  <a:srgbClr val="0F4C5C"/>
                </a:solidFill>
                <a:latin typeface="Segoe UI Semibold"/>
              </a:rPr>
              <a:t>One story, start to finish.</a:t>
            </a:r>
          </a:p>
          <a:p>
            <a:pPr algn="l">
              <a:lnSpc>
                <a:spcPct val="114000"/>
              </a:lnSpc>
              <a:spcBef>
                <a:spcPts val="0"/>
              </a:spcBef>
              <a:spcAft>
                <a:spcPts val="1600"/>
              </a:spcAft>
            </a:pPr>
            <a:r>
              <a:rPr sz="1900" b="0" i="0">
                <a:solidFill>
                  <a:srgbClr val="212A33"/>
                </a:solidFill>
                <a:latin typeface="Segoe UI"/>
              </a:rPr>
              <a:t>A single recurring case study runs across the whole lecture, so research ethics and citation feel like a </a:t>
            </a:r>
            <a:r>
              <a:rPr sz="1900" b="1" i="1">
                <a:solidFill>
                  <a:srgbClr val="212A33"/>
                </a:solidFill>
                <a:latin typeface="Segoe UI"/>
              </a:rPr>
              <a:t>connected story</a:t>
            </a:r>
            <a:r>
              <a:rPr sz="1900" b="0" i="0">
                <a:solidFill>
                  <a:srgbClr val="212A33"/>
                </a:solidFill>
                <a:latin typeface="Segoe UI"/>
              </a:rPr>
              <a:t> — not a list of disconnected rules. Reusing it also lowers cognitive load: no new scenario to learn every few slides.</a:t>
            </a:r>
          </a:p>
          <a:p>
            <a:pPr algn="l">
              <a:lnSpc>
                <a:spcPct val="106000"/>
              </a:lnSpc>
              <a:spcBef>
                <a:spcPts val="0"/>
              </a:spcBef>
              <a:spcAft>
                <a:spcPts val="600"/>
              </a:spcAft>
            </a:pPr>
            <a:r>
              <a:rPr sz="2300" b="1" i="0">
                <a:solidFill>
                  <a:srgbClr val="0F4C5C"/>
                </a:solidFill>
                <a:latin typeface="Segoe UI Semibold"/>
              </a:rPr>
              <a:t>Sources.</a:t>
            </a:r>
          </a:p>
          <a:p>
            <a:pPr algn="l">
              <a:lnSpc>
                <a:spcPct val="114000"/>
              </a:lnSpc>
              <a:spcBef>
                <a:spcPts val="0"/>
              </a:spcBef>
              <a:spcAft>
                <a:spcPts val="0"/>
              </a:spcAft>
            </a:pPr>
            <a:r>
              <a:rPr sz="1900" b="0" i="0">
                <a:solidFill>
                  <a:srgbClr val="212A33"/>
                </a:solidFill>
                <a:latin typeface="Segoe UI"/>
              </a:rPr>
              <a:t>Textbook material is drawn from </a:t>
            </a:r>
            <a:r>
              <a:rPr sz="1900" b="0" i="1">
                <a:solidFill>
                  <a:srgbClr val="212A33"/>
                </a:solidFill>
                <a:latin typeface="Segoe UI"/>
              </a:rPr>
              <a:t>Creswell &amp; Creswell (2023), Research Design, Ch. 4</a:t>
            </a:r>
            <a:r>
              <a:rPr sz="1900" b="0" i="0">
                <a:solidFill>
                  <a:srgbClr val="212A33"/>
                </a:solidFill>
                <a:latin typeface="Segoe UI"/>
              </a:rPr>
              <a:t> — the “Ethical Issues” section and Table 4.1.</a:t>
            </a:r>
          </a:p>
        </p:txBody>
      </p:sp>
      <p:sp>
        <p:nvSpPr>
          <p:cNvPr id="11" name="Rounded Rectangle 10"/>
          <p:cNvSpPr/>
          <p:nvPr/>
        </p:nvSpPr>
        <p:spPr>
          <a:xfrm>
            <a:off x="6400800" y="1828800"/>
            <a:ext cx="5029200" cy="4160520"/>
          </a:xfrm>
          <a:prstGeom prst="roundRect">
            <a:avLst>
              <a:gd name="adj" fmla="val 30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 Same Side Corner Rectangle 11"/>
          <p:cNvSpPr/>
          <p:nvPr/>
        </p:nvSpPr>
        <p:spPr>
          <a:xfrm>
            <a:off x="6400800" y="1828800"/>
            <a:ext cx="5029200" cy="640080"/>
          </a:xfrm>
          <a:prstGeom prst="round2Same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56832" y="1874519"/>
            <a:ext cx="4572000" cy="56692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FFFFFF"/>
                </a:solidFill>
                <a:latin typeface="Segoe UI Semibold"/>
              </a:rPr>
              <a:t>RECURRING CASE STUDY</a:t>
            </a:r>
          </a:p>
        </p:txBody>
      </p:sp>
      <p:sp>
        <p:nvSpPr>
          <p:cNvPr id="14" name="TextBox 13"/>
          <p:cNvSpPr txBox="1"/>
          <p:nvPr/>
        </p:nvSpPr>
        <p:spPr>
          <a:xfrm>
            <a:off x="6675120" y="2633472"/>
            <a:ext cx="4526280" cy="3246120"/>
          </a:xfrm>
          <a:prstGeom prst="rect">
            <a:avLst/>
          </a:prstGeom>
          <a:noFill/>
        </p:spPr>
        <p:txBody>
          <a:bodyPr wrap="square" anchor="ctr" lIns="0" rIns="0" tIns="0" bIns="0">
            <a:spAutoFit/>
          </a:bodyPr>
          <a:lstStyle/>
          <a:p>
            <a:pPr algn="l">
              <a:lnSpc>
                <a:spcPct val="106000"/>
              </a:lnSpc>
              <a:spcBef>
                <a:spcPts val="0"/>
              </a:spcBef>
              <a:spcAft>
                <a:spcPts val="800"/>
              </a:spcAft>
            </a:pPr>
            <a:r>
              <a:rPr sz="2100" b="1" i="0">
                <a:solidFill>
                  <a:srgbClr val="0F4C5C"/>
                </a:solidFill>
                <a:latin typeface="Segoe UI Semibold"/>
              </a:rPr>
              <a:t>The Barangay Water Filter Project</a:t>
            </a:r>
          </a:p>
          <a:p>
            <a:pPr algn="l">
              <a:lnSpc>
                <a:spcPct val="116000"/>
              </a:lnSpc>
              <a:spcBef>
                <a:spcPts val="0"/>
              </a:spcBef>
              <a:spcAft>
                <a:spcPts val="0"/>
              </a:spcAft>
            </a:pPr>
            <a:r>
              <a:rPr sz="1650" b="0" i="0">
                <a:solidFill>
                  <a:srgbClr val="212A33"/>
                </a:solidFill>
                <a:latin typeface="Segoe UI"/>
              </a:rPr>
              <a:t>Grade 12 STEM researchers test whether a low-cost filter of coconut-husk charcoal, sand, and gravel can reduce bacterial contamination in a rural barangay's shared well. They sample household water before and after filtering, interview residents about water habits, and compare results to a filter design published earlier by another student researcher.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0F4C5C"/>
                </a:solidFill>
                <a:latin typeface="Segoe UI Semibold"/>
              </a:rPr>
              <a:t>FOUNDATIONS OF RESEARCH ETHICS</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A Filter, A Village, A Dilemma</a:t>
            </a:r>
          </a:p>
        </p:txBody>
      </p:sp>
      <p:sp>
        <p:nvSpPr>
          <p:cNvPr id="7" name="Rectangle 6"/>
          <p:cNvSpPr/>
          <p:nvPr/>
        </p:nvSpPr>
        <p:spPr>
          <a:xfrm>
            <a:off x="658368" y="1572768"/>
            <a:ext cx="1463040"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01</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Rounded Rectangle 9"/>
          <p:cNvSpPr/>
          <p:nvPr/>
        </p:nvSpPr>
        <p:spPr>
          <a:xfrm>
            <a:off x="640080" y="1783080"/>
            <a:ext cx="7818120" cy="4553712"/>
          </a:xfrm>
          <a:prstGeom prst="roundRect">
            <a:avLst>
              <a:gd name="adj" fmla="val 25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38528"/>
            <a:ext cx="7269480" cy="4315968"/>
          </a:xfrm>
          <a:prstGeom prst="rect">
            <a:avLst/>
          </a:prstGeom>
          <a:noFill/>
        </p:spPr>
        <p:txBody>
          <a:bodyPr wrap="square" anchor="ctr" lIns="0" rIns="0" tIns="0" bIns="0">
            <a:spAutoFit/>
          </a:bodyPr>
          <a:lstStyle/>
          <a:p>
            <a:pPr algn="l">
              <a:lnSpc>
                <a:spcPct val="108000"/>
              </a:lnSpc>
              <a:spcBef>
                <a:spcPts val="0"/>
              </a:spcBef>
              <a:spcAft>
                <a:spcPts val="800"/>
              </a:spcAft>
            </a:pPr>
            <a:r>
              <a:rPr sz="2100" b="0" i="0">
                <a:solidFill>
                  <a:srgbClr val="212A33"/>
                </a:solidFill>
                <a:latin typeface="Segoe UI"/>
              </a:rPr>
              <a:t>Grade 12 researchers want to test a homemade water filter in a rural barangay. Before they collect a single drop of water, they face questions no data can answer for them:</a:t>
            </a:r>
          </a:p>
          <a:p>
            <a:pPr algn="l">
              <a:lnSpc>
                <a:spcPct val="108000"/>
              </a:lnSpc>
              <a:spcBef>
                <a:spcPts val="0"/>
              </a:spcBef>
              <a:spcAft>
                <a:spcPts val="700"/>
              </a:spcAft>
            </a:pPr>
            <a:r>
              <a:rPr sz="2100" b="1">
                <a:solidFill>
                  <a:srgbClr val="2A9D8F"/>
                </a:solidFill>
                <a:latin typeface="Segoe UI Semibold"/>
              </a:rPr>
              <a:t>•  </a:t>
            </a:r>
            <a:r>
              <a:rPr sz="2100" b="0" i="0">
                <a:solidFill>
                  <a:srgbClr val="212A33"/>
                </a:solidFill>
                <a:latin typeface="Segoe UI"/>
              </a:rPr>
              <a:t>Who gets to decide if the community participates?</a:t>
            </a:r>
          </a:p>
          <a:p>
            <a:pPr algn="l">
              <a:lnSpc>
                <a:spcPct val="108000"/>
              </a:lnSpc>
              <a:spcBef>
                <a:spcPts val="0"/>
              </a:spcBef>
              <a:spcAft>
                <a:spcPts val="700"/>
              </a:spcAft>
            </a:pPr>
            <a:r>
              <a:rPr sz="2100" b="1">
                <a:solidFill>
                  <a:srgbClr val="2A9D8F"/>
                </a:solidFill>
                <a:latin typeface="Segoe UI Semibold"/>
              </a:rPr>
              <a:t>•  </a:t>
            </a:r>
            <a:r>
              <a:rPr sz="2100" b="0" i="0">
                <a:solidFill>
                  <a:srgbClr val="212A33"/>
                </a:solidFill>
                <a:latin typeface="Segoe UI"/>
              </a:rPr>
              <a:t>What happens if the filter </a:t>
            </a:r>
            <a:r>
              <a:rPr sz="2100" b="0" i="1">
                <a:solidFill>
                  <a:srgbClr val="212A33"/>
                </a:solidFill>
                <a:latin typeface="Segoe UI"/>
              </a:rPr>
              <a:t>doesn't</a:t>
            </a:r>
            <a:r>
              <a:rPr sz="2100" b="0" i="0">
                <a:solidFill>
                  <a:srgbClr val="212A33"/>
                </a:solidFill>
                <a:latin typeface="Segoe UI"/>
              </a:rPr>
              <a:t> work — do they still report that?</a:t>
            </a:r>
          </a:p>
          <a:p>
            <a:pPr algn="l">
              <a:lnSpc>
                <a:spcPct val="108000"/>
              </a:lnSpc>
              <a:spcBef>
                <a:spcPts val="0"/>
              </a:spcBef>
              <a:spcAft>
                <a:spcPts val="700"/>
              </a:spcAft>
            </a:pPr>
            <a:r>
              <a:rPr sz="2100" b="1">
                <a:solidFill>
                  <a:srgbClr val="2A9D8F"/>
                </a:solidFill>
                <a:latin typeface="Segoe UI Semibold"/>
              </a:rPr>
              <a:t>•  </a:t>
            </a:r>
            <a:r>
              <a:rPr sz="2100" b="0" i="0">
                <a:solidFill>
                  <a:srgbClr val="212A33"/>
                </a:solidFill>
                <a:latin typeface="Segoe UI"/>
              </a:rPr>
              <a:t>What if their filter design looks a lot like someone else's?</a:t>
            </a:r>
          </a:p>
          <a:p>
            <a:pPr algn="l">
              <a:lnSpc>
                <a:spcPct val="108000"/>
              </a:lnSpc>
              <a:spcBef>
                <a:spcPts val="600"/>
              </a:spcBef>
              <a:spcAft>
                <a:spcPts val="0"/>
              </a:spcAft>
            </a:pPr>
            <a:r>
              <a:rPr sz="2100" b="1" i="1">
                <a:solidFill>
                  <a:srgbClr val="0F4C5C"/>
                </a:solidFill>
                <a:latin typeface="Segoe UI"/>
              </a:rPr>
              <a:t>This is where research ethics begins — before the “research” even starts.</a:t>
            </a:r>
          </a:p>
        </p:txBody>
      </p:sp>
      <p:sp>
        <p:nvSpPr>
          <p:cNvPr id="12" name="Rounded Rectangle 11"/>
          <p:cNvSpPr/>
          <p:nvPr/>
        </p:nvSpPr>
        <p:spPr>
          <a:xfrm>
            <a:off x="8686800" y="1828800"/>
            <a:ext cx="2788920" cy="4480560"/>
          </a:xfrm>
          <a:prstGeom prst="roundRect">
            <a:avLst>
              <a:gd name="adj" fmla="val 3000"/>
            </a:avLst>
          </a:prstGeom>
          <a:solidFill>
            <a:srgbClr val="0F4C5C"/>
          </a:solidFill>
          <a:ln>
            <a:no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052560" y="4389120"/>
            <a:ext cx="960120" cy="1371600"/>
          </a:xfrm>
          <a:prstGeom prst="rect">
            <a:avLst/>
          </a:prstGeom>
          <a:solidFill>
            <a:srgbClr val="2A6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006840" y="4251960"/>
            <a:ext cx="1051560" cy="164592"/>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89720" y="4663440"/>
            <a:ext cx="685800" cy="10972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8869680" y="3703320"/>
            <a:ext cx="1325880" cy="566928"/>
          </a:xfrm>
          <a:prstGeom prst="triangl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469880" y="3657600"/>
            <a:ext cx="749808" cy="2103120"/>
          </a:xfrm>
          <a:prstGeom prst="roundRect">
            <a:avLst/>
          </a:prstGeom>
          <a:solidFill>
            <a:srgbClr val="EE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43032" y="3822191"/>
            <a:ext cx="603504" cy="566928"/>
          </a:xfrm>
          <a:prstGeom prst="rect">
            <a:avLst/>
          </a:prstGeom>
          <a:solidFill>
            <a:srgbClr val="21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543032" y="4434840"/>
            <a:ext cx="603504" cy="566928"/>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43032" y="5047488"/>
            <a:ext cx="603504" cy="566928"/>
          </a:xfrm>
          <a:prstGeom prst="rect">
            <a:avLst/>
          </a:prstGeom>
          <a:solidFill>
            <a:srgbClr val="8A9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87968" y="2103120"/>
            <a:ext cx="2395728" cy="1371600"/>
          </a:xfrm>
          <a:prstGeom prst="rect">
            <a:avLst/>
          </a:prstGeom>
          <a:noFill/>
        </p:spPr>
        <p:txBody>
          <a:bodyPr wrap="square" anchor="t" lIns="0" rIns="0" tIns="0" bIns="0">
            <a:spAutoFit/>
          </a:bodyPr>
          <a:lstStyle/>
          <a:p>
            <a:pPr algn="l">
              <a:lnSpc>
                <a:spcPct val="102000"/>
              </a:lnSpc>
              <a:spcBef>
                <a:spcPts val="0"/>
              </a:spcBef>
              <a:spcAft>
                <a:spcPts val="0"/>
              </a:spcAft>
            </a:pPr>
            <a:r>
              <a:rPr sz="1900" b="1" i="0">
                <a:solidFill>
                  <a:srgbClr val="FFFFFF"/>
                </a:solidFill>
                <a:latin typeface="Segoe UI Semibold"/>
              </a:rPr>
              <a:t>The well.</a:t>
            </a:r>
          </a:p>
          <a:p>
            <a:pPr algn="l">
              <a:lnSpc>
                <a:spcPct val="102000"/>
              </a:lnSpc>
              <a:spcBef>
                <a:spcPts val="0"/>
              </a:spcBef>
              <a:spcAft>
                <a:spcPts val="600"/>
              </a:spcAft>
            </a:pPr>
            <a:r>
              <a:rPr sz="1900" b="1" i="0">
                <a:solidFill>
                  <a:srgbClr val="FFFFFF"/>
                </a:solidFill>
                <a:latin typeface="Segoe UI Semibold"/>
              </a:rPr>
              <a:t>The filter.</a:t>
            </a:r>
          </a:p>
          <a:p>
            <a:pPr algn="l">
              <a:lnSpc>
                <a:spcPct val="105000"/>
              </a:lnSpc>
              <a:spcBef>
                <a:spcPts val="0"/>
              </a:spcBef>
              <a:spcAft>
                <a:spcPts val="0"/>
              </a:spcAft>
            </a:pPr>
            <a:r>
              <a:rPr sz="1400" b="0" i="1">
                <a:solidFill>
                  <a:srgbClr val="BFDDD8"/>
                </a:solidFill>
                <a:latin typeface="Segoe UI"/>
              </a:rPr>
              <a:t>A tangible object to picture all lecture long.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0F4C5C"/>
                </a:solidFill>
                <a:latin typeface="Segoe UI Semibold"/>
              </a:rPr>
              <a:t>FOUNDATIONS OF RESEARCH ETHICS</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Ethics Is Not One Checklist Item</a:t>
            </a:r>
          </a:p>
        </p:txBody>
      </p:sp>
      <p:sp>
        <p:nvSpPr>
          <p:cNvPr id="7" name="Rectangle 6"/>
          <p:cNvSpPr/>
          <p:nvPr/>
        </p:nvSpPr>
        <p:spPr>
          <a:xfrm>
            <a:off x="658368" y="1572768"/>
            <a:ext cx="1463040"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02</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TextBox 9"/>
          <p:cNvSpPr txBox="1"/>
          <p:nvPr/>
        </p:nvSpPr>
        <p:spPr>
          <a:xfrm>
            <a:off x="640080" y="1920240"/>
            <a:ext cx="10927080" cy="1783080"/>
          </a:xfrm>
          <a:prstGeom prst="rect">
            <a:avLst/>
          </a:prstGeom>
          <a:noFill/>
        </p:spPr>
        <p:txBody>
          <a:bodyPr wrap="square" anchor="t" lIns="0" rIns="0" tIns="0" bIns="0">
            <a:spAutoFit/>
          </a:bodyPr>
          <a:lstStyle/>
          <a:p>
            <a:pPr algn="l">
              <a:lnSpc>
                <a:spcPct val="108000"/>
              </a:lnSpc>
              <a:spcBef>
                <a:spcPts val="0"/>
              </a:spcBef>
              <a:spcAft>
                <a:spcPts val="1200"/>
              </a:spcAft>
            </a:pPr>
            <a:r>
              <a:rPr sz="2800" b="1">
                <a:solidFill>
                  <a:srgbClr val="C99A2E"/>
                </a:solidFill>
                <a:latin typeface="Segoe UI Semibold"/>
              </a:rPr>
              <a:t>•  </a:t>
            </a:r>
            <a:r>
              <a:rPr sz="2800" b="0" i="0">
                <a:solidFill>
                  <a:srgbClr val="212A33"/>
                </a:solidFill>
                <a:latin typeface="Segoe UI"/>
              </a:rPr>
              <a:t>Many students think “ethics” is something you check </a:t>
            </a:r>
            <a:r>
              <a:rPr sz="2800" b="0" i="1">
                <a:solidFill>
                  <a:srgbClr val="212A33"/>
                </a:solidFill>
                <a:latin typeface="Segoe UI"/>
              </a:rPr>
              <a:t>once</a:t>
            </a:r>
            <a:r>
              <a:rPr sz="2800" b="0" i="0">
                <a:solidFill>
                  <a:srgbClr val="212A33"/>
                </a:solidFill>
                <a:latin typeface="Segoe UI"/>
              </a:rPr>
              <a:t>, at the start of a study.</a:t>
            </a:r>
          </a:p>
          <a:p>
            <a:pPr algn="l">
              <a:lnSpc>
                <a:spcPct val="108000"/>
              </a:lnSpc>
              <a:spcBef>
                <a:spcPts val="0"/>
              </a:spcBef>
              <a:spcAft>
                <a:spcPts val="1200"/>
              </a:spcAft>
            </a:pPr>
            <a:r>
              <a:rPr sz="2800" b="1">
                <a:solidFill>
                  <a:srgbClr val="C99A2E"/>
                </a:solidFill>
                <a:latin typeface="Segoe UI Semibold"/>
              </a:rPr>
              <a:t>•  </a:t>
            </a:r>
            <a:r>
              <a:rPr sz="2800" b="0" i="0">
                <a:solidFill>
                  <a:srgbClr val="212A33"/>
                </a:solidFill>
                <a:latin typeface="Segoe UI"/>
              </a:rPr>
              <a:t>In reality, </a:t>
            </a:r>
            <a:r>
              <a:rPr sz="2800" b="1" i="0">
                <a:solidFill>
                  <a:srgbClr val="0F4C5C"/>
                </a:solidFill>
                <a:latin typeface="Segoe UI"/>
              </a:rPr>
              <a:t>research ethics</a:t>
            </a:r>
            <a:r>
              <a:rPr sz="2800" b="0" i="0">
                <a:solidFill>
                  <a:srgbClr val="212A33"/>
                </a:solidFill>
                <a:latin typeface="Segoe UI"/>
              </a:rPr>
              <a:t> applies </a:t>
            </a:r>
            <a:r>
              <a:rPr sz="2800" b="1" i="0">
                <a:solidFill>
                  <a:srgbClr val="212A33"/>
                </a:solidFill>
                <a:latin typeface="Segoe UI"/>
              </a:rPr>
              <a:t>continuously</a:t>
            </a:r>
            <a:r>
              <a:rPr sz="2800" b="0" i="0">
                <a:solidFill>
                  <a:srgbClr val="212A33"/>
                </a:solidFill>
                <a:latin typeface="Segoe UI"/>
              </a:rPr>
              <a:t> — at every stage of the research process.</a:t>
            </a:r>
          </a:p>
        </p:txBody>
      </p:sp>
      <p:sp>
        <p:nvSpPr>
          <p:cNvPr id="11" name="Pentagon 10"/>
          <p:cNvSpPr/>
          <p:nvPr/>
        </p:nvSpPr>
        <p:spPr>
          <a:xfrm>
            <a:off x="655167" y="3977639"/>
            <a:ext cx="2381097" cy="960120"/>
          </a:xfrm>
          <a:prstGeom prst="homePlate">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350" b="1">
                <a:solidFill>
                  <a:srgbClr val="5B6B73"/>
                </a:solidFill>
                <a:latin typeface="Segoe UI Semibold"/>
              </a:rPr>
              <a:t>Planning</a:t>
            </a:r>
          </a:p>
        </p:txBody>
      </p:sp>
      <p:sp>
        <p:nvSpPr>
          <p:cNvPr id="12" name="Chevron 11"/>
          <p:cNvSpPr/>
          <p:nvPr/>
        </p:nvSpPr>
        <p:spPr>
          <a:xfrm>
            <a:off x="2780233" y="3977639"/>
            <a:ext cx="2381097" cy="960120"/>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350" b="1">
                <a:solidFill>
                  <a:srgbClr val="5B6B73"/>
                </a:solidFill>
                <a:latin typeface="Segoe UI Semibold"/>
              </a:rPr>
              <a:t>Beginning</a:t>
            </a:r>
          </a:p>
          <a:p>
            <a:pPr algn="ctr">
              <a:lnSpc>
                <a:spcPct val="100000"/>
              </a:lnSpc>
              <a:spcAft>
                <a:spcPts val="0"/>
              </a:spcAft>
            </a:pPr>
            <a:r>
              <a:rPr sz="1350" b="1">
                <a:solidFill>
                  <a:srgbClr val="5B6B73"/>
                </a:solidFill>
                <a:latin typeface="Segoe UI Semibold"/>
              </a:rPr>
              <a:t>the Study</a:t>
            </a:r>
          </a:p>
        </p:txBody>
      </p:sp>
      <p:sp>
        <p:nvSpPr>
          <p:cNvPr id="13" name="Chevron 12"/>
          <p:cNvSpPr/>
          <p:nvPr/>
        </p:nvSpPr>
        <p:spPr>
          <a:xfrm>
            <a:off x="4905298" y="3977639"/>
            <a:ext cx="2381097" cy="960120"/>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350" b="1">
                <a:solidFill>
                  <a:srgbClr val="5B6B73"/>
                </a:solidFill>
                <a:latin typeface="Segoe UI Semibold"/>
              </a:rPr>
              <a:t>Collecting</a:t>
            </a:r>
          </a:p>
          <a:p>
            <a:pPr algn="ctr">
              <a:lnSpc>
                <a:spcPct val="100000"/>
              </a:lnSpc>
              <a:spcAft>
                <a:spcPts val="0"/>
              </a:spcAft>
            </a:pPr>
            <a:r>
              <a:rPr sz="1350" b="1">
                <a:solidFill>
                  <a:srgbClr val="5B6B73"/>
                </a:solidFill>
                <a:latin typeface="Segoe UI Semibold"/>
              </a:rPr>
              <a:t>Data</a:t>
            </a:r>
          </a:p>
        </p:txBody>
      </p:sp>
      <p:sp>
        <p:nvSpPr>
          <p:cNvPr id="14" name="Chevron 13"/>
          <p:cNvSpPr/>
          <p:nvPr/>
        </p:nvSpPr>
        <p:spPr>
          <a:xfrm>
            <a:off x="7030364" y="3977639"/>
            <a:ext cx="2381097" cy="960120"/>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350" b="1">
                <a:solidFill>
                  <a:srgbClr val="5B6B73"/>
                </a:solidFill>
                <a:latin typeface="Segoe UI Semibold"/>
              </a:rPr>
              <a:t>Analyzing</a:t>
            </a:r>
          </a:p>
          <a:p>
            <a:pPr algn="ctr">
              <a:lnSpc>
                <a:spcPct val="100000"/>
              </a:lnSpc>
              <a:spcAft>
                <a:spcPts val="0"/>
              </a:spcAft>
            </a:pPr>
            <a:r>
              <a:rPr sz="1350" b="1">
                <a:solidFill>
                  <a:srgbClr val="5B6B73"/>
                </a:solidFill>
                <a:latin typeface="Segoe UI Semibold"/>
              </a:rPr>
              <a:t>Data</a:t>
            </a:r>
          </a:p>
        </p:txBody>
      </p:sp>
      <p:sp>
        <p:nvSpPr>
          <p:cNvPr id="15" name="Chevron 14"/>
          <p:cNvSpPr/>
          <p:nvPr/>
        </p:nvSpPr>
        <p:spPr>
          <a:xfrm>
            <a:off x="9155430" y="3977639"/>
            <a:ext cx="2381097" cy="960120"/>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350" b="1">
                <a:solidFill>
                  <a:srgbClr val="5B6B73"/>
                </a:solidFill>
                <a:latin typeface="Segoe UI Semibold"/>
              </a:rPr>
              <a:t>Reporting</a:t>
            </a:r>
          </a:p>
          <a:p>
            <a:pPr algn="ctr">
              <a:lnSpc>
                <a:spcPct val="100000"/>
              </a:lnSpc>
              <a:spcAft>
                <a:spcPts val="0"/>
              </a:spcAft>
            </a:pPr>
            <a:r>
              <a:rPr sz="1350" b="1">
                <a:solidFill>
                  <a:srgbClr val="5B6B73"/>
                </a:solidFill>
                <a:latin typeface="Segoe UI Semibold"/>
              </a:rPr>
              <a:t>Results</a:t>
            </a:r>
          </a:p>
        </p:txBody>
      </p:sp>
      <p:sp>
        <p:nvSpPr>
          <p:cNvPr id="16" name="TextBox 15"/>
          <p:cNvSpPr txBox="1"/>
          <p:nvPr/>
        </p:nvSpPr>
        <p:spPr>
          <a:xfrm>
            <a:off x="640080" y="5257800"/>
            <a:ext cx="10881360" cy="640080"/>
          </a:xfrm>
          <a:prstGeom prst="rect">
            <a:avLst/>
          </a:prstGeom>
          <a:noFill/>
        </p:spPr>
        <p:txBody>
          <a:bodyPr wrap="square" anchor="t" lIns="0" rIns="0" tIns="0" bIns="0">
            <a:spAutoFit/>
          </a:bodyPr>
          <a:lstStyle/>
          <a:p>
            <a:pPr algn="ctr">
              <a:lnSpc>
                <a:spcPct val="106000"/>
              </a:lnSpc>
              <a:spcBef>
                <a:spcPts val="0"/>
              </a:spcBef>
              <a:spcAft>
                <a:spcPts val="0"/>
              </a:spcAft>
            </a:pPr>
            <a:r>
              <a:rPr sz="2200" b="1" i="1">
                <a:solidFill>
                  <a:srgbClr val="0F4C5C"/>
                </a:solidFill>
                <a:latin typeface="Segoe UI"/>
              </a:rPr>
              <a:t>Every one of these five stages has its own ethical questions.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0F4C5C"/>
                </a:solidFill>
                <a:latin typeface="Segoe UI Semibold"/>
              </a:rPr>
              <a:t>FOUNDATIONS OF RESEARCH ETHICS</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Defining Research Ethics</a:t>
            </a:r>
          </a:p>
        </p:txBody>
      </p:sp>
      <p:sp>
        <p:nvSpPr>
          <p:cNvPr id="7" name="Rectangle 6"/>
          <p:cNvSpPr/>
          <p:nvPr/>
        </p:nvSpPr>
        <p:spPr>
          <a:xfrm>
            <a:off x="658368" y="1572768"/>
            <a:ext cx="1463040"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03</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Rounded Rectangle 9"/>
          <p:cNvSpPr/>
          <p:nvPr/>
        </p:nvSpPr>
        <p:spPr>
          <a:xfrm>
            <a:off x="640080" y="1828800"/>
            <a:ext cx="10927080" cy="1481328"/>
          </a:xfrm>
          <a:prstGeom prst="roundRect">
            <a:avLst>
              <a:gd name="adj" fmla="val 5000"/>
            </a:avLst>
          </a:prstGeom>
          <a:solidFill>
            <a:srgbClr val="0F4C5C"/>
          </a:solidFill>
          <a:ln>
            <a:no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38528"/>
            <a:ext cx="10241280" cy="1261872"/>
          </a:xfrm>
          <a:prstGeom prst="rect">
            <a:avLst/>
          </a:prstGeom>
          <a:noFill/>
        </p:spPr>
        <p:txBody>
          <a:bodyPr wrap="square" anchor="ctr" lIns="0" rIns="0" tIns="0" bIns="0">
            <a:spAutoFit/>
          </a:bodyPr>
          <a:lstStyle/>
          <a:p>
            <a:pPr algn="l">
              <a:lnSpc>
                <a:spcPct val="108000"/>
              </a:lnSpc>
              <a:spcBef>
                <a:spcPts val="0"/>
              </a:spcBef>
              <a:spcAft>
                <a:spcPts val="0"/>
              </a:spcAft>
            </a:pPr>
            <a:r>
              <a:rPr sz="2800" b="1" i="0">
                <a:solidFill>
                  <a:srgbClr val="E9C46A"/>
                </a:solidFill>
                <a:latin typeface="Segoe UI Semibold"/>
              </a:rPr>
              <a:t>Research ethics</a:t>
            </a:r>
            <a:r>
              <a:rPr sz="2800" b="0" i="0">
                <a:solidFill>
                  <a:srgbClr val="FFFFFF"/>
                </a:solidFill>
                <a:latin typeface="Segoe UI"/>
              </a:rPr>
              <a:t>  —  the standards and principles that guide </a:t>
            </a:r>
            <a:r>
              <a:rPr sz="2800" b="1" i="1">
                <a:solidFill>
                  <a:srgbClr val="FFFFFF"/>
                </a:solidFill>
                <a:latin typeface="Segoe UI"/>
              </a:rPr>
              <a:t>responsible and trustworthy</a:t>
            </a:r>
            <a:r>
              <a:rPr sz="2800" b="0" i="0">
                <a:solidFill>
                  <a:srgbClr val="FFFFFF"/>
                </a:solidFill>
                <a:latin typeface="Segoe UI"/>
              </a:rPr>
              <a:t> conduct throughout a research study.</a:t>
            </a:r>
          </a:p>
        </p:txBody>
      </p:sp>
      <p:sp>
        <p:nvSpPr>
          <p:cNvPr id="12" name="TextBox 11"/>
          <p:cNvSpPr txBox="1"/>
          <p:nvPr/>
        </p:nvSpPr>
        <p:spPr>
          <a:xfrm>
            <a:off x="640080" y="3493008"/>
            <a:ext cx="10927080" cy="548640"/>
          </a:xfrm>
          <a:prstGeom prst="rect">
            <a:avLst/>
          </a:prstGeom>
          <a:noFill/>
        </p:spPr>
        <p:txBody>
          <a:bodyPr wrap="square" anchor="t" lIns="0" rIns="0" tIns="0" bIns="0">
            <a:spAutoFit/>
          </a:bodyPr>
          <a:lstStyle/>
          <a:p>
            <a:pPr algn="l">
              <a:lnSpc>
                <a:spcPct val="106000"/>
              </a:lnSpc>
              <a:spcBef>
                <a:spcPts val="0"/>
              </a:spcBef>
              <a:spcAft>
                <a:spcPts val="600"/>
              </a:spcAft>
            </a:pPr>
            <a:r>
              <a:rPr sz="2800" b="0" i="0">
                <a:solidFill>
                  <a:srgbClr val="212A33"/>
                </a:solidFill>
                <a:latin typeface="Segoe UI"/>
              </a:rPr>
              <a:t>Research ethics exists because research almost always involves:</a:t>
            </a:r>
          </a:p>
        </p:txBody>
      </p:sp>
      <p:sp>
        <p:nvSpPr>
          <p:cNvPr id="13" name="TextBox 12"/>
          <p:cNvSpPr txBox="1"/>
          <p:nvPr/>
        </p:nvSpPr>
        <p:spPr>
          <a:xfrm>
            <a:off x="914400" y="4114800"/>
            <a:ext cx="10515600" cy="1691640"/>
          </a:xfrm>
          <a:prstGeom prst="rect">
            <a:avLst/>
          </a:prstGeom>
          <a:noFill/>
        </p:spPr>
        <p:txBody>
          <a:bodyPr wrap="square" anchor="t" lIns="0" rIns="0" tIns="0" bIns="0">
            <a:spAutoFit/>
          </a:bodyPr>
          <a:lstStyle/>
          <a:p>
            <a:pPr algn="l">
              <a:lnSpc>
                <a:spcPct val="108000"/>
              </a:lnSpc>
              <a:spcBef>
                <a:spcPts val="0"/>
              </a:spcBef>
              <a:spcAft>
                <a:spcPts val="600"/>
              </a:spcAft>
            </a:pPr>
            <a:r>
              <a:rPr sz="2800" b="1">
                <a:solidFill>
                  <a:srgbClr val="2A9D8F"/>
                </a:solidFill>
                <a:latin typeface="Segoe UI Semibold"/>
              </a:rPr>
              <a:t>•  </a:t>
            </a:r>
            <a:r>
              <a:rPr sz="2800" b="0" i="0">
                <a:solidFill>
                  <a:srgbClr val="212A33"/>
                </a:solidFill>
                <a:latin typeface="Segoe UI"/>
              </a:rPr>
              <a:t>Collecting data </a:t>
            </a:r>
            <a:r>
              <a:rPr sz="2800" b="1" i="0">
                <a:solidFill>
                  <a:srgbClr val="212A33"/>
                </a:solidFill>
                <a:latin typeface="Segoe UI"/>
              </a:rPr>
              <a:t>from</a:t>
            </a:r>
            <a:r>
              <a:rPr sz="2800" b="0" i="0">
                <a:solidFill>
                  <a:srgbClr val="212A33"/>
                </a:solidFill>
                <a:latin typeface="Segoe UI"/>
              </a:rPr>
              <a:t> or </a:t>
            </a:r>
            <a:r>
              <a:rPr sz="2800" b="1" i="0">
                <a:solidFill>
                  <a:srgbClr val="212A33"/>
                </a:solidFill>
                <a:latin typeface="Segoe UI"/>
              </a:rPr>
              <a:t>about</a:t>
            </a:r>
            <a:r>
              <a:rPr sz="2800" b="0" i="0">
                <a:solidFill>
                  <a:srgbClr val="212A33"/>
                </a:solidFill>
                <a:latin typeface="Segoe UI"/>
              </a:rPr>
              <a:t> people</a:t>
            </a:r>
          </a:p>
          <a:p>
            <a:pPr algn="l">
              <a:lnSpc>
                <a:spcPct val="108000"/>
              </a:lnSpc>
              <a:spcBef>
                <a:spcPts val="0"/>
              </a:spcBef>
              <a:spcAft>
                <a:spcPts val="600"/>
              </a:spcAft>
            </a:pPr>
            <a:r>
              <a:rPr sz="2800" b="1">
                <a:solidFill>
                  <a:srgbClr val="2A9D8F"/>
                </a:solidFill>
                <a:latin typeface="Segoe UI Semibold"/>
              </a:rPr>
              <a:t>•  </a:t>
            </a:r>
            <a:r>
              <a:rPr sz="2800" b="0" i="0">
                <a:solidFill>
                  <a:srgbClr val="212A33"/>
                </a:solidFill>
                <a:latin typeface="Segoe UI"/>
              </a:rPr>
              <a:t>Working within real </a:t>
            </a:r>
            <a:r>
              <a:rPr sz="2800" b="1" i="0">
                <a:solidFill>
                  <a:srgbClr val="212A33"/>
                </a:solidFill>
                <a:latin typeface="Segoe UI"/>
              </a:rPr>
              <a:t>communities</a:t>
            </a:r>
            <a:r>
              <a:rPr sz="2800" b="0" i="0">
                <a:solidFill>
                  <a:srgbClr val="212A33"/>
                </a:solidFill>
                <a:latin typeface="Segoe UI"/>
              </a:rPr>
              <a:t> and </a:t>
            </a:r>
            <a:r>
              <a:rPr sz="2800" b="1" i="0">
                <a:solidFill>
                  <a:srgbClr val="212A33"/>
                </a:solidFill>
                <a:latin typeface="Segoe UI"/>
              </a:rPr>
              <a:t>environments</a:t>
            </a:r>
          </a:p>
          <a:p>
            <a:pPr algn="l">
              <a:lnSpc>
                <a:spcPct val="108000"/>
              </a:lnSpc>
              <a:spcBef>
                <a:spcPts val="0"/>
              </a:spcBef>
              <a:spcAft>
                <a:spcPts val="600"/>
              </a:spcAft>
            </a:pPr>
            <a:r>
              <a:rPr sz="2800" b="1">
                <a:solidFill>
                  <a:srgbClr val="2A9D8F"/>
                </a:solidFill>
                <a:latin typeface="Segoe UI Semibold"/>
              </a:rPr>
              <a:t>•  </a:t>
            </a:r>
            <a:r>
              <a:rPr sz="2800" b="0" i="0">
                <a:solidFill>
                  <a:srgbClr val="212A33"/>
                </a:solidFill>
                <a:latin typeface="Segoe UI"/>
              </a:rPr>
              <a:t>Producing findings that others will </a:t>
            </a:r>
            <a:r>
              <a:rPr sz="2800" b="1" i="0">
                <a:solidFill>
                  <a:srgbClr val="212A33"/>
                </a:solidFill>
                <a:latin typeface="Segoe UI"/>
              </a:rPr>
              <a:t>rely on</a:t>
            </a:r>
          </a:p>
        </p:txBody>
      </p:sp>
      <p:sp>
        <p:nvSpPr>
          <p:cNvPr id="14" name="TextBox 13"/>
          <p:cNvSpPr txBox="1"/>
          <p:nvPr/>
        </p:nvSpPr>
        <p:spPr>
          <a:xfrm>
            <a:off x="640080" y="5870448"/>
            <a:ext cx="10881360" cy="502920"/>
          </a:xfrm>
          <a:prstGeom prst="rect">
            <a:avLst/>
          </a:prstGeom>
          <a:noFill/>
        </p:spPr>
        <p:txBody>
          <a:bodyPr wrap="square" anchor="t" lIns="0" rIns="0" tIns="0" bIns="0">
            <a:spAutoFit/>
          </a:bodyPr>
          <a:lstStyle/>
          <a:p>
            <a:pPr algn="ctr">
              <a:lnSpc>
                <a:spcPct val="106000"/>
              </a:lnSpc>
              <a:spcBef>
                <a:spcPts val="0"/>
              </a:spcBef>
              <a:spcAft>
                <a:spcPts val="0"/>
              </a:spcAft>
            </a:pPr>
            <a:r>
              <a:rPr sz="2000" b="1" i="1">
                <a:solidFill>
                  <a:srgbClr val="0F4C5C"/>
                </a:solidFill>
                <a:latin typeface="Segoe UI"/>
              </a:rPr>
              <a:t>Where there are people and consequences, there are ethical responsibilities.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0F4C5C"/>
                </a:solidFill>
                <a:latin typeface="Segoe UI Semibold"/>
              </a:rPr>
              <a:t>FOUNDATIONS OF RESEARCH ETHICS</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Why Research Ethics Matters</a:t>
            </a:r>
          </a:p>
        </p:txBody>
      </p:sp>
      <p:sp>
        <p:nvSpPr>
          <p:cNvPr id="7" name="Rectangle 6"/>
          <p:cNvSpPr/>
          <p:nvPr/>
        </p:nvSpPr>
        <p:spPr>
          <a:xfrm>
            <a:off x="658368" y="1572768"/>
            <a:ext cx="1463040"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04</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TextBox 9"/>
          <p:cNvSpPr txBox="1"/>
          <p:nvPr/>
        </p:nvSpPr>
        <p:spPr>
          <a:xfrm>
            <a:off x="640080" y="1783080"/>
            <a:ext cx="10881360" cy="457200"/>
          </a:xfrm>
          <a:prstGeom prst="rect">
            <a:avLst/>
          </a:prstGeom>
          <a:noFill/>
        </p:spPr>
        <p:txBody>
          <a:bodyPr wrap="square" anchor="t" lIns="0" rIns="0" tIns="0" bIns="0">
            <a:spAutoFit/>
          </a:bodyPr>
          <a:lstStyle/>
          <a:p>
            <a:pPr algn="l">
              <a:lnSpc>
                <a:spcPct val="106000"/>
              </a:lnSpc>
              <a:spcBef>
                <a:spcPts val="0"/>
              </a:spcBef>
              <a:spcAft>
                <a:spcPts val="0"/>
              </a:spcAft>
            </a:pPr>
            <a:r>
              <a:rPr sz="2100" b="0" i="0">
                <a:solidFill>
                  <a:srgbClr val="5B6B73"/>
                </a:solidFill>
                <a:latin typeface="Segoe UI"/>
              </a:rPr>
              <a:t>Research ethics protects three things at once:</a:t>
            </a:r>
          </a:p>
        </p:txBody>
      </p:sp>
      <p:sp>
        <p:nvSpPr>
          <p:cNvPr id="11" name="Rounded Rectangle 10"/>
          <p:cNvSpPr/>
          <p:nvPr/>
        </p:nvSpPr>
        <p:spPr>
          <a:xfrm>
            <a:off x="640080" y="2468880"/>
            <a:ext cx="3429000" cy="3291840"/>
          </a:xfrm>
          <a:prstGeom prst="roundRect">
            <a:avLst>
              <a:gd name="adj" fmla="val 40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 Same Side Corner Rectangle 11"/>
          <p:cNvSpPr/>
          <p:nvPr/>
        </p:nvSpPr>
        <p:spPr>
          <a:xfrm>
            <a:off x="640080" y="2468880"/>
            <a:ext cx="3429000" cy="960120"/>
          </a:xfrm>
          <a:prstGeom prst="round2SameRect">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034540" y="3749039"/>
            <a:ext cx="640080" cy="640080"/>
          </a:xfrm>
          <a:prstGeom prst="ellipse">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34540" y="3749039"/>
            <a:ext cx="640080" cy="640080"/>
          </a:xfrm>
          <a:prstGeom prst="rect">
            <a:avLst/>
          </a:prstGeom>
          <a:noFill/>
        </p:spPr>
        <p:txBody>
          <a:bodyPr wrap="square" anchor="ctr" lIns="0" rIns="0" tIns="0" bIns="0">
            <a:spAutoFit/>
          </a:bodyPr>
          <a:lstStyle/>
          <a:p>
            <a:pPr algn="ctr">
              <a:lnSpc>
                <a:spcPct val="106000"/>
              </a:lnSpc>
              <a:spcBef>
                <a:spcPts val="0"/>
              </a:spcBef>
              <a:spcAft>
                <a:spcPts val="0"/>
              </a:spcAft>
            </a:pPr>
            <a:r>
              <a:rPr sz="2800" b="1" i="0">
                <a:solidFill>
                  <a:srgbClr val="FFFFFF"/>
                </a:solidFill>
                <a:latin typeface="Segoe UI Semibold"/>
              </a:rPr>
              <a:t>1</a:t>
            </a:r>
          </a:p>
        </p:txBody>
      </p:sp>
      <p:sp>
        <p:nvSpPr>
          <p:cNvPr id="15" name="TextBox 14"/>
          <p:cNvSpPr txBox="1"/>
          <p:nvPr/>
        </p:nvSpPr>
        <p:spPr>
          <a:xfrm>
            <a:off x="777240" y="2615184"/>
            <a:ext cx="3154680" cy="713232"/>
          </a:xfrm>
          <a:prstGeom prst="rect">
            <a:avLst/>
          </a:prstGeom>
          <a:noFill/>
        </p:spPr>
        <p:txBody>
          <a:bodyPr wrap="square" anchor="ctr" lIns="0" rIns="0" tIns="0" bIns="0">
            <a:spAutoFit/>
          </a:bodyPr>
          <a:lstStyle/>
          <a:p>
            <a:pPr algn="ctr">
              <a:lnSpc>
                <a:spcPct val="100000"/>
              </a:lnSpc>
              <a:spcBef>
                <a:spcPts val="0"/>
              </a:spcBef>
              <a:spcAft>
                <a:spcPts val="0"/>
              </a:spcAft>
            </a:pPr>
            <a:r>
              <a:rPr sz="1900" b="1" i="0">
                <a:solidFill>
                  <a:srgbClr val="FFFFFF"/>
                </a:solidFill>
                <a:latin typeface="Segoe UI Semibold"/>
              </a:rPr>
              <a:t>The Participants</a:t>
            </a:r>
          </a:p>
        </p:txBody>
      </p:sp>
      <p:sp>
        <p:nvSpPr>
          <p:cNvPr id="16" name="TextBox 15"/>
          <p:cNvSpPr txBox="1"/>
          <p:nvPr/>
        </p:nvSpPr>
        <p:spPr>
          <a:xfrm>
            <a:off x="877824" y="4480560"/>
            <a:ext cx="2953512" cy="1188720"/>
          </a:xfrm>
          <a:prstGeom prst="rect">
            <a:avLst/>
          </a:prstGeom>
          <a:noFill/>
        </p:spPr>
        <p:txBody>
          <a:bodyPr wrap="square" anchor="t" lIns="0" rIns="0" tIns="0" bIns="0">
            <a:spAutoFit/>
          </a:bodyPr>
          <a:lstStyle/>
          <a:p>
            <a:pPr algn="ctr">
              <a:lnSpc>
                <a:spcPct val="114000"/>
              </a:lnSpc>
              <a:spcBef>
                <a:spcPts val="0"/>
              </a:spcBef>
              <a:spcAft>
                <a:spcPts val="0"/>
              </a:spcAft>
            </a:pPr>
            <a:r>
              <a:rPr sz="1800" b="0" i="0">
                <a:solidFill>
                  <a:srgbClr val="212A33"/>
                </a:solidFill>
                <a:latin typeface="Segoe UI"/>
              </a:rPr>
              <a:t>Prevents harm, exploitation, and disrespect toward the people involved in a study</a:t>
            </a:r>
          </a:p>
        </p:txBody>
      </p:sp>
      <p:sp>
        <p:nvSpPr>
          <p:cNvPr id="17" name="Rounded Rectangle 16"/>
          <p:cNvSpPr/>
          <p:nvPr/>
        </p:nvSpPr>
        <p:spPr>
          <a:xfrm>
            <a:off x="4361688" y="2468880"/>
            <a:ext cx="3429000" cy="3291840"/>
          </a:xfrm>
          <a:prstGeom prst="roundRect">
            <a:avLst>
              <a:gd name="adj" fmla="val 40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 Same Side Corner Rectangle 17"/>
          <p:cNvSpPr/>
          <p:nvPr/>
        </p:nvSpPr>
        <p:spPr>
          <a:xfrm>
            <a:off x="4361688" y="2468880"/>
            <a:ext cx="3429000" cy="960120"/>
          </a:xfrm>
          <a:prstGeom prst="round2Same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56148" y="3749039"/>
            <a:ext cx="640080" cy="6400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56148" y="3749039"/>
            <a:ext cx="640080" cy="640080"/>
          </a:xfrm>
          <a:prstGeom prst="rect">
            <a:avLst/>
          </a:prstGeom>
          <a:noFill/>
        </p:spPr>
        <p:txBody>
          <a:bodyPr wrap="square" anchor="ctr" lIns="0" rIns="0" tIns="0" bIns="0">
            <a:spAutoFit/>
          </a:bodyPr>
          <a:lstStyle/>
          <a:p>
            <a:pPr algn="ctr">
              <a:lnSpc>
                <a:spcPct val="106000"/>
              </a:lnSpc>
              <a:spcBef>
                <a:spcPts val="0"/>
              </a:spcBef>
              <a:spcAft>
                <a:spcPts val="0"/>
              </a:spcAft>
            </a:pPr>
            <a:r>
              <a:rPr sz="2800" b="1" i="0">
                <a:solidFill>
                  <a:srgbClr val="FFFFFF"/>
                </a:solidFill>
                <a:latin typeface="Segoe UI Semibold"/>
              </a:rPr>
              <a:t>2</a:t>
            </a:r>
          </a:p>
        </p:txBody>
      </p:sp>
      <p:sp>
        <p:nvSpPr>
          <p:cNvPr id="21" name="TextBox 20"/>
          <p:cNvSpPr txBox="1"/>
          <p:nvPr/>
        </p:nvSpPr>
        <p:spPr>
          <a:xfrm>
            <a:off x="4498848" y="2615184"/>
            <a:ext cx="3154680" cy="713232"/>
          </a:xfrm>
          <a:prstGeom prst="rect">
            <a:avLst/>
          </a:prstGeom>
          <a:noFill/>
        </p:spPr>
        <p:txBody>
          <a:bodyPr wrap="square" anchor="ctr" lIns="0" rIns="0" tIns="0" bIns="0">
            <a:spAutoFit/>
          </a:bodyPr>
          <a:lstStyle/>
          <a:p>
            <a:pPr algn="ctr">
              <a:lnSpc>
                <a:spcPct val="100000"/>
              </a:lnSpc>
              <a:spcBef>
                <a:spcPts val="0"/>
              </a:spcBef>
              <a:spcAft>
                <a:spcPts val="0"/>
              </a:spcAft>
            </a:pPr>
            <a:r>
              <a:rPr sz="1900" b="1" i="0">
                <a:solidFill>
                  <a:srgbClr val="FFFFFF"/>
                </a:solidFill>
                <a:latin typeface="Segoe UI Semibold"/>
              </a:rPr>
              <a:t>The Findings</a:t>
            </a:r>
          </a:p>
        </p:txBody>
      </p:sp>
      <p:sp>
        <p:nvSpPr>
          <p:cNvPr id="22" name="TextBox 21"/>
          <p:cNvSpPr txBox="1"/>
          <p:nvPr/>
        </p:nvSpPr>
        <p:spPr>
          <a:xfrm>
            <a:off x="4599432" y="4480560"/>
            <a:ext cx="2953512" cy="1188720"/>
          </a:xfrm>
          <a:prstGeom prst="rect">
            <a:avLst/>
          </a:prstGeom>
          <a:noFill/>
        </p:spPr>
        <p:txBody>
          <a:bodyPr wrap="square" anchor="t" lIns="0" rIns="0" tIns="0" bIns="0">
            <a:spAutoFit/>
          </a:bodyPr>
          <a:lstStyle/>
          <a:p>
            <a:pPr algn="ctr">
              <a:lnSpc>
                <a:spcPct val="114000"/>
              </a:lnSpc>
              <a:spcBef>
                <a:spcPts val="0"/>
              </a:spcBef>
              <a:spcAft>
                <a:spcPts val="0"/>
              </a:spcAft>
            </a:pPr>
            <a:r>
              <a:rPr sz="1800" b="0" i="0">
                <a:solidFill>
                  <a:srgbClr val="212A33"/>
                </a:solidFill>
                <a:latin typeface="Segoe UI"/>
              </a:rPr>
              <a:t>Keeps results honest and trustworthy, not distorted by bias or dishonesty</a:t>
            </a:r>
          </a:p>
        </p:txBody>
      </p:sp>
      <p:sp>
        <p:nvSpPr>
          <p:cNvPr id="23" name="Rounded Rectangle 22"/>
          <p:cNvSpPr/>
          <p:nvPr/>
        </p:nvSpPr>
        <p:spPr>
          <a:xfrm>
            <a:off x="8083296" y="2468880"/>
            <a:ext cx="3429000" cy="3291840"/>
          </a:xfrm>
          <a:prstGeom prst="roundRect">
            <a:avLst>
              <a:gd name="adj" fmla="val 40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 Same Side Corner Rectangle 23"/>
          <p:cNvSpPr/>
          <p:nvPr/>
        </p:nvSpPr>
        <p:spPr>
          <a:xfrm>
            <a:off x="8083296" y="2468880"/>
            <a:ext cx="3429000" cy="960120"/>
          </a:xfrm>
          <a:prstGeom prst="round2Same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477756" y="3749039"/>
            <a:ext cx="640080" cy="64008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77756" y="3749039"/>
            <a:ext cx="640080" cy="640080"/>
          </a:xfrm>
          <a:prstGeom prst="rect">
            <a:avLst/>
          </a:prstGeom>
          <a:noFill/>
        </p:spPr>
        <p:txBody>
          <a:bodyPr wrap="square" anchor="ctr" lIns="0" rIns="0" tIns="0" bIns="0">
            <a:spAutoFit/>
          </a:bodyPr>
          <a:lstStyle/>
          <a:p>
            <a:pPr algn="ctr">
              <a:lnSpc>
                <a:spcPct val="106000"/>
              </a:lnSpc>
              <a:spcBef>
                <a:spcPts val="0"/>
              </a:spcBef>
              <a:spcAft>
                <a:spcPts val="0"/>
              </a:spcAft>
            </a:pPr>
            <a:r>
              <a:rPr sz="2800" b="1" i="0">
                <a:solidFill>
                  <a:srgbClr val="FFFFFF"/>
                </a:solidFill>
                <a:latin typeface="Segoe UI Semibold"/>
              </a:rPr>
              <a:t>3</a:t>
            </a:r>
          </a:p>
        </p:txBody>
      </p:sp>
      <p:sp>
        <p:nvSpPr>
          <p:cNvPr id="27" name="TextBox 26"/>
          <p:cNvSpPr txBox="1"/>
          <p:nvPr/>
        </p:nvSpPr>
        <p:spPr>
          <a:xfrm>
            <a:off x="8220456" y="2615184"/>
            <a:ext cx="3154680" cy="713232"/>
          </a:xfrm>
          <a:prstGeom prst="rect">
            <a:avLst/>
          </a:prstGeom>
          <a:noFill/>
        </p:spPr>
        <p:txBody>
          <a:bodyPr wrap="square" anchor="ctr" lIns="0" rIns="0" tIns="0" bIns="0">
            <a:spAutoFit/>
          </a:bodyPr>
          <a:lstStyle/>
          <a:p>
            <a:pPr algn="ctr">
              <a:lnSpc>
                <a:spcPct val="100000"/>
              </a:lnSpc>
              <a:spcBef>
                <a:spcPts val="0"/>
              </a:spcBef>
              <a:spcAft>
                <a:spcPts val="0"/>
              </a:spcAft>
            </a:pPr>
            <a:r>
              <a:rPr sz="1900" b="1" i="0">
                <a:solidFill>
                  <a:srgbClr val="FFFFFF"/>
                </a:solidFill>
                <a:latin typeface="Segoe UI Semibold"/>
              </a:rPr>
              <a:t>The Researcher's Credibility</a:t>
            </a:r>
          </a:p>
        </p:txBody>
      </p:sp>
      <p:sp>
        <p:nvSpPr>
          <p:cNvPr id="28" name="TextBox 27"/>
          <p:cNvSpPr txBox="1"/>
          <p:nvPr/>
        </p:nvSpPr>
        <p:spPr>
          <a:xfrm>
            <a:off x="8321040" y="4480560"/>
            <a:ext cx="2953512" cy="1188720"/>
          </a:xfrm>
          <a:prstGeom prst="rect">
            <a:avLst/>
          </a:prstGeom>
          <a:noFill/>
        </p:spPr>
        <p:txBody>
          <a:bodyPr wrap="square" anchor="t" lIns="0" rIns="0" tIns="0" bIns="0">
            <a:spAutoFit/>
          </a:bodyPr>
          <a:lstStyle/>
          <a:p>
            <a:pPr algn="ctr">
              <a:lnSpc>
                <a:spcPct val="114000"/>
              </a:lnSpc>
              <a:spcBef>
                <a:spcPts val="0"/>
              </a:spcBef>
              <a:spcAft>
                <a:spcPts val="0"/>
              </a:spcAft>
            </a:pPr>
            <a:r>
              <a:rPr sz="1800" b="0" i="0">
                <a:solidFill>
                  <a:srgbClr val="212A33"/>
                </a:solidFill>
                <a:latin typeface="Segoe UI"/>
              </a:rPr>
              <a:t>Protects the researcher's — and their institution's — reputation for integrity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0F4C5C"/>
                </a:solidFill>
                <a:latin typeface="Segoe UI Semibold"/>
              </a:rPr>
              <a:t>FOUNDATIONS OF RESEARCH ETHICS</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Who Could Be Affected?</a:t>
            </a:r>
          </a:p>
        </p:txBody>
      </p:sp>
      <p:sp>
        <p:nvSpPr>
          <p:cNvPr id="7" name="Rectangle 6"/>
          <p:cNvSpPr/>
          <p:nvPr/>
        </p:nvSpPr>
        <p:spPr>
          <a:xfrm>
            <a:off x="658368" y="1572768"/>
            <a:ext cx="1463040"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05</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Rounded Rectangle 9"/>
          <p:cNvSpPr/>
          <p:nvPr/>
        </p:nvSpPr>
        <p:spPr>
          <a:xfrm>
            <a:off x="640080" y="1737360"/>
            <a:ext cx="1463040" cy="42062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latin typeface="Segoe UI Semibold"/>
              </a:rPr>
              <a:t>APPLY IT</a:t>
            </a:r>
          </a:p>
        </p:txBody>
      </p:sp>
      <p:sp>
        <p:nvSpPr>
          <p:cNvPr id="11" name="TextBox 10"/>
          <p:cNvSpPr txBox="1"/>
          <p:nvPr/>
        </p:nvSpPr>
        <p:spPr>
          <a:xfrm>
            <a:off x="2331720" y="1737360"/>
            <a:ext cx="9144000" cy="457200"/>
          </a:xfrm>
          <a:prstGeom prst="rect">
            <a:avLst/>
          </a:prstGeom>
          <a:noFill/>
        </p:spPr>
        <p:txBody>
          <a:bodyPr wrap="square" anchor="ctr" lIns="0" rIns="0" tIns="0" bIns="0">
            <a:spAutoFit/>
          </a:bodyPr>
          <a:lstStyle/>
          <a:p>
            <a:pPr algn="l">
              <a:lnSpc>
                <a:spcPct val="106000"/>
              </a:lnSpc>
              <a:spcBef>
                <a:spcPts val="0"/>
              </a:spcBef>
              <a:spcAft>
                <a:spcPts val="0"/>
              </a:spcAft>
            </a:pPr>
            <a:r>
              <a:rPr sz="1900" b="1" i="0">
                <a:solidFill>
                  <a:srgbClr val="0F4C5C"/>
                </a:solidFill>
                <a:latin typeface="Segoe UI"/>
              </a:rPr>
              <a:t>Return to the Barangay Water Filter Project.</a:t>
            </a:r>
          </a:p>
        </p:txBody>
      </p:sp>
      <p:sp>
        <p:nvSpPr>
          <p:cNvPr id="12" name="TextBox 11"/>
          <p:cNvSpPr txBox="1"/>
          <p:nvPr/>
        </p:nvSpPr>
        <p:spPr>
          <a:xfrm>
            <a:off x="640080" y="2286000"/>
            <a:ext cx="10881360" cy="457200"/>
          </a:xfrm>
          <a:prstGeom prst="rect">
            <a:avLst/>
          </a:prstGeom>
          <a:noFill/>
        </p:spPr>
        <p:txBody>
          <a:bodyPr wrap="square" anchor="t" lIns="0" rIns="0" tIns="0" bIns="0">
            <a:spAutoFit/>
          </a:bodyPr>
          <a:lstStyle/>
          <a:p>
            <a:pPr algn="l">
              <a:lnSpc>
                <a:spcPct val="106000"/>
              </a:lnSpc>
              <a:spcBef>
                <a:spcPts val="0"/>
              </a:spcBef>
              <a:spcAft>
                <a:spcPts val="0"/>
              </a:spcAft>
            </a:pPr>
            <a:r>
              <a:rPr sz="1900" b="0" i="0">
                <a:solidFill>
                  <a:srgbClr val="5B6B73"/>
                </a:solidFill>
                <a:latin typeface="Segoe UI"/>
              </a:rPr>
              <a:t>For each group below, identify </a:t>
            </a:r>
            <a:r>
              <a:rPr sz="1900" b="1" i="0">
                <a:solidFill>
                  <a:srgbClr val="5B6B73"/>
                </a:solidFill>
                <a:latin typeface="Segoe UI"/>
              </a:rPr>
              <a:t>one specific way</a:t>
            </a:r>
            <a:r>
              <a:rPr sz="1900" b="0" i="0">
                <a:solidFill>
                  <a:srgbClr val="5B6B73"/>
                </a:solidFill>
                <a:latin typeface="Segoe UI"/>
              </a:rPr>
              <a:t> research ethics protects them:</a:t>
            </a:r>
          </a:p>
        </p:txBody>
      </p:sp>
      <p:sp>
        <p:nvSpPr>
          <p:cNvPr id="13" name="Rounded Rectangle 12"/>
          <p:cNvSpPr/>
          <p:nvPr/>
        </p:nvSpPr>
        <p:spPr>
          <a:xfrm>
            <a:off x="640080" y="3017520"/>
            <a:ext cx="5257800" cy="987552"/>
          </a:xfrm>
          <a:prstGeom prst="roundRect">
            <a:avLst>
              <a:gd name="adj" fmla="val 12000"/>
            </a:avLst>
          </a:prstGeom>
          <a:solidFill>
            <a:srgbClr val="FFFFFF"/>
          </a:solidFill>
          <a:ln w="12700">
            <a:solidFill>
              <a:srgbClr val="E3ECEF"/>
            </a:solid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3236976"/>
            <a:ext cx="548640" cy="54864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236976"/>
            <a:ext cx="548640" cy="548640"/>
          </a:xfrm>
          <a:prstGeom prst="rect">
            <a:avLst/>
          </a:prstGeom>
          <a:noFill/>
        </p:spPr>
        <p:txBody>
          <a:bodyPr wrap="square" anchor="ctr" lIns="0" rIns="0" tIns="0" bIns="0">
            <a:spAutoFit/>
          </a:bodyPr>
          <a:lstStyle/>
          <a:p>
            <a:pPr algn="ctr">
              <a:lnSpc>
                <a:spcPct val="106000"/>
              </a:lnSpc>
              <a:spcBef>
                <a:spcPts val="0"/>
              </a:spcBef>
              <a:spcAft>
                <a:spcPts val="0"/>
              </a:spcAft>
            </a:pPr>
            <a:r>
              <a:rPr sz="2800" b="1" i="0">
                <a:solidFill>
                  <a:srgbClr val="FFFFFF"/>
                </a:solidFill>
                <a:latin typeface="Segoe UI Semibold"/>
              </a:rPr>
              <a:t>1</a:t>
            </a:r>
          </a:p>
        </p:txBody>
      </p:sp>
      <p:sp>
        <p:nvSpPr>
          <p:cNvPr id="16" name="TextBox 15"/>
          <p:cNvSpPr txBox="1"/>
          <p:nvPr/>
        </p:nvSpPr>
        <p:spPr>
          <a:xfrm>
            <a:off x="1600200" y="3017520"/>
            <a:ext cx="4069080" cy="987552"/>
          </a:xfrm>
          <a:prstGeom prst="rect">
            <a:avLst/>
          </a:prstGeom>
          <a:noFill/>
        </p:spPr>
        <p:txBody>
          <a:bodyPr wrap="square" anchor="ctr" lIns="0" rIns="0" tIns="0" bIns="0">
            <a:spAutoFit/>
          </a:bodyPr>
          <a:lstStyle/>
          <a:p>
            <a:pPr algn="l">
              <a:lnSpc>
                <a:spcPct val="106000"/>
              </a:lnSpc>
              <a:spcBef>
                <a:spcPts val="0"/>
              </a:spcBef>
              <a:spcAft>
                <a:spcPts val="0"/>
              </a:spcAft>
            </a:pPr>
            <a:r>
              <a:rPr sz="2100" b="0" i="0">
                <a:solidFill>
                  <a:srgbClr val="212A33"/>
                </a:solidFill>
                <a:latin typeface="Segoe UI"/>
              </a:rPr>
              <a:t>The households whose water is being tested</a:t>
            </a:r>
          </a:p>
        </p:txBody>
      </p:sp>
      <p:sp>
        <p:nvSpPr>
          <p:cNvPr id="17" name="Rounded Rectangle 16"/>
          <p:cNvSpPr/>
          <p:nvPr/>
        </p:nvSpPr>
        <p:spPr>
          <a:xfrm>
            <a:off x="6217920" y="3017520"/>
            <a:ext cx="5257800" cy="987552"/>
          </a:xfrm>
          <a:prstGeom prst="roundRect">
            <a:avLst>
              <a:gd name="adj" fmla="val 12000"/>
            </a:avLst>
          </a:prstGeom>
          <a:solidFill>
            <a:srgbClr val="FFFFFF"/>
          </a:solidFill>
          <a:ln w="12700">
            <a:solidFill>
              <a:srgbClr val="E3ECEF"/>
            </a:solid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00800" y="3236976"/>
            <a:ext cx="548640" cy="54864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236976"/>
            <a:ext cx="548640" cy="548640"/>
          </a:xfrm>
          <a:prstGeom prst="rect">
            <a:avLst/>
          </a:prstGeom>
          <a:noFill/>
        </p:spPr>
        <p:txBody>
          <a:bodyPr wrap="square" anchor="ctr" lIns="0" rIns="0" tIns="0" bIns="0">
            <a:spAutoFit/>
          </a:bodyPr>
          <a:lstStyle/>
          <a:p>
            <a:pPr algn="ctr">
              <a:lnSpc>
                <a:spcPct val="106000"/>
              </a:lnSpc>
              <a:spcBef>
                <a:spcPts val="0"/>
              </a:spcBef>
              <a:spcAft>
                <a:spcPts val="0"/>
              </a:spcAft>
            </a:pPr>
            <a:r>
              <a:rPr sz="2800" b="1" i="0">
                <a:solidFill>
                  <a:srgbClr val="FFFFFF"/>
                </a:solidFill>
                <a:latin typeface="Segoe UI Semibold"/>
              </a:rPr>
              <a:t>2</a:t>
            </a:r>
          </a:p>
        </p:txBody>
      </p:sp>
      <p:sp>
        <p:nvSpPr>
          <p:cNvPr id="20" name="TextBox 19"/>
          <p:cNvSpPr txBox="1"/>
          <p:nvPr/>
        </p:nvSpPr>
        <p:spPr>
          <a:xfrm>
            <a:off x="7178040" y="3017520"/>
            <a:ext cx="4069080" cy="987552"/>
          </a:xfrm>
          <a:prstGeom prst="rect">
            <a:avLst/>
          </a:prstGeom>
          <a:noFill/>
        </p:spPr>
        <p:txBody>
          <a:bodyPr wrap="square" anchor="ctr" lIns="0" rIns="0" tIns="0" bIns="0">
            <a:spAutoFit/>
          </a:bodyPr>
          <a:lstStyle/>
          <a:p>
            <a:pPr algn="l">
              <a:lnSpc>
                <a:spcPct val="106000"/>
              </a:lnSpc>
              <a:spcBef>
                <a:spcPts val="0"/>
              </a:spcBef>
              <a:spcAft>
                <a:spcPts val="0"/>
              </a:spcAft>
            </a:pPr>
            <a:r>
              <a:rPr sz="2100" b="0" i="0">
                <a:solidFill>
                  <a:srgbClr val="212A33"/>
                </a:solidFill>
                <a:latin typeface="Segoe UI"/>
              </a:rPr>
              <a:t>The barangay as a whole community</a:t>
            </a:r>
          </a:p>
        </p:txBody>
      </p:sp>
      <p:sp>
        <p:nvSpPr>
          <p:cNvPr id="21" name="Rounded Rectangle 20"/>
          <p:cNvSpPr/>
          <p:nvPr/>
        </p:nvSpPr>
        <p:spPr>
          <a:xfrm>
            <a:off x="640080" y="4297680"/>
            <a:ext cx="5257800" cy="987552"/>
          </a:xfrm>
          <a:prstGeom prst="roundRect">
            <a:avLst>
              <a:gd name="adj" fmla="val 12000"/>
            </a:avLst>
          </a:prstGeom>
          <a:solidFill>
            <a:srgbClr val="FFFFFF"/>
          </a:solidFill>
          <a:ln w="12700">
            <a:solidFill>
              <a:srgbClr val="E3ECEF"/>
            </a:solid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2959" y="4517136"/>
            <a:ext cx="548640" cy="54864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4517136"/>
            <a:ext cx="548640" cy="548640"/>
          </a:xfrm>
          <a:prstGeom prst="rect">
            <a:avLst/>
          </a:prstGeom>
          <a:noFill/>
        </p:spPr>
        <p:txBody>
          <a:bodyPr wrap="square" anchor="ctr" lIns="0" rIns="0" tIns="0" bIns="0">
            <a:spAutoFit/>
          </a:bodyPr>
          <a:lstStyle/>
          <a:p>
            <a:pPr algn="ctr">
              <a:lnSpc>
                <a:spcPct val="106000"/>
              </a:lnSpc>
              <a:spcBef>
                <a:spcPts val="0"/>
              </a:spcBef>
              <a:spcAft>
                <a:spcPts val="0"/>
              </a:spcAft>
            </a:pPr>
            <a:r>
              <a:rPr sz="2800" b="1" i="0">
                <a:solidFill>
                  <a:srgbClr val="FFFFFF"/>
                </a:solidFill>
                <a:latin typeface="Segoe UI Semibold"/>
              </a:rPr>
              <a:t>3</a:t>
            </a:r>
          </a:p>
        </p:txBody>
      </p:sp>
      <p:sp>
        <p:nvSpPr>
          <p:cNvPr id="24" name="TextBox 23"/>
          <p:cNvSpPr txBox="1"/>
          <p:nvPr/>
        </p:nvSpPr>
        <p:spPr>
          <a:xfrm>
            <a:off x="1600200" y="4297680"/>
            <a:ext cx="4069080" cy="987552"/>
          </a:xfrm>
          <a:prstGeom prst="rect">
            <a:avLst/>
          </a:prstGeom>
          <a:noFill/>
        </p:spPr>
        <p:txBody>
          <a:bodyPr wrap="square" anchor="ctr" lIns="0" rIns="0" tIns="0" bIns="0">
            <a:spAutoFit/>
          </a:bodyPr>
          <a:lstStyle/>
          <a:p>
            <a:pPr algn="l">
              <a:lnSpc>
                <a:spcPct val="106000"/>
              </a:lnSpc>
              <a:spcBef>
                <a:spcPts val="0"/>
              </a:spcBef>
              <a:spcAft>
                <a:spcPts val="0"/>
              </a:spcAft>
            </a:pPr>
            <a:r>
              <a:rPr sz="2100" b="0" i="0">
                <a:solidFill>
                  <a:srgbClr val="212A33"/>
                </a:solidFill>
                <a:latin typeface="Segoe UI"/>
              </a:rPr>
              <a:t>The original designer of the earlier filter</a:t>
            </a:r>
          </a:p>
        </p:txBody>
      </p:sp>
      <p:sp>
        <p:nvSpPr>
          <p:cNvPr id="25" name="Rounded Rectangle 24"/>
          <p:cNvSpPr/>
          <p:nvPr/>
        </p:nvSpPr>
        <p:spPr>
          <a:xfrm>
            <a:off x="6217920" y="4297680"/>
            <a:ext cx="5257800" cy="987552"/>
          </a:xfrm>
          <a:prstGeom prst="roundRect">
            <a:avLst>
              <a:gd name="adj" fmla="val 12000"/>
            </a:avLst>
          </a:prstGeom>
          <a:solidFill>
            <a:srgbClr val="FFFFFF"/>
          </a:solidFill>
          <a:ln w="12700">
            <a:solidFill>
              <a:srgbClr val="E3ECEF"/>
            </a:solid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0800" y="4517136"/>
            <a:ext cx="548640" cy="54864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4517136"/>
            <a:ext cx="548640" cy="548640"/>
          </a:xfrm>
          <a:prstGeom prst="rect">
            <a:avLst/>
          </a:prstGeom>
          <a:noFill/>
        </p:spPr>
        <p:txBody>
          <a:bodyPr wrap="square" anchor="ctr" lIns="0" rIns="0" tIns="0" bIns="0">
            <a:spAutoFit/>
          </a:bodyPr>
          <a:lstStyle/>
          <a:p>
            <a:pPr algn="ctr">
              <a:lnSpc>
                <a:spcPct val="106000"/>
              </a:lnSpc>
              <a:spcBef>
                <a:spcPts val="0"/>
              </a:spcBef>
              <a:spcAft>
                <a:spcPts val="0"/>
              </a:spcAft>
            </a:pPr>
            <a:r>
              <a:rPr sz="2800" b="1" i="0">
                <a:solidFill>
                  <a:srgbClr val="FFFFFF"/>
                </a:solidFill>
                <a:latin typeface="Segoe UI Semibold"/>
              </a:rPr>
              <a:t>4</a:t>
            </a:r>
          </a:p>
        </p:txBody>
      </p:sp>
      <p:sp>
        <p:nvSpPr>
          <p:cNvPr id="28" name="TextBox 27"/>
          <p:cNvSpPr txBox="1"/>
          <p:nvPr/>
        </p:nvSpPr>
        <p:spPr>
          <a:xfrm>
            <a:off x="7178040" y="4297680"/>
            <a:ext cx="4069080" cy="987552"/>
          </a:xfrm>
          <a:prstGeom prst="rect">
            <a:avLst/>
          </a:prstGeom>
          <a:noFill/>
        </p:spPr>
        <p:txBody>
          <a:bodyPr wrap="square" anchor="ctr" lIns="0" rIns="0" tIns="0" bIns="0">
            <a:spAutoFit/>
          </a:bodyPr>
          <a:lstStyle/>
          <a:p>
            <a:pPr algn="l">
              <a:lnSpc>
                <a:spcPct val="106000"/>
              </a:lnSpc>
              <a:spcBef>
                <a:spcPts val="0"/>
              </a:spcBef>
              <a:spcAft>
                <a:spcPts val="0"/>
              </a:spcAft>
            </a:pPr>
            <a:r>
              <a:rPr sz="2100" b="0" i="0">
                <a:solidFill>
                  <a:srgbClr val="212A33"/>
                </a:solidFill>
                <a:latin typeface="Segoe UI"/>
              </a:rPr>
              <a:t>Future readers who might rely on this research</a:t>
            </a:r>
          </a:p>
        </p:txBody>
      </p:sp>
      <p:sp>
        <p:nvSpPr>
          <p:cNvPr id="29" name="TextBox 28"/>
          <p:cNvSpPr txBox="1"/>
          <p:nvPr/>
        </p:nvSpPr>
        <p:spPr>
          <a:xfrm>
            <a:off x="640080" y="5852160"/>
            <a:ext cx="10881360" cy="457200"/>
          </a:xfrm>
          <a:prstGeom prst="rect">
            <a:avLst/>
          </a:prstGeom>
          <a:noFill/>
        </p:spPr>
        <p:txBody>
          <a:bodyPr wrap="square" anchor="t" lIns="0" rIns="0" tIns="0" bIns="0">
            <a:spAutoFit/>
          </a:bodyPr>
          <a:lstStyle/>
          <a:p>
            <a:pPr algn="ctr">
              <a:lnSpc>
                <a:spcPct val="106000"/>
              </a:lnSpc>
              <a:spcBef>
                <a:spcPts val="0"/>
              </a:spcBef>
              <a:spcAft>
                <a:spcPts val="0"/>
              </a:spcAft>
            </a:pPr>
            <a:r>
              <a:rPr sz="1900" b="0" i="1">
                <a:solidFill>
                  <a:srgbClr val="5B6B73"/>
                </a:solidFill>
                <a:latin typeface="Segoe UI"/>
              </a:rPr>
              <a:t>Discuss in pairs, then share with the class.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2A9D8F"/>
                </a:solidFill>
                <a:latin typeface="Segoe UI Semibold"/>
              </a:rPr>
              <a:t>THE FOUR CORE STANDARDS</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Four Core Ethical Standards</a:t>
            </a:r>
          </a:p>
        </p:txBody>
      </p:sp>
      <p:sp>
        <p:nvSpPr>
          <p:cNvPr id="7" name="Rectangle 6"/>
          <p:cNvSpPr/>
          <p:nvPr/>
        </p:nvSpPr>
        <p:spPr>
          <a:xfrm>
            <a:off x="658368" y="1572768"/>
            <a:ext cx="14630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06</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Rounded Rectangle 9"/>
          <p:cNvSpPr/>
          <p:nvPr/>
        </p:nvSpPr>
        <p:spPr>
          <a:xfrm>
            <a:off x="640080" y="1901952"/>
            <a:ext cx="5285232" cy="2084831"/>
          </a:xfrm>
          <a:prstGeom prst="roundRect">
            <a:avLst>
              <a:gd name="adj" fmla="val 50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640080" y="1901952"/>
            <a:ext cx="146304" cy="2084831"/>
          </a:xfrm>
          <a:prstGeom prst="round2Same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7" y="2084832"/>
            <a:ext cx="4663440" cy="1755648"/>
          </a:xfrm>
          <a:prstGeom prst="rect">
            <a:avLst/>
          </a:prstGeom>
          <a:noFill/>
        </p:spPr>
        <p:txBody>
          <a:bodyPr wrap="square" anchor="ctr" lIns="0" rIns="0" tIns="0" bIns="0">
            <a:spAutoFit/>
          </a:bodyPr>
          <a:lstStyle/>
          <a:p>
            <a:pPr algn="l">
              <a:lnSpc>
                <a:spcPct val="106000"/>
              </a:lnSpc>
              <a:spcBef>
                <a:spcPts val="0"/>
              </a:spcBef>
              <a:spcAft>
                <a:spcPts val="600"/>
              </a:spcAft>
            </a:pPr>
            <a:r>
              <a:rPr sz="2500" b="1" i="0">
                <a:solidFill>
                  <a:srgbClr val="2A9D8F"/>
                </a:solidFill>
                <a:latin typeface="Segoe UI Semibold"/>
              </a:rPr>
              <a:t>Honesty &amp; Integrity</a:t>
            </a:r>
          </a:p>
          <a:p>
            <a:pPr algn="l">
              <a:lnSpc>
                <a:spcPct val="110000"/>
              </a:lnSpc>
              <a:spcBef>
                <a:spcPts val="0"/>
              </a:spcBef>
              <a:spcAft>
                <a:spcPts val="0"/>
              </a:spcAft>
            </a:pPr>
            <a:r>
              <a:rPr sz="2000" b="0" i="0">
                <a:solidFill>
                  <a:srgbClr val="212A33"/>
                </a:solidFill>
                <a:latin typeface="Segoe UI"/>
              </a:rPr>
              <a:t>Reporting data and findings truthfully, without fabrication</a:t>
            </a:r>
          </a:p>
        </p:txBody>
      </p:sp>
      <p:sp>
        <p:nvSpPr>
          <p:cNvPr id="13" name="Rounded Rectangle 12"/>
          <p:cNvSpPr/>
          <p:nvPr/>
        </p:nvSpPr>
        <p:spPr>
          <a:xfrm>
            <a:off x="6217920" y="1901952"/>
            <a:ext cx="5285232" cy="2084831"/>
          </a:xfrm>
          <a:prstGeom prst="roundRect">
            <a:avLst>
              <a:gd name="adj" fmla="val 50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 Same Side Corner Rectangle 13"/>
          <p:cNvSpPr/>
          <p:nvPr/>
        </p:nvSpPr>
        <p:spPr>
          <a:xfrm>
            <a:off x="6217920" y="1901952"/>
            <a:ext cx="146304" cy="2084831"/>
          </a:xfrm>
          <a:prstGeom prst="round2SameRect">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1968" y="2084832"/>
            <a:ext cx="4663440" cy="1755648"/>
          </a:xfrm>
          <a:prstGeom prst="rect">
            <a:avLst/>
          </a:prstGeom>
          <a:noFill/>
        </p:spPr>
        <p:txBody>
          <a:bodyPr wrap="square" anchor="ctr" lIns="0" rIns="0" tIns="0" bIns="0">
            <a:spAutoFit/>
          </a:bodyPr>
          <a:lstStyle/>
          <a:p>
            <a:pPr algn="l">
              <a:lnSpc>
                <a:spcPct val="106000"/>
              </a:lnSpc>
              <a:spcBef>
                <a:spcPts val="0"/>
              </a:spcBef>
              <a:spcAft>
                <a:spcPts val="600"/>
              </a:spcAft>
            </a:pPr>
            <a:r>
              <a:rPr sz="2500" b="1" i="0">
                <a:solidFill>
                  <a:srgbClr val="3A7CA5"/>
                </a:solidFill>
                <a:latin typeface="Segoe UI Semibold"/>
              </a:rPr>
              <a:t>Respect for Participants</a:t>
            </a:r>
          </a:p>
          <a:p>
            <a:pPr algn="l">
              <a:lnSpc>
                <a:spcPct val="110000"/>
              </a:lnSpc>
              <a:spcBef>
                <a:spcPts val="0"/>
              </a:spcBef>
              <a:spcAft>
                <a:spcPts val="0"/>
              </a:spcAft>
            </a:pPr>
            <a:r>
              <a:rPr sz="2000" b="0" i="0">
                <a:solidFill>
                  <a:srgbClr val="212A33"/>
                </a:solidFill>
                <a:latin typeface="Segoe UI"/>
              </a:rPr>
              <a:t>Informing people they are part of a study and getting their agreement to participate</a:t>
            </a:r>
          </a:p>
        </p:txBody>
      </p:sp>
      <p:sp>
        <p:nvSpPr>
          <p:cNvPr id="16" name="Rounded Rectangle 15"/>
          <p:cNvSpPr/>
          <p:nvPr/>
        </p:nvSpPr>
        <p:spPr>
          <a:xfrm>
            <a:off x="640080" y="4206240"/>
            <a:ext cx="5285232" cy="2084831"/>
          </a:xfrm>
          <a:prstGeom prst="roundRect">
            <a:avLst>
              <a:gd name="adj" fmla="val 50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 Same Side Corner Rectangle 16"/>
          <p:cNvSpPr/>
          <p:nvPr/>
        </p:nvSpPr>
        <p:spPr>
          <a:xfrm>
            <a:off x="640080" y="4206240"/>
            <a:ext cx="146304" cy="2084831"/>
          </a:xfrm>
          <a:prstGeom prst="round2Same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7" y="4389120"/>
            <a:ext cx="4663440" cy="1755648"/>
          </a:xfrm>
          <a:prstGeom prst="rect">
            <a:avLst/>
          </a:prstGeom>
          <a:noFill/>
        </p:spPr>
        <p:txBody>
          <a:bodyPr wrap="square" anchor="ctr" lIns="0" rIns="0" tIns="0" bIns="0">
            <a:spAutoFit/>
          </a:bodyPr>
          <a:lstStyle/>
          <a:p>
            <a:pPr algn="l">
              <a:lnSpc>
                <a:spcPct val="106000"/>
              </a:lnSpc>
              <a:spcBef>
                <a:spcPts val="0"/>
              </a:spcBef>
              <a:spcAft>
                <a:spcPts val="600"/>
              </a:spcAft>
            </a:pPr>
            <a:r>
              <a:rPr sz="2500" b="1" i="0">
                <a:solidFill>
                  <a:srgbClr val="6A4C93"/>
                </a:solidFill>
                <a:latin typeface="Segoe UI Semibold"/>
              </a:rPr>
              <a:t>Confidentiality &amp; Privacy</a:t>
            </a:r>
          </a:p>
          <a:p>
            <a:pPr algn="l">
              <a:lnSpc>
                <a:spcPct val="110000"/>
              </a:lnSpc>
              <a:spcBef>
                <a:spcPts val="0"/>
              </a:spcBef>
              <a:spcAft>
                <a:spcPts val="0"/>
              </a:spcAft>
            </a:pPr>
            <a:r>
              <a:rPr sz="2000" b="0" i="0">
                <a:solidFill>
                  <a:srgbClr val="212A33"/>
                </a:solidFill>
                <a:latin typeface="Segoe UI"/>
              </a:rPr>
              <a:t>Protecting the identity and personal information of participants</a:t>
            </a:r>
          </a:p>
        </p:txBody>
      </p:sp>
      <p:sp>
        <p:nvSpPr>
          <p:cNvPr id="19" name="Rounded Rectangle 18"/>
          <p:cNvSpPr/>
          <p:nvPr/>
        </p:nvSpPr>
        <p:spPr>
          <a:xfrm>
            <a:off x="6217920" y="4206240"/>
            <a:ext cx="5285232" cy="2084831"/>
          </a:xfrm>
          <a:prstGeom prst="roundRect">
            <a:avLst>
              <a:gd name="adj" fmla="val 50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 Same Side Corner Rectangle 19"/>
          <p:cNvSpPr/>
          <p:nvPr/>
        </p:nvSpPr>
        <p:spPr>
          <a:xfrm>
            <a:off x="6217920" y="4206240"/>
            <a:ext cx="146304" cy="2084831"/>
          </a:xfrm>
          <a:prstGeom prst="round2Same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01968" y="4389120"/>
            <a:ext cx="4663440" cy="1755648"/>
          </a:xfrm>
          <a:prstGeom prst="rect">
            <a:avLst/>
          </a:prstGeom>
          <a:noFill/>
        </p:spPr>
        <p:txBody>
          <a:bodyPr wrap="square" anchor="ctr" lIns="0" rIns="0" tIns="0" bIns="0">
            <a:spAutoFit/>
          </a:bodyPr>
          <a:lstStyle/>
          <a:p>
            <a:pPr algn="l">
              <a:lnSpc>
                <a:spcPct val="106000"/>
              </a:lnSpc>
              <a:spcBef>
                <a:spcPts val="0"/>
              </a:spcBef>
              <a:spcAft>
                <a:spcPts val="600"/>
              </a:spcAft>
            </a:pPr>
            <a:r>
              <a:rPr sz="2500" b="1" i="0">
                <a:solidFill>
                  <a:srgbClr val="E76F51"/>
                </a:solidFill>
                <a:latin typeface="Segoe UI Semibold"/>
              </a:rPr>
              <a:t>Avoiding Harm</a:t>
            </a:r>
          </a:p>
          <a:p>
            <a:pPr algn="l">
              <a:lnSpc>
                <a:spcPct val="110000"/>
              </a:lnSpc>
              <a:spcBef>
                <a:spcPts val="0"/>
              </a:spcBef>
              <a:spcAft>
                <a:spcPts val="0"/>
              </a:spcAft>
            </a:pPr>
            <a:r>
              <a:rPr sz="2000" b="0" i="0">
                <a:solidFill>
                  <a:srgbClr val="212A33"/>
                </a:solidFill>
                <a:latin typeface="Segoe UI"/>
              </a:rPr>
              <a:t>Preventing physical, social, or emotional harm to people, communities, and the environment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2A9D8F"/>
                </a:solidFill>
                <a:latin typeface="Segoe UI Semibold"/>
              </a:rPr>
              <a:t>THE FOUR CORE STANDARDS</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Honesty and Integrity in Reporting</a:t>
            </a:r>
          </a:p>
        </p:txBody>
      </p:sp>
      <p:sp>
        <p:nvSpPr>
          <p:cNvPr id="7" name="Rectangle 6"/>
          <p:cNvSpPr/>
          <p:nvPr/>
        </p:nvSpPr>
        <p:spPr>
          <a:xfrm>
            <a:off x="658368" y="1572768"/>
            <a:ext cx="14630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07</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TextBox 9"/>
          <p:cNvSpPr txBox="1"/>
          <p:nvPr/>
        </p:nvSpPr>
        <p:spPr>
          <a:xfrm>
            <a:off x="640080" y="1874519"/>
            <a:ext cx="10927080" cy="1371600"/>
          </a:xfrm>
          <a:prstGeom prst="rect">
            <a:avLst/>
          </a:prstGeom>
          <a:noFill/>
        </p:spPr>
        <p:txBody>
          <a:bodyPr wrap="square" anchor="t" lIns="0" rIns="0" tIns="0" bIns="0">
            <a:spAutoFit/>
          </a:bodyPr>
          <a:lstStyle/>
          <a:p>
            <a:pPr algn="l">
              <a:lnSpc>
                <a:spcPct val="108000"/>
              </a:lnSpc>
              <a:spcBef>
                <a:spcPts val="0"/>
              </a:spcBef>
              <a:spcAft>
                <a:spcPts val="0"/>
              </a:spcAft>
            </a:pPr>
            <a:r>
              <a:rPr sz="2600" b="1" i="0">
                <a:solidFill>
                  <a:srgbClr val="2A9D8F"/>
                </a:solidFill>
                <a:latin typeface="Segoe UI"/>
              </a:rPr>
              <a:t>Honesty and integrity</a:t>
            </a:r>
            <a:r>
              <a:rPr sz="2600" b="0" i="0">
                <a:solidFill>
                  <a:srgbClr val="212A33"/>
                </a:solidFill>
                <a:latin typeface="Segoe UI"/>
              </a:rPr>
              <a:t> mean reporting exactly what the data shows — never inventing, altering, or selectively hiding results. This includes:</a:t>
            </a:r>
          </a:p>
        </p:txBody>
      </p:sp>
      <p:sp>
        <p:nvSpPr>
          <p:cNvPr id="11" name="TextBox 10"/>
          <p:cNvSpPr txBox="1"/>
          <p:nvPr/>
        </p:nvSpPr>
        <p:spPr>
          <a:xfrm>
            <a:off x="868680" y="3291839"/>
            <a:ext cx="10561320" cy="1545336"/>
          </a:xfrm>
          <a:prstGeom prst="rect">
            <a:avLst/>
          </a:prstGeom>
          <a:noFill/>
        </p:spPr>
        <p:txBody>
          <a:bodyPr wrap="square" anchor="t" lIns="0" rIns="0" tIns="0" bIns="0">
            <a:spAutoFit/>
          </a:bodyPr>
          <a:lstStyle/>
          <a:p>
            <a:pPr algn="l">
              <a:lnSpc>
                <a:spcPct val="108000"/>
              </a:lnSpc>
              <a:spcBef>
                <a:spcPts val="0"/>
              </a:spcBef>
              <a:spcAft>
                <a:spcPts val="800"/>
              </a:spcAft>
            </a:pPr>
            <a:r>
              <a:rPr sz="2400" b="1">
                <a:solidFill>
                  <a:srgbClr val="2A9D8F"/>
                </a:solidFill>
                <a:latin typeface="Segoe UI Semibold"/>
              </a:rPr>
              <a:t>•  </a:t>
            </a:r>
            <a:r>
              <a:rPr sz="2400" b="0" i="0">
                <a:solidFill>
                  <a:srgbClr val="212A33"/>
                </a:solidFill>
                <a:latin typeface="Segoe UI"/>
              </a:rPr>
              <a:t>Never </a:t>
            </a:r>
            <a:r>
              <a:rPr sz="2400" b="1" i="0">
                <a:solidFill>
                  <a:srgbClr val="212A33"/>
                </a:solidFill>
                <a:latin typeface="Segoe UI"/>
              </a:rPr>
              <a:t>falsifying</a:t>
            </a:r>
            <a:r>
              <a:rPr sz="2400" b="0" i="0">
                <a:solidFill>
                  <a:srgbClr val="212A33"/>
                </a:solidFill>
                <a:latin typeface="Segoe UI"/>
              </a:rPr>
              <a:t> data, findings, or conclusions </a:t>
            </a:r>
            <a:r>
              <a:rPr sz="2400" b="0" i="1">
                <a:solidFill>
                  <a:srgbClr val="5B6B73"/>
                </a:solidFill>
                <a:latin typeface="Segoe UI"/>
              </a:rPr>
              <a:t>(Creswell &amp; Creswell, 2023)</a:t>
            </a:r>
          </a:p>
          <a:p>
            <a:pPr algn="l">
              <a:lnSpc>
                <a:spcPct val="108000"/>
              </a:lnSpc>
              <a:spcBef>
                <a:spcPts val="0"/>
              </a:spcBef>
              <a:spcAft>
                <a:spcPts val="800"/>
              </a:spcAft>
            </a:pPr>
            <a:r>
              <a:rPr sz="2400" b="1">
                <a:solidFill>
                  <a:srgbClr val="2A9D8F"/>
                </a:solidFill>
                <a:latin typeface="Segoe UI Semibold"/>
              </a:rPr>
              <a:t>•  </a:t>
            </a:r>
            <a:r>
              <a:rPr sz="2400" b="0" i="0">
                <a:solidFill>
                  <a:srgbClr val="212A33"/>
                </a:solidFill>
                <a:latin typeface="Segoe UI"/>
              </a:rPr>
              <a:t>Reporting results </a:t>
            </a:r>
            <a:r>
              <a:rPr sz="2400" b="0" i="1">
                <a:solidFill>
                  <a:srgbClr val="212A33"/>
                </a:solidFill>
                <a:latin typeface="Segoe UI"/>
              </a:rPr>
              <a:t>honestly</a:t>
            </a:r>
            <a:r>
              <a:rPr sz="2400" b="0" i="0">
                <a:solidFill>
                  <a:srgbClr val="212A33"/>
                </a:solidFill>
                <a:latin typeface="Segoe UI"/>
              </a:rPr>
              <a:t>, even when they're disappointing or unexpected</a:t>
            </a:r>
          </a:p>
        </p:txBody>
      </p:sp>
      <p:sp>
        <p:nvSpPr>
          <p:cNvPr id="12" name="Rounded Rectangle 11"/>
          <p:cNvSpPr/>
          <p:nvPr/>
        </p:nvSpPr>
        <p:spPr>
          <a:xfrm>
            <a:off x="640080" y="4910328"/>
            <a:ext cx="10927080" cy="1417320"/>
          </a:xfrm>
          <a:prstGeom prst="roundRect">
            <a:avLst>
              <a:gd name="adj" fmla="val 4000"/>
            </a:avLst>
          </a:prstGeom>
          <a:solidFill>
            <a:srgbClr val="FFFFFF"/>
          </a:solidFill>
          <a:ln w="12700">
            <a:solidFill>
              <a:srgbClr val="E3ECEF"/>
            </a:solidFill>
          </a:ln>
          <a:effectLst>
            <a:outerShdw blurRad="64008" dist="36576" dir="5400000" rotWithShape="0">
              <a:srgbClr val="1F2A33">
                <a:alpha val="6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 Same Side Corner Rectangle 12"/>
          <p:cNvSpPr/>
          <p:nvPr/>
        </p:nvSpPr>
        <p:spPr>
          <a:xfrm>
            <a:off x="640080" y="4910328"/>
            <a:ext cx="109728" cy="1417320"/>
          </a:xfrm>
          <a:prstGeom prst="round2Same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5038344"/>
            <a:ext cx="10424159" cy="1179576"/>
          </a:xfrm>
          <a:prstGeom prst="rect">
            <a:avLst/>
          </a:prstGeom>
          <a:noFill/>
        </p:spPr>
        <p:txBody>
          <a:bodyPr wrap="square" anchor="ctr" lIns="0" rIns="0" tIns="0" bIns="0">
            <a:spAutoFit/>
          </a:bodyPr>
          <a:lstStyle/>
          <a:p>
            <a:pPr algn="l">
              <a:lnSpc>
                <a:spcPct val="106000"/>
              </a:lnSpc>
              <a:spcBef>
                <a:spcPts val="0"/>
              </a:spcBef>
              <a:spcAft>
                <a:spcPts val="300"/>
              </a:spcAft>
            </a:pPr>
            <a:r>
              <a:rPr sz="1500" b="1" i="0">
                <a:solidFill>
                  <a:srgbClr val="2A9D8F"/>
                </a:solidFill>
                <a:latin typeface="Segoe UI Semibold"/>
              </a:rPr>
              <a:t>EXAMPLE:  </a:t>
            </a:r>
          </a:p>
          <a:p>
            <a:pPr algn="l">
              <a:lnSpc>
                <a:spcPct val="106000"/>
              </a:lnSpc>
              <a:spcBef>
                <a:spcPts val="0"/>
              </a:spcBef>
              <a:spcAft>
                <a:spcPts val="200"/>
              </a:spcAft>
            </a:pPr>
            <a:r>
              <a:rPr sz="2200" b="0" i="0">
                <a:solidFill>
                  <a:srgbClr val="212A33"/>
                </a:solidFill>
                <a:latin typeface="Segoe UI"/>
              </a:rPr>
              <a:t>If the water filter only reduces bacteria by 40% instead of the hoped-for 90%, the honest researcher reports 40% — not a rounded-up, more impressive number.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2A9D8F"/>
                </a:solidFill>
                <a:latin typeface="Segoe UI Semibold"/>
              </a:rPr>
              <a:t>THE FOUR CORE STANDARDS</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Respecting Participants and Consent</a:t>
            </a:r>
          </a:p>
        </p:txBody>
      </p:sp>
      <p:sp>
        <p:nvSpPr>
          <p:cNvPr id="7" name="Rectangle 6"/>
          <p:cNvSpPr/>
          <p:nvPr/>
        </p:nvSpPr>
        <p:spPr>
          <a:xfrm>
            <a:off x="658368" y="1572768"/>
            <a:ext cx="14630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08</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TextBox 9"/>
          <p:cNvSpPr txBox="1"/>
          <p:nvPr/>
        </p:nvSpPr>
        <p:spPr>
          <a:xfrm>
            <a:off x="640080" y="1874519"/>
            <a:ext cx="10927080" cy="731520"/>
          </a:xfrm>
          <a:prstGeom prst="rect">
            <a:avLst/>
          </a:prstGeom>
          <a:noFill/>
        </p:spPr>
        <p:txBody>
          <a:bodyPr wrap="square" anchor="t" lIns="0" rIns="0" tIns="0" bIns="0">
            <a:spAutoFit/>
          </a:bodyPr>
          <a:lstStyle/>
          <a:p>
            <a:pPr algn="l">
              <a:lnSpc>
                <a:spcPct val="108000"/>
              </a:lnSpc>
              <a:spcBef>
                <a:spcPts val="0"/>
              </a:spcBef>
              <a:spcAft>
                <a:spcPts val="0"/>
              </a:spcAft>
            </a:pPr>
            <a:r>
              <a:rPr sz="2800" b="1" i="0">
                <a:solidFill>
                  <a:srgbClr val="3A7CA5"/>
                </a:solidFill>
                <a:latin typeface="Segoe UI"/>
              </a:rPr>
              <a:t>Respect for participants</a:t>
            </a:r>
            <a:r>
              <a:rPr sz="2800" b="0" i="0">
                <a:solidFill>
                  <a:srgbClr val="212A33"/>
                </a:solidFill>
                <a:latin typeface="Segoe UI"/>
              </a:rPr>
              <a:t> means people must:</a:t>
            </a:r>
          </a:p>
        </p:txBody>
      </p:sp>
      <p:sp>
        <p:nvSpPr>
          <p:cNvPr id="11" name="TextBox 10"/>
          <p:cNvSpPr txBox="1"/>
          <p:nvPr/>
        </p:nvSpPr>
        <p:spPr>
          <a:xfrm>
            <a:off x="868680" y="2651759"/>
            <a:ext cx="10561320" cy="2139696"/>
          </a:xfrm>
          <a:prstGeom prst="rect">
            <a:avLst/>
          </a:prstGeom>
          <a:noFill/>
        </p:spPr>
        <p:txBody>
          <a:bodyPr wrap="square" anchor="t" lIns="0" rIns="0" tIns="0" bIns="0">
            <a:spAutoFit/>
          </a:bodyPr>
          <a:lstStyle/>
          <a:p>
            <a:pPr algn="l">
              <a:lnSpc>
                <a:spcPct val="108000"/>
              </a:lnSpc>
              <a:spcBef>
                <a:spcPts val="0"/>
              </a:spcBef>
              <a:spcAft>
                <a:spcPts val="800"/>
              </a:spcAft>
            </a:pPr>
            <a:r>
              <a:rPr sz="2800" b="1">
                <a:solidFill>
                  <a:srgbClr val="2A9D8F"/>
                </a:solidFill>
                <a:latin typeface="Segoe UI Semibold"/>
              </a:rPr>
              <a:t>•  </a:t>
            </a:r>
            <a:r>
              <a:rPr sz="2800" b="0" i="0">
                <a:solidFill>
                  <a:srgbClr val="212A33"/>
                </a:solidFill>
                <a:latin typeface="Segoe UI"/>
              </a:rPr>
              <a:t>Know they are part of a study (its purpose is </a:t>
            </a:r>
            <a:r>
              <a:rPr sz="2800" b="0" i="1">
                <a:solidFill>
                  <a:srgbClr val="212A33"/>
                </a:solidFill>
                <a:latin typeface="Segoe UI"/>
              </a:rPr>
              <a:t>disclosed</a:t>
            </a:r>
            <a:r>
              <a:rPr sz="2800" b="0" i="0">
                <a:solidFill>
                  <a:srgbClr val="212A33"/>
                </a:solidFill>
                <a:latin typeface="Segoe UI"/>
              </a:rPr>
              <a:t>, not hidden)</a:t>
            </a:r>
          </a:p>
          <a:p>
            <a:pPr algn="l">
              <a:lnSpc>
                <a:spcPct val="108000"/>
              </a:lnSpc>
              <a:spcBef>
                <a:spcPts val="0"/>
              </a:spcBef>
              <a:spcAft>
                <a:spcPts val="800"/>
              </a:spcAft>
            </a:pPr>
            <a:r>
              <a:rPr sz="2800" b="1">
                <a:solidFill>
                  <a:srgbClr val="2A9D8F"/>
                </a:solidFill>
                <a:latin typeface="Segoe UI Semibold"/>
              </a:rPr>
              <a:t>•  </a:t>
            </a:r>
            <a:r>
              <a:rPr sz="2800" b="1" i="0">
                <a:solidFill>
                  <a:srgbClr val="212A33"/>
                </a:solidFill>
                <a:latin typeface="Segoe UI"/>
              </a:rPr>
              <a:t>Voluntarily</a:t>
            </a:r>
            <a:r>
              <a:rPr sz="2800" b="0" i="0">
                <a:solidFill>
                  <a:srgbClr val="212A33"/>
                </a:solidFill>
                <a:latin typeface="Segoe UI"/>
              </a:rPr>
              <a:t> agree to take part — never pressured or misled</a:t>
            </a:r>
          </a:p>
        </p:txBody>
      </p:sp>
      <p:sp>
        <p:nvSpPr>
          <p:cNvPr id="12" name="Rounded Rectangle 11"/>
          <p:cNvSpPr/>
          <p:nvPr/>
        </p:nvSpPr>
        <p:spPr>
          <a:xfrm>
            <a:off x="640080" y="4864608"/>
            <a:ext cx="10927080" cy="1463040"/>
          </a:xfrm>
          <a:prstGeom prst="roundRect">
            <a:avLst>
              <a:gd name="adj" fmla="val 4000"/>
            </a:avLst>
          </a:prstGeom>
          <a:solidFill>
            <a:srgbClr val="FFFFFF"/>
          </a:solidFill>
          <a:ln w="12700">
            <a:solidFill>
              <a:srgbClr val="E3ECEF"/>
            </a:solidFill>
          </a:ln>
          <a:effectLst>
            <a:outerShdw blurRad="64008" dist="36576" dir="5400000" rotWithShape="0">
              <a:srgbClr val="1F2A33">
                <a:alpha val="6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 Same Side Corner Rectangle 12"/>
          <p:cNvSpPr/>
          <p:nvPr/>
        </p:nvSpPr>
        <p:spPr>
          <a:xfrm>
            <a:off x="640080" y="4864608"/>
            <a:ext cx="109728" cy="1463040"/>
          </a:xfrm>
          <a:prstGeom prst="round2Same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992624"/>
            <a:ext cx="10424159" cy="1225296"/>
          </a:xfrm>
          <a:prstGeom prst="rect">
            <a:avLst/>
          </a:prstGeom>
          <a:noFill/>
        </p:spPr>
        <p:txBody>
          <a:bodyPr wrap="square" anchor="ctr" lIns="0" rIns="0" tIns="0" bIns="0">
            <a:spAutoFit/>
          </a:bodyPr>
          <a:lstStyle/>
          <a:p>
            <a:pPr algn="l">
              <a:lnSpc>
                <a:spcPct val="106000"/>
              </a:lnSpc>
              <a:spcBef>
                <a:spcPts val="0"/>
              </a:spcBef>
              <a:spcAft>
                <a:spcPts val="300"/>
              </a:spcAft>
            </a:pPr>
            <a:r>
              <a:rPr sz="1500" b="1" i="0">
                <a:solidFill>
                  <a:srgbClr val="2A9D8F"/>
                </a:solidFill>
                <a:latin typeface="Segoe UI Semibold"/>
              </a:rPr>
              <a:t>EXAMPLE:  </a:t>
            </a:r>
          </a:p>
          <a:p>
            <a:pPr algn="l">
              <a:lnSpc>
                <a:spcPct val="106000"/>
              </a:lnSpc>
              <a:spcBef>
                <a:spcPts val="0"/>
              </a:spcBef>
              <a:spcAft>
                <a:spcPts val="200"/>
              </a:spcAft>
            </a:pPr>
            <a:r>
              <a:rPr sz="2200" b="0" i="0">
                <a:solidFill>
                  <a:srgbClr val="212A33"/>
                </a:solidFill>
                <a:latin typeface="Segoe UI"/>
              </a:rPr>
              <a:t>Before collecting a single water sample, the researchers explain to each household what the study is for, what will be done with their water, and confirm the household agrees to participate.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2A9D8F"/>
                </a:solidFill>
                <a:latin typeface="Segoe UI Semibold"/>
              </a:rPr>
              <a:t>THE FOUR CORE STANDARDS</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Confidentiality and Privacy</a:t>
            </a:r>
          </a:p>
        </p:txBody>
      </p:sp>
      <p:sp>
        <p:nvSpPr>
          <p:cNvPr id="7" name="Rectangle 6"/>
          <p:cNvSpPr/>
          <p:nvPr/>
        </p:nvSpPr>
        <p:spPr>
          <a:xfrm>
            <a:off x="658368" y="1572768"/>
            <a:ext cx="14630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09</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TextBox 9"/>
          <p:cNvSpPr txBox="1"/>
          <p:nvPr/>
        </p:nvSpPr>
        <p:spPr>
          <a:xfrm>
            <a:off x="640080" y="1874519"/>
            <a:ext cx="10927080" cy="1371600"/>
          </a:xfrm>
          <a:prstGeom prst="rect">
            <a:avLst/>
          </a:prstGeom>
          <a:noFill/>
        </p:spPr>
        <p:txBody>
          <a:bodyPr wrap="square" anchor="t" lIns="0" rIns="0" tIns="0" bIns="0">
            <a:spAutoFit/>
          </a:bodyPr>
          <a:lstStyle/>
          <a:p>
            <a:pPr algn="l">
              <a:lnSpc>
                <a:spcPct val="108000"/>
              </a:lnSpc>
              <a:spcBef>
                <a:spcPts val="0"/>
              </a:spcBef>
              <a:spcAft>
                <a:spcPts val="0"/>
              </a:spcAft>
            </a:pPr>
            <a:r>
              <a:rPr sz="2600" b="1" i="0">
                <a:solidFill>
                  <a:srgbClr val="6A4C93"/>
                </a:solidFill>
                <a:latin typeface="Segoe UI"/>
              </a:rPr>
              <a:t>Confidentiality and privacy</a:t>
            </a:r>
            <a:r>
              <a:rPr sz="2600" b="0" i="0">
                <a:solidFill>
                  <a:srgbClr val="212A33"/>
                </a:solidFill>
                <a:latin typeface="Segoe UI"/>
              </a:rPr>
              <a:t> mean protecting participants' identities and personal information when reporting results. Common strategies:</a:t>
            </a:r>
          </a:p>
        </p:txBody>
      </p:sp>
      <p:sp>
        <p:nvSpPr>
          <p:cNvPr id="11" name="TextBox 10"/>
          <p:cNvSpPr txBox="1"/>
          <p:nvPr/>
        </p:nvSpPr>
        <p:spPr>
          <a:xfrm>
            <a:off x="868680" y="3291839"/>
            <a:ext cx="10561320" cy="1591056"/>
          </a:xfrm>
          <a:prstGeom prst="rect">
            <a:avLst/>
          </a:prstGeom>
          <a:noFill/>
        </p:spPr>
        <p:txBody>
          <a:bodyPr wrap="square" anchor="t" lIns="0" rIns="0" tIns="0" bIns="0">
            <a:spAutoFit/>
          </a:bodyPr>
          <a:lstStyle/>
          <a:p>
            <a:pPr algn="l">
              <a:lnSpc>
                <a:spcPct val="108000"/>
              </a:lnSpc>
              <a:spcBef>
                <a:spcPts val="0"/>
              </a:spcBef>
              <a:spcAft>
                <a:spcPts val="800"/>
              </a:spcAft>
            </a:pPr>
            <a:r>
              <a:rPr sz="2600" b="1">
                <a:solidFill>
                  <a:srgbClr val="2A9D8F"/>
                </a:solidFill>
                <a:latin typeface="Segoe UI Semibold"/>
              </a:rPr>
              <a:t>•  </a:t>
            </a:r>
            <a:r>
              <a:rPr sz="2600" b="0" i="0">
                <a:solidFill>
                  <a:srgbClr val="212A33"/>
                </a:solidFill>
                <a:latin typeface="Segoe UI"/>
              </a:rPr>
              <a:t>Using </a:t>
            </a:r>
            <a:r>
              <a:rPr sz="2600" b="1" i="0">
                <a:solidFill>
                  <a:srgbClr val="212A33"/>
                </a:solidFill>
                <a:latin typeface="Segoe UI"/>
              </a:rPr>
              <a:t>pseudonyms</a:t>
            </a:r>
            <a:r>
              <a:rPr sz="2600" b="0" i="0">
                <a:solidFill>
                  <a:srgbClr val="212A33"/>
                </a:solidFill>
                <a:latin typeface="Segoe UI"/>
              </a:rPr>
              <a:t> or aliases instead of real names</a:t>
            </a:r>
          </a:p>
          <a:p>
            <a:pPr algn="l">
              <a:lnSpc>
                <a:spcPct val="108000"/>
              </a:lnSpc>
              <a:spcBef>
                <a:spcPts val="0"/>
              </a:spcBef>
              <a:spcAft>
                <a:spcPts val="800"/>
              </a:spcAft>
            </a:pPr>
            <a:r>
              <a:rPr sz="2600" b="1">
                <a:solidFill>
                  <a:srgbClr val="2A9D8F"/>
                </a:solidFill>
                <a:latin typeface="Segoe UI Semibold"/>
              </a:rPr>
              <a:t>•  </a:t>
            </a:r>
            <a:r>
              <a:rPr sz="2600" b="0" i="0">
                <a:solidFill>
                  <a:srgbClr val="212A33"/>
                </a:solidFill>
                <a:latin typeface="Segoe UI"/>
              </a:rPr>
              <a:t>Separating names from responses when recording data </a:t>
            </a:r>
            <a:r>
              <a:rPr sz="2600" b="0" i="1">
                <a:solidFill>
                  <a:srgbClr val="5B6B73"/>
                </a:solidFill>
                <a:latin typeface="Segoe UI"/>
              </a:rPr>
              <a:t>(Creswell &amp; Creswell, 2023)</a:t>
            </a:r>
          </a:p>
        </p:txBody>
      </p:sp>
      <p:sp>
        <p:nvSpPr>
          <p:cNvPr id="12" name="Rounded Rectangle 11"/>
          <p:cNvSpPr/>
          <p:nvPr/>
        </p:nvSpPr>
        <p:spPr>
          <a:xfrm>
            <a:off x="640080" y="4956048"/>
            <a:ext cx="10927080" cy="1371600"/>
          </a:xfrm>
          <a:prstGeom prst="roundRect">
            <a:avLst>
              <a:gd name="adj" fmla="val 4000"/>
            </a:avLst>
          </a:prstGeom>
          <a:solidFill>
            <a:srgbClr val="FFFFFF"/>
          </a:solidFill>
          <a:ln w="12700">
            <a:solidFill>
              <a:srgbClr val="E3ECEF"/>
            </a:solidFill>
          </a:ln>
          <a:effectLst>
            <a:outerShdw blurRad="64008" dist="36576" dir="5400000" rotWithShape="0">
              <a:srgbClr val="1F2A33">
                <a:alpha val="6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 Same Side Corner Rectangle 12"/>
          <p:cNvSpPr/>
          <p:nvPr/>
        </p:nvSpPr>
        <p:spPr>
          <a:xfrm>
            <a:off x="640080" y="4956048"/>
            <a:ext cx="109728" cy="1371600"/>
          </a:xfrm>
          <a:prstGeom prst="round2Same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5084064"/>
            <a:ext cx="10424159" cy="1133856"/>
          </a:xfrm>
          <a:prstGeom prst="rect">
            <a:avLst/>
          </a:prstGeom>
          <a:noFill/>
        </p:spPr>
        <p:txBody>
          <a:bodyPr wrap="square" anchor="ctr" lIns="0" rIns="0" tIns="0" bIns="0">
            <a:spAutoFit/>
          </a:bodyPr>
          <a:lstStyle/>
          <a:p>
            <a:pPr algn="l">
              <a:lnSpc>
                <a:spcPct val="106000"/>
              </a:lnSpc>
              <a:spcBef>
                <a:spcPts val="0"/>
              </a:spcBef>
              <a:spcAft>
                <a:spcPts val="300"/>
              </a:spcAft>
            </a:pPr>
            <a:r>
              <a:rPr sz="1500" b="1" i="0">
                <a:solidFill>
                  <a:srgbClr val="2A9D8F"/>
                </a:solidFill>
                <a:latin typeface="Segoe UI Semibold"/>
              </a:rPr>
              <a:t>EXAMPLE:  </a:t>
            </a:r>
          </a:p>
          <a:p>
            <a:pPr algn="l">
              <a:lnSpc>
                <a:spcPct val="106000"/>
              </a:lnSpc>
              <a:spcBef>
                <a:spcPts val="0"/>
              </a:spcBef>
              <a:spcAft>
                <a:spcPts val="200"/>
              </a:spcAft>
            </a:pPr>
            <a:r>
              <a:rPr sz="2200" b="0" i="0">
                <a:solidFill>
                  <a:srgbClr val="212A33"/>
                </a:solidFill>
                <a:latin typeface="Segoe UI"/>
              </a:rPr>
              <a:t>Instead of writing “Household of Mrs. Santos reported the water tastes better,” the report says “Household 3 reported the water tastes better.”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2A9D8F"/>
                </a:solidFill>
                <a:latin typeface="Segoe UI Semibold"/>
              </a:rPr>
              <a:t>THE FOUR CORE STANDARDS</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Avoiding Harm to People and Place</a:t>
            </a:r>
          </a:p>
        </p:txBody>
      </p:sp>
      <p:sp>
        <p:nvSpPr>
          <p:cNvPr id="7" name="Rectangle 6"/>
          <p:cNvSpPr/>
          <p:nvPr/>
        </p:nvSpPr>
        <p:spPr>
          <a:xfrm>
            <a:off x="658368" y="1572768"/>
            <a:ext cx="14630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10</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TextBox 9"/>
          <p:cNvSpPr txBox="1"/>
          <p:nvPr/>
        </p:nvSpPr>
        <p:spPr>
          <a:xfrm>
            <a:off x="640080" y="1874519"/>
            <a:ext cx="10927080" cy="1143000"/>
          </a:xfrm>
          <a:prstGeom prst="rect">
            <a:avLst/>
          </a:prstGeom>
          <a:noFill/>
        </p:spPr>
        <p:txBody>
          <a:bodyPr wrap="square" anchor="t" lIns="0" rIns="0" tIns="0" bIns="0">
            <a:spAutoFit/>
          </a:bodyPr>
          <a:lstStyle/>
          <a:p>
            <a:pPr algn="l">
              <a:lnSpc>
                <a:spcPct val="108000"/>
              </a:lnSpc>
              <a:spcBef>
                <a:spcPts val="0"/>
              </a:spcBef>
              <a:spcAft>
                <a:spcPts val="0"/>
              </a:spcAft>
            </a:pPr>
            <a:r>
              <a:rPr sz="2600" b="1" i="0">
                <a:solidFill>
                  <a:srgbClr val="E76F51"/>
                </a:solidFill>
                <a:latin typeface="Segoe UI"/>
              </a:rPr>
              <a:t>Avoiding harm</a:t>
            </a:r>
            <a:r>
              <a:rPr sz="2600" b="0" i="0">
                <a:solidFill>
                  <a:srgbClr val="212A33"/>
                </a:solidFill>
                <a:latin typeface="Segoe UI"/>
              </a:rPr>
              <a:t> means protecting participants, the community, and the environment from negative effects of the research itself. This includes:</a:t>
            </a:r>
          </a:p>
        </p:txBody>
      </p:sp>
      <p:sp>
        <p:nvSpPr>
          <p:cNvPr id="11" name="TextBox 10"/>
          <p:cNvSpPr txBox="1"/>
          <p:nvPr/>
        </p:nvSpPr>
        <p:spPr>
          <a:xfrm>
            <a:off x="868680" y="3063239"/>
            <a:ext cx="10561320" cy="1591056"/>
          </a:xfrm>
          <a:prstGeom prst="rect">
            <a:avLst/>
          </a:prstGeom>
          <a:noFill/>
        </p:spPr>
        <p:txBody>
          <a:bodyPr wrap="square" anchor="t" lIns="0" rIns="0" tIns="0" bIns="0">
            <a:spAutoFit/>
          </a:bodyPr>
          <a:lstStyle/>
          <a:p>
            <a:pPr algn="l">
              <a:lnSpc>
                <a:spcPct val="108000"/>
              </a:lnSpc>
              <a:spcBef>
                <a:spcPts val="0"/>
              </a:spcBef>
              <a:spcAft>
                <a:spcPts val="800"/>
              </a:spcAft>
            </a:pPr>
            <a:r>
              <a:rPr sz="2200" b="1">
                <a:solidFill>
                  <a:srgbClr val="2A9D8F"/>
                </a:solidFill>
                <a:latin typeface="Segoe UI Semibold"/>
              </a:rPr>
              <a:t>•  </a:t>
            </a:r>
            <a:r>
              <a:rPr sz="2200" b="0" i="0">
                <a:solidFill>
                  <a:srgbClr val="212A33"/>
                </a:solidFill>
                <a:latin typeface="Segoe UI"/>
              </a:rPr>
              <a:t>Not deceiving or exploiting participants </a:t>
            </a:r>
            <a:r>
              <a:rPr sz="2200" b="0" i="1">
                <a:solidFill>
                  <a:srgbClr val="5B6B73"/>
                </a:solidFill>
                <a:latin typeface="Segoe UI"/>
              </a:rPr>
              <a:t>(Creswell &amp; Creswell, 2023)</a:t>
            </a:r>
          </a:p>
          <a:p>
            <a:pPr algn="l">
              <a:lnSpc>
                <a:spcPct val="108000"/>
              </a:lnSpc>
              <a:spcBef>
                <a:spcPts val="0"/>
              </a:spcBef>
              <a:spcAft>
                <a:spcPts val="800"/>
              </a:spcAft>
            </a:pPr>
            <a:r>
              <a:rPr sz="2200" b="1">
                <a:solidFill>
                  <a:srgbClr val="2A9D8F"/>
                </a:solidFill>
                <a:latin typeface="Segoe UI Semibold"/>
              </a:rPr>
              <a:t>•  </a:t>
            </a:r>
            <a:r>
              <a:rPr sz="2200" b="0" i="0">
                <a:solidFill>
                  <a:srgbClr val="212A33"/>
                </a:solidFill>
                <a:latin typeface="Segoe UI"/>
              </a:rPr>
              <a:t>Minimizing disruption to the research site</a:t>
            </a:r>
          </a:p>
          <a:p>
            <a:pPr algn="l">
              <a:lnSpc>
                <a:spcPct val="108000"/>
              </a:lnSpc>
              <a:spcBef>
                <a:spcPts val="0"/>
              </a:spcBef>
              <a:spcAft>
                <a:spcPts val="800"/>
              </a:spcAft>
            </a:pPr>
            <a:r>
              <a:rPr sz="2200" b="1">
                <a:solidFill>
                  <a:srgbClr val="2A9D8F"/>
                </a:solidFill>
                <a:latin typeface="Segoe UI Semibold"/>
              </a:rPr>
              <a:t>•  </a:t>
            </a:r>
            <a:r>
              <a:rPr sz="2200" b="0" i="0">
                <a:solidFill>
                  <a:srgbClr val="212A33"/>
                </a:solidFill>
                <a:latin typeface="Segoe UI"/>
              </a:rPr>
              <a:t>Considering effects on the surrounding community and environment</a:t>
            </a:r>
          </a:p>
        </p:txBody>
      </p:sp>
      <p:sp>
        <p:nvSpPr>
          <p:cNvPr id="12" name="Rounded Rectangle 11"/>
          <p:cNvSpPr/>
          <p:nvPr/>
        </p:nvSpPr>
        <p:spPr>
          <a:xfrm>
            <a:off x="640080" y="4727448"/>
            <a:ext cx="10927080" cy="1600200"/>
          </a:xfrm>
          <a:prstGeom prst="roundRect">
            <a:avLst>
              <a:gd name="adj" fmla="val 4000"/>
            </a:avLst>
          </a:prstGeom>
          <a:solidFill>
            <a:srgbClr val="FFFFFF"/>
          </a:solidFill>
          <a:ln w="12700">
            <a:solidFill>
              <a:srgbClr val="E3ECEF"/>
            </a:solidFill>
          </a:ln>
          <a:effectLst>
            <a:outerShdw blurRad="64008" dist="36576" dir="5400000" rotWithShape="0">
              <a:srgbClr val="1F2A33">
                <a:alpha val="6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 Same Side Corner Rectangle 12"/>
          <p:cNvSpPr/>
          <p:nvPr/>
        </p:nvSpPr>
        <p:spPr>
          <a:xfrm>
            <a:off x="640080" y="4727448"/>
            <a:ext cx="109728" cy="1600200"/>
          </a:xfrm>
          <a:prstGeom prst="round2Same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855464"/>
            <a:ext cx="10424159" cy="1362456"/>
          </a:xfrm>
          <a:prstGeom prst="rect">
            <a:avLst/>
          </a:prstGeom>
          <a:noFill/>
        </p:spPr>
        <p:txBody>
          <a:bodyPr wrap="square" anchor="ctr" lIns="0" rIns="0" tIns="0" bIns="0">
            <a:spAutoFit/>
          </a:bodyPr>
          <a:lstStyle/>
          <a:p>
            <a:pPr algn="l">
              <a:lnSpc>
                <a:spcPct val="106000"/>
              </a:lnSpc>
              <a:spcBef>
                <a:spcPts val="0"/>
              </a:spcBef>
              <a:spcAft>
                <a:spcPts val="300"/>
              </a:spcAft>
            </a:pPr>
            <a:r>
              <a:rPr sz="1500" b="1" i="0">
                <a:solidFill>
                  <a:srgbClr val="2A9D8F"/>
                </a:solidFill>
                <a:latin typeface="Segoe UI Semibold"/>
              </a:rPr>
              <a:t>EXAMPLE:  </a:t>
            </a:r>
          </a:p>
          <a:p>
            <a:pPr algn="l">
              <a:lnSpc>
                <a:spcPct val="106000"/>
              </a:lnSpc>
              <a:spcBef>
                <a:spcPts val="0"/>
              </a:spcBef>
              <a:spcAft>
                <a:spcPts val="200"/>
              </a:spcAft>
            </a:pPr>
            <a:r>
              <a:rPr sz="2000" b="0" i="0">
                <a:solidFill>
                  <a:srgbClr val="212A33"/>
                </a:solidFill>
                <a:latin typeface="Segoe UI"/>
              </a:rPr>
              <a:t>If the researchers' water sampling disrupts the community's daily access to the well, or if a “failed” filter is left installed and mistakenly trusted by residents, real harm has occurred — separate from whether the data was reported honestly.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2A9D8F"/>
                </a:solidFill>
                <a:latin typeface="Segoe UI Semibold"/>
              </a:rPr>
              <a:t>THE FOUR CORE STANDARDS</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Ethical Standards Decision Tree</a:t>
            </a:r>
          </a:p>
        </p:txBody>
      </p:sp>
      <p:sp>
        <p:nvSpPr>
          <p:cNvPr id="7" name="Rectangle 6"/>
          <p:cNvSpPr/>
          <p:nvPr/>
        </p:nvSpPr>
        <p:spPr>
          <a:xfrm>
            <a:off x="658368" y="1572768"/>
            <a:ext cx="14630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11</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Rounded Rectangle 9"/>
          <p:cNvSpPr/>
          <p:nvPr/>
        </p:nvSpPr>
        <p:spPr>
          <a:xfrm>
            <a:off x="640080" y="1719072"/>
            <a:ext cx="1463040" cy="420624"/>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latin typeface="Segoe UI Semibold"/>
              </a:rPr>
              <a:t>APPLY IT</a:t>
            </a:r>
          </a:p>
        </p:txBody>
      </p:sp>
      <p:sp>
        <p:nvSpPr>
          <p:cNvPr id="11" name="TextBox 10"/>
          <p:cNvSpPr txBox="1"/>
          <p:nvPr/>
        </p:nvSpPr>
        <p:spPr>
          <a:xfrm>
            <a:off x="2331720" y="1664208"/>
            <a:ext cx="9144000" cy="658368"/>
          </a:xfrm>
          <a:prstGeom prst="rect">
            <a:avLst/>
          </a:prstGeom>
          <a:noFill/>
        </p:spPr>
        <p:txBody>
          <a:bodyPr wrap="square" anchor="ctr" lIns="0" rIns="0" tIns="0" bIns="0">
            <a:spAutoFit/>
          </a:bodyPr>
          <a:lstStyle/>
          <a:p>
            <a:pPr algn="l">
              <a:lnSpc>
                <a:spcPct val="108000"/>
              </a:lnSpc>
              <a:spcBef>
                <a:spcPts val="0"/>
              </a:spcBef>
              <a:spcAft>
                <a:spcPts val="0"/>
              </a:spcAft>
            </a:pPr>
            <a:r>
              <a:rPr sz="1800" b="0" i="0">
                <a:solidFill>
                  <a:srgbClr val="5B6B73"/>
                </a:solidFill>
                <a:latin typeface="Segoe UI"/>
              </a:rPr>
              <a:t>For each mini-scenario, decide </a:t>
            </a:r>
            <a:r>
              <a:rPr sz="1800" b="1" i="0">
                <a:solidFill>
                  <a:srgbClr val="5B6B73"/>
                </a:solidFill>
                <a:latin typeface="Segoe UI"/>
              </a:rPr>
              <a:t>which of the four standards</a:t>
            </a:r>
            <a:r>
              <a:rPr sz="1800" b="0" i="0">
                <a:solidFill>
                  <a:srgbClr val="5B6B73"/>
                </a:solidFill>
                <a:latin typeface="Segoe UI"/>
              </a:rPr>
              <a:t> is most directly at risk.</a:t>
            </a:r>
          </a:p>
        </p:txBody>
      </p:sp>
      <p:sp>
        <p:nvSpPr>
          <p:cNvPr id="12" name="Rounded Rectangle 11"/>
          <p:cNvSpPr/>
          <p:nvPr/>
        </p:nvSpPr>
        <p:spPr>
          <a:xfrm>
            <a:off x="640080" y="2450592"/>
            <a:ext cx="6446520" cy="877824"/>
          </a:xfrm>
          <a:prstGeom prst="roundRect">
            <a:avLst>
              <a:gd name="adj" fmla="val 10000"/>
            </a:avLst>
          </a:prstGeom>
          <a:solidFill>
            <a:srgbClr val="FFFFFF"/>
          </a:solidFill>
          <a:ln w="12700">
            <a:solidFill>
              <a:srgbClr val="E3ECEF"/>
            </a:solid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2615184"/>
            <a:ext cx="548640" cy="54864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615184"/>
            <a:ext cx="548640" cy="548640"/>
          </a:xfrm>
          <a:prstGeom prst="rect">
            <a:avLst/>
          </a:prstGeom>
          <a:noFill/>
        </p:spPr>
        <p:txBody>
          <a:bodyPr wrap="square" anchor="ctr" lIns="0" rIns="0" tIns="0" bIns="0">
            <a:spAutoFit/>
          </a:bodyPr>
          <a:lstStyle/>
          <a:p>
            <a:pPr algn="ctr">
              <a:lnSpc>
                <a:spcPct val="106000"/>
              </a:lnSpc>
              <a:spcBef>
                <a:spcPts val="0"/>
              </a:spcBef>
              <a:spcAft>
                <a:spcPts val="0"/>
              </a:spcAft>
            </a:pPr>
            <a:r>
              <a:rPr sz="2000" b="1" i="0">
                <a:solidFill>
                  <a:srgbClr val="FFFFFF"/>
                </a:solidFill>
                <a:latin typeface="Segoe UI Semibold"/>
              </a:rPr>
              <a:t>1</a:t>
            </a:r>
          </a:p>
        </p:txBody>
      </p:sp>
      <p:sp>
        <p:nvSpPr>
          <p:cNvPr id="15" name="TextBox 14"/>
          <p:cNvSpPr txBox="1"/>
          <p:nvPr/>
        </p:nvSpPr>
        <p:spPr>
          <a:xfrm>
            <a:off x="1554480" y="2450592"/>
            <a:ext cx="5349240" cy="877824"/>
          </a:xfrm>
          <a:prstGeom prst="rect">
            <a:avLst/>
          </a:prstGeom>
          <a:noFill/>
        </p:spPr>
        <p:txBody>
          <a:bodyPr wrap="square" anchor="ctr" lIns="0" rIns="0" tIns="0" bIns="0">
            <a:spAutoFit/>
          </a:bodyPr>
          <a:lstStyle/>
          <a:p>
            <a:pPr algn="l">
              <a:lnSpc>
                <a:spcPct val="106000"/>
              </a:lnSpc>
              <a:spcBef>
                <a:spcPts val="0"/>
              </a:spcBef>
              <a:spcAft>
                <a:spcPts val="0"/>
              </a:spcAft>
            </a:pPr>
            <a:r>
              <a:rPr sz="1800" b="0" i="0">
                <a:solidFill>
                  <a:srgbClr val="212A33"/>
                </a:solidFill>
                <a:latin typeface="Segoe UI"/>
              </a:rPr>
              <a:t>A researcher tests water without telling the household.</a:t>
            </a:r>
          </a:p>
        </p:txBody>
      </p:sp>
      <p:sp>
        <p:nvSpPr>
          <p:cNvPr id="16" name="Rounded Rectangle 15"/>
          <p:cNvSpPr/>
          <p:nvPr/>
        </p:nvSpPr>
        <p:spPr>
          <a:xfrm>
            <a:off x="640080" y="3456432"/>
            <a:ext cx="6446520" cy="877824"/>
          </a:xfrm>
          <a:prstGeom prst="roundRect">
            <a:avLst>
              <a:gd name="adj" fmla="val 10000"/>
            </a:avLst>
          </a:prstGeom>
          <a:solidFill>
            <a:srgbClr val="FFFFFF"/>
          </a:solidFill>
          <a:ln w="12700">
            <a:solidFill>
              <a:srgbClr val="E3ECEF"/>
            </a:solid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21024"/>
            <a:ext cx="548640" cy="54864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21024"/>
            <a:ext cx="548640" cy="548640"/>
          </a:xfrm>
          <a:prstGeom prst="rect">
            <a:avLst/>
          </a:prstGeom>
          <a:noFill/>
        </p:spPr>
        <p:txBody>
          <a:bodyPr wrap="square" anchor="ctr" lIns="0" rIns="0" tIns="0" bIns="0">
            <a:spAutoFit/>
          </a:bodyPr>
          <a:lstStyle/>
          <a:p>
            <a:pPr algn="ctr">
              <a:lnSpc>
                <a:spcPct val="106000"/>
              </a:lnSpc>
              <a:spcBef>
                <a:spcPts val="0"/>
              </a:spcBef>
              <a:spcAft>
                <a:spcPts val="0"/>
              </a:spcAft>
            </a:pPr>
            <a:r>
              <a:rPr sz="2000" b="1" i="0">
                <a:solidFill>
                  <a:srgbClr val="FFFFFF"/>
                </a:solidFill>
                <a:latin typeface="Segoe UI Semibold"/>
              </a:rPr>
              <a:t>2</a:t>
            </a:r>
          </a:p>
        </p:txBody>
      </p:sp>
      <p:sp>
        <p:nvSpPr>
          <p:cNvPr id="19" name="TextBox 18"/>
          <p:cNvSpPr txBox="1"/>
          <p:nvPr/>
        </p:nvSpPr>
        <p:spPr>
          <a:xfrm>
            <a:off x="1554480" y="3456432"/>
            <a:ext cx="5349240" cy="877824"/>
          </a:xfrm>
          <a:prstGeom prst="rect">
            <a:avLst/>
          </a:prstGeom>
          <a:noFill/>
        </p:spPr>
        <p:txBody>
          <a:bodyPr wrap="square" anchor="ctr" lIns="0" rIns="0" tIns="0" bIns="0">
            <a:spAutoFit/>
          </a:bodyPr>
          <a:lstStyle/>
          <a:p>
            <a:pPr algn="l">
              <a:lnSpc>
                <a:spcPct val="106000"/>
              </a:lnSpc>
              <a:spcBef>
                <a:spcPts val="0"/>
              </a:spcBef>
              <a:spcAft>
                <a:spcPts val="0"/>
              </a:spcAft>
            </a:pPr>
            <a:r>
              <a:rPr sz="1800" b="0" i="0">
                <a:solidFill>
                  <a:srgbClr val="212A33"/>
                </a:solidFill>
                <a:latin typeface="Segoe UI"/>
              </a:rPr>
              <a:t>A report lists a participant's full name and address.</a:t>
            </a:r>
          </a:p>
        </p:txBody>
      </p:sp>
      <p:sp>
        <p:nvSpPr>
          <p:cNvPr id="20" name="Rounded Rectangle 19"/>
          <p:cNvSpPr/>
          <p:nvPr/>
        </p:nvSpPr>
        <p:spPr>
          <a:xfrm>
            <a:off x="640080" y="4462272"/>
            <a:ext cx="6446520" cy="877824"/>
          </a:xfrm>
          <a:prstGeom prst="roundRect">
            <a:avLst>
              <a:gd name="adj" fmla="val 10000"/>
            </a:avLst>
          </a:prstGeom>
          <a:solidFill>
            <a:srgbClr val="FFFFFF"/>
          </a:solidFill>
          <a:ln w="12700">
            <a:solidFill>
              <a:srgbClr val="E3ECEF"/>
            </a:solid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2960" y="4626864"/>
            <a:ext cx="548640" cy="54864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626864"/>
            <a:ext cx="548640" cy="548640"/>
          </a:xfrm>
          <a:prstGeom prst="rect">
            <a:avLst/>
          </a:prstGeom>
          <a:noFill/>
        </p:spPr>
        <p:txBody>
          <a:bodyPr wrap="square" anchor="ctr" lIns="0" rIns="0" tIns="0" bIns="0">
            <a:spAutoFit/>
          </a:bodyPr>
          <a:lstStyle/>
          <a:p>
            <a:pPr algn="ctr">
              <a:lnSpc>
                <a:spcPct val="106000"/>
              </a:lnSpc>
              <a:spcBef>
                <a:spcPts val="0"/>
              </a:spcBef>
              <a:spcAft>
                <a:spcPts val="0"/>
              </a:spcAft>
            </a:pPr>
            <a:r>
              <a:rPr sz="2000" b="1" i="0">
                <a:solidFill>
                  <a:srgbClr val="FFFFFF"/>
                </a:solidFill>
                <a:latin typeface="Segoe UI Semibold"/>
              </a:rPr>
              <a:t>3</a:t>
            </a:r>
          </a:p>
        </p:txBody>
      </p:sp>
      <p:sp>
        <p:nvSpPr>
          <p:cNvPr id="23" name="TextBox 22"/>
          <p:cNvSpPr txBox="1"/>
          <p:nvPr/>
        </p:nvSpPr>
        <p:spPr>
          <a:xfrm>
            <a:off x="1554480" y="4462272"/>
            <a:ext cx="5349240" cy="877824"/>
          </a:xfrm>
          <a:prstGeom prst="rect">
            <a:avLst/>
          </a:prstGeom>
          <a:noFill/>
        </p:spPr>
        <p:txBody>
          <a:bodyPr wrap="square" anchor="ctr" lIns="0" rIns="0" tIns="0" bIns="0">
            <a:spAutoFit/>
          </a:bodyPr>
          <a:lstStyle/>
          <a:p>
            <a:pPr algn="l">
              <a:lnSpc>
                <a:spcPct val="106000"/>
              </a:lnSpc>
              <a:spcBef>
                <a:spcPts val="0"/>
              </a:spcBef>
              <a:spcAft>
                <a:spcPts val="0"/>
              </a:spcAft>
            </a:pPr>
            <a:r>
              <a:rPr sz="1800" b="0" i="0">
                <a:solidFill>
                  <a:srgbClr val="212A33"/>
                </a:solidFill>
                <a:latin typeface="Segoe UI"/>
              </a:rPr>
              <a:t>A researcher only publishes the filter's best-performing test result.</a:t>
            </a:r>
          </a:p>
        </p:txBody>
      </p:sp>
      <p:sp>
        <p:nvSpPr>
          <p:cNvPr id="24" name="Rounded Rectangle 23"/>
          <p:cNvSpPr/>
          <p:nvPr/>
        </p:nvSpPr>
        <p:spPr>
          <a:xfrm>
            <a:off x="640080" y="5468112"/>
            <a:ext cx="6446520" cy="877824"/>
          </a:xfrm>
          <a:prstGeom prst="roundRect">
            <a:avLst>
              <a:gd name="adj" fmla="val 10000"/>
            </a:avLst>
          </a:prstGeom>
          <a:solidFill>
            <a:srgbClr val="FFFFFF"/>
          </a:solidFill>
          <a:ln w="12700">
            <a:solidFill>
              <a:srgbClr val="E3ECEF"/>
            </a:solid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2960" y="5632704"/>
            <a:ext cx="548640" cy="54864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632704"/>
            <a:ext cx="548640" cy="548640"/>
          </a:xfrm>
          <a:prstGeom prst="rect">
            <a:avLst/>
          </a:prstGeom>
          <a:noFill/>
        </p:spPr>
        <p:txBody>
          <a:bodyPr wrap="square" anchor="ctr" lIns="0" rIns="0" tIns="0" bIns="0">
            <a:spAutoFit/>
          </a:bodyPr>
          <a:lstStyle/>
          <a:p>
            <a:pPr algn="ctr">
              <a:lnSpc>
                <a:spcPct val="106000"/>
              </a:lnSpc>
              <a:spcBef>
                <a:spcPts val="0"/>
              </a:spcBef>
              <a:spcAft>
                <a:spcPts val="0"/>
              </a:spcAft>
            </a:pPr>
            <a:r>
              <a:rPr sz="2000" b="1" i="0">
                <a:solidFill>
                  <a:srgbClr val="FFFFFF"/>
                </a:solidFill>
                <a:latin typeface="Segoe UI Semibold"/>
              </a:rPr>
              <a:t>4</a:t>
            </a:r>
          </a:p>
        </p:txBody>
      </p:sp>
      <p:sp>
        <p:nvSpPr>
          <p:cNvPr id="27" name="TextBox 26"/>
          <p:cNvSpPr txBox="1"/>
          <p:nvPr/>
        </p:nvSpPr>
        <p:spPr>
          <a:xfrm>
            <a:off x="1554480" y="5468112"/>
            <a:ext cx="5349240" cy="877824"/>
          </a:xfrm>
          <a:prstGeom prst="rect">
            <a:avLst/>
          </a:prstGeom>
          <a:noFill/>
        </p:spPr>
        <p:txBody>
          <a:bodyPr wrap="square" anchor="ctr" lIns="0" rIns="0" tIns="0" bIns="0">
            <a:spAutoFit/>
          </a:bodyPr>
          <a:lstStyle/>
          <a:p>
            <a:pPr algn="l">
              <a:lnSpc>
                <a:spcPct val="106000"/>
              </a:lnSpc>
              <a:spcBef>
                <a:spcPts val="0"/>
              </a:spcBef>
              <a:spcAft>
                <a:spcPts val="0"/>
              </a:spcAft>
            </a:pPr>
            <a:r>
              <a:rPr sz="1800" b="0" i="0">
                <a:solidFill>
                  <a:srgbClr val="212A33"/>
                </a:solidFill>
                <a:latin typeface="Segoe UI"/>
              </a:rPr>
              <a:t>Repeated data collection visits leave a household without well access for hours each time.</a:t>
            </a:r>
          </a:p>
        </p:txBody>
      </p:sp>
      <p:sp>
        <p:nvSpPr>
          <p:cNvPr id="28" name="TextBox 27"/>
          <p:cNvSpPr txBox="1"/>
          <p:nvPr/>
        </p:nvSpPr>
        <p:spPr>
          <a:xfrm>
            <a:off x="7726679" y="2432304"/>
            <a:ext cx="3840480" cy="384048"/>
          </a:xfrm>
          <a:prstGeom prst="rect">
            <a:avLst/>
          </a:prstGeom>
          <a:noFill/>
        </p:spPr>
        <p:txBody>
          <a:bodyPr wrap="square" anchor="t" lIns="0" rIns="0" tIns="0" bIns="0">
            <a:spAutoFit/>
          </a:bodyPr>
          <a:lstStyle/>
          <a:p>
            <a:pPr algn="ctr">
              <a:lnSpc>
                <a:spcPct val="106000"/>
              </a:lnSpc>
              <a:spcBef>
                <a:spcPts val="0"/>
              </a:spcBef>
              <a:spcAft>
                <a:spcPts val="0"/>
              </a:spcAft>
            </a:pPr>
            <a:r>
              <a:rPr sz="1700" b="0" i="1">
                <a:solidFill>
                  <a:srgbClr val="5B6B73"/>
                </a:solidFill>
                <a:latin typeface="Segoe UI"/>
              </a:rPr>
              <a:t>Which standard is at risk?</a:t>
            </a:r>
          </a:p>
        </p:txBody>
      </p:sp>
      <p:sp>
        <p:nvSpPr>
          <p:cNvPr id="29" name="Rounded Rectangle 28"/>
          <p:cNvSpPr/>
          <p:nvPr/>
        </p:nvSpPr>
        <p:spPr>
          <a:xfrm>
            <a:off x="7726679" y="2926080"/>
            <a:ext cx="3840480" cy="749808"/>
          </a:xfrm>
          <a:prstGeom prst="roundRect">
            <a:avLst>
              <a:gd name="adj" fmla="val 32000"/>
            </a:avLst>
          </a:prstGeom>
          <a:solidFill>
            <a:srgbClr val="2A9D8F"/>
          </a:solidFill>
          <a:ln>
            <a:no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26679" y="2926080"/>
            <a:ext cx="3840480" cy="749808"/>
          </a:xfrm>
          <a:prstGeom prst="rect">
            <a:avLst/>
          </a:prstGeom>
          <a:noFill/>
        </p:spPr>
        <p:txBody>
          <a:bodyPr wrap="square" anchor="ctr" lIns="0" rIns="0" tIns="0" bIns="0">
            <a:spAutoFit/>
          </a:bodyPr>
          <a:lstStyle/>
          <a:p>
            <a:pPr algn="ctr">
              <a:lnSpc>
                <a:spcPct val="106000"/>
              </a:lnSpc>
              <a:spcBef>
                <a:spcPts val="0"/>
              </a:spcBef>
              <a:spcAft>
                <a:spcPts val="0"/>
              </a:spcAft>
            </a:pPr>
            <a:r>
              <a:rPr sz="2300" b="1" i="0">
                <a:solidFill>
                  <a:srgbClr val="FFFFFF"/>
                </a:solidFill>
                <a:latin typeface="Segoe UI Semibold"/>
              </a:rPr>
              <a:t>Honesty</a:t>
            </a:r>
          </a:p>
        </p:txBody>
      </p:sp>
      <p:sp>
        <p:nvSpPr>
          <p:cNvPr id="31" name="Rounded Rectangle 30"/>
          <p:cNvSpPr/>
          <p:nvPr/>
        </p:nvSpPr>
        <p:spPr>
          <a:xfrm>
            <a:off x="7726679" y="3785616"/>
            <a:ext cx="3840480" cy="749808"/>
          </a:xfrm>
          <a:prstGeom prst="roundRect">
            <a:avLst>
              <a:gd name="adj" fmla="val 32000"/>
            </a:avLst>
          </a:prstGeom>
          <a:solidFill>
            <a:srgbClr val="3A7CA5"/>
          </a:solidFill>
          <a:ln>
            <a:no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26679" y="3785616"/>
            <a:ext cx="3840480" cy="749808"/>
          </a:xfrm>
          <a:prstGeom prst="rect">
            <a:avLst/>
          </a:prstGeom>
          <a:noFill/>
        </p:spPr>
        <p:txBody>
          <a:bodyPr wrap="square" anchor="ctr" lIns="0" rIns="0" tIns="0" bIns="0">
            <a:spAutoFit/>
          </a:bodyPr>
          <a:lstStyle/>
          <a:p>
            <a:pPr algn="ctr">
              <a:lnSpc>
                <a:spcPct val="106000"/>
              </a:lnSpc>
              <a:spcBef>
                <a:spcPts val="0"/>
              </a:spcBef>
              <a:spcAft>
                <a:spcPts val="0"/>
              </a:spcAft>
            </a:pPr>
            <a:r>
              <a:rPr sz="2300" b="1" i="0">
                <a:solidFill>
                  <a:srgbClr val="FFFFFF"/>
                </a:solidFill>
                <a:latin typeface="Segoe UI Semibold"/>
              </a:rPr>
              <a:t>Respect</a:t>
            </a:r>
          </a:p>
        </p:txBody>
      </p:sp>
      <p:sp>
        <p:nvSpPr>
          <p:cNvPr id="33" name="Rounded Rectangle 32"/>
          <p:cNvSpPr/>
          <p:nvPr/>
        </p:nvSpPr>
        <p:spPr>
          <a:xfrm>
            <a:off x="7726679" y="4645152"/>
            <a:ext cx="3840480" cy="749808"/>
          </a:xfrm>
          <a:prstGeom prst="roundRect">
            <a:avLst>
              <a:gd name="adj" fmla="val 32000"/>
            </a:avLst>
          </a:prstGeom>
          <a:solidFill>
            <a:srgbClr val="6A4C93"/>
          </a:solidFill>
          <a:ln>
            <a:no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26679" y="4645152"/>
            <a:ext cx="3840480" cy="749808"/>
          </a:xfrm>
          <a:prstGeom prst="rect">
            <a:avLst/>
          </a:prstGeom>
          <a:noFill/>
        </p:spPr>
        <p:txBody>
          <a:bodyPr wrap="square" anchor="ctr" lIns="0" rIns="0" tIns="0" bIns="0">
            <a:spAutoFit/>
          </a:bodyPr>
          <a:lstStyle/>
          <a:p>
            <a:pPr algn="ctr">
              <a:lnSpc>
                <a:spcPct val="106000"/>
              </a:lnSpc>
              <a:spcBef>
                <a:spcPts val="0"/>
              </a:spcBef>
              <a:spcAft>
                <a:spcPts val="0"/>
              </a:spcAft>
            </a:pPr>
            <a:r>
              <a:rPr sz="2300" b="1" i="0">
                <a:solidFill>
                  <a:srgbClr val="FFFFFF"/>
                </a:solidFill>
                <a:latin typeface="Segoe UI Semibold"/>
              </a:rPr>
              <a:t>Confidentiality</a:t>
            </a:r>
          </a:p>
        </p:txBody>
      </p:sp>
      <p:sp>
        <p:nvSpPr>
          <p:cNvPr id="35" name="Rounded Rectangle 34"/>
          <p:cNvSpPr/>
          <p:nvPr/>
        </p:nvSpPr>
        <p:spPr>
          <a:xfrm>
            <a:off x="7726679" y="5504688"/>
            <a:ext cx="3840480" cy="749808"/>
          </a:xfrm>
          <a:prstGeom prst="roundRect">
            <a:avLst>
              <a:gd name="adj" fmla="val 32000"/>
            </a:avLst>
          </a:prstGeom>
          <a:solidFill>
            <a:srgbClr val="E76F51"/>
          </a:solidFill>
          <a:ln>
            <a:no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26679" y="5504688"/>
            <a:ext cx="3840480" cy="749808"/>
          </a:xfrm>
          <a:prstGeom prst="rect">
            <a:avLst/>
          </a:prstGeom>
          <a:noFill/>
        </p:spPr>
        <p:txBody>
          <a:bodyPr wrap="square" anchor="ctr" lIns="0" rIns="0" tIns="0" bIns="0">
            <a:spAutoFit/>
          </a:bodyPr>
          <a:lstStyle/>
          <a:p>
            <a:pPr algn="ctr">
              <a:lnSpc>
                <a:spcPct val="106000"/>
              </a:lnSpc>
              <a:spcBef>
                <a:spcPts val="0"/>
              </a:spcBef>
              <a:spcAft>
                <a:spcPts val="0"/>
              </a:spcAft>
            </a:pPr>
            <a:r>
              <a:rPr sz="2300" b="1" i="0">
                <a:solidFill>
                  <a:srgbClr val="FFFFFF"/>
                </a:solidFill>
                <a:latin typeface="Segoe UI Semibold"/>
              </a:rPr>
              <a:t>Avoiding Harm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C99A2E"/>
                </a:solidFill>
                <a:latin typeface="Segoe UI Semibold"/>
              </a:rPr>
              <a:t>ETHICS ACROSS EVERY STAGE</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Ethics During the Planning Stage</a:t>
            </a:r>
          </a:p>
        </p:txBody>
      </p:sp>
      <p:sp>
        <p:nvSpPr>
          <p:cNvPr id="7" name="Rectangle 6"/>
          <p:cNvSpPr/>
          <p:nvPr/>
        </p:nvSpPr>
        <p:spPr>
          <a:xfrm>
            <a:off x="658368" y="1572768"/>
            <a:ext cx="1463040" cy="64008"/>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12</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Pentagon 9"/>
          <p:cNvSpPr/>
          <p:nvPr/>
        </p:nvSpPr>
        <p:spPr>
          <a:xfrm>
            <a:off x="655167" y="1700784"/>
            <a:ext cx="2381097" cy="512064"/>
          </a:xfrm>
          <a:prstGeom prst="homePlate">
            <a:avLst>
              <a:gd name="adj" fmla="val 32000"/>
            </a:avLst>
          </a:prstGeom>
          <a:solidFill>
            <a:srgbClr val="C99A2E"/>
          </a:solidFill>
          <a:ln>
            <a:noFill/>
          </a:ln>
          <a:effectLst>
            <a:outerShdw blurRad="54864" dist="36576" dir="5400000" rotWithShape="0">
              <a:srgbClr val="1F2A33">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250" b="1">
                <a:solidFill>
                  <a:srgbClr val="FFFFFF"/>
                </a:solidFill>
                <a:latin typeface="Segoe UI Semibold"/>
              </a:rPr>
              <a:t>Planning</a:t>
            </a:r>
          </a:p>
        </p:txBody>
      </p:sp>
      <p:sp>
        <p:nvSpPr>
          <p:cNvPr id="11" name="Chevron 10"/>
          <p:cNvSpPr/>
          <p:nvPr/>
        </p:nvSpPr>
        <p:spPr>
          <a:xfrm>
            <a:off x="2780233" y="1700784"/>
            <a:ext cx="2381097" cy="512064"/>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250" b="1">
                <a:solidFill>
                  <a:srgbClr val="5B6B73"/>
                </a:solidFill>
                <a:latin typeface="Segoe UI Semibold"/>
              </a:rPr>
              <a:t>Beginning</a:t>
            </a:r>
          </a:p>
          <a:p>
            <a:pPr algn="ctr">
              <a:lnSpc>
                <a:spcPct val="100000"/>
              </a:lnSpc>
              <a:spcAft>
                <a:spcPts val="0"/>
              </a:spcAft>
            </a:pPr>
            <a:r>
              <a:rPr sz="1250" b="1">
                <a:solidFill>
                  <a:srgbClr val="5B6B73"/>
                </a:solidFill>
                <a:latin typeface="Segoe UI Semibold"/>
              </a:rPr>
              <a:t>the Study</a:t>
            </a:r>
          </a:p>
        </p:txBody>
      </p:sp>
      <p:sp>
        <p:nvSpPr>
          <p:cNvPr id="12" name="Chevron 11"/>
          <p:cNvSpPr/>
          <p:nvPr/>
        </p:nvSpPr>
        <p:spPr>
          <a:xfrm>
            <a:off x="4905298" y="1700784"/>
            <a:ext cx="2381097" cy="512064"/>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250" b="1">
                <a:solidFill>
                  <a:srgbClr val="5B6B73"/>
                </a:solidFill>
                <a:latin typeface="Segoe UI Semibold"/>
              </a:rPr>
              <a:t>Collecting</a:t>
            </a:r>
          </a:p>
          <a:p>
            <a:pPr algn="ctr">
              <a:lnSpc>
                <a:spcPct val="100000"/>
              </a:lnSpc>
              <a:spcAft>
                <a:spcPts val="0"/>
              </a:spcAft>
            </a:pPr>
            <a:r>
              <a:rPr sz="1250" b="1">
                <a:solidFill>
                  <a:srgbClr val="5B6B73"/>
                </a:solidFill>
                <a:latin typeface="Segoe UI Semibold"/>
              </a:rPr>
              <a:t>Data</a:t>
            </a:r>
          </a:p>
        </p:txBody>
      </p:sp>
      <p:sp>
        <p:nvSpPr>
          <p:cNvPr id="13" name="Chevron 12"/>
          <p:cNvSpPr/>
          <p:nvPr/>
        </p:nvSpPr>
        <p:spPr>
          <a:xfrm>
            <a:off x="7030364" y="1700784"/>
            <a:ext cx="2381097" cy="512064"/>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250" b="1">
                <a:solidFill>
                  <a:srgbClr val="5B6B73"/>
                </a:solidFill>
                <a:latin typeface="Segoe UI Semibold"/>
              </a:rPr>
              <a:t>Analyzing</a:t>
            </a:r>
          </a:p>
          <a:p>
            <a:pPr algn="ctr">
              <a:lnSpc>
                <a:spcPct val="100000"/>
              </a:lnSpc>
              <a:spcAft>
                <a:spcPts val="0"/>
              </a:spcAft>
            </a:pPr>
            <a:r>
              <a:rPr sz="1250" b="1">
                <a:solidFill>
                  <a:srgbClr val="5B6B73"/>
                </a:solidFill>
                <a:latin typeface="Segoe UI Semibold"/>
              </a:rPr>
              <a:t>Data</a:t>
            </a:r>
          </a:p>
        </p:txBody>
      </p:sp>
      <p:sp>
        <p:nvSpPr>
          <p:cNvPr id="14" name="Chevron 13"/>
          <p:cNvSpPr/>
          <p:nvPr/>
        </p:nvSpPr>
        <p:spPr>
          <a:xfrm>
            <a:off x="9155430" y="1700784"/>
            <a:ext cx="2381097" cy="512064"/>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250" b="1">
                <a:solidFill>
                  <a:srgbClr val="5B6B73"/>
                </a:solidFill>
                <a:latin typeface="Segoe UI Semibold"/>
              </a:rPr>
              <a:t>Reporting</a:t>
            </a:r>
          </a:p>
          <a:p>
            <a:pPr algn="ctr">
              <a:lnSpc>
                <a:spcPct val="100000"/>
              </a:lnSpc>
              <a:spcAft>
                <a:spcPts val="0"/>
              </a:spcAft>
            </a:pPr>
            <a:r>
              <a:rPr sz="1250" b="1">
                <a:solidFill>
                  <a:srgbClr val="5B6B73"/>
                </a:solidFill>
                <a:latin typeface="Segoe UI Semibold"/>
              </a:rPr>
              <a:t>Results</a:t>
            </a:r>
          </a:p>
        </p:txBody>
      </p:sp>
      <p:sp>
        <p:nvSpPr>
          <p:cNvPr id="15" name="TextBox 14"/>
          <p:cNvSpPr txBox="1"/>
          <p:nvPr/>
        </p:nvSpPr>
        <p:spPr>
          <a:xfrm>
            <a:off x="640080" y="2286000"/>
            <a:ext cx="10927080" cy="960120"/>
          </a:xfrm>
          <a:prstGeom prst="rect">
            <a:avLst/>
          </a:prstGeom>
          <a:noFill/>
        </p:spPr>
        <p:txBody>
          <a:bodyPr wrap="square" anchor="t" lIns="0" rIns="0" tIns="0" bIns="0">
            <a:spAutoFit/>
          </a:bodyPr>
          <a:lstStyle/>
          <a:p>
            <a:pPr algn="l">
              <a:lnSpc>
                <a:spcPct val="108000"/>
              </a:lnSpc>
              <a:spcBef>
                <a:spcPts val="0"/>
              </a:spcBef>
              <a:spcAft>
                <a:spcPts val="0"/>
              </a:spcAft>
            </a:pPr>
            <a:r>
              <a:rPr sz="2400" b="0" i="0">
                <a:solidFill>
                  <a:srgbClr val="212A33"/>
                </a:solidFill>
                <a:latin typeface="Segoe UI"/>
              </a:rPr>
              <a:t>At the </a:t>
            </a:r>
            <a:r>
              <a:rPr sz="2400" b="1" i="0">
                <a:solidFill>
                  <a:srgbClr val="C99A2E"/>
                </a:solidFill>
                <a:latin typeface="Segoe UI"/>
              </a:rPr>
              <a:t>planning stage</a:t>
            </a:r>
            <a:r>
              <a:rPr sz="2400" b="0" i="0">
                <a:solidFill>
                  <a:srgbClr val="212A33"/>
                </a:solidFill>
                <a:latin typeface="Segoe UI"/>
              </a:rPr>
              <a:t>, ethical research means:</a:t>
            </a:r>
          </a:p>
        </p:txBody>
      </p:sp>
      <p:sp>
        <p:nvSpPr>
          <p:cNvPr id="16" name="TextBox 15"/>
          <p:cNvSpPr txBox="1"/>
          <p:nvPr/>
        </p:nvSpPr>
        <p:spPr>
          <a:xfrm>
            <a:off x="868680" y="3291839"/>
            <a:ext cx="10561320" cy="1362456"/>
          </a:xfrm>
          <a:prstGeom prst="rect">
            <a:avLst/>
          </a:prstGeom>
          <a:noFill/>
        </p:spPr>
        <p:txBody>
          <a:bodyPr wrap="square" anchor="t" lIns="0" rIns="0" tIns="0" bIns="0">
            <a:spAutoFit/>
          </a:bodyPr>
          <a:lstStyle/>
          <a:p>
            <a:pPr algn="l">
              <a:lnSpc>
                <a:spcPct val="108000"/>
              </a:lnSpc>
              <a:spcBef>
                <a:spcPts val="0"/>
              </a:spcBef>
              <a:spcAft>
                <a:spcPts val="800"/>
              </a:spcAft>
            </a:pPr>
            <a:r>
              <a:rPr sz="2000" b="1">
                <a:solidFill>
                  <a:srgbClr val="C99A2E"/>
                </a:solidFill>
                <a:latin typeface="Segoe UI Semibold"/>
              </a:rPr>
              <a:t>•  </a:t>
            </a:r>
            <a:r>
              <a:rPr sz="2000" b="0" i="0">
                <a:solidFill>
                  <a:srgbClr val="212A33"/>
                </a:solidFill>
                <a:latin typeface="Segoe UI"/>
              </a:rPr>
              <a:t>Choosing a research problem responsibly — one that could genuinely </a:t>
            </a:r>
            <a:r>
              <a:rPr sz="2000" b="1" i="0">
                <a:solidFill>
                  <a:srgbClr val="212A33"/>
                </a:solidFill>
                <a:latin typeface="Segoe UI"/>
              </a:rPr>
              <a:t>benefit</a:t>
            </a:r>
            <a:r>
              <a:rPr sz="2000" b="0" i="0">
                <a:solidFill>
                  <a:srgbClr val="212A33"/>
                </a:solidFill>
                <a:latin typeface="Segoe UI"/>
              </a:rPr>
              <a:t> participants, not just satisfy curiosity </a:t>
            </a:r>
            <a:r>
              <a:rPr sz="2000" b="0" i="1">
                <a:solidFill>
                  <a:srgbClr val="5B6B73"/>
                </a:solidFill>
                <a:latin typeface="Segoe UI"/>
              </a:rPr>
              <a:t>(Creswell &amp; Creswell, 2023)</a:t>
            </a:r>
          </a:p>
          <a:p>
            <a:pPr algn="l">
              <a:lnSpc>
                <a:spcPct val="108000"/>
              </a:lnSpc>
              <a:spcBef>
                <a:spcPts val="0"/>
              </a:spcBef>
              <a:spcAft>
                <a:spcPts val="800"/>
              </a:spcAft>
            </a:pPr>
            <a:r>
              <a:rPr sz="2000" b="1">
                <a:solidFill>
                  <a:srgbClr val="C99A2E"/>
                </a:solidFill>
                <a:latin typeface="Segoe UI Semibold"/>
              </a:rPr>
              <a:t>•  </a:t>
            </a:r>
            <a:r>
              <a:rPr sz="2000" b="0" i="0">
                <a:solidFill>
                  <a:srgbClr val="212A33"/>
                </a:solidFill>
                <a:latin typeface="Segoe UI"/>
              </a:rPr>
              <a:t>Considering, before data collection ever begins, who might be affected and how</a:t>
            </a:r>
          </a:p>
        </p:txBody>
      </p:sp>
      <p:sp>
        <p:nvSpPr>
          <p:cNvPr id="17" name="Rounded Rectangle 16"/>
          <p:cNvSpPr/>
          <p:nvPr/>
        </p:nvSpPr>
        <p:spPr>
          <a:xfrm>
            <a:off x="640080" y="4727448"/>
            <a:ext cx="10927080" cy="1600200"/>
          </a:xfrm>
          <a:prstGeom prst="roundRect">
            <a:avLst>
              <a:gd name="adj" fmla="val 4000"/>
            </a:avLst>
          </a:prstGeom>
          <a:solidFill>
            <a:srgbClr val="FFFFFF"/>
          </a:solidFill>
          <a:ln w="12700">
            <a:solidFill>
              <a:srgbClr val="E3ECEF"/>
            </a:solidFill>
          </a:ln>
          <a:effectLst>
            <a:outerShdw blurRad="64008" dist="36576" dir="5400000" rotWithShape="0">
              <a:srgbClr val="1F2A33">
                <a:alpha val="6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 Same Side Corner Rectangle 17"/>
          <p:cNvSpPr/>
          <p:nvPr/>
        </p:nvSpPr>
        <p:spPr>
          <a:xfrm>
            <a:off x="640080" y="4727448"/>
            <a:ext cx="109728" cy="1600200"/>
          </a:xfrm>
          <a:prstGeom prst="round2Same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855464"/>
            <a:ext cx="10424159" cy="1362456"/>
          </a:xfrm>
          <a:prstGeom prst="rect">
            <a:avLst/>
          </a:prstGeom>
          <a:noFill/>
        </p:spPr>
        <p:txBody>
          <a:bodyPr wrap="square" anchor="ctr" lIns="0" rIns="0" tIns="0" bIns="0">
            <a:spAutoFit/>
          </a:bodyPr>
          <a:lstStyle/>
          <a:p>
            <a:pPr algn="l">
              <a:lnSpc>
                <a:spcPct val="106000"/>
              </a:lnSpc>
              <a:spcBef>
                <a:spcPts val="0"/>
              </a:spcBef>
              <a:spcAft>
                <a:spcPts val="300"/>
              </a:spcAft>
            </a:pPr>
            <a:r>
              <a:rPr sz="1500" b="1" i="0">
                <a:solidFill>
                  <a:srgbClr val="C99A2E"/>
                </a:solidFill>
                <a:latin typeface="Segoe UI Semibold"/>
              </a:rPr>
              <a:t>EXAMPLE:  </a:t>
            </a:r>
          </a:p>
          <a:p>
            <a:pPr algn="l">
              <a:lnSpc>
                <a:spcPct val="106000"/>
              </a:lnSpc>
              <a:spcBef>
                <a:spcPts val="0"/>
              </a:spcBef>
              <a:spcAft>
                <a:spcPts val="200"/>
              </a:spcAft>
            </a:pPr>
            <a:r>
              <a:rPr sz="2000" b="0" i="0">
                <a:solidFill>
                  <a:srgbClr val="212A33"/>
                </a:solidFill>
                <a:latin typeface="Segoe UI"/>
              </a:rPr>
              <a:t>Choosing to test a low-cost filter </a:t>
            </a:r>
            <a:r>
              <a:rPr sz="2000" b="0" i="1">
                <a:solidFill>
                  <a:srgbClr val="212A33"/>
                </a:solidFill>
                <a:latin typeface="Segoe UI"/>
              </a:rPr>
              <a:t>because the community lacks access to safe water</a:t>
            </a:r>
            <a:r>
              <a:rPr sz="2000" b="0" i="0">
                <a:solidFill>
                  <a:srgbClr val="212A33"/>
                </a:solidFill>
                <a:latin typeface="Segoe UI"/>
              </a:rPr>
              <a:t> is a responsibly chosen problem — testing it purely because it's a “convenient” barangay near the school, with no real community benefit in mind, is not.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C99A2E"/>
                </a:solidFill>
                <a:latin typeface="Segoe UI Semibold"/>
              </a:rPr>
              <a:t>ETHICS ACROSS EVERY STAGE</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Ethics During Data Collection</a:t>
            </a:r>
          </a:p>
        </p:txBody>
      </p:sp>
      <p:sp>
        <p:nvSpPr>
          <p:cNvPr id="7" name="Rectangle 6"/>
          <p:cNvSpPr/>
          <p:nvPr/>
        </p:nvSpPr>
        <p:spPr>
          <a:xfrm>
            <a:off x="658368" y="1572768"/>
            <a:ext cx="1463040" cy="64008"/>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13</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Pentagon 9"/>
          <p:cNvSpPr/>
          <p:nvPr/>
        </p:nvSpPr>
        <p:spPr>
          <a:xfrm>
            <a:off x="655167" y="1700784"/>
            <a:ext cx="2381097" cy="512064"/>
          </a:xfrm>
          <a:prstGeom prst="homePlate">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250" b="1">
                <a:solidFill>
                  <a:srgbClr val="5B6B73"/>
                </a:solidFill>
                <a:latin typeface="Segoe UI Semibold"/>
              </a:rPr>
              <a:t>Planning</a:t>
            </a:r>
          </a:p>
        </p:txBody>
      </p:sp>
      <p:sp>
        <p:nvSpPr>
          <p:cNvPr id="11" name="Chevron 10"/>
          <p:cNvSpPr/>
          <p:nvPr/>
        </p:nvSpPr>
        <p:spPr>
          <a:xfrm>
            <a:off x="2780233" y="1700784"/>
            <a:ext cx="2381097" cy="512064"/>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250" b="1">
                <a:solidFill>
                  <a:srgbClr val="5B6B73"/>
                </a:solidFill>
                <a:latin typeface="Segoe UI Semibold"/>
              </a:rPr>
              <a:t>Beginning</a:t>
            </a:r>
          </a:p>
          <a:p>
            <a:pPr algn="ctr">
              <a:lnSpc>
                <a:spcPct val="100000"/>
              </a:lnSpc>
              <a:spcAft>
                <a:spcPts val="0"/>
              </a:spcAft>
            </a:pPr>
            <a:r>
              <a:rPr sz="1250" b="1">
                <a:solidFill>
                  <a:srgbClr val="5B6B73"/>
                </a:solidFill>
                <a:latin typeface="Segoe UI Semibold"/>
              </a:rPr>
              <a:t>the Study</a:t>
            </a:r>
          </a:p>
        </p:txBody>
      </p:sp>
      <p:sp>
        <p:nvSpPr>
          <p:cNvPr id="12" name="Chevron 11"/>
          <p:cNvSpPr/>
          <p:nvPr/>
        </p:nvSpPr>
        <p:spPr>
          <a:xfrm>
            <a:off x="4905298" y="1700784"/>
            <a:ext cx="2381097" cy="512064"/>
          </a:xfrm>
          <a:prstGeom prst="chevron">
            <a:avLst>
              <a:gd name="adj" fmla="val 32000"/>
            </a:avLst>
          </a:prstGeom>
          <a:solidFill>
            <a:srgbClr val="C99A2E"/>
          </a:solidFill>
          <a:ln>
            <a:noFill/>
          </a:ln>
          <a:effectLst>
            <a:outerShdw blurRad="54864" dist="36576" dir="5400000" rotWithShape="0">
              <a:srgbClr val="1F2A33">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250" b="1">
                <a:solidFill>
                  <a:srgbClr val="FFFFFF"/>
                </a:solidFill>
                <a:latin typeface="Segoe UI Semibold"/>
              </a:rPr>
              <a:t>Collecting</a:t>
            </a:r>
          </a:p>
          <a:p>
            <a:pPr algn="ctr">
              <a:lnSpc>
                <a:spcPct val="100000"/>
              </a:lnSpc>
              <a:spcAft>
                <a:spcPts val="0"/>
              </a:spcAft>
            </a:pPr>
            <a:r>
              <a:rPr sz="1250" b="1">
                <a:solidFill>
                  <a:srgbClr val="FFFFFF"/>
                </a:solidFill>
                <a:latin typeface="Segoe UI Semibold"/>
              </a:rPr>
              <a:t>Data</a:t>
            </a:r>
          </a:p>
        </p:txBody>
      </p:sp>
      <p:sp>
        <p:nvSpPr>
          <p:cNvPr id="13" name="Chevron 12"/>
          <p:cNvSpPr/>
          <p:nvPr/>
        </p:nvSpPr>
        <p:spPr>
          <a:xfrm>
            <a:off x="7030364" y="1700784"/>
            <a:ext cx="2381097" cy="512064"/>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250" b="1">
                <a:solidFill>
                  <a:srgbClr val="5B6B73"/>
                </a:solidFill>
                <a:latin typeface="Segoe UI Semibold"/>
              </a:rPr>
              <a:t>Analyzing</a:t>
            </a:r>
          </a:p>
          <a:p>
            <a:pPr algn="ctr">
              <a:lnSpc>
                <a:spcPct val="100000"/>
              </a:lnSpc>
              <a:spcAft>
                <a:spcPts val="0"/>
              </a:spcAft>
            </a:pPr>
            <a:r>
              <a:rPr sz="1250" b="1">
                <a:solidFill>
                  <a:srgbClr val="5B6B73"/>
                </a:solidFill>
                <a:latin typeface="Segoe UI Semibold"/>
              </a:rPr>
              <a:t>Data</a:t>
            </a:r>
          </a:p>
        </p:txBody>
      </p:sp>
      <p:sp>
        <p:nvSpPr>
          <p:cNvPr id="14" name="Chevron 13"/>
          <p:cNvSpPr/>
          <p:nvPr/>
        </p:nvSpPr>
        <p:spPr>
          <a:xfrm>
            <a:off x="9155430" y="1700784"/>
            <a:ext cx="2381097" cy="512064"/>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250" b="1">
                <a:solidFill>
                  <a:srgbClr val="5B6B73"/>
                </a:solidFill>
                <a:latin typeface="Segoe UI Semibold"/>
              </a:rPr>
              <a:t>Reporting</a:t>
            </a:r>
          </a:p>
          <a:p>
            <a:pPr algn="ctr">
              <a:lnSpc>
                <a:spcPct val="100000"/>
              </a:lnSpc>
              <a:spcAft>
                <a:spcPts val="0"/>
              </a:spcAft>
            </a:pPr>
            <a:r>
              <a:rPr sz="1250" b="1">
                <a:solidFill>
                  <a:srgbClr val="5B6B73"/>
                </a:solidFill>
                <a:latin typeface="Segoe UI Semibold"/>
              </a:rPr>
              <a:t>Results</a:t>
            </a:r>
          </a:p>
        </p:txBody>
      </p:sp>
      <p:sp>
        <p:nvSpPr>
          <p:cNvPr id="15" name="TextBox 14"/>
          <p:cNvSpPr txBox="1"/>
          <p:nvPr/>
        </p:nvSpPr>
        <p:spPr>
          <a:xfrm>
            <a:off x="640080" y="2286000"/>
            <a:ext cx="10927080" cy="960120"/>
          </a:xfrm>
          <a:prstGeom prst="rect">
            <a:avLst/>
          </a:prstGeom>
          <a:noFill/>
        </p:spPr>
        <p:txBody>
          <a:bodyPr wrap="square" anchor="t" lIns="0" rIns="0" tIns="0" bIns="0">
            <a:spAutoFit/>
          </a:bodyPr>
          <a:lstStyle/>
          <a:p>
            <a:pPr algn="l">
              <a:lnSpc>
                <a:spcPct val="108000"/>
              </a:lnSpc>
              <a:spcBef>
                <a:spcPts val="0"/>
              </a:spcBef>
              <a:spcAft>
                <a:spcPts val="0"/>
              </a:spcAft>
            </a:pPr>
            <a:r>
              <a:rPr sz="2400" b="0" i="0">
                <a:solidFill>
                  <a:srgbClr val="212A33"/>
                </a:solidFill>
                <a:latin typeface="Segoe UI"/>
              </a:rPr>
              <a:t>At the </a:t>
            </a:r>
            <a:r>
              <a:rPr sz="2400" b="1" i="0">
                <a:solidFill>
                  <a:srgbClr val="C99A2E"/>
                </a:solidFill>
                <a:latin typeface="Segoe UI"/>
              </a:rPr>
              <a:t>data collection stage</a:t>
            </a:r>
            <a:r>
              <a:rPr sz="2400" b="0" i="0">
                <a:solidFill>
                  <a:srgbClr val="212A33"/>
                </a:solidFill>
                <a:latin typeface="Segoe UI"/>
              </a:rPr>
              <a:t>, ethical research means:</a:t>
            </a:r>
          </a:p>
        </p:txBody>
      </p:sp>
      <p:sp>
        <p:nvSpPr>
          <p:cNvPr id="16" name="TextBox 15"/>
          <p:cNvSpPr txBox="1"/>
          <p:nvPr/>
        </p:nvSpPr>
        <p:spPr>
          <a:xfrm>
            <a:off x="868680" y="3291839"/>
            <a:ext cx="10561320" cy="1408176"/>
          </a:xfrm>
          <a:prstGeom prst="rect">
            <a:avLst/>
          </a:prstGeom>
          <a:noFill/>
        </p:spPr>
        <p:txBody>
          <a:bodyPr wrap="square" anchor="t" lIns="0" rIns="0" tIns="0" bIns="0">
            <a:spAutoFit/>
          </a:bodyPr>
          <a:lstStyle/>
          <a:p>
            <a:pPr algn="l">
              <a:lnSpc>
                <a:spcPct val="108000"/>
              </a:lnSpc>
              <a:spcBef>
                <a:spcPts val="0"/>
              </a:spcBef>
              <a:spcAft>
                <a:spcPts val="800"/>
              </a:spcAft>
            </a:pPr>
            <a:r>
              <a:rPr sz="2000" b="1">
                <a:solidFill>
                  <a:srgbClr val="C99A2E"/>
                </a:solidFill>
                <a:latin typeface="Segoe UI Semibold"/>
              </a:rPr>
              <a:t>•  </a:t>
            </a:r>
            <a:r>
              <a:rPr sz="2000" b="0" i="0">
                <a:solidFill>
                  <a:srgbClr val="212A33"/>
                </a:solidFill>
                <a:latin typeface="Segoe UI"/>
              </a:rPr>
              <a:t>Being honest with participants about what is happening and why</a:t>
            </a:r>
          </a:p>
          <a:p>
            <a:pPr algn="l">
              <a:lnSpc>
                <a:spcPct val="108000"/>
              </a:lnSpc>
              <a:spcBef>
                <a:spcPts val="0"/>
              </a:spcBef>
              <a:spcAft>
                <a:spcPts val="800"/>
              </a:spcAft>
            </a:pPr>
            <a:r>
              <a:rPr sz="2000" b="1">
                <a:solidFill>
                  <a:srgbClr val="C99A2E"/>
                </a:solidFill>
                <a:latin typeface="Segoe UI Semibold"/>
              </a:rPr>
              <a:t>•  </a:t>
            </a:r>
            <a:r>
              <a:rPr sz="2000" b="0" i="0">
                <a:solidFill>
                  <a:srgbClr val="212A33"/>
                </a:solidFill>
                <a:latin typeface="Segoe UI"/>
              </a:rPr>
              <a:t>Never pressuring or </a:t>
            </a:r>
            <a:r>
              <a:rPr sz="2000" b="1" i="0">
                <a:solidFill>
                  <a:srgbClr val="212A33"/>
                </a:solidFill>
                <a:latin typeface="Segoe UI"/>
              </a:rPr>
              <a:t>coercing</a:t>
            </a:r>
            <a:r>
              <a:rPr sz="2000" b="0" i="0">
                <a:solidFill>
                  <a:srgbClr val="212A33"/>
                </a:solidFill>
                <a:latin typeface="Segoe UI"/>
              </a:rPr>
              <a:t> participation </a:t>
            </a:r>
            <a:r>
              <a:rPr sz="2000" b="0" i="1">
                <a:solidFill>
                  <a:srgbClr val="5B6B73"/>
                </a:solidFill>
                <a:latin typeface="Segoe UI"/>
              </a:rPr>
              <a:t>(Creswell &amp; Creswell, 2023)</a:t>
            </a:r>
          </a:p>
          <a:p>
            <a:pPr algn="l">
              <a:lnSpc>
                <a:spcPct val="108000"/>
              </a:lnSpc>
              <a:spcBef>
                <a:spcPts val="0"/>
              </a:spcBef>
              <a:spcAft>
                <a:spcPts val="800"/>
              </a:spcAft>
            </a:pPr>
            <a:r>
              <a:rPr sz="2000" b="1">
                <a:solidFill>
                  <a:srgbClr val="C99A2E"/>
                </a:solidFill>
                <a:latin typeface="Segoe UI Semibold"/>
              </a:rPr>
              <a:t>•  </a:t>
            </a:r>
            <a:r>
              <a:rPr sz="2000" b="0" i="0">
                <a:solidFill>
                  <a:srgbClr val="212A33"/>
                </a:solidFill>
                <a:latin typeface="Segoe UI"/>
              </a:rPr>
              <a:t>Never </a:t>
            </a:r>
            <a:r>
              <a:rPr sz="2000" b="1" i="0">
                <a:solidFill>
                  <a:srgbClr val="212A33"/>
                </a:solidFill>
                <a:latin typeface="Segoe UI"/>
              </a:rPr>
              <a:t>fabricating</a:t>
            </a:r>
            <a:r>
              <a:rPr sz="2000" b="0" i="0">
                <a:solidFill>
                  <a:srgbClr val="212A33"/>
                </a:solidFill>
                <a:latin typeface="Segoe UI"/>
              </a:rPr>
              <a:t> data that wasn't actually collected</a:t>
            </a:r>
          </a:p>
        </p:txBody>
      </p:sp>
      <p:sp>
        <p:nvSpPr>
          <p:cNvPr id="17" name="Rounded Rectangle 16"/>
          <p:cNvSpPr/>
          <p:nvPr/>
        </p:nvSpPr>
        <p:spPr>
          <a:xfrm>
            <a:off x="640080" y="4773168"/>
            <a:ext cx="10927080" cy="1554480"/>
          </a:xfrm>
          <a:prstGeom prst="roundRect">
            <a:avLst>
              <a:gd name="adj" fmla="val 4000"/>
            </a:avLst>
          </a:prstGeom>
          <a:solidFill>
            <a:srgbClr val="FFFFFF"/>
          </a:solidFill>
          <a:ln w="12700">
            <a:solidFill>
              <a:srgbClr val="E3ECEF"/>
            </a:solidFill>
          </a:ln>
          <a:effectLst>
            <a:outerShdw blurRad="64008" dist="36576" dir="5400000" rotWithShape="0">
              <a:srgbClr val="1F2A33">
                <a:alpha val="6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 Same Side Corner Rectangle 17"/>
          <p:cNvSpPr/>
          <p:nvPr/>
        </p:nvSpPr>
        <p:spPr>
          <a:xfrm>
            <a:off x="640080" y="4773168"/>
            <a:ext cx="109728" cy="1554480"/>
          </a:xfrm>
          <a:prstGeom prst="round2Same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901183"/>
            <a:ext cx="10424159" cy="1316736"/>
          </a:xfrm>
          <a:prstGeom prst="rect">
            <a:avLst/>
          </a:prstGeom>
          <a:noFill/>
        </p:spPr>
        <p:txBody>
          <a:bodyPr wrap="square" anchor="ctr" lIns="0" rIns="0" tIns="0" bIns="0">
            <a:spAutoFit/>
          </a:bodyPr>
          <a:lstStyle/>
          <a:p>
            <a:pPr algn="l">
              <a:lnSpc>
                <a:spcPct val="106000"/>
              </a:lnSpc>
              <a:spcBef>
                <a:spcPts val="0"/>
              </a:spcBef>
              <a:spcAft>
                <a:spcPts val="300"/>
              </a:spcAft>
            </a:pPr>
            <a:r>
              <a:rPr sz="1500" b="1" i="0">
                <a:solidFill>
                  <a:srgbClr val="C99A2E"/>
                </a:solidFill>
                <a:latin typeface="Segoe UI Semibold"/>
              </a:rPr>
              <a:t>EXAMPLE:  </a:t>
            </a:r>
          </a:p>
          <a:p>
            <a:pPr algn="l">
              <a:lnSpc>
                <a:spcPct val="106000"/>
              </a:lnSpc>
              <a:spcBef>
                <a:spcPts val="0"/>
              </a:spcBef>
              <a:spcAft>
                <a:spcPts val="200"/>
              </a:spcAft>
            </a:pPr>
            <a:r>
              <a:rPr sz="2000" b="0" i="0">
                <a:solidFill>
                  <a:srgbClr val="212A33"/>
                </a:solidFill>
                <a:latin typeface="Segoe UI"/>
              </a:rPr>
              <a:t>If a household declines to have their well water sampled, the researchers must respect that decision — inventing a data point for that household to “complete the set” would be a serious ethical violation.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C99A2E"/>
                </a:solidFill>
                <a:latin typeface="Segoe UI Semibold"/>
              </a:rPr>
              <a:t>ETHICS ACROSS EVERY STAGE</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Ethics During Data Analysis</a:t>
            </a:r>
          </a:p>
        </p:txBody>
      </p:sp>
      <p:sp>
        <p:nvSpPr>
          <p:cNvPr id="7" name="Rectangle 6"/>
          <p:cNvSpPr/>
          <p:nvPr/>
        </p:nvSpPr>
        <p:spPr>
          <a:xfrm>
            <a:off x="658368" y="1572768"/>
            <a:ext cx="1463040" cy="64008"/>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14</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Pentagon 9"/>
          <p:cNvSpPr/>
          <p:nvPr/>
        </p:nvSpPr>
        <p:spPr>
          <a:xfrm>
            <a:off x="655167" y="1700784"/>
            <a:ext cx="2381097" cy="512064"/>
          </a:xfrm>
          <a:prstGeom prst="homePlate">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250" b="1">
                <a:solidFill>
                  <a:srgbClr val="5B6B73"/>
                </a:solidFill>
                <a:latin typeface="Segoe UI Semibold"/>
              </a:rPr>
              <a:t>Planning</a:t>
            </a:r>
          </a:p>
        </p:txBody>
      </p:sp>
      <p:sp>
        <p:nvSpPr>
          <p:cNvPr id="11" name="Chevron 10"/>
          <p:cNvSpPr/>
          <p:nvPr/>
        </p:nvSpPr>
        <p:spPr>
          <a:xfrm>
            <a:off x="2780233" y="1700784"/>
            <a:ext cx="2381097" cy="512064"/>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250" b="1">
                <a:solidFill>
                  <a:srgbClr val="5B6B73"/>
                </a:solidFill>
                <a:latin typeface="Segoe UI Semibold"/>
              </a:rPr>
              <a:t>Beginning</a:t>
            </a:r>
          </a:p>
          <a:p>
            <a:pPr algn="ctr">
              <a:lnSpc>
                <a:spcPct val="100000"/>
              </a:lnSpc>
              <a:spcAft>
                <a:spcPts val="0"/>
              </a:spcAft>
            </a:pPr>
            <a:r>
              <a:rPr sz="1250" b="1">
                <a:solidFill>
                  <a:srgbClr val="5B6B73"/>
                </a:solidFill>
                <a:latin typeface="Segoe UI Semibold"/>
              </a:rPr>
              <a:t>the Study</a:t>
            </a:r>
          </a:p>
        </p:txBody>
      </p:sp>
      <p:sp>
        <p:nvSpPr>
          <p:cNvPr id="12" name="Chevron 11"/>
          <p:cNvSpPr/>
          <p:nvPr/>
        </p:nvSpPr>
        <p:spPr>
          <a:xfrm>
            <a:off x="4905298" y="1700784"/>
            <a:ext cx="2381097" cy="512064"/>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250" b="1">
                <a:solidFill>
                  <a:srgbClr val="5B6B73"/>
                </a:solidFill>
                <a:latin typeface="Segoe UI Semibold"/>
              </a:rPr>
              <a:t>Collecting</a:t>
            </a:r>
          </a:p>
          <a:p>
            <a:pPr algn="ctr">
              <a:lnSpc>
                <a:spcPct val="100000"/>
              </a:lnSpc>
              <a:spcAft>
                <a:spcPts val="0"/>
              </a:spcAft>
            </a:pPr>
            <a:r>
              <a:rPr sz="1250" b="1">
                <a:solidFill>
                  <a:srgbClr val="5B6B73"/>
                </a:solidFill>
                <a:latin typeface="Segoe UI Semibold"/>
              </a:rPr>
              <a:t>Data</a:t>
            </a:r>
          </a:p>
        </p:txBody>
      </p:sp>
      <p:sp>
        <p:nvSpPr>
          <p:cNvPr id="13" name="Chevron 12"/>
          <p:cNvSpPr/>
          <p:nvPr/>
        </p:nvSpPr>
        <p:spPr>
          <a:xfrm>
            <a:off x="7030364" y="1700784"/>
            <a:ext cx="2381097" cy="512064"/>
          </a:xfrm>
          <a:prstGeom prst="chevron">
            <a:avLst>
              <a:gd name="adj" fmla="val 32000"/>
            </a:avLst>
          </a:prstGeom>
          <a:solidFill>
            <a:srgbClr val="C99A2E"/>
          </a:solidFill>
          <a:ln>
            <a:noFill/>
          </a:ln>
          <a:effectLst>
            <a:outerShdw blurRad="54864" dist="36576" dir="5400000" rotWithShape="0">
              <a:srgbClr val="1F2A33">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250" b="1">
                <a:solidFill>
                  <a:srgbClr val="FFFFFF"/>
                </a:solidFill>
                <a:latin typeface="Segoe UI Semibold"/>
              </a:rPr>
              <a:t>Analyzing</a:t>
            </a:r>
          </a:p>
          <a:p>
            <a:pPr algn="ctr">
              <a:lnSpc>
                <a:spcPct val="100000"/>
              </a:lnSpc>
              <a:spcAft>
                <a:spcPts val="0"/>
              </a:spcAft>
            </a:pPr>
            <a:r>
              <a:rPr sz="1250" b="1">
                <a:solidFill>
                  <a:srgbClr val="FFFFFF"/>
                </a:solidFill>
                <a:latin typeface="Segoe UI Semibold"/>
              </a:rPr>
              <a:t>Data</a:t>
            </a:r>
          </a:p>
        </p:txBody>
      </p:sp>
      <p:sp>
        <p:nvSpPr>
          <p:cNvPr id="14" name="Chevron 13"/>
          <p:cNvSpPr/>
          <p:nvPr/>
        </p:nvSpPr>
        <p:spPr>
          <a:xfrm>
            <a:off x="9155430" y="1700784"/>
            <a:ext cx="2381097" cy="512064"/>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250" b="1">
                <a:solidFill>
                  <a:srgbClr val="5B6B73"/>
                </a:solidFill>
                <a:latin typeface="Segoe UI Semibold"/>
              </a:rPr>
              <a:t>Reporting</a:t>
            </a:r>
          </a:p>
          <a:p>
            <a:pPr algn="ctr">
              <a:lnSpc>
                <a:spcPct val="100000"/>
              </a:lnSpc>
              <a:spcAft>
                <a:spcPts val="0"/>
              </a:spcAft>
            </a:pPr>
            <a:r>
              <a:rPr sz="1250" b="1">
                <a:solidFill>
                  <a:srgbClr val="5B6B73"/>
                </a:solidFill>
                <a:latin typeface="Segoe UI Semibold"/>
              </a:rPr>
              <a:t>Results</a:t>
            </a:r>
          </a:p>
        </p:txBody>
      </p:sp>
      <p:sp>
        <p:nvSpPr>
          <p:cNvPr id="15" name="TextBox 14"/>
          <p:cNvSpPr txBox="1"/>
          <p:nvPr/>
        </p:nvSpPr>
        <p:spPr>
          <a:xfrm>
            <a:off x="640080" y="2286000"/>
            <a:ext cx="10927080" cy="960120"/>
          </a:xfrm>
          <a:prstGeom prst="rect">
            <a:avLst/>
          </a:prstGeom>
          <a:noFill/>
        </p:spPr>
        <p:txBody>
          <a:bodyPr wrap="square" anchor="t" lIns="0" rIns="0" tIns="0" bIns="0">
            <a:spAutoFit/>
          </a:bodyPr>
          <a:lstStyle/>
          <a:p>
            <a:pPr algn="l">
              <a:lnSpc>
                <a:spcPct val="108000"/>
              </a:lnSpc>
              <a:spcBef>
                <a:spcPts val="0"/>
              </a:spcBef>
              <a:spcAft>
                <a:spcPts val="0"/>
              </a:spcAft>
            </a:pPr>
            <a:r>
              <a:rPr sz="2400" b="0" i="0">
                <a:solidFill>
                  <a:srgbClr val="212A33"/>
                </a:solidFill>
                <a:latin typeface="Segoe UI"/>
              </a:rPr>
              <a:t>At the </a:t>
            </a:r>
            <a:r>
              <a:rPr sz="2400" b="1" i="0">
                <a:solidFill>
                  <a:srgbClr val="C99A2E"/>
                </a:solidFill>
                <a:latin typeface="Segoe UI"/>
              </a:rPr>
              <a:t>data analysis stage</a:t>
            </a:r>
            <a:r>
              <a:rPr sz="2400" b="0" i="0">
                <a:solidFill>
                  <a:srgbClr val="212A33"/>
                </a:solidFill>
                <a:latin typeface="Segoe UI"/>
              </a:rPr>
              <a:t>, ethical research means:</a:t>
            </a:r>
          </a:p>
        </p:txBody>
      </p:sp>
      <p:sp>
        <p:nvSpPr>
          <p:cNvPr id="16" name="TextBox 15"/>
          <p:cNvSpPr txBox="1"/>
          <p:nvPr/>
        </p:nvSpPr>
        <p:spPr>
          <a:xfrm>
            <a:off x="868680" y="3291839"/>
            <a:ext cx="10561320" cy="1408176"/>
          </a:xfrm>
          <a:prstGeom prst="rect">
            <a:avLst/>
          </a:prstGeom>
          <a:noFill/>
        </p:spPr>
        <p:txBody>
          <a:bodyPr wrap="square" anchor="t" lIns="0" rIns="0" tIns="0" bIns="0">
            <a:spAutoFit/>
          </a:bodyPr>
          <a:lstStyle/>
          <a:p>
            <a:pPr algn="l">
              <a:lnSpc>
                <a:spcPct val="108000"/>
              </a:lnSpc>
              <a:spcBef>
                <a:spcPts val="0"/>
              </a:spcBef>
              <a:spcAft>
                <a:spcPts val="800"/>
              </a:spcAft>
            </a:pPr>
            <a:r>
              <a:rPr sz="2200" b="1">
                <a:solidFill>
                  <a:srgbClr val="C99A2E"/>
                </a:solidFill>
                <a:latin typeface="Segoe UI Semibold"/>
              </a:rPr>
              <a:t>•  </a:t>
            </a:r>
            <a:r>
              <a:rPr sz="2200" b="0" i="0">
                <a:solidFill>
                  <a:srgbClr val="212A33"/>
                </a:solidFill>
                <a:latin typeface="Segoe UI"/>
              </a:rPr>
              <a:t>Avoiding </a:t>
            </a:r>
            <a:r>
              <a:rPr sz="2200" b="1" i="0">
                <a:solidFill>
                  <a:srgbClr val="212A33"/>
                </a:solidFill>
                <a:latin typeface="Segoe UI"/>
              </a:rPr>
              <a:t>taking sides</a:t>
            </a:r>
            <a:r>
              <a:rPr sz="2200" b="0" i="0">
                <a:solidFill>
                  <a:srgbClr val="212A33"/>
                </a:solidFill>
                <a:latin typeface="Segoe UI"/>
              </a:rPr>
              <a:t> — not favoring results that make participants or the researcher look good </a:t>
            </a:r>
            <a:r>
              <a:rPr sz="2200" b="0" i="1">
                <a:solidFill>
                  <a:srgbClr val="5B6B73"/>
                </a:solidFill>
                <a:latin typeface="Segoe UI"/>
              </a:rPr>
              <a:t>(Creswell &amp; Creswell, 2023)</a:t>
            </a:r>
          </a:p>
          <a:p>
            <a:pPr algn="l">
              <a:lnSpc>
                <a:spcPct val="108000"/>
              </a:lnSpc>
              <a:spcBef>
                <a:spcPts val="0"/>
              </a:spcBef>
              <a:spcAft>
                <a:spcPts val="800"/>
              </a:spcAft>
            </a:pPr>
            <a:r>
              <a:rPr sz="2200" b="1">
                <a:solidFill>
                  <a:srgbClr val="C99A2E"/>
                </a:solidFill>
                <a:latin typeface="Segoe UI Semibold"/>
              </a:rPr>
              <a:t>•  </a:t>
            </a:r>
            <a:r>
              <a:rPr sz="2200" b="0" i="0">
                <a:solidFill>
                  <a:srgbClr val="212A33"/>
                </a:solidFill>
                <a:latin typeface="Segoe UI"/>
              </a:rPr>
              <a:t>Reporting the </a:t>
            </a:r>
            <a:r>
              <a:rPr sz="2200" b="1" i="0">
                <a:solidFill>
                  <a:srgbClr val="212A33"/>
                </a:solidFill>
                <a:latin typeface="Segoe UI"/>
              </a:rPr>
              <a:t>full range</a:t>
            </a:r>
            <a:r>
              <a:rPr sz="2200" b="0" i="0">
                <a:solidFill>
                  <a:srgbClr val="212A33"/>
                </a:solidFill>
                <a:latin typeface="Segoe UI"/>
              </a:rPr>
              <a:t> of results, including unexpected or contrary findings</a:t>
            </a:r>
          </a:p>
        </p:txBody>
      </p:sp>
      <p:sp>
        <p:nvSpPr>
          <p:cNvPr id="17" name="Rounded Rectangle 16"/>
          <p:cNvSpPr/>
          <p:nvPr/>
        </p:nvSpPr>
        <p:spPr>
          <a:xfrm>
            <a:off x="640080" y="4773168"/>
            <a:ext cx="10927080" cy="1554480"/>
          </a:xfrm>
          <a:prstGeom prst="roundRect">
            <a:avLst>
              <a:gd name="adj" fmla="val 4000"/>
            </a:avLst>
          </a:prstGeom>
          <a:solidFill>
            <a:srgbClr val="FFFFFF"/>
          </a:solidFill>
          <a:ln w="12700">
            <a:solidFill>
              <a:srgbClr val="E3ECEF"/>
            </a:solidFill>
          </a:ln>
          <a:effectLst>
            <a:outerShdw blurRad="64008" dist="36576" dir="5400000" rotWithShape="0">
              <a:srgbClr val="1F2A33">
                <a:alpha val="6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 Same Side Corner Rectangle 17"/>
          <p:cNvSpPr/>
          <p:nvPr/>
        </p:nvSpPr>
        <p:spPr>
          <a:xfrm>
            <a:off x="640080" y="4773168"/>
            <a:ext cx="109728" cy="1554480"/>
          </a:xfrm>
          <a:prstGeom prst="round2Same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901183"/>
            <a:ext cx="10424159" cy="1316736"/>
          </a:xfrm>
          <a:prstGeom prst="rect">
            <a:avLst/>
          </a:prstGeom>
          <a:noFill/>
        </p:spPr>
        <p:txBody>
          <a:bodyPr wrap="square" anchor="ctr" lIns="0" rIns="0" tIns="0" bIns="0">
            <a:spAutoFit/>
          </a:bodyPr>
          <a:lstStyle/>
          <a:p>
            <a:pPr algn="l">
              <a:lnSpc>
                <a:spcPct val="106000"/>
              </a:lnSpc>
              <a:spcBef>
                <a:spcPts val="0"/>
              </a:spcBef>
              <a:spcAft>
                <a:spcPts val="300"/>
              </a:spcAft>
            </a:pPr>
            <a:r>
              <a:rPr sz="1500" b="1" i="0">
                <a:solidFill>
                  <a:srgbClr val="C99A2E"/>
                </a:solidFill>
                <a:latin typeface="Segoe UI Semibold"/>
              </a:rPr>
              <a:t>EXAMPLE:  </a:t>
            </a:r>
          </a:p>
          <a:p>
            <a:pPr algn="l">
              <a:lnSpc>
                <a:spcPct val="106000"/>
              </a:lnSpc>
              <a:spcBef>
                <a:spcPts val="0"/>
              </a:spcBef>
              <a:spcAft>
                <a:spcPts val="200"/>
              </a:spcAft>
            </a:pPr>
            <a:r>
              <a:rPr sz="2000" b="0" i="0">
                <a:solidFill>
                  <a:srgbClr val="212A33"/>
                </a:solidFill>
                <a:latin typeface="Segoe UI"/>
              </a:rPr>
              <a:t>If 7 out of 10 households show improved water quality but 3 show no change, the researchers must report all 10 results — not just the 7 that support their hypothesis.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C99A2E"/>
                </a:solidFill>
                <a:latin typeface="Segoe UI Semibold"/>
              </a:rPr>
              <a:t>ETHICS ACROSS EVERY STAGE</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Ethics During Reporting and Writing</a:t>
            </a:r>
          </a:p>
        </p:txBody>
      </p:sp>
      <p:sp>
        <p:nvSpPr>
          <p:cNvPr id="7" name="Rectangle 6"/>
          <p:cNvSpPr/>
          <p:nvPr/>
        </p:nvSpPr>
        <p:spPr>
          <a:xfrm>
            <a:off x="658368" y="1572768"/>
            <a:ext cx="1463040" cy="64008"/>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15</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Pentagon 9"/>
          <p:cNvSpPr/>
          <p:nvPr/>
        </p:nvSpPr>
        <p:spPr>
          <a:xfrm>
            <a:off x="655167" y="1737360"/>
            <a:ext cx="2381097" cy="566928"/>
          </a:xfrm>
          <a:prstGeom prst="homePlate">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300" b="1">
                <a:solidFill>
                  <a:srgbClr val="5B6B73"/>
                </a:solidFill>
                <a:latin typeface="Segoe UI Semibold"/>
              </a:rPr>
              <a:t>Planning</a:t>
            </a:r>
          </a:p>
        </p:txBody>
      </p:sp>
      <p:sp>
        <p:nvSpPr>
          <p:cNvPr id="11" name="Chevron 10"/>
          <p:cNvSpPr/>
          <p:nvPr/>
        </p:nvSpPr>
        <p:spPr>
          <a:xfrm>
            <a:off x="2780233" y="1737360"/>
            <a:ext cx="2381097" cy="566928"/>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300" b="1">
                <a:solidFill>
                  <a:srgbClr val="5B6B73"/>
                </a:solidFill>
                <a:latin typeface="Segoe UI Semibold"/>
              </a:rPr>
              <a:t>Beginning</a:t>
            </a:r>
          </a:p>
          <a:p>
            <a:pPr algn="ctr">
              <a:lnSpc>
                <a:spcPct val="100000"/>
              </a:lnSpc>
              <a:spcAft>
                <a:spcPts val="0"/>
              </a:spcAft>
            </a:pPr>
            <a:r>
              <a:rPr sz="1300" b="1">
                <a:solidFill>
                  <a:srgbClr val="5B6B73"/>
                </a:solidFill>
                <a:latin typeface="Segoe UI Semibold"/>
              </a:rPr>
              <a:t>the Study</a:t>
            </a:r>
          </a:p>
        </p:txBody>
      </p:sp>
      <p:sp>
        <p:nvSpPr>
          <p:cNvPr id="12" name="Chevron 11"/>
          <p:cNvSpPr/>
          <p:nvPr/>
        </p:nvSpPr>
        <p:spPr>
          <a:xfrm>
            <a:off x="4905298" y="1737360"/>
            <a:ext cx="2381097" cy="566928"/>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300" b="1">
                <a:solidFill>
                  <a:srgbClr val="5B6B73"/>
                </a:solidFill>
                <a:latin typeface="Segoe UI Semibold"/>
              </a:rPr>
              <a:t>Collecting</a:t>
            </a:r>
          </a:p>
          <a:p>
            <a:pPr algn="ctr">
              <a:lnSpc>
                <a:spcPct val="100000"/>
              </a:lnSpc>
              <a:spcAft>
                <a:spcPts val="0"/>
              </a:spcAft>
            </a:pPr>
            <a:r>
              <a:rPr sz="1300" b="1">
                <a:solidFill>
                  <a:srgbClr val="5B6B73"/>
                </a:solidFill>
                <a:latin typeface="Segoe UI Semibold"/>
              </a:rPr>
              <a:t>Data</a:t>
            </a:r>
          </a:p>
        </p:txBody>
      </p:sp>
      <p:sp>
        <p:nvSpPr>
          <p:cNvPr id="13" name="Chevron 12"/>
          <p:cNvSpPr/>
          <p:nvPr/>
        </p:nvSpPr>
        <p:spPr>
          <a:xfrm>
            <a:off x="7030364" y="1737360"/>
            <a:ext cx="2381097" cy="566928"/>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300" b="1">
                <a:solidFill>
                  <a:srgbClr val="5B6B73"/>
                </a:solidFill>
                <a:latin typeface="Segoe UI Semibold"/>
              </a:rPr>
              <a:t>Analyzing</a:t>
            </a:r>
          </a:p>
          <a:p>
            <a:pPr algn="ctr">
              <a:lnSpc>
                <a:spcPct val="100000"/>
              </a:lnSpc>
              <a:spcAft>
                <a:spcPts val="0"/>
              </a:spcAft>
            </a:pPr>
            <a:r>
              <a:rPr sz="1300" b="1">
                <a:solidFill>
                  <a:srgbClr val="5B6B73"/>
                </a:solidFill>
                <a:latin typeface="Segoe UI Semibold"/>
              </a:rPr>
              <a:t>Data</a:t>
            </a:r>
          </a:p>
        </p:txBody>
      </p:sp>
      <p:sp>
        <p:nvSpPr>
          <p:cNvPr id="14" name="Chevron 13"/>
          <p:cNvSpPr/>
          <p:nvPr/>
        </p:nvSpPr>
        <p:spPr>
          <a:xfrm>
            <a:off x="9155430" y="1737360"/>
            <a:ext cx="2381097" cy="566928"/>
          </a:xfrm>
          <a:prstGeom prst="chevron">
            <a:avLst>
              <a:gd name="adj" fmla="val 32000"/>
            </a:avLst>
          </a:prstGeom>
          <a:solidFill>
            <a:srgbClr val="C99A2E"/>
          </a:solidFill>
          <a:ln>
            <a:noFill/>
          </a:ln>
          <a:effectLst>
            <a:outerShdw blurRad="54864" dist="36576" dir="5400000" rotWithShape="0">
              <a:srgbClr val="1F2A33">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300" b="1">
                <a:solidFill>
                  <a:srgbClr val="FFFFFF"/>
                </a:solidFill>
                <a:latin typeface="Segoe UI Semibold"/>
              </a:rPr>
              <a:t>Reporting</a:t>
            </a:r>
          </a:p>
          <a:p>
            <a:pPr algn="ctr">
              <a:lnSpc>
                <a:spcPct val="100000"/>
              </a:lnSpc>
              <a:spcAft>
                <a:spcPts val="0"/>
              </a:spcAft>
            </a:pPr>
            <a:r>
              <a:rPr sz="1300" b="1">
                <a:solidFill>
                  <a:srgbClr val="FFFFFF"/>
                </a:solidFill>
                <a:latin typeface="Segoe UI Semibold"/>
              </a:rPr>
              <a:t>Results</a:t>
            </a:r>
          </a:p>
        </p:txBody>
      </p:sp>
      <p:sp>
        <p:nvSpPr>
          <p:cNvPr id="15" name="TextBox 14"/>
          <p:cNvSpPr txBox="1"/>
          <p:nvPr/>
        </p:nvSpPr>
        <p:spPr>
          <a:xfrm>
            <a:off x="640080" y="2395728"/>
            <a:ext cx="10927080" cy="594360"/>
          </a:xfrm>
          <a:prstGeom prst="rect">
            <a:avLst/>
          </a:prstGeom>
          <a:noFill/>
        </p:spPr>
        <p:txBody>
          <a:bodyPr wrap="square" anchor="t" lIns="0" rIns="0" tIns="0" bIns="0">
            <a:spAutoFit/>
          </a:bodyPr>
          <a:lstStyle/>
          <a:p>
            <a:pPr algn="l">
              <a:lnSpc>
                <a:spcPct val="106000"/>
              </a:lnSpc>
              <a:spcBef>
                <a:spcPts val="0"/>
              </a:spcBef>
              <a:spcAft>
                <a:spcPts val="0"/>
              </a:spcAft>
            </a:pPr>
            <a:r>
              <a:rPr sz="2800" b="0" i="0">
                <a:solidFill>
                  <a:srgbClr val="212A33"/>
                </a:solidFill>
                <a:latin typeface="Segoe UI"/>
              </a:rPr>
              <a:t>At the </a:t>
            </a:r>
            <a:r>
              <a:rPr sz="2800" b="1" i="0">
                <a:solidFill>
                  <a:srgbClr val="C99A2E"/>
                </a:solidFill>
                <a:latin typeface="Segoe UI"/>
              </a:rPr>
              <a:t>reporting stage</a:t>
            </a:r>
            <a:r>
              <a:rPr sz="2800" b="0" i="0">
                <a:solidFill>
                  <a:srgbClr val="212A33"/>
                </a:solidFill>
                <a:latin typeface="Segoe UI"/>
              </a:rPr>
              <a:t>, ethical research means:</a:t>
            </a:r>
          </a:p>
        </p:txBody>
      </p:sp>
      <p:sp>
        <p:nvSpPr>
          <p:cNvPr id="16" name="TextBox 15"/>
          <p:cNvSpPr txBox="1"/>
          <p:nvPr/>
        </p:nvSpPr>
        <p:spPr>
          <a:xfrm>
            <a:off x="868680" y="3127248"/>
            <a:ext cx="10561320" cy="1463040"/>
          </a:xfrm>
          <a:prstGeom prst="rect">
            <a:avLst/>
          </a:prstGeom>
          <a:noFill/>
        </p:spPr>
        <p:txBody>
          <a:bodyPr wrap="square" anchor="t" lIns="0" rIns="0" tIns="0" bIns="0">
            <a:spAutoFit/>
          </a:bodyPr>
          <a:lstStyle/>
          <a:p>
            <a:pPr algn="l">
              <a:lnSpc>
                <a:spcPct val="108000"/>
              </a:lnSpc>
              <a:spcBef>
                <a:spcPts val="0"/>
              </a:spcBef>
              <a:spcAft>
                <a:spcPts val="800"/>
              </a:spcAft>
            </a:pPr>
            <a:r>
              <a:rPr sz="2800" b="1">
                <a:solidFill>
                  <a:srgbClr val="C99A2E"/>
                </a:solidFill>
                <a:latin typeface="Segoe UI Semibold"/>
              </a:rPr>
              <a:t>•  </a:t>
            </a:r>
            <a:r>
              <a:rPr sz="2800" b="0" i="0">
                <a:solidFill>
                  <a:srgbClr val="212A33"/>
                </a:solidFill>
                <a:latin typeface="Segoe UI"/>
              </a:rPr>
              <a:t>Communicating findings honestly and clearly</a:t>
            </a:r>
          </a:p>
          <a:p>
            <a:pPr algn="l">
              <a:lnSpc>
                <a:spcPct val="108000"/>
              </a:lnSpc>
              <a:spcBef>
                <a:spcPts val="0"/>
              </a:spcBef>
              <a:spcAft>
                <a:spcPts val="800"/>
              </a:spcAft>
            </a:pPr>
            <a:r>
              <a:rPr sz="2800" b="1">
                <a:solidFill>
                  <a:srgbClr val="C99A2E"/>
                </a:solidFill>
                <a:latin typeface="Segoe UI Semibold"/>
              </a:rPr>
              <a:t>•  </a:t>
            </a:r>
            <a:r>
              <a:rPr sz="2800" b="0" i="0">
                <a:solidFill>
                  <a:srgbClr val="212A33"/>
                </a:solidFill>
                <a:latin typeface="Segoe UI"/>
              </a:rPr>
              <a:t>Giving proper </a:t>
            </a:r>
            <a:r>
              <a:rPr sz="2800" b="1" i="0">
                <a:solidFill>
                  <a:srgbClr val="212A33"/>
                </a:solidFill>
                <a:latin typeface="Segoe UI"/>
              </a:rPr>
              <a:t>credit</a:t>
            </a:r>
            <a:r>
              <a:rPr sz="2800" b="0" i="0">
                <a:solidFill>
                  <a:srgbClr val="212A33"/>
                </a:solidFill>
                <a:latin typeface="Segoe UI"/>
              </a:rPr>
              <a:t> to the ideas and words of others </a:t>
            </a:r>
            <a:r>
              <a:rPr sz="2800" b="0" i="1">
                <a:solidFill>
                  <a:srgbClr val="5B6B73"/>
                </a:solidFill>
                <a:latin typeface="Segoe UI"/>
              </a:rPr>
              <a:t>(Creswell &amp; Creswell, 2023)</a:t>
            </a:r>
          </a:p>
        </p:txBody>
      </p:sp>
      <p:sp>
        <p:nvSpPr>
          <p:cNvPr id="17" name="Rounded Rectangle 16"/>
          <p:cNvSpPr/>
          <p:nvPr/>
        </p:nvSpPr>
        <p:spPr>
          <a:xfrm>
            <a:off x="640080" y="4709160"/>
            <a:ext cx="10927080" cy="1536192"/>
          </a:xfrm>
          <a:prstGeom prst="roundRect">
            <a:avLst>
              <a:gd name="adj" fmla="val 5000"/>
            </a:avLst>
          </a:prstGeom>
          <a:solidFill>
            <a:srgbClr val="E76F51"/>
          </a:solidFill>
          <a:ln>
            <a:no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828032"/>
            <a:ext cx="8686800" cy="1298448"/>
          </a:xfrm>
          <a:prstGeom prst="rect">
            <a:avLst/>
          </a:prstGeom>
          <a:noFill/>
        </p:spPr>
        <p:txBody>
          <a:bodyPr wrap="square" anchor="ctr" lIns="0" rIns="0" tIns="0" bIns="0">
            <a:spAutoFit/>
          </a:bodyPr>
          <a:lstStyle/>
          <a:p>
            <a:pPr algn="l">
              <a:lnSpc>
                <a:spcPct val="105000"/>
              </a:lnSpc>
              <a:spcBef>
                <a:spcPts val="0"/>
              </a:spcBef>
              <a:spcAft>
                <a:spcPts val="400"/>
              </a:spcAft>
            </a:pPr>
            <a:r>
              <a:rPr sz="2300" b="1" i="0">
                <a:solidFill>
                  <a:srgbClr val="FFFFFF"/>
                </a:solidFill>
                <a:latin typeface="Segoe UI Semibold"/>
              </a:rPr>
              <a:t>That second point — giving credit — is its own major skill.</a:t>
            </a:r>
          </a:p>
          <a:p>
            <a:pPr algn="l">
              <a:lnSpc>
                <a:spcPct val="106000"/>
              </a:lnSpc>
              <a:spcBef>
                <a:spcPts val="0"/>
              </a:spcBef>
              <a:spcAft>
                <a:spcPts val="0"/>
              </a:spcAft>
            </a:pPr>
            <a:r>
              <a:rPr sz="1900" b="0" i="1">
                <a:solidFill>
                  <a:srgbClr val="FFE6DD"/>
                </a:solidFill>
                <a:latin typeface="Segoe UI"/>
              </a:rPr>
              <a:t>It's coming up next.</a:t>
            </a:r>
          </a:p>
        </p:txBody>
      </p:sp>
      <p:sp>
        <p:nvSpPr>
          <p:cNvPr id="19" name="Right Arrow 18"/>
          <p:cNvSpPr/>
          <p:nvPr/>
        </p:nvSpPr>
        <p:spPr>
          <a:xfrm>
            <a:off x="10058400" y="5230368"/>
            <a:ext cx="1051560" cy="502920"/>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C99A2E"/>
                </a:solidFill>
                <a:latin typeface="Segoe UI Semibold"/>
              </a:rPr>
              <a:t>ETHICS ACROSS EVERY STAGE</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Trace the Stages</a:t>
            </a:r>
          </a:p>
        </p:txBody>
      </p:sp>
      <p:sp>
        <p:nvSpPr>
          <p:cNvPr id="7" name="Rectangle 6"/>
          <p:cNvSpPr/>
          <p:nvPr/>
        </p:nvSpPr>
        <p:spPr>
          <a:xfrm>
            <a:off x="658368" y="1572768"/>
            <a:ext cx="1463040" cy="64008"/>
          </a:xfrm>
          <a:prstGeom prst="rect">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16</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Rounded Rectangle 9"/>
          <p:cNvSpPr/>
          <p:nvPr/>
        </p:nvSpPr>
        <p:spPr>
          <a:xfrm>
            <a:off x="640080" y="1719072"/>
            <a:ext cx="1463040" cy="420624"/>
          </a:xfrm>
          <a:prstGeom prst="roundRect">
            <a:avLst>
              <a:gd name="adj" fmla="val 50000"/>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latin typeface="Segoe UI Semibold"/>
              </a:rPr>
              <a:t>APPLY IT</a:t>
            </a:r>
          </a:p>
        </p:txBody>
      </p:sp>
      <p:sp>
        <p:nvSpPr>
          <p:cNvPr id="11" name="TextBox 10"/>
          <p:cNvSpPr txBox="1"/>
          <p:nvPr/>
        </p:nvSpPr>
        <p:spPr>
          <a:xfrm>
            <a:off x="2331720" y="1664208"/>
            <a:ext cx="9144000" cy="658368"/>
          </a:xfrm>
          <a:prstGeom prst="rect">
            <a:avLst/>
          </a:prstGeom>
          <a:noFill/>
        </p:spPr>
        <p:txBody>
          <a:bodyPr wrap="square" anchor="ctr" lIns="0" rIns="0" tIns="0" bIns="0">
            <a:spAutoFit/>
          </a:bodyPr>
          <a:lstStyle/>
          <a:p>
            <a:pPr algn="l">
              <a:lnSpc>
                <a:spcPct val="108000"/>
              </a:lnSpc>
              <a:spcBef>
                <a:spcPts val="0"/>
              </a:spcBef>
              <a:spcAft>
                <a:spcPts val="0"/>
              </a:spcAft>
            </a:pPr>
            <a:r>
              <a:rPr sz="1800" b="0" i="0">
                <a:solidFill>
                  <a:srgbClr val="5B6B73"/>
                </a:solidFill>
                <a:latin typeface="Segoe UI"/>
              </a:rPr>
              <a:t>Sort each researcher action into the correct stage — Planning, Collecting, Analyzing, or Reporting.</a:t>
            </a:r>
          </a:p>
        </p:txBody>
      </p:sp>
      <p:sp>
        <p:nvSpPr>
          <p:cNvPr id="12" name="Pentagon 11"/>
          <p:cNvSpPr/>
          <p:nvPr/>
        </p:nvSpPr>
        <p:spPr>
          <a:xfrm>
            <a:off x="655167" y="2432304"/>
            <a:ext cx="2381097" cy="749808"/>
          </a:xfrm>
          <a:prstGeom prst="homePlate">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300" b="1">
                <a:solidFill>
                  <a:srgbClr val="5B6B73"/>
                </a:solidFill>
                <a:latin typeface="Segoe UI Semibold"/>
              </a:rPr>
              <a:t>Planning</a:t>
            </a:r>
          </a:p>
        </p:txBody>
      </p:sp>
      <p:sp>
        <p:nvSpPr>
          <p:cNvPr id="13" name="Chevron 12"/>
          <p:cNvSpPr/>
          <p:nvPr/>
        </p:nvSpPr>
        <p:spPr>
          <a:xfrm>
            <a:off x="2780233" y="2432304"/>
            <a:ext cx="2381097" cy="749808"/>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300" b="1">
                <a:solidFill>
                  <a:srgbClr val="5B6B73"/>
                </a:solidFill>
                <a:latin typeface="Segoe UI Semibold"/>
              </a:rPr>
              <a:t>Beginning</a:t>
            </a:r>
          </a:p>
          <a:p>
            <a:pPr algn="ctr">
              <a:lnSpc>
                <a:spcPct val="100000"/>
              </a:lnSpc>
              <a:spcAft>
                <a:spcPts val="0"/>
              </a:spcAft>
            </a:pPr>
            <a:r>
              <a:rPr sz="1300" b="1">
                <a:solidFill>
                  <a:srgbClr val="5B6B73"/>
                </a:solidFill>
                <a:latin typeface="Segoe UI Semibold"/>
              </a:rPr>
              <a:t>the Study</a:t>
            </a:r>
          </a:p>
        </p:txBody>
      </p:sp>
      <p:sp>
        <p:nvSpPr>
          <p:cNvPr id="14" name="Chevron 13"/>
          <p:cNvSpPr/>
          <p:nvPr/>
        </p:nvSpPr>
        <p:spPr>
          <a:xfrm>
            <a:off x="4905298" y="2432304"/>
            <a:ext cx="2381097" cy="749808"/>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300" b="1">
                <a:solidFill>
                  <a:srgbClr val="5B6B73"/>
                </a:solidFill>
                <a:latin typeface="Segoe UI Semibold"/>
              </a:rPr>
              <a:t>Collecting</a:t>
            </a:r>
          </a:p>
          <a:p>
            <a:pPr algn="ctr">
              <a:lnSpc>
                <a:spcPct val="100000"/>
              </a:lnSpc>
              <a:spcAft>
                <a:spcPts val="0"/>
              </a:spcAft>
            </a:pPr>
            <a:r>
              <a:rPr sz="1300" b="1">
                <a:solidFill>
                  <a:srgbClr val="5B6B73"/>
                </a:solidFill>
                <a:latin typeface="Segoe UI Semibold"/>
              </a:rPr>
              <a:t>Data</a:t>
            </a:r>
          </a:p>
        </p:txBody>
      </p:sp>
      <p:sp>
        <p:nvSpPr>
          <p:cNvPr id="15" name="Chevron 14"/>
          <p:cNvSpPr/>
          <p:nvPr/>
        </p:nvSpPr>
        <p:spPr>
          <a:xfrm>
            <a:off x="7030364" y="2432304"/>
            <a:ext cx="2381097" cy="749808"/>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300" b="1">
                <a:solidFill>
                  <a:srgbClr val="5B6B73"/>
                </a:solidFill>
                <a:latin typeface="Segoe UI Semibold"/>
              </a:rPr>
              <a:t>Analyzing</a:t>
            </a:r>
          </a:p>
          <a:p>
            <a:pPr algn="ctr">
              <a:lnSpc>
                <a:spcPct val="100000"/>
              </a:lnSpc>
              <a:spcAft>
                <a:spcPts val="0"/>
              </a:spcAft>
            </a:pPr>
            <a:r>
              <a:rPr sz="1300" b="1">
                <a:solidFill>
                  <a:srgbClr val="5B6B73"/>
                </a:solidFill>
                <a:latin typeface="Segoe UI Semibold"/>
              </a:rPr>
              <a:t>Data</a:t>
            </a:r>
          </a:p>
        </p:txBody>
      </p:sp>
      <p:sp>
        <p:nvSpPr>
          <p:cNvPr id="16" name="Chevron 15"/>
          <p:cNvSpPr/>
          <p:nvPr/>
        </p:nvSpPr>
        <p:spPr>
          <a:xfrm>
            <a:off x="9155430" y="2432304"/>
            <a:ext cx="2381097" cy="749808"/>
          </a:xfrm>
          <a:prstGeom prst="chevron">
            <a:avLst>
              <a:gd name="adj" fmla="val 32000"/>
            </a:avLst>
          </a:prstGeom>
          <a:solidFill>
            <a:srgbClr val="D9E2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0"/>
              </a:spcAft>
            </a:pPr>
            <a:r>
              <a:rPr sz="1300" b="1">
                <a:solidFill>
                  <a:srgbClr val="5B6B73"/>
                </a:solidFill>
                <a:latin typeface="Segoe UI Semibold"/>
              </a:rPr>
              <a:t>Reporting</a:t>
            </a:r>
          </a:p>
          <a:p>
            <a:pPr algn="ctr">
              <a:lnSpc>
                <a:spcPct val="100000"/>
              </a:lnSpc>
              <a:spcAft>
                <a:spcPts val="0"/>
              </a:spcAft>
            </a:pPr>
            <a:r>
              <a:rPr sz="1300" b="1">
                <a:solidFill>
                  <a:srgbClr val="5B6B73"/>
                </a:solidFill>
                <a:latin typeface="Segoe UI Semibold"/>
              </a:rPr>
              <a:t>Results</a:t>
            </a:r>
          </a:p>
        </p:txBody>
      </p:sp>
      <p:sp>
        <p:nvSpPr>
          <p:cNvPr id="17" name="Rounded Rectangle 16"/>
          <p:cNvSpPr/>
          <p:nvPr/>
        </p:nvSpPr>
        <p:spPr>
          <a:xfrm>
            <a:off x="640080" y="3493008"/>
            <a:ext cx="5285232" cy="1060704"/>
          </a:xfrm>
          <a:prstGeom prst="roundRect">
            <a:avLst>
              <a:gd name="adj" fmla="val 8000"/>
            </a:avLst>
          </a:prstGeom>
          <a:solidFill>
            <a:srgbClr val="FFFFFF"/>
          </a:solidFill>
          <a:ln w="19050">
            <a:solidFill>
              <a:srgbClr val="E9C46A"/>
            </a:solid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1247" y="3749039"/>
            <a:ext cx="548640" cy="548640"/>
          </a:xfrm>
          <a:prstGeom prst="ellipse">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3749039"/>
            <a:ext cx="548640" cy="548640"/>
          </a:xfrm>
          <a:prstGeom prst="rect">
            <a:avLst/>
          </a:prstGeom>
          <a:noFill/>
        </p:spPr>
        <p:txBody>
          <a:bodyPr wrap="square" anchor="ctr" lIns="0" rIns="0" tIns="0" bIns="0">
            <a:spAutoFit/>
          </a:bodyPr>
          <a:lstStyle/>
          <a:p>
            <a:pPr algn="ctr">
              <a:lnSpc>
                <a:spcPct val="106000"/>
              </a:lnSpc>
              <a:spcBef>
                <a:spcPts val="0"/>
              </a:spcBef>
              <a:spcAft>
                <a:spcPts val="0"/>
              </a:spcAft>
            </a:pPr>
            <a:r>
              <a:rPr sz="2000" b="1" i="0">
                <a:solidFill>
                  <a:srgbClr val="FFFFFF"/>
                </a:solidFill>
                <a:latin typeface="Segoe UI Semibold"/>
              </a:rPr>
              <a:t>1</a:t>
            </a:r>
          </a:p>
        </p:txBody>
      </p:sp>
      <p:sp>
        <p:nvSpPr>
          <p:cNvPr id="20" name="TextBox 19"/>
          <p:cNvSpPr txBox="1"/>
          <p:nvPr/>
        </p:nvSpPr>
        <p:spPr>
          <a:xfrm>
            <a:off x="1572768" y="3566160"/>
            <a:ext cx="4142232" cy="914399"/>
          </a:xfrm>
          <a:prstGeom prst="rect">
            <a:avLst/>
          </a:prstGeom>
          <a:noFill/>
        </p:spPr>
        <p:txBody>
          <a:bodyPr wrap="square" anchor="ctr" lIns="0" rIns="0" tIns="0" bIns="0">
            <a:spAutoFit/>
          </a:bodyPr>
          <a:lstStyle/>
          <a:p>
            <a:pPr algn="l">
              <a:lnSpc>
                <a:spcPct val="108000"/>
              </a:lnSpc>
              <a:spcBef>
                <a:spcPts val="0"/>
              </a:spcBef>
              <a:spcAft>
                <a:spcPts val="0"/>
              </a:spcAft>
            </a:pPr>
            <a:r>
              <a:rPr sz="1800" b="0" i="0">
                <a:solidFill>
                  <a:srgbClr val="212A33"/>
                </a:solidFill>
                <a:latin typeface="Segoe UI"/>
              </a:rPr>
              <a:t>Deciding to study the barangay because they genuinely lack safe water access</a:t>
            </a:r>
          </a:p>
        </p:txBody>
      </p:sp>
      <p:sp>
        <p:nvSpPr>
          <p:cNvPr id="21" name="Rounded Rectangle 20"/>
          <p:cNvSpPr/>
          <p:nvPr/>
        </p:nvSpPr>
        <p:spPr>
          <a:xfrm>
            <a:off x="6217920" y="3493008"/>
            <a:ext cx="5285232" cy="1060704"/>
          </a:xfrm>
          <a:prstGeom prst="roundRect">
            <a:avLst>
              <a:gd name="adj" fmla="val 8000"/>
            </a:avLst>
          </a:prstGeom>
          <a:solidFill>
            <a:srgbClr val="FFFFFF"/>
          </a:solidFill>
          <a:ln w="19050">
            <a:solidFill>
              <a:srgbClr val="E9C46A"/>
            </a:solid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9088" y="3749039"/>
            <a:ext cx="548640" cy="548640"/>
          </a:xfrm>
          <a:prstGeom prst="ellipse">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8" y="3749039"/>
            <a:ext cx="548640" cy="548640"/>
          </a:xfrm>
          <a:prstGeom prst="rect">
            <a:avLst/>
          </a:prstGeom>
          <a:noFill/>
        </p:spPr>
        <p:txBody>
          <a:bodyPr wrap="square" anchor="ctr" lIns="0" rIns="0" tIns="0" bIns="0">
            <a:spAutoFit/>
          </a:bodyPr>
          <a:lstStyle/>
          <a:p>
            <a:pPr algn="ctr">
              <a:lnSpc>
                <a:spcPct val="106000"/>
              </a:lnSpc>
              <a:spcBef>
                <a:spcPts val="0"/>
              </a:spcBef>
              <a:spcAft>
                <a:spcPts val="0"/>
              </a:spcAft>
            </a:pPr>
            <a:r>
              <a:rPr sz="2000" b="1" i="0">
                <a:solidFill>
                  <a:srgbClr val="FFFFFF"/>
                </a:solidFill>
                <a:latin typeface="Segoe UI Semibold"/>
              </a:rPr>
              <a:t>2</a:t>
            </a:r>
          </a:p>
        </p:txBody>
      </p:sp>
      <p:sp>
        <p:nvSpPr>
          <p:cNvPr id="24" name="TextBox 23"/>
          <p:cNvSpPr txBox="1"/>
          <p:nvPr/>
        </p:nvSpPr>
        <p:spPr>
          <a:xfrm>
            <a:off x="7150608" y="3566160"/>
            <a:ext cx="4142232" cy="914399"/>
          </a:xfrm>
          <a:prstGeom prst="rect">
            <a:avLst/>
          </a:prstGeom>
          <a:noFill/>
        </p:spPr>
        <p:txBody>
          <a:bodyPr wrap="square" anchor="ctr" lIns="0" rIns="0" tIns="0" bIns="0">
            <a:spAutoFit/>
          </a:bodyPr>
          <a:lstStyle/>
          <a:p>
            <a:pPr algn="l">
              <a:lnSpc>
                <a:spcPct val="108000"/>
              </a:lnSpc>
              <a:spcBef>
                <a:spcPts val="0"/>
              </a:spcBef>
              <a:spcAft>
                <a:spcPts val="0"/>
              </a:spcAft>
            </a:pPr>
            <a:r>
              <a:rPr sz="1800" b="0" i="0">
                <a:solidFill>
                  <a:srgbClr val="212A33"/>
                </a:solidFill>
                <a:latin typeface="Segoe UI"/>
              </a:rPr>
              <a:t>Recording a water sample result exactly as measured, even though it's disappointing</a:t>
            </a:r>
          </a:p>
        </p:txBody>
      </p:sp>
      <p:sp>
        <p:nvSpPr>
          <p:cNvPr id="25" name="Rounded Rectangle 24"/>
          <p:cNvSpPr/>
          <p:nvPr/>
        </p:nvSpPr>
        <p:spPr>
          <a:xfrm>
            <a:off x="640080" y="4773168"/>
            <a:ext cx="5285232" cy="1060704"/>
          </a:xfrm>
          <a:prstGeom prst="roundRect">
            <a:avLst>
              <a:gd name="adj" fmla="val 8000"/>
            </a:avLst>
          </a:prstGeom>
          <a:solidFill>
            <a:srgbClr val="FFFFFF"/>
          </a:solidFill>
          <a:ln w="19050">
            <a:solidFill>
              <a:srgbClr val="E9C46A"/>
            </a:solid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1247" y="5029200"/>
            <a:ext cx="548640" cy="548640"/>
          </a:xfrm>
          <a:prstGeom prst="ellipse">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7" y="5029200"/>
            <a:ext cx="548640" cy="548640"/>
          </a:xfrm>
          <a:prstGeom prst="rect">
            <a:avLst/>
          </a:prstGeom>
          <a:noFill/>
        </p:spPr>
        <p:txBody>
          <a:bodyPr wrap="square" anchor="ctr" lIns="0" rIns="0" tIns="0" bIns="0">
            <a:spAutoFit/>
          </a:bodyPr>
          <a:lstStyle/>
          <a:p>
            <a:pPr algn="ctr">
              <a:lnSpc>
                <a:spcPct val="106000"/>
              </a:lnSpc>
              <a:spcBef>
                <a:spcPts val="0"/>
              </a:spcBef>
              <a:spcAft>
                <a:spcPts val="0"/>
              </a:spcAft>
            </a:pPr>
            <a:r>
              <a:rPr sz="2000" b="1" i="0">
                <a:solidFill>
                  <a:srgbClr val="FFFFFF"/>
                </a:solidFill>
                <a:latin typeface="Segoe UI Semibold"/>
              </a:rPr>
              <a:t>3</a:t>
            </a:r>
          </a:p>
        </p:txBody>
      </p:sp>
      <p:sp>
        <p:nvSpPr>
          <p:cNvPr id="28" name="TextBox 27"/>
          <p:cNvSpPr txBox="1"/>
          <p:nvPr/>
        </p:nvSpPr>
        <p:spPr>
          <a:xfrm>
            <a:off x="1572768" y="4846320"/>
            <a:ext cx="4142232" cy="914399"/>
          </a:xfrm>
          <a:prstGeom prst="rect">
            <a:avLst/>
          </a:prstGeom>
          <a:noFill/>
        </p:spPr>
        <p:txBody>
          <a:bodyPr wrap="square" anchor="ctr" lIns="0" rIns="0" tIns="0" bIns="0">
            <a:spAutoFit/>
          </a:bodyPr>
          <a:lstStyle/>
          <a:p>
            <a:pPr algn="l">
              <a:lnSpc>
                <a:spcPct val="108000"/>
              </a:lnSpc>
              <a:spcBef>
                <a:spcPts val="0"/>
              </a:spcBef>
              <a:spcAft>
                <a:spcPts val="0"/>
              </a:spcAft>
            </a:pPr>
            <a:r>
              <a:rPr sz="1800" b="0" i="0">
                <a:solidFill>
                  <a:srgbClr val="212A33"/>
                </a:solidFill>
                <a:latin typeface="Segoe UI"/>
              </a:rPr>
              <a:t>Including both improved and unchanged households in the final results</a:t>
            </a:r>
          </a:p>
        </p:txBody>
      </p:sp>
      <p:sp>
        <p:nvSpPr>
          <p:cNvPr id="29" name="Rounded Rectangle 28"/>
          <p:cNvSpPr/>
          <p:nvPr/>
        </p:nvSpPr>
        <p:spPr>
          <a:xfrm>
            <a:off x="6217920" y="4773168"/>
            <a:ext cx="5285232" cy="1060704"/>
          </a:xfrm>
          <a:prstGeom prst="roundRect">
            <a:avLst>
              <a:gd name="adj" fmla="val 8000"/>
            </a:avLst>
          </a:prstGeom>
          <a:solidFill>
            <a:srgbClr val="FFFFFF"/>
          </a:solidFill>
          <a:ln w="19050">
            <a:solidFill>
              <a:srgbClr val="E9C46A"/>
            </a:solid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19088" y="5029200"/>
            <a:ext cx="548640" cy="548640"/>
          </a:xfrm>
          <a:prstGeom prst="ellipse">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5029200"/>
            <a:ext cx="548640" cy="548640"/>
          </a:xfrm>
          <a:prstGeom prst="rect">
            <a:avLst/>
          </a:prstGeom>
          <a:noFill/>
        </p:spPr>
        <p:txBody>
          <a:bodyPr wrap="square" anchor="ctr" lIns="0" rIns="0" tIns="0" bIns="0">
            <a:spAutoFit/>
          </a:bodyPr>
          <a:lstStyle/>
          <a:p>
            <a:pPr algn="ctr">
              <a:lnSpc>
                <a:spcPct val="106000"/>
              </a:lnSpc>
              <a:spcBef>
                <a:spcPts val="0"/>
              </a:spcBef>
              <a:spcAft>
                <a:spcPts val="0"/>
              </a:spcAft>
            </a:pPr>
            <a:r>
              <a:rPr sz="2000" b="1" i="0">
                <a:solidFill>
                  <a:srgbClr val="FFFFFF"/>
                </a:solidFill>
                <a:latin typeface="Segoe UI Semibold"/>
              </a:rPr>
              <a:t>4</a:t>
            </a:r>
          </a:p>
        </p:txBody>
      </p:sp>
      <p:sp>
        <p:nvSpPr>
          <p:cNvPr id="32" name="TextBox 31"/>
          <p:cNvSpPr txBox="1"/>
          <p:nvPr/>
        </p:nvSpPr>
        <p:spPr>
          <a:xfrm>
            <a:off x="7150608" y="4846320"/>
            <a:ext cx="4142232" cy="914399"/>
          </a:xfrm>
          <a:prstGeom prst="rect">
            <a:avLst/>
          </a:prstGeom>
          <a:noFill/>
        </p:spPr>
        <p:txBody>
          <a:bodyPr wrap="square" anchor="ctr" lIns="0" rIns="0" tIns="0" bIns="0">
            <a:spAutoFit/>
          </a:bodyPr>
          <a:lstStyle/>
          <a:p>
            <a:pPr algn="l">
              <a:lnSpc>
                <a:spcPct val="108000"/>
              </a:lnSpc>
              <a:spcBef>
                <a:spcPts val="0"/>
              </a:spcBef>
              <a:spcAft>
                <a:spcPts val="0"/>
              </a:spcAft>
            </a:pPr>
            <a:r>
              <a:rPr sz="1800" b="0" i="0">
                <a:solidFill>
                  <a:srgbClr val="212A33"/>
                </a:solidFill>
                <a:latin typeface="Segoe UI"/>
              </a:rPr>
              <a:t>Properly acknowledging the earlier filter design that inspired their own</a:t>
            </a:r>
          </a:p>
        </p:txBody>
      </p:sp>
      <p:sp>
        <p:nvSpPr>
          <p:cNvPr id="33" name="TextBox 32"/>
          <p:cNvSpPr txBox="1"/>
          <p:nvPr/>
        </p:nvSpPr>
        <p:spPr>
          <a:xfrm>
            <a:off x="640080" y="5943600"/>
            <a:ext cx="10881360" cy="365760"/>
          </a:xfrm>
          <a:prstGeom prst="rect">
            <a:avLst/>
          </a:prstGeom>
          <a:noFill/>
        </p:spPr>
        <p:txBody>
          <a:bodyPr wrap="square" anchor="t" lIns="0" rIns="0" tIns="0" bIns="0">
            <a:spAutoFit/>
          </a:bodyPr>
          <a:lstStyle/>
          <a:p>
            <a:pPr algn="ctr">
              <a:lnSpc>
                <a:spcPct val="106000"/>
              </a:lnSpc>
              <a:spcBef>
                <a:spcPts val="0"/>
              </a:spcBef>
              <a:spcAft>
                <a:spcPts val="0"/>
              </a:spcAft>
            </a:pPr>
            <a:r>
              <a:rPr sz="1700" b="0" i="1">
                <a:solidFill>
                  <a:srgbClr val="5B6B73"/>
                </a:solidFill>
                <a:latin typeface="Segoe UI"/>
              </a:rPr>
              <a:t>Place each action on the flowchart.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E76F51"/>
                </a:solidFill>
                <a:latin typeface="Segoe UI Semibold"/>
              </a:rPr>
              <a:t>PLAGIARISM: THE ETHICAL BRIDGE</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What Counts as Plagiarism</a:t>
            </a:r>
          </a:p>
        </p:txBody>
      </p:sp>
      <p:sp>
        <p:nvSpPr>
          <p:cNvPr id="7" name="Rectangle 6"/>
          <p:cNvSpPr/>
          <p:nvPr/>
        </p:nvSpPr>
        <p:spPr>
          <a:xfrm>
            <a:off x="658368" y="1572768"/>
            <a:ext cx="14630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17</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Rounded Rectangle 9"/>
          <p:cNvSpPr/>
          <p:nvPr/>
        </p:nvSpPr>
        <p:spPr>
          <a:xfrm>
            <a:off x="640080" y="1828800"/>
            <a:ext cx="10927080" cy="1481328"/>
          </a:xfrm>
          <a:prstGeom prst="roundRect">
            <a:avLst>
              <a:gd name="adj" fmla="val 5000"/>
            </a:avLst>
          </a:prstGeom>
          <a:solidFill>
            <a:srgbClr val="E76F51"/>
          </a:solidFill>
          <a:ln>
            <a:no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38528"/>
            <a:ext cx="10241280" cy="1261872"/>
          </a:xfrm>
          <a:prstGeom prst="rect">
            <a:avLst/>
          </a:prstGeom>
          <a:noFill/>
        </p:spPr>
        <p:txBody>
          <a:bodyPr wrap="square" anchor="ctr" lIns="0" rIns="0" tIns="0" bIns="0">
            <a:spAutoFit/>
          </a:bodyPr>
          <a:lstStyle/>
          <a:p>
            <a:pPr algn="l">
              <a:lnSpc>
                <a:spcPct val="108000"/>
              </a:lnSpc>
              <a:spcBef>
                <a:spcPts val="0"/>
              </a:spcBef>
              <a:spcAft>
                <a:spcPts val="0"/>
              </a:spcAft>
            </a:pPr>
            <a:r>
              <a:rPr sz="2600" b="1" i="0">
                <a:solidFill>
                  <a:srgbClr val="FFFFFF"/>
                </a:solidFill>
                <a:latin typeface="Segoe UI Semibold"/>
              </a:rPr>
              <a:t>Plagiarism</a:t>
            </a:r>
            <a:r>
              <a:rPr sz="2400" b="0" i="0">
                <a:solidFill>
                  <a:srgbClr val="FFFFFF"/>
                </a:solidFill>
                <a:latin typeface="Segoe UI"/>
              </a:rPr>
              <a:t>  —  presenting someone else's work, ideas, or words as your own, without giving them credit </a:t>
            </a:r>
            <a:r>
              <a:rPr sz="1900" b="0" i="1">
                <a:solidFill>
                  <a:srgbClr val="FFE6DD"/>
                </a:solidFill>
                <a:latin typeface="Segoe UI"/>
              </a:rPr>
              <a:t>(Creswell &amp; Creswell, 2023)</a:t>
            </a:r>
            <a:r>
              <a:rPr sz="2400" b="0" i="0">
                <a:solidFill>
                  <a:srgbClr val="FFFFFF"/>
                </a:solidFill>
                <a:latin typeface="Segoe UI"/>
              </a:rPr>
              <a:t>.</a:t>
            </a:r>
          </a:p>
        </p:txBody>
      </p:sp>
      <p:sp>
        <p:nvSpPr>
          <p:cNvPr id="12" name="TextBox 11"/>
          <p:cNvSpPr txBox="1"/>
          <p:nvPr/>
        </p:nvSpPr>
        <p:spPr>
          <a:xfrm>
            <a:off x="640080" y="3493008"/>
            <a:ext cx="10927080" cy="1051560"/>
          </a:xfrm>
          <a:prstGeom prst="rect">
            <a:avLst/>
          </a:prstGeom>
          <a:noFill/>
        </p:spPr>
        <p:txBody>
          <a:bodyPr wrap="square" anchor="t" lIns="0" rIns="0" tIns="0" bIns="0">
            <a:spAutoFit/>
          </a:bodyPr>
          <a:lstStyle/>
          <a:p>
            <a:pPr algn="l">
              <a:lnSpc>
                <a:spcPct val="112000"/>
              </a:lnSpc>
              <a:spcBef>
                <a:spcPts val="0"/>
              </a:spcBef>
              <a:spcAft>
                <a:spcPts val="0"/>
              </a:spcAft>
            </a:pPr>
            <a:r>
              <a:rPr sz="2400" b="0" i="0">
                <a:solidFill>
                  <a:srgbClr val="212A33"/>
                </a:solidFill>
                <a:latin typeface="Segoe UI"/>
              </a:rPr>
              <a:t>Plagiarism is not just a </a:t>
            </a:r>
            <a:r>
              <a:rPr sz="2400" b="0" i="1">
                <a:solidFill>
                  <a:srgbClr val="212A33"/>
                </a:solidFill>
                <a:latin typeface="Segoe UI"/>
              </a:rPr>
              <a:t>rule</a:t>
            </a:r>
            <a:r>
              <a:rPr sz="2400" b="0" i="0">
                <a:solidFill>
                  <a:srgbClr val="212A33"/>
                </a:solidFill>
                <a:latin typeface="Segoe UI"/>
              </a:rPr>
              <a:t> — it's an </a:t>
            </a:r>
            <a:r>
              <a:rPr sz="2400" b="1" i="0">
                <a:solidFill>
                  <a:srgbClr val="E76F51"/>
                </a:solidFill>
                <a:latin typeface="Segoe UI"/>
              </a:rPr>
              <a:t>ethics violation</a:t>
            </a:r>
            <a:r>
              <a:rPr sz="2400" b="0" i="0">
                <a:solidFill>
                  <a:srgbClr val="212A33"/>
                </a:solidFill>
                <a:latin typeface="Segoe UI"/>
              </a:rPr>
              <a:t>. It breaks the same standard of honesty and integrity from earlier in this lesson.</a:t>
            </a:r>
          </a:p>
        </p:txBody>
      </p:sp>
      <p:sp>
        <p:nvSpPr>
          <p:cNvPr id="13" name="Rounded Rectangle 12"/>
          <p:cNvSpPr/>
          <p:nvPr/>
        </p:nvSpPr>
        <p:spPr>
          <a:xfrm>
            <a:off x="640080" y="4572000"/>
            <a:ext cx="10927080" cy="1691640"/>
          </a:xfrm>
          <a:prstGeom prst="roundRect">
            <a:avLst>
              <a:gd name="adj" fmla="val 4000"/>
            </a:avLst>
          </a:prstGeom>
          <a:solidFill>
            <a:srgbClr val="FFFFFF"/>
          </a:solidFill>
          <a:ln w="12700">
            <a:solidFill>
              <a:srgbClr val="E3ECEF"/>
            </a:solidFill>
          </a:ln>
          <a:effectLst>
            <a:outerShdw blurRad="64008" dist="36576" dir="5400000" rotWithShape="0">
              <a:srgbClr val="1F2A33">
                <a:alpha val="6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 Same Side Corner Rectangle 13"/>
          <p:cNvSpPr/>
          <p:nvPr/>
        </p:nvSpPr>
        <p:spPr>
          <a:xfrm>
            <a:off x="640080" y="4572000"/>
            <a:ext cx="109728" cy="1691640"/>
          </a:xfrm>
          <a:prstGeom prst="round2Same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4700016"/>
            <a:ext cx="10424159" cy="1453896"/>
          </a:xfrm>
          <a:prstGeom prst="rect">
            <a:avLst/>
          </a:prstGeom>
          <a:noFill/>
        </p:spPr>
        <p:txBody>
          <a:bodyPr wrap="square" anchor="ctr" lIns="0" rIns="0" tIns="0" bIns="0">
            <a:spAutoFit/>
          </a:bodyPr>
          <a:lstStyle/>
          <a:p>
            <a:pPr algn="l">
              <a:lnSpc>
                <a:spcPct val="106000"/>
              </a:lnSpc>
              <a:spcBef>
                <a:spcPts val="0"/>
              </a:spcBef>
              <a:spcAft>
                <a:spcPts val="300"/>
              </a:spcAft>
            </a:pPr>
            <a:r>
              <a:rPr sz="1500" b="1" i="0">
                <a:solidFill>
                  <a:srgbClr val="E76F51"/>
                </a:solidFill>
                <a:latin typeface="Segoe UI Semibold"/>
              </a:rPr>
              <a:t>EXAMPLE:  </a:t>
            </a:r>
          </a:p>
          <a:p>
            <a:pPr algn="l">
              <a:lnSpc>
                <a:spcPct val="106000"/>
              </a:lnSpc>
              <a:spcBef>
                <a:spcPts val="0"/>
              </a:spcBef>
              <a:spcAft>
                <a:spcPts val="200"/>
              </a:spcAft>
            </a:pPr>
            <a:r>
              <a:rPr sz="2200" b="0" i="0">
                <a:solidFill>
                  <a:srgbClr val="212A33"/>
                </a:solidFill>
                <a:latin typeface="Segoe UI"/>
              </a:rPr>
              <a:t>If the researchers build their filter using the earlier student's design but never mention that design in their report, readers are misled into thinking the design is original — that's plagiarism.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E76F51"/>
                </a:solidFill>
                <a:latin typeface="Segoe UI Semibold"/>
              </a:rPr>
              <a:t>PLAGIARISM: THE ETHICAL BRIDGE</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Two Forms of Plagiarism</a:t>
            </a:r>
          </a:p>
        </p:txBody>
      </p:sp>
      <p:sp>
        <p:nvSpPr>
          <p:cNvPr id="7" name="Rectangle 6"/>
          <p:cNvSpPr/>
          <p:nvPr/>
        </p:nvSpPr>
        <p:spPr>
          <a:xfrm>
            <a:off x="658368" y="1572768"/>
            <a:ext cx="14630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18</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Rounded Rectangle 9"/>
          <p:cNvSpPr/>
          <p:nvPr/>
        </p:nvSpPr>
        <p:spPr>
          <a:xfrm>
            <a:off x="640080" y="2011680"/>
            <a:ext cx="5285232" cy="4114800"/>
          </a:xfrm>
          <a:prstGeom prst="roundRect">
            <a:avLst>
              <a:gd name="adj" fmla="val 35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640080" y="2011680"/>
            <a:ext cx="5285232" cy="868680"/>
          </a:xfrm>
          <a:prstGeom prst="round2Same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011680"/>
            <a:ext cx="4736592" cy="868680"/>
          </a:xfrm>
          <a:prstGeom prst="rect">
            <a:avLst/>
          </a:prstGeom>
          <a:noFill/>
        </p:spPr>
        <p:txBody>
          <a:bodyPr wrap="square" anchor="ctr" lIns="0" rIns="0" tIns="0" bIns="0">
            <a:spAutoFit/>
          </a:bodyPr>
          <a:lstStyle/>
          <a:p>
            <a:pPr algn="l">
              <a:lnSpc>
                <a:spcPct val="106000"/>
              </a:lnSpc>
              <a:spcBef>
                <a:spcPts val="0"/>
              </a:spcBef>
              <a:spcAft>
                <a:spcPts val="0"/>
              </a:spcAft>
            </a:pPr>
            <a:r>
              <a:rPr sz="2400" b="1" i="0">
                <a:solidFill>
                  <a:srgbClr val="FFFFFF"/>
                </a:solidFill>
                <a:latin typeface="Segoe UI Semibold"/>
              </a:rPr>
              <a:t>Direct Plagiarism</a:t>
            </a:r>
          </a:p>
        </p:txBody>
      </p:sp>
      <p:sp>
        <p:nvSpPr>
          <p:cNvPr id="13" name="TextBox 12"/>
          <p:cNvSpPr txBox="1"/>
          <p:nvPr/>
        </p:nvSpPr>
        <p:spPr>
          <a:xfrm>
            <a:off x="987552" y="3063240"/>
            <a:ext cx="4590288" cy="1783080"/>
          </a:xfrm>
          <a:prstGeom prst="rect">
            <a:avLst/>
          </a:prstGeom>
          <a:noFill/>
        </p:spPr>
        <p:txBody>
          <a:bodyPr wrap="square" anchor="ctr" lIns="0" rIns="0" tIns="0" bIns="0">
            <a:spAutoFit/>
          </a:bodyPr>
          <a:lstStyle/>
          <a:p>
            <a:pPr algn="l">
              <a:lnSpc>
                <a:spcPct val="114000"/>
              </a:lnSpc>
              <a:spcBef>
                <a:spcPts val="0"/>
              </a:spcBef>
              <a:spcAft>
                <a:spcPts val="0"/>
              </a:spcAft>
            </a:pPr>
            <a:r>
              <a:rPr sz="2300" b="0" i="0">
                <a:solidFill>
                  <a:srgbClr val="212A33"/>
                </a:solidFill>
                <a:latin typeface="Segoe UI"/>
              </a:rPr>
              <a:t>Copying someone else's exact words without credit</a:t>
            </a:r>
          </a:p>
        </p:txBody>
      </p:sp>
      <p:sp>
        <p:nvSpPr>
          <p:cNvPr id="14" name="Rectangle 13"/>
          <p:cNvSpPr/>
          <p:nvPr/>
        </p:nvSpPr>
        <p:spPr>
          <a:xfrm>
            <a:off x="987552" y="4937760"/>
            <a:ext cx="4590288" cy="18288"/>
          </a:xfrm>
          <a:prstGeom prst="rect">
            <a:avLst/>
          </a:prstGeom>
          <a:solidFill>
            <a:srgbClr val="E3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5047488"/>
            <a:ext cx="4590288" cy="960120"/>
          </a:xfrm>
          <a:prstGeom prst="rect">
            <a:avLst/>
          </a:prstGeom>
          <a:noFill/>
        </p:spPr>
        <p:txBody>
          <a:bodyPr wrap="square" anchor="ctr" lIns="0" rIns="0" tIns="0" bIns="0">
            <a:spAutoFit/>
          </a:bodyPr>
          <a:lstStyle/>
          <a:p>
            <a:pPr algn="l">
              <a:lnSpc>
                <a:spcPct val="112000"/>
              </a:lnSpc>
              <a:spcBef>
                <a:spcPts val="0"/>
              </a:spcBef>
              <a:spcAft>
                <a:spcPts val="0"/>
              </a:spcAft>
            </a:pPr>
            <a:r>
              <a:rPr sz="1800" b="1" i="1">
                <a:solidFill>
                  <a:srgbClr val="E76F51"/>
                </a:solidFill>
                <a:latin typeface="Segoe UI"/>
              </a:rPr>
              <a:t>Even one sentence, word-for-word, without credit counts.</a:t>
            </a:r>
          </a:p>
        </p:txBody>
      </p:sp>
      <p:sp>
        <p:nvSpPr>
          <p:cNvPr id="16" name="Rounded Rectangle 15"/>
          <p:cNvSpPr/>
          <p:nvPr/>
        </p:nvSpPr>
        <p:spPr>
          <a:xfrm>
            <a:off x="6217920" y="2011680"/>
            <a:ext cx="5285232" cy="4114800"/>
          </a:xfrm>
          <a:prstGeom prst="roundRect">
            <a:avLst>
              <a:gd name="adj" fmla="val 35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 Same Side Corner Rectangle 16"/>
          <p:cNvSpPr/>
          <p:nvPr/>
        </p:nvSpPr>
        <p:spPr>
          <a:xfrm>
            <a:off x="6217920" y="2011680"/>
            <a:ext cx="5285232" cy="868680"/>
          </a:xfrm>
          <a:prstGeom prst="round2SameRect">
            <a:avLst/>
          </a:prstGeom>
          <a:solidFill>
            <a:srgbClr val="C05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11680"/>
            <a:ext cx="4736592" cy="868680"/>
          </a:xfrm>
          <a:prstGeom prst="rect">
            <a:avLst/>
          </a:prstGeom>
          <a:noFill/>
        </p:spPr>
        <p:txBody>
          <a:bodyPr wrap="square" anchor="ctr" lIns="0" rIns="0" tIns="0" bIns="0">
            <a:spAutoFit/>
          </a:bodyPr>
          <a:lstStyle/>
          <a:p>
            <a:pPr algn="l">
              <a:lnSpc>
                <a:spcPct val="106000"/>
              </a:lnSpc>
              <a:spcBef>
                <a:spcPts val="0"/>
              </a:spcBef>
              <a:spcAft>
                <a:spcPts val="0"/>
              </a:spcAft>
            </a:pPr>
            <a:r>
              <a:rPr sz="2400" b="1" i="0">
                <a:solidFill>
                  <a:srgbClr val="FFFFFF"/>
                </a:solidFill>
                <a:latin typeface="Segoe UI Semibold"/>
              </a:rPr>
              <a:t>Uncredited Paraphrasing</a:t>
            </a:r>
          </a:p>
        </p:txBody>
      </p:sp>
      <p:sp>
        <p:nvSpPr>
          <p:cNvPr id="19" name="TextBox 18"/>
          <p:cNvSpPr txBox="1"/>
          <p:nvPr/>
        </p:nvSpPr>
        <p:spPr>
          <a:xfrm>
            <a:off x="6565392" y="3063240"/>
            <a:ext cx="4590288" cy="1783080"/>
          </a:xfrm>
          <a:prstGeom prst="rect">
            <a:avLst/>
          </a:prstGeom>
          <a:noFill/>
        </p:spPr>
        <p:txBody>
          <a:bodyPr wrap="square" anchor="ctr" lIns="0" rIns="0" tIns="0" bIns="0">
            <a:spAutoFit/>
          </a:bodyPr>
          <a:lstStyle/>
          <a:p>
            <a:pPr algn="l">
              <a:lnSpc>
                <a:spcPct val="114000"/>
              </a:lnSpc>
              <a:spcBef>
                <a:spcPts val="0"/>
              </a:spcBef>
              <a:spcAft>
                <a:spcPts val="0"/>
              </a:spcAft>
            </a:pPr>
            <a:r>
              <a:rPr sz="2300" b="0" i="0">
                <a:solidFill>
                  <a:srgbClr val="212A33"/>
                </a:solidFill>
                <a:latin typeface="Segoe UI"/>
              </a:rPr>
              <a:t>Restating someone else's idea in your own words — but still without giving credit</a:t>
            </a:r>
          </a:p>
        </p:txBody>
      </p:sp>
      <p:sp>
        <p:nvSpPr>
          <p:cNvPr id="20" name="Rectangle 19"/>
          <p:cNvSpPr/>
          <p:nvPr/>
        </p:nvSpPr>
        <p:spPr>
          <a:xfrm>
            <a:off x="6565392" y="4937760"/>
            <a:ext cx="4590288" cy="18288"/>
          </a:xfrm>
          <a:prstGeom prst="rect">
            <a:avLst/>
          </a:prstGeom>
          <a:solidFill>
            <a:srgbClr val="E3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5047488"/>
            <a:ext cx="4590288" cy="960120"/>
          </a:xfrm>
          <a:prstGeom prst="rect">
            <a:avLst/>
          </a:prstGeom>
          <a:noFill/>
        </p:spPr>
        <p:txBody>
          <a:bodyPr wrap="square" anchor="ctr" lIns="0" rIns="0" tIns="0" bIns="0">
            <a:spAutoFit/>
          </a:bodyPr>
          <a:lstStyle/>
          <a:p>
            <a:pPr algn="l">
              <a:lnSpc>
                <a:spcPct val="112000"/>
              </a:lnSpc>
              <a:spcBef>
                <a:spcPts val="0"/>
              </a:spcBef>
              <a:spcAft>
                <a:spcPts val="0"/>
              </a:spcAft>
            </a:pPr>
            <a:r>
              <a:rPr sz="1800" b="1" i="1">
                <a:solidFill>
                  <a:srgbClr val="C05338"/>
                </a:solidFill>
                <a:latin typeface="Segoe UI"/>
              </a:rPr>
              <a:t>Changing the wording doesn't remove the need to cite the original idea.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E76F51"/>
                </a:solidFill>
                <a:latin typeface="Segoe UI Semibold"/>
              </a:rPr>
              <a:t>PLAGIARISM: THE ETHICAL BRIDGE</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Why We Cite Sources</a:t>
            </a:r>
          </a:p>
        </p:txBody>
      </p:sp>
      <p:sp>
        <p:nvSpPr>
          <p:cNvPr id="7" name="Rectangle 6"/>
          <p:cNvSpPr/>
          <p:nvPr/>
        </p:nvSpPr>
        <p:spPr>
          <a:xfrm>
            <a:off x="658368" y="1572768"/>
            <a:ext cx="14630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19</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TextBox 9"/>
          <p:cNvSpPr txBox="1"/>
          <p:nvPr/>
        </p:nvSpPr>
        <p:spPr>
          <a:xfrm>
            <a:off x="640080" y="1737360"/>
            <a:ext cx="10881360" cy="457200"/>
          </a:xfrm>
          <a:prstGeom prst="rect">
            <a:avLst/>
          </a:prstGeom>
          <a:noFill/>
        </p:spPr>
        <p:txBody>
          <a:bodyPr wrap="square" anchor="t" lIns="0" rIns="0" tIns="0" bIns="0">
            <a:spAutoFit/>
          </a:bodyPr>
          <a:lstStyle/>
          <a:p>
            <a:pPr algn="l">
              <a:lnSpc>
                <a:spcPct val="106000"/>
              </a:lnSpc>
              <a:spcBef>
                <a:spcPts val="0"/>
              </a:spcBef>
              <a:spcAft>
                <a:spcPts val="0"/>
              </a:spcAft>
            </a:pPr>
            <a:r>
              <a:rPr sz="2100" b="0" i="0">
                <a:solidFill>
                  <a:srgbClr val="5B6B73"/>
                </a:solidFill>
                <a:latin typeface="Segoe UI"/>
              </a:rPr>
              <a:t>Citation exists for three connected reasons:</a:t>
            </a:r>
          </a:p>
        </p:txBody>
      </p:sp>
      <p:sp>
        <p:nvSpPr>
          <p:cNvPr id="11" name="Oval 10"/>
          <p:cNvSpPr/>
          <p:nvPr/>
        </p:nvSpPr>
        <p:spPr>
          <a:xfrm>
            <a:off x="1554479" y="3108960"/>
            <a:ext cx="1554480" cy="1554480"/>
          </a:xfrm>
          <a:prstGeom prst="ellipse">
            <a:avLst/>
          </a:prstGeom>
          <a:solidFill>
            <a:srgbClr val="E76F51"/>
          </a:solidFill>
          <a:ln>
            <a:no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54479" y="3108960"/>
            <a:ext cx="1554480" cy="1554480"/>
          </a:xfrm>
          <a:prstGeom prst="rect">
            <a:avLst/>
          </a:prstGeom>
          <a:noFill/>
        </p:spPr>
        <p:txBody>
          <a:bodyPr wrap="square" anchor="ctr" lIns="0" rIns="0" tIns="0" bIns="0">
            <a:spAutoFit/>
          </a:bodyPr>
          <a:lstStyle/>
          <a:p>
            <a:pPr algn="ctr">
              <a:lnSpc>
                <a:spcPct val="106000"/>
              </a:lnSpc>
              <a:spcBef>
                <a:spcPts val="0"/>
              </a:spcBef>
              <a:spcAft>
                <a:spcPts val="0"/>
              </a:spcAft>
            </a:pPr>
            <a:r>
              <a:rPr sz="2500" b="1" i="0">
                <a:solidFill>
                  <a:srgbClr val="FFFFFF"/>
                </a:solidFill>
                <a:latin typeface="Segoe UI Semibold"/>
              </a:rPr>
              <a:t>Citation</a:t>
            </a:r>
          </a:p>
        </p:txBody>
      </p:sp>
      <p:cxnSp>
        <p:nvCxnSpPr>
          <p:cNvPr id="13" name="Connector 12"/>
          <p:cNvCxnSpPr/>
          <p:nvPr/>
        </p:nvCxnSpPr>
        <p:spPr>
          <a:xfrm flipV="1">
            <a:off x="2971800" y="2843784"/>
            <a:ext cx="1874520" cy="1042416"/>
          </a:xfrm>
          <a:prstGeom prst="bentConnector3">
            <a:avLst/>
          </a:prstGeom>
          <a:ln w="25400">
            <a:solidFill>
              <a:srgbClr val="2A9D8F"/>
            </a:solidFill>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846320" y="2286000"/>
            <a:ext cx="6675120" cy="1115568"/>
          </a:xfrm>
          <a:prstGeom prst="roundRect">
            <a:avLst>
              <a:gd name="adj" fmla="val 10000"/>
            </a:avLst>
          </a:prstGeom>
          <a:solidFill>
            <a:srgbClr val="FFFFFF"/>
          </a:solidFill>
          <a:ln w="12700">
            <a:solidFill>
              <a:srgbClr val="E3ECEF"/>
            </a:solid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 Same Side Corner Rectangle 14"/>
          <p:cNvSpPr/>
          <p:nvPr/>
        </p:nvSpPr>
        <p:spPr>
          <a:xfrm>
            <a:off x="4846320" y="2286000"/>
            <a:ext cx="128016" cy="1115568"/>
          </a:xfrm>
          <a:prstGeom prst="round2Same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148072" y="2578608"/>
            <a:ext cx="530352" cy="530352"/>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48072" y="2578608"/>
            <a:ext cx="530352" cy="530352"/>
          </a:xfrm>
          <a:prstGeom prst="rect">
            <a:avLst/>
          </a:prstGeom>
          <a:noFill/>
        </p:spPr>
        <p:txBody>
          <a:bodyPr wrap="square" anchor="ctr" lIns="0" rIns="0" tIns="0" bIns="0">
            <a:spAutoFit/>
          </a:bodyPr>
          <a:lstStyle/>
          <a:p>
            <a:pPr algn="ctr">
              <a:lnSpc>
                <a:spcPct val="106000"/>
              </a:lnSpc>
              <a:spcBef>
                <a:spcPts val="0"/>
              </a:spcBef>
              <a:spcAft>
                <a:spcPts val="0"/>
              </a:spcAft>
            </a:pPr>
            <a:r>
              <a:rPr sz="1900" b="1" i="0">
                <a:solidFill>
                  <a:srgbClr val="FFFFFF"/>
                </a:solidFill>
                <a:latin typeface="Segoe UI Semibold"/>
              </a:rPr>
              <a:t>1</a:t>
            </a:r>
          </a:p>
        </p:txBody>
      </p:sp>
      <p:sp>
        <p:nvSpPr>
          <p:cNvPr id="18" name="TextBox 17"/>
          <p:cNvSpPr txBox="1"/>
          <p:nvPr/>
        </p:nvSpPr>
        <p:spPr>
          <a:xfrm>
            <a:off x="5852160" y="2359152"/>
            <a:ext cx="5486400" cy="987552"/>
          </a:xfrm>
          <a:prstGeom prst="rect">
            <a:avLst/>
          </a:prstGeom>
          <a:noFill/>
        </p:spPr>
        <p:txBody>
          <a:bodyPr wrap="square" anchor="ctr" lIns="0" rIns="0" tIns="0" bIns="0">
            <a:spAutoFit/>
          </a:bodyPr>
          <a:lstStyle/>
          <a:p>
            <a:pPr algn="l">
              <a:lnSpc>
                <a:spcPct val="100000"/>
              </a:lnSpc>
              <a:spcBef>
                <a:spcPts val="0"/>
              </a:spcBef>
              <a:spcAft>
                <a:spcPts val="100"/>
              </a:spcAft>
            </a:pPr>
            <a:r>
              <a:rPr sz="2100" b="1" i="0">
                <a:solidFill>
                  <a:srgbClr val="2A9D8F"/>
                </a:solidFill>
                <a:latin typeface="Segoe UI Semibold"/>
              </a:rPr>
              <a:t>Giving credit</a:t>
            </a:r>
          </a:p>
          <a:p>
            <a:pPr algn="l">
              <a:lnSpc>
                <a:spcPct val="104000"/>
              </a:lnSpc>
              <a:spcBef>
                <a:spcPts val="0"/>
              </a:spcBef>
              <a:spcAft>
                <a:spcPts val="0"/>
              </a:spcAft>
            </a:pPr>
            <a:r>
              <a:rPr sz="1700" b="0" i="0">
                <a:solidFill>
                  <a:srgbClr val="212A33"/>
                </a:solidFill>
                <a:latin typeface="Segoe UI"/>
              </a:rPr>
              <a:t>acknowledging whose idea or words you used</a:t>
            </a:r>
          </a:p>
        </p:txBody>
      </p:sp>
      <p:cxnSp>
        <p:nvCxnSpPr>
          <p:cNvPr id="19" name="Connector 18"/>
          <p:cNvCxnSpPr/>
          <p:nvPr/>
        </p:nvCxnSpPr>
        <p:spPr>
          <a:xfrm>
            <a:off x="2971800" y="3886200"/>
            <a:ext cx="1874520" cy="246888"/>
          </a:xfrm>
          <a:prstGeom prst="bentConnector3">
            <a:avLst/>
          </a:prstGeom>
          <a:ln w="25400">
            <a:solidFill>
              <a:srgbClr val="3A7CA5"/>
            </a:solidFill>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846320" y="3575304"/>
            <a:ext cx="6675120" cy="1115568"/>
          </a:xfrm>
          <a:prstGeom prst="roundRect">
            <a:avLst>
              <a:gd name="adj" fmla="val 10000"/>
            </a:avLst>
          </a:prstGeom>
          <a:solidFill>
            <a:srgbClr val="FFFFFF"/>
          </a:solidFill>
          <a:ln w="12700">
            <a:solidFill>
              <a:srgbClr val="E3ECEF"/>
            </a:solid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 Same Side Corner Rectangle 20"/>
          <p:cNvSpPr/>
          <p:nvPr/>
        </p:nvSpPr>
        <p:spPr>
          <a:xfrm>
            <a:off x="4846320" y="3575304"/>
            <a:ext cx="128016" cy="1115568"/>
          </a:xfrm>
          <a:prstGeom prst="round2SameRect">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148072" y="3867912"/>
            <a:ext cx="530352" cy="530352"/>
          </a:xfrm>
          <a:prstGeom prst="ellipse">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48072" y="3867912"/>
            <a:ext cx="530352" cy="530352"/>
          </a:xfrm>
          <a:prstGeom prst="rect">
            <a:avLst/>
          </a:prstGeom>
          <a:noFill/>
        </p:spPr>
        <p:txBody>
          <a:bodyPr wrap="square" anchor="ctr" lIns="0" rIns="0" tIns="0" bIns="0">
            <a:spAutoFit/>
          </a:bodyPr>
          <a:lstStyle/>
          <a:p>
            <a:pPr algn="ctr">
              <a:lnSpc>
                <a:spcPct val="106000"/>
              </a:lnSpc>
              <a:spcBef>
                <a:spcPts val="0"/>
              </a:spcBef>
              <a:spcAft>
                <a:spcPts val="0"/>
              </a:spcAft>
            </a:pPr>
            <a:r>
              <a:rPr sz="1900" b="1" i="0">
                <a:solidFill>
                  <a:srgbClr val="FFFFFF"/>
                </a:solidFill>
                <a:latin typeface="Segoe UI Semibold"/>
              </a:rPr>
              <a:t>2</a:t>
            </a:r>
          </a:p>
        </p:txBody>
      </p:sp>
      <p:sp>
        <p:nvSpPr>
          <p:cNvPr id="24" name="TextBox 23"/>
          <p:cNvSpPr txBox="1"/>
          <p:nvPr/>
        </p:nvSpPr>
        <p:spPr>
          <a:xfrm>
            <a:off x="5852160" y="3648456"/>
            <a:ext cx="5486400" cy="987552"/>
          </a:xfrm>
          <a:prstGeom prst="rect">
            <a:avLst/>
          </a:prstGeom>
          <a:noFill/>
        </p:spPr>
        <p:txBody>
          <a:bodyPr wrap="square" anchor="ctr" lIns="0" rIns="0" tIns="0" bIns="0">
            <a:spAutoFit/>
          </a:bodyPr>
          <a:lstStyle/>
          <a:p>
            <a:pPr algn="l">
              <a:lnSpc>
                <a:spcPct val="100000"/>
              </a:lnSpc>
              <a:spcBef>
                <a:spcPts val="0"/>
              </a:spcBef>
              <a:spcAft>
                <a:spcPts val="100"/>
              </a:spcAft>
            </a:pPr>
            <a:r>
              <a:rPr sz="2100" b="1" i="0">
                <a:solidFill>
                  <a:srgbClr val="3A7CA5"/>
                </a:solidFill>
                <a:latin typeface="Segoe UI Semibold"/>
              </a:rPr>
              <a:t>Enabling verification</a:t>
            </a:r>
          </a:p>
          <a:p>
            <a:pPr algn="l">
              <a:lnSpc>
                <a:spcPct val="104000"/>
              </a:lnSpc>
              <a:spcBef>
                <a:spcPts val="0"/>
              </a:spcBef>
              <a:spcAft>
                <a:spcPts val="0"/>
              </a:spcAft>
            </a:pPr>
            <a:r>
              <a:rPr sz="1700" b="0" i="0">
                <a:solidFill>
                  <a:srgbClr val="212A33"/>
                </a:solidFill>
                <a:latin typeface="Segoe UI"/>
              </a:rPr>
              <a:t>letting readers check your sources for themselves</a:t>
            </a:r>
          </a:p>
        </p:txBody>
      </p:sp>
      <p:cxnSp>
        <p:nvCxnSpPr>
          <p:cNvPr id="25" name="Connector 24"/>
          <p:cNvCxnSpPr/>
          <p:nvPr/>
        </p:nvCxnSpPr>
        <p:spPr>
          <a:xfrm>
            <a:off x="2971800" y="3886200"/>
            <a:ext cx="1874520" cy="1536192"/>
          </a:xfrm>
          <a:prstGeom prst="bentConnector3">
            <a:avLst/>
          </a:prstGeom>
          <a:ln w="25400">
            <a:solidFill>
              <a:srgbClr val="6A4C93"/>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846320" y="4864608"/>
            <a:ext cx="6675120" cy="1115568"/>
          </a:xfrm>
          <a:prstGeom prst="roundRect">
            <a:avLst>
              <a:gd name="adj" fmla="val 10000"/>
            </a:avLst>
          </a:prstGeom>
          <a:solidFill>
            <a:srgbClr val="FFFFFF"/>
          </a:solidFill>
          <a:ln w="12700">
            <a:solidFill>
              <a:srgbClr val="E3ECEF"/>
            </a:solidFill>
          </a:ln>
          <a:effectLst>
            <a:outerShdw blurRad="45720"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 Same Side Corner Rectangle 26"/>
          <p:cNvSpPr/>
          <p:nvPr/>
        </p:nvSpPr>
        <p:spPr>
          <a:xfrm>
            <a:off x="4846320" y="4864608"/>
            <a:ext cx="128016" cy="1115568"/>
          </a:xfrm>
          <a:prstGeom prst="round2Same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48072" y="5157216"/>
            <a:ext cx="530352" cy="530352"/>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48072" y="5157216"/>
            <a:ext cx="530352" cy="530352"/>
          </a:xfrm>
          <a:prstGeom prst="rect">
            <a:avLst/>
          </a:prstGeom>
          <a:noFill/>
        </p:spPr>
        <p:txBody>
          <a:bodyPr wrap="square" anchor="ctr" lIns="0" rIns="0" tIns="0" bIns="0">
            <a:spAutoFit/>
          </a:bodyPr>
          <a:lstStyle/>
          <a:p>
            <a:pPr algn="ctr">
              <a:lnSpc>
                <a:spcPct val="106000"/>
              </a:lnSpc>
              <a:spcBef>
                <a:spcPts val="0"/>
              </a:spcBef>
              <a:spcAft>
                <a:spcPts val="0"/>
              </a:spcAft>
            </a:pPr>
            <a:r>
              <a:rPr sz="1900" b="1" i="0">
                <a:solidFill>
                  <a:srgbClr val="FFFFFF"/>
                </a:solidFill>
                <a:latin typeface="Segoe UI Semibold"/>
              </a:rPr>
              <a:t>3</a:t>
            </a:r>
          </a:p>
        </p:txBody>
      </p:sp>
      <p:sp>
        <p:nvSpPr>
          <p:cNvPr id="30" name="TextBox 29"/>
          <p:cNvSpPr txBox="1"/>
          <p:nvPr/>
        </p:nvSpPr>
        <p:spPr>
          <a:xfrm>
            <a:off x="5852160" y="4937760"/>
            <a:ext cx="5486400" cy="987552"/>
          </a:xfrm>
          <a:prstGeom prst="rect">
            <a:avLst/>
          </a:prstGeom>
          <a:noFill/>
        </p:spPr>
        <p:txBody>
          <a:bodyPr wrap="square" anchor="ctr" lIns="0" rIns="0" tIns="0" bIns="0">
            <a:spAutoFit/>
          </a:bodyPr>
          <a:lstStyle/>
          <a:p>
            <a:pPr algn="l">
              <a:lnSpc>
                <a:spcPct val="100000"/>
              </a:lnSpc>
              <a:spcBef>
                <a:spcPts val="0"/>
              </a:spcBef>
              <a:spcAft>
                <a:spcPts val="100"/>
              </a:spcAft>
            </a:pPr>
            <a:r>
              <a:rPr sz="2100" b="1" i="0">
                <a:solidFill>
                  <a:srgbClr val="6A4C93"/>
                </a:solidFill>
                <a:latin typeface="Segoe UI Semibold"/>
              </a:rPr>
              <a:t>Joining the conversation</a:t>
            </a:r>
          </a:p>
          <a:p>
            <a:pPr algn="l">
              <a:lnSpc>
                <a:spcPct val="104000"/>
              </a:lnSpc>
              <a:spcBef>
                <a:spcPts val="0"/>
              </a:spcBef>
              <a:spcAft>
                <a:spcPts val="0"/>
              </a:spcAft>
            </a:pPr>
            <a:r>
              <a:rPr sz="1700" b="0" i="0">
                <a:solidFill>
                  <a:srgbClr val="212A33"/>
                </a:solidFill>
                <a:latin typeface="Segoe UI"/>
              </a:rPr>
              <a:t>showing how your work connects to existing knowledge</a:t>
            </a:r>
          </a:p>
        </p:txBody>
      </p:sp>
      <p:sp>
        <p:nvSpPr>
          <p:cNvPr id="31" name="TextBox 30"/>
          <p:cNvSpPr txBox="1"/>
          <p:nvPr/>
        </p:nvSpPr>
        <p:spPr>
          <a:xfrm>
            <a:off x="640080" y="6089904"/>
            <a:ext cx="10881360" cy="384048"/>
          </a:xfrm>
          <a:prstGeom prst="rect">
            <a:avLst/>
          </a:prstGeom>
          <a:noFill/>
        </p:spPr>
        <p:txBody>
          <a:bodyPr wrap="square" anchor="t" lIns="0" rIns="0" tIns="0" bIns="0">
            <a:spAutoFit/>
          </a:bodyPr>
          <a:lstStyle/>
          <a:p>
            <a:pPr algn="ctr">
              <a:lnSpc>
                <a:spcPct val="106000"/>
              </a:lnSpc>
              <a:spcBef>
                <a:spcPts val="0"/>
              </a:spcBef>
              <a:spcAft>
                <a:spcPts val="0"/>
              </a:spcAft>
            </a:pPr>
            <a:r>
              <a:rPr sz="1700" b="1" i="1">
                <a:solidFill>
                  <a:srgbClr val="E76F51"/>
                </a:solidFill>
                <a:latin typeface="Segoe UI"/>
              </a:rPr>
              <a:t>Citation isn't a punishment for “almost plagiarizing” — it's how honest research is supposed to work.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E76F51"/>
                </a:solidFill>
                <a:latin typeface="Segoe UI Semibold"/>
              </a:rPr>
              <a:t>PLAGIARISM: THE ETHICAL BRIDGE</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Plagiarism or Proper Credit?</a:t>
            </a:r>
          </a:p>
        </p:txBody>
      </p:sp>
      <p:sp>
        <p:nvSpPr>
          <p:cNvPr id="7" name="Rectangle 6"/>
          <p:cNvSpPr/>
          <p:nvPr/>
        </p:nvSpPr>
        <p:spPr>
          <a:xfrm>
            <a:off x="658368" y="1572768"/>
            <a:ext cx="14630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20</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Rounded Rectangle 9"/>
          <p:cNvSpPr/>
          <p:nvPr/>
        </p:nvSpPr>
        <p:spPr>
          <a:xfrm>
            <a:off x="640080" y="1737360"/>
            <a:ext cx="1463040" cy="420624"/>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latin typeface="Segoe UI Semibold"/>
              </a:rPr>
              <a:t>APPLY IT</a:t>
            </a:r>
          </a:p>
        </p:txBody>
      </p:sp>
      <p:sp>
        <p:nvSpPr>
          <p:cNvPr id="11" name="TextBox 10"/>
          <p:cNvSpPr txBox="1"/>
          <p:nvPr/>
        </p:nvSpPr>
        <p:spPr>
          <a:xfrm>
            <a:off x="2331720" y="1737360"/>
            <a:ext cx="9144000" cy="457200"/>
          </a:xfrm>
          <a:prstGeom prst="rect">
            <a:avLst/>
          </a:prstGeom>
          <a:noFill/>
        </p:spPr>
        <p:txBody>
          <a:bodyPr wrap="square" anchor="ctr" lIns="0" rIns="0" tIns="0" bIns="0">
            <a:spAutoFit/>
          </a:bodyPr>
          <a:lstStyle/>
          <a:p>
            <a:pPr algn="l">
              <a:lnSpc>
                <a:spcPct val="106000"/>
              </a:lnSpc>
              <a:spcBef>
                <a:spcPts val="0"/>
              </a:spcBef>
              <a:spcAft>
                <a:spcPts val="0"/>
              </a:spcAft>
            </a:pPr>
            <a:r>
              <a:rPr sz="2000" b="1" i="0">
                <a:solidFill>
                  <a:srgbClr val="E76F51"/>
                </a:solidFill>
                <a:latin typeface="Segoe UI"/>
              </a:rPr>
              <a:t>Which version properly credits the source?</a:t>
            </a:r>
          </a:p>
        </p:txBody>
      </p:sp>
      <p:sp>
        <p:nvSpPr>
          <p:cNvPr id="12" name="Rounded Rectangle 11"/>
          <p:cNvSpPr/>
          <p:nvPr/>
        </p:nvSpPr>
        <p:spPr>
          <a:xfrm>
            <a:off x="640080" y="2331720"/>
            <a:ext cx="5285232" cy="3429000"/>
          </a:xfrm>
          <a:prstGeom prst="roundRect">
            <a:avLst>
              <a:gd name="adj" fmla="val 3500"/>
            </a:avLst>
          </a:prstGeom>
          <a:solidFill>
            <a:srgbClr val="FFFFFF"/>
          </a:solidFill>
          <a:ln w="25400">
            <a:solidFill>
              <a:srgbClr val="9AA5AB"/>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 Same Side Corner Rectangle 12"/>
          <p:cNvSpPr/>
          <p:nvPr/>
        </p:nvSpPr>
        <p:spPr>
          <a:xfrm>
            <a:off x="640080" y="2331720"/>
            <a:ext cx="5285232" cy="822960"/>
          </a:xfrm>
          <a:prstGeom prst="round2SameRect">
            <a:avLst/>
          </a:prstGeom>
          <a:solidFill>
            <a:srgbClr val="9AA5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31720"/>
            <a:ext cx="4736592" cy="822960"/>
          </a:xfrm>
          <a:prstGeom prst="rect">
            <a:avLst/>
          </a:prstGeom>
          <a:noFill/>
        </p:spPr>
        <p:txBody>
          <a:bodyPr wrap="square" anchor="ctr" lIns="0" rIns="0" tIns="0" bIns="0">
            <a:spAutoFit/>
          </a:bodyPr>
          <a:lstStyle/>
          <a:p>
            <a:pPr algn="l">
              <a:lnSpc>
                <a:spcPct val="106000"/>
              </a:lnSpc>
              <a:spcBef>
                <a:spcPts val="0"/>
              </a:spcBef>
              <a:spcAft>
                <a:spcPts val="0"/>
              </a:spcAft>
            </a:pPr>
            <a:r>
              <a:rPr sz="2300" b="1" i="0">
                <a:solidFill>
                  <a:srgbClr val="FFFFFF"/>
                </a:solidFill>
                <a:latin typeface="Segoe UI Semibold"/>
              </a:rPr>
              <a:t>Version A</a:t>
            </a:r>
          </a:p>
        </p:txBody>
      </p:sp>
      <p:sp>
        <p:nvSpPr>
          <p:cNvPr id="15" name="TextBox 14"/>
          <p:cNvSpPr txBox="1"/>
          <p:nvPr/>
        </p:nvSpPr>
        <p:spPr>
          <a:xfrm>
            <a:off x="987552" y="3291839"/>
            <a:ext cx="4590288" cy="1645920"/>
          </a:xfrm>
          <a:prstGeom prst="rect">
            <a:avLst/>
          </a:prstGeom>
          <a:noFill/>
        </p:spPr>
        <p:txBody>
          <a:bodyPr wrap="square" anchor="ctr" lIns="0" rIns="0" tIns="0" bIns="0">
            <a:spAutoFit/>
          </a:bodyPr>
          <a:lstStyle/>
          <a:p>
            <a:pPr algn="l">
              <a:lnSpc>
                <a:spcPct val="114000"/>
              </a:lnSpc>
              <a:spcBef>
                <a:spcPts val="0"/>
              </a:spcBef>
              <a:spcAft>
                <a:spcPts val="0"/>
              </a:spcAft>
            </a:pPr>
            <a:r>
              <a:rPr sz="2200" b="0" i="1">
                <a:solidFill>
                  <a:srgbClr val="212A33"/>
                </a:solidFill>
                <a:latin typeface="Segoe UI"/>
              </a:rPr>
              <a:t>“Coconut husk charcoal can effectively filter bacteria from contaminated water.”</a:t>
            </a:r>
          </a:p>
        </p:txBody>
      </p:sp>
      <p:sp>
        <p:nvSpPr>
          <p:cNvPr id="16" name="Rounded Rectangle 15"/>
          <p:cNvSpPr/>
          <p:nvPr/>
        </p:nvSpPr>
        <p:spPr>
          <a:xfrm>
            <a:off x="987552" y="5102352"/>
            <a:ext cx="4590288" cy="457200"/>
          </a:xfrm>
          <a:prstGeom prst="roundRect">
            <a:avLst>
              <a:gd name="adj" fmla="val 50000"/>
            </a:avLst>
          </a:prstGeom>
          <a:solidFill>
            <a:srgbClr val="9AA5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102352"/>
            <a:ext cx="4590288" cy="457200"/>
          </a:xfrm>
          <a:prstGeom prst="rect">
            <a:avLst/>
          </a:prstGeom>
          <a:noFill/>
        </p:spPr>
        <p:txBody>
          <a:bodyPr wrap="square" anchor="ctr" lIns="0" rIns="0" tIns="0" bIns="0">
            <a:spAutoFit/>
          </a:bodyPr>
          <a:lstStyle/>
          <a:p>
            <a:pPr algn="ctr">
              <a:lnSpc>
                <a:spcPct val="106000"/>
              </a:lnSpc>
              <a:spcBef>
                <a:spcPts val="0"/>
              </a:spcBef>
              <a:spcAft>
                <a:spcPts val="0"/>
              </a:spcAft>
            </a:pPr>
            <a:r>
              <a:rPr sz="1500" b="1" i="0">
                <a:solidFill>
                  <a:srgbClr val="FFFFFF"/>
                </a:solidFill>
                <a:latin typeface="Segoe UI Semibold"/>
              </a:rPr>
              <a:t>MISSING A SOURCE</a:t>
            </a:r>
          </a:p>
        </p:txBody>
      </p:sp>
      <p:sp>
        <p:nvSpPr>
          <p:cNvPr id="18" name="Rounded Rectangle 17"/>
          <p:cNvSpPr/>
          <p:nvPr/>
        </p:nvSpPr>
        <p:spPr>
          <a:xfrm>
            <a:off x="6217920" y="2331720"/>
            <a:ext cx="5285232" cy="3429000"/>
          </a:xfrm>
          <a:prstGeom prst="roundRect">
            <a:avLst>
              <a:gd name="adj" fmla="val 3500"/>
            </a:avLst>
          </a:prstGeom>
          <a:solidFill>
            <a:srgbClr val="FFFFFF"/>
          </a:solidFill>
          <a:ln w="25400">
            <a:solidFill>
              <a:srgbClr val="2A9D8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 Same Side Corner Rectangle 18"/>
          <p:cNvSpPr/>
          <p:nvPr/>
        </p:nvSpPr>
        <p:spPr>
          <a:xfrm>
            <a:off x="6217920" y="2331720"/>
            <a:ext cx="5285232" cy="822960"/>
          </a:xfrm>
          <a:prstGeom prst="round2Same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331720"/>
            <a:ext cx="4736592" cy="822960"/>
          </a:xfrm>
          <a:prstGeom prst="rect">
            <a:avLst/>
          </a:prstGeom>
          <a:noFill/>
        </p:spPr>
        <p:txBody>
          <a:bodyPr wrap="square" anchor="ctr" lIns="0" rIns="0" tIns="0" bIns="0">
            <a:spAutoFit/>
          </a:bodyPr>
          <a:lstStyle/>
          <a:p>
            <a:pPr algn="l">
              <a:lnSpc>
                <a:spcPct val="106000"/>
              </a:lnSpc>
              <a:spcBef>
                <a:spcPts val="0"/>
              </a:spcBef>
              <a:spcAft>
                <a:spcPts val="0"/>
              </a:spcAft>
            </a:pPr>
            <a:r>
              <a:rPr sz="2300" b="1" i="0">
                <a:solidFill>
                  <a:srgbClr val="FFFFFF"/>
                </a:solidFill>
                <a:latin typeface="Segoe UI Semibold"/>
              </a:rPr>
              <a:t>Version B</a:t>
            </a:r>
          </a:p>
        </p:txBody>
      </p:sp>
      <p:sp>
        <p:nvSpPr>
          <p:cNvPr id="21" name="TextBox 20"/>
          <p:cNvSpPr txBox="1"/>
          <p:nvPr/>
        </p:nvSpPr>
        <p:spPr>
          <a:xfrm>
            <a:off x="6565392" y="3291839"/>
            <a:ext cx="4590288" cy="1645920"/>
          </a:xfrm>
          <a:prstGeom prst="rect">
            <a:avLst/>
          </a:prstGeom>
          <a:noFill/>
        </p:spPr>
        <p:txBody>
          <a:bodyPr wrap="square" anchor="ctr" lIns="0" rIns="0" tIns="0" bIns="0">
            <a:spAutoFit/>
          </a:bodyPr>
          <a:lstStyle/>
          <a:p>
            <a:pPr algn="l">
              <a:lnSpc>
                <a:spcPct val="114000"/>
              </a:lnSpc>
              <a:spcBef>
                <a:spcPts val="0"/>
              </a:spcBef>
              <a:spcAft>
                <a:spcPts val="0"/>
              </a:spcAft>
            </a:pPr>
            <a:r>
              <a:rPr sz="2200" b="0" i="1">
                <a:solidFill>
                  <a:srgbClr val="212A33"/>
                </a:solidFill>
                <a:latin typeface="Segoe UI"/>
              </a:rPr>
              <a:t>“According to Reyes (2022), coconut husk charcoal can effectively filter bacteria from contaminated water.”</a:t>
            </a:r>
          </a:p>
        </p:txBody>
      </p:sp>
      <p:sp>
        <p:nvSpPr>
          <p:cNvPr id="22" name="Rounded Rectangle 21"/>
          <p:cNvSpPr/>
          <p:nvPr/>
        </p:nvSpPr>
        <p:spPr>
          <a:xfrm>
            <a:off x="6565392" y="5102352"/>
            <a:ext cx="4590288" cy="457200"/>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5102352"/>
            <a:ext cx="4590288" cy="457200"/>
          </a:xfrm>
          <a:prstGeom prst="rect">
            <a:avLst/>
          </a:prstGeom>
          <a:noFill/>
        </p:spPr>
        <p:txBody>
          <a:bodyPr wrap="square" anchor="ctr" lIns="0" rIns="0" tIns="0" bIns="0">
            <a:spAutoFit/>
          </a:bodyPr>
          <a:lstStyle/>
          <a:p>
            <a:pPr algn="ctr">
              <a:lnSpc>
                <a:spcPct val="106000"/>
              </a:lnSpc>
              <a:spcBef>
                <a:spcPts val="0"/>
              </a:spcBef>
              <a:spcAft>
                <a:spcPts val="0"/>
              </a:spcAft>
            </a:pPr>
            <a:r>
              <a:rPr sz="1500" b="1" i="0">
                <a:solidFill>
                  <a:srgbClr val="FFFFFF"/>
                </a:solidFill>
                <a:latin typeface="Segoe UI Semibold"/>
              </a:rPr>
              <a:t>CREDITS THE SOURCE</a:t>
            </a:r>
          </a:p>
        </p:txBody>
      </p:sp>
      <p:sp>
        <p:nvSpPr>
          <p:cNvPr id="24" name="TextBox 23"/>
          <p:cNvSpPr txBox="1"/>
          <p:nvPr/>
        </p:nvSpPr>
        <p:spPr>
          <a:xfrm>
            <a:off x="640080" y="5943600"/>
            <a:ext cx="10881360" cy="457200"/>
          </a:xfrm>
          <a:prstGeom prst="rect">
            <a:avLst/>
          </a:prstGeom>
          <a:noFill/>
        </p:spPr>
        <p:txBody>
          <a:bodyPr wrap="square" anchor="t" lIns="0" rIns="0" tIns="0" bIns="0">
            <a:spAutoFit/>
          </a:bodyPr>
          <a:lstStyle/>
          <a:p>
            <a:pPr algn="ctr">
              <a:lnSpc>
                <a:spcPct val="106000"/>
              </a:lnSpc>
              <a:spcBef>
                <a:spcPts val="0"/>
              </a:spcBef>
              <a:spcAft>
                <a:spcPts val="0"/>
              </a:spcAft>
            </a:pPr>
            <a:r>
              <a:rPr sz="1800" b="0" i="1">
                <a:solidFill>
                  <a:srgbClr val="5B6B73"/>
                </a:solidFill>
                <a:latin typeface="Segoe UI"/>
              </a:rPr>
              <a:t>Which version avoids plagiarism? What's missing from the other?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6A4C93"/>
                </a:solidFill>
                <a:latin typeface="Segoe UI Semibold"/>
              </a:rPr>
              <a:t>CITING SOURCES (APA)</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Two Parts of Every Citation</a:t>
            </a:r>
          </a:p>
        </p:txBody>
      </p:sp>
      <p:sp>
        <p:nvSpPr>
          <p:cNvPr id="7" name="Rectangle 6"/>
          <p:cNvSpPr/>
          <p:nvPr/>
        </p:nvSpPr>
        <p:spPr>
          <a:xfrm>
            <a:off x="658368" y="1572768"/>
            <a:ext cx="1463040" cy="64008"/>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21</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TextBox 9"/>
          <p:cNvSpPr txBox="1"/>
          <p:nvPr/>
        </p:nvSpPr>
        <p:spPr>
          <a:xfrm>
            <a:off x="640080" y="1755648"/>
            <a:ext cx="10881360" cy="457200"/>
          </a:xfrm>
          <a:prstGeom prst="rect">
            <a:avLst/>
          </a:prstGeom>
          <a:noFill/>
        </p:spPr>
        <p:txBody>
          <a:bodyPr wrap="square" anchor="t" lIns="0" rIns="0" tIns="0" bIns="0">
            <a:spAutoFit/>
          </a:bodyPr>
          <a:lstStyle/>
          <a:p>
            <a:pPr algn="l">
              <a:lnSpc>
                <a:spcPct val="106000"/>
              </a:lnSpc>
              <a:spcBef>
                <a:spcPts val="0"/>
              </a:spcBef>
              <a:spcAft>
                <a:spcPts val="0"/>
              </a:spcAft>
            </a:pPr>
            <a:r>
              <a:rPr sz="2100" b="0" i="0">
                <a:solidFill>
                  <a:srgbClr val="5B6B73"/>
                </a:solidFill>
                <a:latin typeface="Segoe UI"/>
              </a:rPr>
              <a:t>Every complete citation has </a:t>
            </a:r>
            <a:r>
              <a:rPr sz="2100" b="1" i="0">
                <a:solidFill>
                  <a:srgbClr val="6A4C93"/>
                </a:solidFill>
                <a:latin typeface="Segoe UI"/>
              </a:rPr>
              <a:t>two connected parts</a:t>
            </a:r>
            <a:r>
              <a:rPr sz="2100" b="0" i="0">
                <a:solidFill>
                  <a:srgbClr val="5B6B73"/>
                </a:solidFill>
                <a:latin typeface="Segoe UI"/>
              </a:rPr>
              <a:t>:</a:t>
            </a:r>
          </a:p>
        </p:txBody>
      </p:sp>
      <p:sp>
        <p:nvSpPr>
          <p:cNvPr id="11" name="Rounded Rectangle 10"/>
          <p:cNvSpPr/>
          <p:nvPr/>
        </p:nvSpPr>
        <p:spPr>
          <a:xfrm>
            <a:off x="749808" y="2286000"/>
            <a:ext cx="4937760" cy="3749039"/>
          </a:xfrm>
          <a:prstGeom prst="roundRect">
            <a:avLst>
              <a:gd name="adj" fmla="val 35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 Same Side Corner Rectangle 11"/>
          <p:cNvSpPr/>
          <p:nvPr/>
        </p:nvSpPr>
        <p:spPr>
          <a:xfrm>
            <a:off x="749808" y="2286000"/>
            <a:ext cx="4937760" cy="868680"/>
          </a:xfrm>
          <a:prstGeom prst="round2Same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7" y="2286000"/>
            <a:ext cx="4389120" cy="868680"/>
          </a:xfrm>
          <a:prstGeom prst="rect">
            <a:avLst/>
          </a:prstGeom>
          <a:noFill/>
        </p:spPr>
        <p:txBody>
          <a:bodyPr wrap="square" anchor="ctr" lIns="0" rIns="0" tIns="0" bIns="0">
            <a:spAutoFit/>
          </a:bodyPr>
          <a:lstStyle/>
          <a:p>
            <a:pPr algn="l">
              <a:lnSpc>
                <a:spcPct val="106000"/>
              </a:lnSpc>
              <a:spcBef>
                <a:spcPts val="0"/>
              </a:spcBef>
              <a:spcAft>
                <a:spcPts val="0"/>
              </a:spcAft>
            </a:pPr>
            <a:r>
              <a:rPr sz="2400" b="1" i="0">
                <a:solidFill>
                  <a:srgbClr val="FFFFFF"/>
                </a:solidFill>
                <a:latin typeface="Segoe UI Semibold"/>
              </a:rPr>
              <a:t>In-Text Citation</a:t>
            </a:r>
          </a:p>
        </p:txBody>
      </p:sp>
      <p:sp>
        <p:nvSpPr>
          <p:cNvPr id="14" name="TextBox 13"/>
          <p:cNvSpPr txBox="1"/>
          <p:nvPr/>
        </p:nvSpPr>
        <p:spPr>
          <a:xfrm>
            <a:off x="1097280" y="3310128"/>
            <a:ext cx="4242816" cy="1554480"/>
          </a:xfrm>
          <a:prstGeom prst="rect">
            <a:avLst/>
          </a:prstGeom>
          <a:noFill/>
        </p:spPr>
        <p:txBody>
          <a:bodyPr wrap="square" anchor="ctr" lIns="0" rIns="0" tIns="0" bIns="0">
            <a:spAutoFit/>
          </a:bodyPr>
          <a:lstStyle/>
          <a:p>
            <a:pPr algn="l">
              <a:lnSpc>
                <a:spcPct val="114000"/>
              </a:lnSpc>
              <a:spcBef>
                <a:spcPts val="0"/>
              </a:spcBef>
              <a:spcAft>
                <a:spcPts val="0"/>
              </a:spcAft>
            </a:pPr>
            <a:r>
              <a:rPr sz="2300" b="0" i="0">
                <a:solidFill>
                  <a:srgbClr val="212A33"/>
                </a:solidFill>
                <a:latin typeface="Segoe UI"/>
              </a:rPr>
              <a:t>A short note within your writing, pointing to a source</a:t>
            </a:r>
          </a:p>
        </p:txBody>
      </p:sp>
      <p:sp>
        <p:nvSpPr>
          <p:cNvPr id="15" name="Rounded Rectangle 14"/>
          <p:cNvSpPr/>
          <p:nvPr/>
        </p:nvSpPr>
        <p:spPr>
          <a:xfrm>
            <a:off x="1097280" y="5010912"/>
            <a:ext cx="4242816" cy="804672"/>
          </a:xfrm>
          <a:prstGeom prst="roundRect">
            <a:avLst>
              <a:gd name="adj" fmla="val 14000"/>
            </a:avLst>
          </a:prstGeom>
          <a:solidFill>
            <a:srgbClr val="F0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52728" y="5010912"/>
            <a:ext cx="3931920" cy="804672"/>
          </a:xfrm>
          <a:prstGeom prst="rect">
            <a:avLst/>
          </a:prstGeom>
          <a:noFill/>
        </p:spPr>
        <p:txBody>
          <a:bodyPr wrap="square" anchor="ctr" lIns="0" rIns="0" tIns="0" bIns="0">
            <a:spAutoFit/>
          </a:bodyPr>
          <a:lstStyle/>
          <a:p>
            <a:pPr algn="l">
              <a:lnSpc>
                <a:spcPct val="106000"/>
              </a:lnSpc>
              <a:spcBef>
                <a:spcPts val="0"/>
              </a:spcBef>
              <a:spcAft>
                <a:spcPts val="100"/>
              </a:spcAft>
            </a:pPr>
            <a:r>
              <a:rPr sz="1500" b="1" i="0">
                <a:solidFill>
                  <a:srgbClr val="5B6B73"/>
                </a:solidFill>
                <a:latin typeface="Segoe UI"/>
              </a:rPr>
              <a:t>Example:  </a:t>
            </a:r>
          </a:p>
          <a:p>
            <a:pPr algn="l">
              <a:lnSpc>
                <a:spcPct val="105000"/>
              </a:lnSpc>
              <a:spcBef>
                <a:spcPts val="0"/>
              </a:spcBef>
              <a:spcAft>
                <a:spcPts val="0"/>
              </a:spcAft>
            </a:pPr>
            <a:r>
              <a:rPr sz="1700" b="1" i="0">
                <a:solidFill>
                  <a:srgbClr val="6A4C93"/>
                </a:solidFill>
                <a:latin typeface="Segoe UI Semibold"/>
              </a:rPr>
              <a:t>(Reyes, 2022)</a:t>
            </a:r>
          </a:p>
        </p:txBody>
      </p:sp>
      <p:sp>
        <p:nvSpPr>
          <p:cNvPr id="17" name="Rounded Rectangle 16"/>
          <p:cNvSpPr/>
          <p:nvPr/>
        </p:nvSpPr>
        <p:spPr>
          <a:xfrm>
            <a:off x="6501384" y="2286000"/>
            <a:ext cx="4937760" cy="3749039"/>
          </a:xfrm>
          <a:prstGeom prst="roundRect">
            <a:avLst>
              <a:gd name="adj" fmla="val 35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 Same Side Corner Rectangle 17"/>
          <p:cNvSpPr/>
          <p:nvPr/>
        </p:nvSpPr>
        <p:spPr>
          <a:xfrm>
            <a:off x="6501384" y="2286000"/>
            <a:ext cx="4937760" cy="868680"/>
          </a:xfrm>
          <a:prstGeom prst="round2SameRect">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75704" y="2286000"/>
            <a:ext cx="4389120" cy="868680"/>
          </a:xfrm>
          <a:prstGeom prst="rect">
            <a:avLst/>
          </a:prstGeom>
          <a:noFill/>
        </p:spPr>
        <p:txBody>
          <a:bodyPr wrap="square" anchor="ctr" lIns="0" rIns="0" tIns="0" bIns="0">
            <a:spAutoFit/>
          </a:bodyPr>
          <a:lstStyle/>
          <a:p>
            <a:pPr algn="l">
              <a:lnSpc>
                <a:spcPct val="106000"/>
              </a:lnSpc>
              <a:spcBef>
                <a:spcPts val="0"/>
              </a:spcBef>
              <a:spcAft>
                <a:spcPts val="0"/>
              </a:spcAft>
            </a:pPr>
            <a:r>
              <a:rPr sz="2400" b="1" i="0">
                <a:solidFill>
                  <a:srgbClr val="FFFFFF"/>
                </a:solidFill>
                <a:latin typeface="Segoe UI Semibold"/>
              </a:rPr>
              <a:t>Reference List Entry</a:t>
            </a:r>
          </a:p>
        </p:txBody>
      </p:sp>
      <p:sp>
        <p:nvSpPr>
          <p:cNvPr id="20" name="TextBox 19"/>
          <p:cNvSpPr txBox="1"/>
          <p:nvPr/>
        </p:nvSpPr>
        <p:spPr>
          <a:xfrm>
            <a:off x="6848856" y="3310128"/>
            <a:ext cx="4242816" cy="1554480"/>
          </a:xfrm>
          <a:prstGeom prst="rect">
            <a:avLst/>
          </a:prstGeom>
          <a:noFill/>
        </p:spPr>
        <p:txBody>
          <a:bodyPr wrap="square" anchor="ctr" lIns="0" rIns="0" tIns="0" bIns="0">
            <a:spAutoFit/>
          </a:bodyPr>
          <a:lstStyle/>
          <a:p>
            <a:pPr algn="l">
              <a:lnSpc>
                <a:spcPct val="114000"/>
              </a:lnSpc>
              <a:spcBef>
                <a:spcPts val="0"/>
              </a:spcBef>
              <a:spcAft>
                <a:spcPts val="0"/>
              </a:spcAft>
            </a:pPr>
            <a:r>
              <a:rPr sz="2300" b="0" i="0">
                <a:solidFill>
                  <a:srgbClr val="212A33"/>
                </a:solidFill>
                <a:latin typeface="Segoe UI"/>
              </a:rPr>
              <a:t>A full entry at the end of your paper, giving complete source details</a:t>
            </a:r>
          </a:p>
        </p:txBody>
      </p:sp>
      <p:sp>
        <p:nvSpPr>
          <p:cNvPr id="21" name="Rounded Rectangle 20"/>
          <p:cNvSpPr/>
          <p:nvPr/>
        </p:nvSpPr>
        <p:spPr>
          <a:xfrm>
            <a:off x="6848856" y="5010912"/>
            <a:ext cx="4242816" cy="804672"/>
          </a:xfrm>
          <a:prstGeom prst="roundRect">
            <a:avLst>
              <a:gd name="adj" fmla="val 14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04304" y="5010912"/>
            <a:ext cx="3931920" cy="804672"/>
          </a:xfrm>
          <a:prstGeom prst="rect">
            <a:avLst/>
          </a:prstGeom>
          <a:noFill/>
        </p:spPr>
        <p:txBody>
          <a:bodyPr wrap="square" anchor="ctr" lIns="0" rIns="0" tIns="0" bIns="0">
            <a:spAutoFit/>
          </a:bodyPr>
          <a:lstStyle/>
          <a:p>
            <a:pPr algn="l">
              <a:lnSpc>
                <a:spcPct val="106000"/>
              </a:lnSpc>
              <a:spcBef>
                <a:spcPts val="0"/>
              </a:spcBef>
              <a:spcAft>
                <a:spcPts val="100"/>
              </a:spcAft>
            </a:pPr>
            <a:r>
              <a:rPr sz="1500" b="1" i="0">
                <a:solidFill>
                  <a:srgbClr val="5B6B73"/>
                </a:solidFill>
                <a:latin typeface="Segoe UI"/>
              </a:rPr>
              <a:t>Example:  </a:t>
            </a:r>
          </a:p>
          <a:p>
            <a:pPr algn="l">
              <a:lnSpc>
                <a:spcPct val="105000"/>
              </a:lnSpc>
              <a:spcBef>
                <a:spcPts val="0"/>
              </a:spcBef>
              <a:spcAft>
                <a:spcPts val="0"/>
              </a:spcAft>
            </a:pPr>
            <a:r>
              <a:rPr sz="1700" b="1" i="0">
                <a:solidFill>
                  <a:srgbClr val="3A7CA5"/>
                </a:solidFill>
                <a:latin typeface="Segoe UI Semibold"/>
              </a:rPr>
              <a:t>Full publication details for Reyes' 2022 work</a:t>
            </a:r>
          </a:p>
        </p:txBody>
      </p:sp>
      <p:sp>
        <p:nvSpPr>
          <p:cNvPr id="23" name="Left-Right Arrow 22"/>
          <p:cNvSpPr/>
          <p:nvPr/>
        </p:nvSpPr>
        <p:spPr>
          <a:xfrm>
            <a:off x="5742432" y="3794760"/>
            <a:ext cx="868680" cy="502920"/>
          </a:xfrm>
          <a:prstGeom prst="leftRightArrow">
            <a:avLst/>
          </a:prstGeom>
          <a:solidFill>
            <a:srgbClr val="C9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199632"/>
            <a:ext cx="10881360" cy="411480"/>
          </a:xfrm>
          <a:prstGeom prst="rect">
            <a:avLst/>
          </a:prstGeom>
          <a:noFill/>
        </p:spPr>
        <p:txBody>
          <a:bodyPr wrap="square" anchor="t" lIns="0" rIns="0" tIns="0" bIns="0">
            <a:spAutoFit/>
          </a:bodyPr>
          <a:lstStyle/>
          <a:p>
            <a:pPr algn="ctr">
              <a:lnSpc>
                <a:spcPct val="106000"/>
              </a:lnSpc>
              <a:spcBef>
                <a:spcPts val="0"/>
              </a:spcBef>
              <a:spcAft>
                <a:spcPts val="0"/>
              </a:spcAft>
            </a:pPr>
            <a:r>
              <a:rPr sz="1800" b="1" i="1">
                <a:solidFill>
                  <a:srgbClr val="6A4C93"/>
                </a:solidFill>
                <a:latin typeface="Segoe UI"/>
              </a:rPr>
              <a:t>The short note in your text always has a matching full entry at the end.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6A4C93"/>
                </a:solidFill>
                <a:latin typeface="Segoe UI Semibold"/>
              </a:rPr>
              <a:t>CITING SOURCES (APA)</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APA In-Text Citations</a:t>
            </a:r>
          </a:p>
        </p:txBody>
      </p:sp>
      <p:sp>
        <p:nvSpPr>
          <p:cNvPr id="7" name="Rectangle 6"/>
          <p:cNvSpPr/>
          <p:nvPr/>
        </p:nvSpPr>
        <p:spPr>
          <a:xfrm>
            <a:off x="658368" y="1572768"/>
            <a:ext cx="1463040" cy="64008"/>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22</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TextBox 9"/>
          <p:cNvSpPr txBox="1"/>
          <p:nvPr/>
        </p:nvSpPr>
        <p:spPr>
          <a:xfrm>
            <a:off x="640080" y="1737360"/>
            <a:ext cx="10881360" cy="457200"/>
          </a:xfrm>
          <a:prstGeom prst="rect">
            <a:avLst/>
          </a:prstGeom>
          <a:noFill/>
        </p:spPr>
        <p:txBody>
          <a:bodyPr wrap="square" anchor="t" lIns="0" rIns="0" tIns="0" bIns="0">
            <a:spAutoFit/>
          </a:bodyPr>
          <a:lstStyle/>
          <a:p>
            <a:pPr algn="l">
              <a:lnSpc>
                <a:spcPct val="106000"/>
              </a:lnSpc>
              <a:spcBef>
                <a:spcPts val="0"/>
              </a:spcBef>
              <a:spcAft>
                <a:spcPts val="0"/>
              </a:spcAft>
            </a:pPr>
            <a:r>
              <a:rPr sz="2100" b="0" i="0">
                <a:solidFill>
                  <a:srgbClr val="212A33"/>
                </a:solidFill>
                <a:latin typeface="Segoe UI"/>
              </a:rPr>
              <a:t>This course uses </a:t>
            </a:r>
            <a:r>
              <a:rPr sz="2100" b="1" i="0">
                <a:solidFill>
                  <a:srgbClr val="6A4C93"/>
                </a:solidFill>
                <a:latin typeface="Segoe UI"/>
              </a:rPr>
              <a:t>APA (American Psychological Association) style</a:t>
            </a:r>
            <a:r>
              <a:rPr sz="2100" b="0" i="0">
                <a:solidFill>
                  <a:srgbClr val="212A33"/>
                </a:solidFill>
                <a:latin typeface="Segoe UI"/>
              </a:rPr>
              <a:t> for all citations.</a:t>
            </a:r>
          </a:p>
        </p:txBody>
      </p:sp>
      <p:sp>
        <p:nvSpPr>
          <p:cNvPr id="11" name="Rounded Rectangle 10"/>
          <p:cNvSpPr/>
          <p:nvPr/>
        </p:nvSpPr>
        <p:spPr>
          <a:xfrm>
            <a:off x="640080" y="2286000"/>
            <a:ext cx="10927080" cy="868680"/>
          </a:xfrm>
          <a:prstGeom prst="roundRect">
            <a:avLst>
              <a:gd name="adj" fmla="val 12000"/>
            </a:avLst>
          </a:prstGeom>
          <a:solidFill>
            <a:srgbClr val="F0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286000"/>
            <a:ext cx="10378440" cy="868680"/>
          </a:xfrm>
          <a:prstGeom prst="rect">
            <a:avLst/>
          </a:prstGeom>
          <a:noFill/>
        </p:spPr>
        <p:txBody>
          <a:bodyPr wrap="square" anchor="ctr" lIns="0" rIns="0" tIns="0" bIns="0">
            <a:spAutoFit/>
          </a:bodyPr>
          <a:lstStyle/>
          <a:p>
            <a:pPr algn="l">
              <a:lnSpc>
                <a:spcPct val="106000"/>
              </a:lnSpc>
              <a:spcBef>
                <a:spcPts val="0"/>
              </a:spcBef>
              <a:spcAft>
                <a:spcPts val="0"/>
              </a:spcAft>
            </a:pPr>
            <a:r>
              <a:rPr sz="2000" b="1" i="0">
                <a:solidFill>
                  <a:srgbClr val="212A33"/>
                </a:solidFill>
                <a:latin typeface="Segoe UI"/>
              </a:rPr>
              <a:t>APA in-text format:   </a:t>
            </a:r>
            <a:r>
              <a:rPr sz="2400" b="1" i="1">
                <a:solidFill>
                  <a:srgbClr val="6A4C93"/>
                </a:solidFill>
                <a:latin typeface="Segoe UI Semibold"/>
              </a:rPr>
              <a:t>(Author's Last Name, Year)</a:t>
            </a:r>
          </a:p>
        </p:txBody>
      </p:sp>
      <p:graphicFrame>
        <p:nvGraphicFramePr>
          <p:cNvPr id="13" name="Table 12"/>
          <p:cNvGraphicFramePr>
            <a:graphicFrameLocks noGrp="1"/>
          </p:cNvGraphicFramePr>
          <p:nvPr/>
        </p:nvGraphicFramePr>
        <p:xfrm>
          <a:off x="640080" y="3337560"/>
          <a:ext cx="10927080" cy="2743200"/>
        </p:xfrm>
        <a:graphic>
          <a:graphicData uri="http://schemas.openxmlformats.org/drawingml/2006/table">
            <a:tbl>
              <a:tblPr firstRow="0" bandRow="0">
                <a:tableStyleId>{5C22544A-7EE6-4342-B048-85BDC9FD1C3A}</a:tableStyleId>
              </a:tblPr>
              <a:tblGrid>
                <a:gridCol w="3063240"/>
                <a:gridCol w="7863840"/>
              </a:tblGrid>
              <a:tr h="914400">
                <a:tc>
                  <a:txBody>
                    <a:bodyPr wrap="square"/>
                    <a:lstStyle/>
                    <a:p>
                      <a:pPr algn="l"/>
                      <a:r>
                        <a:rPr sz="2200" b="1" i="0">
                          <a:solidFill>
                            <a:srgbClr val="FFFFFF"/>
                          </a:solidFill>
                          <a:latin typeface="Segoe UI Semibold"/>
                        </a:rPr>
                        <a:t>Use Case</a:t>
                      </a:r>
                    </a:p>
                  </a:txBody>
                  <a:tcPr marL="146304" marR="146304" marT="73152" marB="73152" anchor="ctr">
                    <a:solidFill>
                      <a:srgbClr val="6A4C93"/>
                    </a:solidFill>
                  </a:tcPr>
                </a:tc>
                <a:tc>
                  <a:txBody>
                    <a:bodyPr wrap="square"/>
                    <a:lstStyle/>
                    <a:p>
                      <a:pPr algn="l"/>
                      <a:r>
                        <a:rPr sz="2200" b="1" i="0">
                          <a:solidFill>
                            <a:srgbClr val="FFFFFF"/>
                          </a:solidFill>
                          <a:latin typeface="Segoe UI Semibold"/>
                        </a:rPr>
                        <a:t>Example</a:t>
                      </a:r>
                    </a:p>
                  </a:txBody>
                  <a:tcPr marL="146304" marR="146304" marT="73152" marB="73152" anchor="ctr">
                    <a:solidFill>
                      <a:srgbClr val="6A4C93"/>
                    </a:solidFill>
                  </a:tcPr>
                </a:tc>
              </a:tr>
              <a:tr h="914400">
                <a:tc>
                  <a:txBody>
                    <a:bodyPr wrap="square"/>
                    <a:lstStyle/>
                    <a:p>
                      <a:pPr algn="l"/>
                      <a:r>
                        <a:rPr sz="2100" b="0" i="0">
                          <a:solidFill>
                            <a:srgbClr val="212A33"/>
                          </a:solidFill>
                          <a:latin typeface="Segoe UI"/>
                        </a:rPr>
                        <a:t>Paraphrased idea</a:t>
                      </a:r>
                    </a:p>
                  </a:txBody>
                  <a:tcPr marL="146304" marR="146304" marT="73152" marB="73152" anchor="ctr">
                    <a:solidFill>
                      <a:srgbClr val="FFFFFF"/>
                    </a:solidFill>
                  </a:tcPr>
                </a:tc>
                <a:tc>
                  <a:txBody>
                    <a:bodyPr wrap="square"/>
                    <a:lstStyle/>
                    <a:p>
                      <a:pPr algn="l"/>
                      <a:r>
                        <a:rPr sz="2100" b="0" i="0">
                          <a:solidFill>
                            <a:srgbClr val="212A33"/>
                          </a:solidFill>
                          <a:latin typeface="Segoe UI"/>
                        </a:rPr>
                        <a:t>Coconut husk charcoal has shown filtering potential in prior designs (Reyes, 2022).</a:t>
                      </a:r>
                    </a:p>
                  </a:txBody>
                  <a:tcPr marL="146304" marR="146304" marT="73152" marB="73152" anchor="ctr">
                    <a:solidFill>
                      <a:srgbClr val="FFFFFF"/>
                    </a:solidFill>
                  </a:tcPr>
                </a:tc>
              </a:tr>
              <a:tr h="914400">
                <a:tc>
                  <a:txBody>
                    <a:bodyPr wrap="square"/>
                    <a:lstStyle/>
                    <a:p>
                      <a:pPr algn="l"/>
                      <a:r>
                        <a:rPr sz="2100" b="0" i="0">
                          <a:solidFill>
                            <a:srgbClr val="212A33"/>
                          </a:solidFill>
                          <a:latin typeface="Segoe UI"/>
                        </a:rPr>
                        <a:t>Direct quote </a:t>
                      </a:r>
                      <a:r>
                        <a:rPr sz="1600" b="0" i="1">
                          <a:solidFill>
                            <a:srgbClr val="212A33"/>
                          </a:solidFill>
                          <a:latin typeface="Segoe UI"/>
                        </a:rPr>
                        <a:t>(add page no.)</a:t>
                      </a:r>
                    </a:p>
                  </a:txBody>
                  <a:tcPr marL="146304" marR="146304" marT="73152" marB="73152" anchor="ctr">
                    <a:solidFill>
                      <a:srgbClr val="E3ECEF"/>
                    </a:solidFill>
                  </a:tcPr>
                </a:tc>
                <a:tc>
                  <a:txBody>
                    <a:bodyPr wrap="square"/>
                    <a:lstStyle/>
                    <a:p>
                      <a:pPr algn="l"/>
                      <a:r>
                        <a:rPr sz="2100" b="0" i="0">
                          <a:solidFill>
                            <a:srgbClr val="212A33"/>
                          </a:solidFill>
                          <a:latin typeface="Segoe UI"/>
                        </a:rPr>
                        <a:t>Reyes (2022) found the design </a:t>
                      </a:r>
                      <a:r>
                        <a:rPr sz="2100" b="0" i="1">
                          <a:solidFill>
                            <a:srgbClr val="212A33"/>
                          </a:solidFill>
                          <a:latin typeface="Segoe UI"/>
                        </a:rPr>
                        <a:t>“reduced bacterial presence by over 60%”</a:t>
                      </a:r>
                      <a:r>
                        <a:rPr sz="2100" b="0" i="0">
                          <a:solidFill>
                            <a:srgbClr val="212A33"/>
                          </a:solidFill>
                          <a:latin typeface="Segoe UI"/>
                        </a:rPr>
                        <a:t> (p. 14).</a:t>
                      </a:r>
                    </a:p>
                  </a:txBody>
                  <a:tcPr marL="146304" marR="146304" marT="73152" marB="73152" anchor="ctr">
                    <a:solidFill>
                      <a:srgbClr val="E3ECE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6A4C93"/>
                </a:solidFill>
                <a:latin typeface="Segoe UI Semibold"/>
              </a:rPr>
              <a:t>CITING SOURCES (APA)</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Practice In-Text Citations</a:t>
            </a:r>
          </a:p>
        </p:txBody>
      </p:sp>
      <p:sp>
        <p:nvSpPr>
          <p:cNvPr id="7" name="Rectangle 6"/>
          <p:cNvSpPr/>
          <p:nvPr/>
        </p:nvSpPr>
        <p:spPr>
          <a:xfrm>
            <a:off x="658368" y="1572768"/>
            <a:ext cx="1463040" cy="64008"/>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23</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Rounded Rectangle 9"/>
          <p:cNvSpPr/>
          <p:nvPr/>
        </p:nvSpPr>
        <p:spPr>
          <a:xfrm>
            <a:off x="640080" y="1737360"/>
            <a:ext cx="1463040" cy="420624"/>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latin typeface="Segoe UI Semibold"/>
              </a:rPr>
              <a:t>APPLY IT</a:t>
            </a:r>
          </a:p>
        </p:txBody>
      </p:sp>
      <p:sp>
        <p:nvSpPr>
          <p:cNvPr id="11" name="TextBox 10"/>
          <p:cNvSpPr txBox="1"/>
          <p:nvPr/>
        </p:nvSpPr>
        <p:spPr>
          <a:xfrm>
            <a:off x="2331720" y="1737360"/>
            <a:ext cx="9144000" cy="457200"/>
          </a:xfrm>
          <a:prstGeom prst="rect">
            <a:avLst/>
          </a:prstGeom>
          <a:noFill/>
        </p:spPr>
        <p:txBody>
          <a:bodyPr wrap="square" anchor="ctr" lIns="0" rIns="0" tIns="0" bIns="0">
            <a:spAutoFit/>
          </a:bodyPr>
          <a:lstStyle/>
          <a:p>
            <a:pPr algn="l">
              <a:lnSpc>
                <a:spcPct val="106000"/>
              </a:lnSpc>
              <a:spcBef>
                <a:spcPts val="0"/>
              </a:spcBef>
              <a:spcAft>
                <a:spcPts val="0"/>
              </a:spcAft>
            </a:pPr>
            <a:r>
              <a:rPr sz="1900" b="1" i="0">
                <a:solidFill>
                  <a:srgbClr val="6A4C93"/>
                </a:solidFill>
                <a:latin typeface="Segoe UI"/>
              </a:rPr>
              <a:t>Add a properly formatted APA in-text citation to each sentence.</a:t>
            </a:r>
          </a:p>
        </p:txBody>
      </p:sp>
      <p:sp>
        <p:nvSpPr>
          <p:cNvPr id="12" name="Rounded Rectangle 11"/>
          <p:cNvSpPr/>
          <p:nvPr/>
        </p:nvSpPr>
        <p:spPr>
          <a:xfrm>
            <a:off x="640080" y="2487168"/>
            <a:ext cx="10927080" cy="1828800"/>
          </a:xfrm>
          <a:prstGeom prst="roundRect">
            <a:avLst>
              <a:gd name="adj" fmla="val 4000"/>
            </a:avLst>
          </a:prstGeom>
          <a:solidFill>
            <a:srgbClr val="FFFFFF"/>
          </a:solidFill>
          <a:ln w="12700">
            <a:solidFill>
              <a:srgbClr val="E3ECEF"/>
            </a:solidFill>
          </a:ln>
          <a:effectLst>
            <a:outerShdw blurRad="54864"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4400" y="3099816"/>
            <a:ext cx="603504" cy="603504"/>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099816"/>
            <a:ext cx="603504" cy="603504"/>
          </a:xfrm>
          <a:prstGeom prst="rect">
            <a:avLst/>
          </a:prstGeom>
          <a:noFill/>
        </p:spPr>
        <p:txBody>
          <a:bodyPr wrap="square" anchor="ctr" lIns="0" rIns="0" tIns="0" bIns="0">
            <a:spAutoFit/>
          </a:bodyPr>
          <a:lstStyle/>
          <a:p>
            <a:pPr algn="ctr">
              <a:lnSpc>
                <a:spcPct val="106000"/>
              </a:lnSpc>
              <a:spcBef>
                <a:spcPts val="0"/>
              </a:spcBef>
              <a:spcAft>
                <a:spcPts val="0"/>
              </a:spcAft>
            </a:pPr>
            <a:r>
              <a:rPr sz="2200" b="1" i="0">
                <a:solidFill>
                  <a:srgbClr val="FFFFFF"/>
                </a:solidFill>
                <a:latin typeface="Segoe UI Semibold"/>
              </a:rPr>
              <a:t>1</a:t>
            </a:r>
          </a:p>
        </p:txBody>
      </p:sp>
      <p:sp>
        <p:nvSpPr>
          <p:cNvPr id="15" name="TextBox 14"/>
          <p:cNvSpPr txBox="1"/>
          <p:nvPr/>
        </p:nvSpPr>
        <p:spPr>
          <a:xfrm>
            <a:off x="1737360" y="2651760"/>
            <a:ext cx="9464040" cy="1499616"/>
          </a:xfrm>
          <a:prstGeom prst="rect">
            <a:avLst/>
          </a:prstGeom>
          <a:noFill/>
        </p:spPr>
        <p:txBody>
          <a:bodyPr wrap="square" anchor="ctr" lIns="0" rIns="0" tIns="0" bIns="0">
            <a:spAutoFit/>
          </a:bodyPr>
          <a:lstStyle/>
          <a:p>
            <a:pPr algn="l">
              <a:lnSpc>
                <a:spcPct val="110000"/>
              </a:lnSpc>
              <a:spcBef>
                <a:spcPts val="0"/>
              </a:spcBef>
              <a:spcAft>
                <a:spcPts val="800"/>
              </a:spcAft>
            </a:pPr>
            <a:r>
              <a:rPr sz="2500" b="0" i="0">
                <a:solidFill>
                  <a:srgbClr val="212A33"/>
                </a:solidFill>
                <a:latin typeface="Segoe UI"/>
              </a:rPr>
              <a:t>A 2021 study by Dela Cruz found that sand filtration removes 80% of sediment.</a:t>
            </a:r>
          </a:p>
          <a:p>
            <a:pPr algn="l">
              <a:lnSpc>
                <a:spcPct val="106000"/>
              </a:lnSpc>
              <a:spcBef>
                <a:spcPts val="0"/>
              </a:spcBef>
              <a:spcAft>
                <a:spcPts val="0"/>
              </a:spcAft>
            </a:pPr>
            <a:r>
              <a:rPr sz="1800" b="0" i="1">
                <a:solidFill>
                  <a:srgbClr val="6A4C93"/>
                </a:solidFill>
                <a:latin typeface="Segoe UI"/>
              </a:rPr>
              <a:t>( Paraphrase — write the citation. )</a:t>
            </a:r>
          </a:p>
        </p:txBody>
      </p:sp>
      <p:sp>
        <p:nvSpPr>
          <p:cNvPr id="16" name="Rounded Rectangle 15"/>
          <p:cNvSpPr/>
          <p:nvPr/>
        </p:nvSpPr>
        <p:spPr>
          <a:xfrm>
            <a:off x="640080" y="4590288"/>
            <a:ext cx="10927080" cy="1828800"/>
          </a:xfrm>
          <a:prstGeom prst="roundRect">
            <a:avLst>
              <a:gd name="adj" fmla="val 4000"/>
            </a:avLst>
          </a:prstGeom>
          <a:solidFill>
            <a:srgbClr val="FFFFFF"/>
          </a:solidFill>
          <a:ln w="12700">
            <a:solidFill>
              <a:srgbClr val="E3ECEF"/>
            </a:solidFill>
          </a:ln>
          <a:effectLst>
            <a:outerShdw blurRad="54864"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5202936"/>
            <a:ext cx="603504" cy="603504"/>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202936"/>
            <a:ext cx="603504" cy="603504"/>
          </a:xfrm>
          <a:prstGeom prst="rect">
            <a:avLst/>
          </a:prstGeom>
          <a:noFill/>
        </p:spPr>
        <p:txBody>
          <a:bodyPr wrap="square" anchor="ctr" lIns="0" rIns="0" tIns="0" bIns="0">
            <a:spAutoFit/>
          </a:bodyPr>
          <a:lstStyle/>
          <a:p>
            <a:pPr algn="ctr">
              <a:lnSpc>
                <a:spcPct val="106000"/>
              </a:lnSpc>
              <a:spcBef>
                <a:spcPts val="0"/>
              </a:spcBef>
              <a:spcAft>
                <a:spcPts val="0"/>
              </a:spcAft>
            </a:pPr>
            <a:r>
              <a:rPr sz="2200" b="1" i="0">
                <a:solidFill>
                  <a:srgbClr val="FFFFFF"/>
                </a:solidFill>
                <a:latin typeface="Segoe UI Semibold"/>
              </a:rPr>
              <a:t>2</a:t>
            </a:r>
          </a:p>
        </p:txBody>
      </p:sp>
      <p:sp>
        <p:nvSpPr>
          <p:cNvPr id="19" name="TextBox 18"/>
          <p:cNvSpPr txBox="1"/>
          <p:nvPr/>
        </p:nvSpPr>
        <p:spPr>
          <a:xfrm>
            <a:off x="1737360" y="4754879"/>
            <a:ext cx="9464040" cy="1499616"/>
          </a:xfrm>
          <a:prstGeom prst="rect">
            <a:avLst/>
          </a:prstGeom>
          <a:noFill/>
        </p:spPr>
        <p:txBody>
          <a:bodyPr wrap="square" anchor="ctr" lIns="0" rIns="0" tIns="0" bIns="0">
            <a:spAutoFit/>
          </a:bodyPr>
          <a:lstStyle/>
          <a:p>
            <a:pPr algn="l">
              <a:lnSpc>
                <a:spcPct val="110000"/>
              </a:lnSpc>
              <a:spcBef>
                <a:spcPts val="0"/>
              </a:spcBef>
              <a:spcAft>
                <a:spcPts val="800"/>
              </a:spcAft>
            </a:pPr>
            <a:r>
              <a:rPr sz="2500" b="0" i="0">
                <a:solidFill>
                  <a:srgbClr val="212A33"/>
                </a:solidFill>
                <a:latin typeface="Segoe UI"/>
              </a:rPr>
              <a:t>Dela Cruz's 2021 report stated the filter </a:t>
            </a:r>
            <a:r>
              <a:rPr sz="2500" b="0" i="1">
                <a:solidFill>
                  <a:srgbClr val="212A33"/>
                </a:solidFill>
                <a:latin typeface="Segoe UI"/>
              </a:rPr>
              <a:t>“significantly improved water clarity within 48 hours.”</a:t>
            </a:r>
          </a:p>
          <a:p>
            <a:pPr algn="l">
              <a:lnSpc>
                <a:spcPct val="106000"/>
              </a:lnSpc>
              <a:spcBef>
                <a:spcPts val="0"/>
              </a:spcBef>
              <a:spcAft>
                <a:spcPts val="0"/>
              </a:spcAft>
            </a:pPr>
            <a:r>
              <a:rPr sz="1800" b="0" i="1">
                <a:solidFill>
                  <a:srgbClr val="6A4C93"/>
                </a:solidFill>
                <a:latin typeface="Segoe UI"/>
              </a:rPr>
              <a:t>( Direct quote, page 9 — write the citation.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6A4C93"/>
                </a:solidFill>
                <a:latin typeface="Segoe UI Semibold"/>
              </a:rPr>
              <a:t>CITING SOURCES (APA)</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APA Reference List Basics</a:t>
            </a:r>
          </a:p>
        </p:txBody>
      </p:sp>
      <p:sp>
        <p:nvSpPr>
          <p:cNvPr id="7" name="Rectangle 6"/>
          <p:cNvSpPr/>
          <p:nvPr/>
        </p:nvSpPr>
        <p:spPr>
          <a:xfrm>
            <a:off x="658368" y="1572768"/>
            <a:ext cx="1463040" cy="64008"/>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24</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TextBox 9"/>
          <p:cNvSpPr txBox="1"/>
          <p:nvPr/>
        </p:nvSpPr>
        <p:spPr>
          <a:xfrm>
            <a:off x="640080" y="1737360"/>
            <a:ext cx="10881360" cy="457200"/>
          </a:xfrm>
          <a:prstGeom prst="rect">
            <a:avLst/>
          </a:prstGeom>
          <a:noFill/>
        </p:spPr>
        <p:txBody>
          <a:bodyPr wrap="square" anchor="t" lIns="0" rIns="0" tIns="0" bIns="0">
            <a:spAutoFit/>
          </a:bodyPr>
          <a:lstStyle/>
          <a:p>
            <a:pPr algn="l">
              <a:lnSpc>
                <a:spcPct val="106000"/>
              </a:lnSpc>
              <a:spcBef>
                <a:spcPts val="0"/>
              </a:spcBef>
              <a:spcAft>
                <a:spcPts val="0"/>
              </a:spcAft>
            </a:pPr>
            <a:r>
              <a:rPr sz="2100" b="0" i="0">
                <a:solidFill>
                  <a:srgbClr val="5B6B73"/>
                </a:solidFill>
                <a:latin typeface="Segoe UI"/>
              </a:rPr>
              <a:t>Every source type has a specific </a:t>
            </a:r>
            <a:r>
              <a:rPr sz="2100" b="1" i="0">
                <a:solidFill>
                  <a:srgbClr val="6A4C93"/>
                </a:solidFill>
                <a:latin typeface="Segoe UI"/>
              </a:rPr>
              <a:t>reference list</a:t>
            </a:r>
            <a:r>
              <a:rPr sz="2100" b="0" i="0">
                <a:solidFill>
                  <a:srgbClr val="5B6B73"/>
                </a:solidFill>
                <a:latin typeface="Segoe UI"/>
              </a:rPr>
              <a:t> format. Three common types:</a:t>
            </a:r>
          </a:p>
        </p:txBody>
      </p:sp>
      <p:sp>
        <p:nvSpPr>
          <p:cNvPr id="11" name="Rounded Rectangle 10"/>
          <p:cNvSpPr/>
          <p:nvPr/>
        </p:nvSpPr>
        <p:spPr>
          <a:xfrm>
            <a:off x="640080" y="2286000"/>
            <a:ext cx="3584448" cy="3977639"/>
          </a:xfrm>
          <a:prstGeom prst="roundRect">
            <a:avLst>
              <a:gd name="adj" fmla="val 40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 Same Side Corner Rectangle 11"/>
          <p:cNvSpPr/>
          <p:nvPr/>
        </p:nvSpPr>
        <p:spPr>
          <a:xfrm>
            <a:off x="640080" y="2286000"/>
            <a:ext cx="3584448" cy="146304"/>
          </a:xfrm>
          <a:prstGeom prst="round2Same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993392" y="2697480"/>
            <a:ext cx="877824" cy="69494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993392" y="2697480"/>
            <a:ext cx="155448" cy="6949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566160"/>
            <a:ext cx="3218688" cy="502920"/>
          </a:xfrm>
          <a:prstGeom prst="rect">
            <a:avLst/>
          </a:prstGeom>
          <a:noFill/>
        </p:spPr>
        <p:txBody>
          <a:bodyPr wrap="square" anchor="ctr" lIns="0" rIns="0" tIns="0" bIns="0">
            <a:spAutoFit/>
          </a:bodyPr>
          <a:lstStyle/>
          <a:p>
            <a:pPr algn="ctr">
              <a:lnSpc>
                <a:spcPct val="106000"/>
              </a:lnSpc>
              <a:spcBef>
                <a:spcPts val="0"/>
              </a:spcBef>
              <a:spcAft>
                <a:spcPts val="0"/>
              </a:spcAft>
            </a:pPr>
            <a:r>
              <a:rPr sz="2300" b="1" i="0">
                <a:solidFill>
                  <a:srgbClr val="2A9D8F"/>
                </a:solidFill>
                <a:latin typeface="Segoe UI Semibold"/>
              </a:rPr>
              <a:t>Book</a:t>
            </a:r>
          </a:p>
        </p:txBody>
      </p:sp>
      <p:sp>
        <p:nvSpPr>
          <p:cNvPr id="16" name="Rounded Rectangle 15"/>
          <p:cNvSpPr/>
          <p:nvPr/>
        </p:nvSpPr>
        <p:spPr>
          <a:xfrm>
            <a:off x="859536" y="4160520"/>
            <a:ext cx="3145536" cy="1920240"/>
          </a:xfrm>
          <a:prstGeom prst="roundRect">
            <a:avLst>
              <a:gd name="adj" fmla="val 5000"/>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51960"/>
            <a:ext cx="2852928" cy="1737360"/>
          </a:xfrm>
          <a:prstGeom prst="rect">
            <a:avLst/>
          </a:prstGeom>
          <a:noFill/>
        </p:spPr>
        <p:txBody>
          <a:bodyPr wrap="square" anchor="ctr" lIns="0" rIns="0" tIns="0" bIns="0">
            <a:spAutoFit/>
          </a:bodyPr>
          <a:lstStyle/>
          <a:p>
            <a:pPr algn="l">
              <a:lnSpc>
                <a:spcPct val="125000"/>
              </a:lnSpc>
              <a:spcBef>
                <a:spcPts val="0"/>
              </a:spcBef>
              <a:spcAft>
                <a:spcPts val="0"/>
              </a:spcAft>
            </a:pPr>
            <a:r>
              <a:rPr sz="1600" b="0" i="0">
                <a:solidFill>
                  <a:srgbClr val="212A33"/>
                </a:solidFill>
                <a:latin typeface="Consolas"/>
              </a:rPr>
              <a:t>Author, A. A. (Year). Title of the work. Publisher.</a:t>
            </a:r>
          </a:p>
        </p:txBody>
      </p:sp>
      <p:sp>
        <p:nvSpPr>
          <p:cNvPr id="18" name="Rounded Rectangle 17"/>
          <p:cNvSpPr/>
          <p:nvPr/>
        </p:nvSpPr>
        <p:spPr>
          <a:xfrm>
            <a:off x="4489704" y="2286000"/>
            <a:ext cx="3584448" cy="3977639"/>
          </a:xfrm>
          <a:prstGeom prst="roundRect">
            <a:avLst>
              <a:gd name="adj" fmla="val 40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 Same Side Corner Rectangle 18"/>
          <p:cNvSpPr/>
          <p:nvPr/>
        </p:nvSpPr>
        <p:spPr>
          <a:xfrm>
            <a:off x="4489704" y="2286000"/>
            <a:ext cx="3584448" cy="146304"/>
          </a:xfrm>
          <a:prstGeom prst="round2SameRect">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olded Corner 19"/>
          <p:cNvSpPr/>
          <p:nvPr/>
        </p:nvSpPr>
        <p:spPr>
          <a:xfrm>
            <a:off x="5843016" y="2697480"/>
            <a:ext cx="877824" cy="694944"/>
          </a:xfrm>
          <a:prstGeom prst="foldedCorner">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72584" y="3566160"/>
            <a:ext cx="3218688" cy="502920"/>
          </a:xfrm>
          <a:prstGeom prst="rect">
            <a:avLst/>
          </a:prstGeom>
          <a:noFill/>
        </p:spPr>
        <p:txBody>
          <a:bodyPr wrap="square" anchor="ctr" lIns="0" rIns="0" tIns="0" bIns="0">
            <a:spAutoFit/>
          </a:bodyPr>
          <a:lstStyle/>
          <a:p>
            <a:pPr algn="ctr">
              <a:lnSpc>
                <a:spcPct val="106000"/>
              </a:lnSpc>
              <a:spcBef>
                <a:spcPts val="0"/>
              </a:spcBef>
              <a:spcAft>
                <a:spcPts val="0"/>
              </a:spcAft>
            </a:pPr>
            <a:r>
              <a:rPr sz="2300" b="1" i="0">
                <a:solidFill>
                  <a:srgbClr val="3A7CA5"/>
                </a:solidFill>
                <a:latin typeface="Segoe UI Semibold"/>
              </a:rPr>
              <a:t>Journal Article</a:t>
            </a:r>
          </a:p>
        </p:txBody>
      </p:sp>
      <p:sp>
        <p:nvSpPr>
          <p:cNvPr id="22" name="Rounded Rectangle 21"/>
          <p:cNvSpPr/>
          <p:nvPr/>
        </p:nvSpPr>
        <p:spPr>
          <a:xfrm>
            <a:off x="4709160" y="4160520"/>
            <a:ext cx="3145536" cy="1920240"/>
          </a:xfrm>
          <a:prstGeom prst="roundRect">
            <a:avLst>
              <a:gd name="adj" fmla="val 5000"/>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55464" y="4251960"/>
            <a:ext cx="2852928" cy="1737360"/>
          </a:xfrm>
          <a:prstGeom prst="rect">
            <a:avLst/>
          </a:prstGeom>
          <a:noFill/>
        </p:spPr>
        <p:txBody>
          <a:bodyPr wrap="square" anchor="ctr" lIns="0" rIns="0" tIns="0" bIns="0">
            <a:spAutoFit/>
          </a:bodyPr>
          <a:lstStyle/>
          <a:p>
            <a:pPr algn="l">
              <a:lnSpc>
                <a:spcPct val="125000"/>
              </a:lnSpc>
              <a:spcBef>
                <a:spcPts val="0"/>
              </a:spcBef>
              <a:spcAft>
                <a:spcPts val="0"/>
              </a:spcAft>
            </a:pPr>
            <a:r>
              <a:rPr sz="1600" b="0" i="0">
                <a:solidFill>
                  <a:srgbClr val="212A33"/>
                </a:solidFill>
                <a:latin typeface="Consolas"/>
              </a:rPr>
              <a:t>Author, A. A. (Year). Title of the article. Journal Name, Volume(Issue), page range.</a:t>
            </a:r>
          </a:p>
        </p:txBody>
      </p:sp>
      <p:sp>
        <p:nvSpPr>
          <p:cNvPr id="24" name="Rounded Rectangle 23"/>
          <p:cNvSpPr/>
          <p:nvPr/>
        </p:nvSpPr>
        <p:spPr>
          <a:xfrm>
            <a:off x="8339327" y="2286000"/>
            <a:ext cx="3584448" cy="3977639"/>
          </a:xfrm>
          <a:prstGeom prst="roundRect">
            <a:avLst>
              <a:gd name="adj" fmla="val 40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 Same Side Corner Rectangle 24"/>
          <p:cNvSpPr/>
          <p:nvPr/>
        </p:nvSpPr>
        <p:spPr>
          <a:xfrm>
            <a:off x="8339327" y="2286000"/>
            <a:ext cx="3584448" cy="146304"/>
          </a:xfrm>
          <a:prstGeom prst="round2Same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692639" y="2697480"/>
            <a:ext cx="877824" cy="694944"/>
          </a:xfrm>
          <a:prstGeom prst="round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22207" y="3566160"/>
            <a:ext cx="3218688" cy="502920"/>
          </a:xfrm>
          <a:prstGeom prst="rect">
            <a:avLst/>
          </a:prstGeom>
          <a:noFill/>
        </p:spPr>
        <p:txBody>
          <a:bodyPr wrap="square" anchor="ctr" lIns="0" rIns="0" tIns="0" bIns="0">
            <a:spAutoFit/>
          </a:bodyPr>
          <a:lstStyle/>
          <a:p>
            <a:pPr algn="ctr">
              <a:lnSpc>
                <a:spcPct val="106000"/>
              </a:lnSpc>
              <a:spcBef>
                <a:spcPts val="0"/>
              </a:spcBef>
              <a:spcAft>
                <a:spcPts val="0"/>
              </a:spcAft>
            </a:pPr>
            <a:r>
              <a:rPr sz="2300" b="1" i="0">
                <a:solidFill>
                  <a:srgbClr val="6A4C93"/>
                </a:solidFill>
                <a:latin typeface="Segoe UI Semibold"/>
              </a:rPr>
              <a:t>Website</a:t>
            </a:r>
          </a:p>
        </p:txBody>
      </p:sp>
      <p:sp>
        <p:nvSpPr>
          <p:cNvPr id="28" name="Rounded Rectangle 27"/>
          <p:cNvSpPr/>
          <p:nvPr/>
        </p:nvSpPr>
        <p:spPr>
          <a:xfrm>
            <a:off x="8558784" y="4160520"/>
            <a:ext cx="3145536" cy="1920240"/>
          </a:xfrm>
          <a:prstGeom prst="roundRect">
            <a:avLst>
              <a:gd name="adj" fmla="val 5000"/>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05088" y="4251960"/>
            <a:ext cx="2852928" cy="1737360"/>
          </a:xfrm>
          <a:prstGeom prst="rect">
            <a:avLst/>
          </a:prstGeom>
          <a:noFill/>
        </p:spPr>
        <p:txBody>
          <a:bodyPr wrap="square" anchor="ctr" lIns="0" rIns="0" tIns="0" bIns="0">
            <a:spAutoFit/>
          </a:bodyPr>
          <a:lstStyle/>
          <a:p>
            <a:pPr algn="l">
              <a:lnSpc>
                <a:spcPct val="125000"/>
              </a:lnSpc>
              <a:spcBef>
                <a:spcPts val="0"/>
              </a:spcBef>
              <a:spcAft>
                <a:spcPts val="0"/>
              </a:spcAft>
            </a:pPr>
            <a:r>
              <a:rPr sz="1600" b="0" i="0">
                <a:solidFill>
                  <a:srgbClr val="212A33"/>
                </a:solidFill>
                <a:latin typeface="Consolas"/>
              </a:rPr>
              <a:t>Author, A. A. (Year, Month Day). Title of the page. Site Name. URL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6A4C93"/>
                </a:solidFill>
                <a:latin typeface="Segoe UI Semibold"/>
              </a:rPr>
              <a:t>CITING SOURCES (APA)</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Sample APA Reference Entries</a:t>
            </a:r>
          </a:p>
        </p:txBody>
      </p:sp>
      <p:sp>
        <p:nvSpPr>
          <p:cNvPr id="7" name="Rectangle 6"/>
          <p:cNvSpPr/>
          <p:nvPr/>
        </p:nvSpPr>
        <p:spPr>
          <a:xfrm>
            <a:off x="658368" y="1572768"/>
            <a:ext cx="1463040" cy="64008"/>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25</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Rounded Rectangle 9"/>
          <p:cNvSpPr/>
          <p:nvPr/>
        </p:nvSpPr>
        <p:spPr>
          <a:xfrm>
            <a:off x="640080" y="2057400"/>
            <a:ext cx="10927080" cy="1298448"/>
          </a:xfrm>
          <a:prstGeom prst="roundRect">
            <a:avLst>
              <a:gd name="adj" fmla="val 5000"/>
            </a:avLst>
          </a:prstGeom>
          <a:solidFill>
            <a:srgbClr val="FFFFFF"/>
          </a:solidFill>
          <a:ln w="12700">
            <a:solidFill>
              <a:srgbClr val="E3ECEF"/>
            </a:solidFill>
          </a:ln>
          <a:effectLst>
            <a:outerShdw blurRad="54864"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640080" y="2057400"/>
            <a:ext cx="2148840" cy="1298448"/>
          </a:xfrm>
          <a:prstGeom prst="round2Same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057400"/>
            <a:ext cx="2011680" cy="1298448"/>
          </a:xfrm>
          <a:prstGeom prst="rect">
            <a:avLst/>
          </a:prstGeom>
          <a:noFill/>
        </p:spPr>
        <p:txBody>
          <a:bodyPr wrap="square" anchor="ctr" lIns="0" rIns="0" tIns="0" bIns="0">
            <a:spAutoFit/>
          </a:bodyPr>
          <a:lstStyle/>
          <a:p>
            <a:pPr algn="ctr">
              <a:lnSpc>
                <a:spcPct val="106000"/>
              </a:lnSpc>
              <a:spcBef>
                <a:spcPts val="0"/>
              </a:spcBef>
              <a:spcAft>
                <a:spcPts val="0"/>
              </a:spcAft>
            </a:pPr>
            <a:r>
              <a:rPr sz="2000" b="1" i="0">
                <a:solidFill>
                  <a:srgbClr val="FFFFFF"/>
                </a:solidFill>
                <a:latin typeface="Segoe UI Semibold"/>
              </a:rPr>
              <a:t>Book</a:t>
            </a:r>
          </a:p>
        </p:txBody>
      </p:sp>
      <p:sp>
        <p:nvSpPr>
          <p:cNvPr id="13" name="TextBox 12"/>
          <p:cNvSpPr txBox="1"/>
          <p:nvPr/>
        </p:nvSpPr>
        <p:spPr>
          <a:xfrm>
            <a:off x="2971800" y="2167128"/>
            <a:ext cx="8458200" cy="1078992"/>
          </a:xfrm>
          <a:prstGeom prst="rect">
            <a:avLst/>
          </a:prstGeom>
          <a:noFill/>
        </p:spPr>
        <p:txBody>
          <a:bodyPr wrap="square" anchor="ctr" lIns="0" rIns="0" tIns="0" bIns="0">
            <a:spAutoFit/>
          </a:bodyPr>
          <a:lstStyle/>
          <a:p>
            <a:pPr algn="l">
              <a:lnSpc>
                <a:spcPct val="116000"/>
              </a:lnSpc>
              <a:spcBef>
                <a:spcPts val="0"/>
              </a:spcBef>
              <a:spcAft>
                <a:spcPts val="0"/>
              </a:spcAft>
            </a:pPr>
            <a:r>
              <a:rPr sz="2000" b="0" i="0">
                <a:solidFill>
                  <a:srgbClr val="212A33"/>
                </a:solidFill>
                <a:latin typeface="Segoe UI"/>
              </a:rPr>
              <a:t>Santos, M. R. (2020). </a:t>
            </a:r>
            <a:r>
              <a:rPr sz="2000" b="0" i="1">
                <a:solidFill>
                  <a:srgbClr val="212A33"/>
                </a:solidFill>
                <a:latin typeface="Segoe UI"/>
              </a:rPr>
              <a:t>Water and community: Local solutions to global problems.</a:t>
            </a:r>
            <a:r>
              <a:rPr sz="2000" b="0" i="0">
                <a:solidFill>
                  <a:srgbClr val="212A33"/>
                </a:solidFill>
                <a:latin typeface="Segoe UI"/>
              </a:rPr>
              <a:t> Manila Press.</a:t>
            </a:r>
          </a:p>
        </p:txBody>
      </p:sp>
      <p:sp>
        <p:nvSpPr>
          <p:cNvPr id="14" name="Rounded Rectangle 13"/>
          <p:cNvSpPr/>
          <p:nvPr/>
        </p:nvSpPr>
        <p:spPr>
          <a:xfrm>
            <a:off x="640080" y="3538728"/>
            <a:ext cx="10927080" cy="1298448"/>
          </a:xfrm>
          <a:prstGeom prst="roundRect">
            <a:avLst>
              <a:gd name="adj" fmla="val 5000"/>
            </a:avLst>
          </a:prstGeom>
          <a:solidFill>
            <a:srgbClr val="FFFFFF"/>
          </a:solidFill>
          <a:ln w="12700">
            <a:solidFill>
              <a:srgbClr val="E3ECEF"/>
            </a:solidFill>
          </a:ln>
          <a:effectLst>
            <a:outerShdw blurRad="54864"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 Same Side Corner Rectangle 14"/>
          <p:cNvSpPr/>
          <p:nvPr/>
        </p:nvSpPr>
        <p:spPr>
          <a:xfrm>
            <a:off x="640080" y="3538728"/>
            <a:ext cx="2148840" cy="1298448"/>
          </a:xfrm>
          <a:prstGeom prst="round2SameRect">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538728"/>
            <a:ext cx="2011680" cy="1298448"/>
          </a:xfrm>
          <a:prstGeom prst="rect">
            <a:avLst/>
          </a:prstGeom>
          <a:noFill/>
        </p:spPr>
        <p:txBody>
          <a:bodyPr wrap="square" anchor="ctr" lIns="0" rIns="0" tIns="0" bIns="0">
            <a:spAutoFit/>
          </a:bodyPr>
          <a:lstStyle/>
          <a:p>
            <a:pPr algn="ctr">
              <a:lnSpc>
                <a:spcPct val="106000"/>
              </a:lnSpc>
              <a:spcBef>
                <a:spcPts val="0"/>
              </a:spcBef>
              <a:spcAft>
                <a:spcPts val="0"/>
              </a:spcAft>
            </a:pPr>
            <a:r>
              <a:rPr sz="2000" b="1" i="0">
                <a:solidFill>
                  <a:srgbClr val="FFFFFF"/>
                </a:solidFill>
                <a:latin typeface="Segoe UI Semibold"/>
              </a:rPr>
              <a:t>Journal Article</a:t>
            </a:r>
          </a:p>
        </p:txBody>
      </p:sp>
      <p:sp>
        <p:nvSpPr>
          <p:cNvPr id="17" name="TextBox 16"/>
          <p:cNvSpPr txBox="1"/>
          <p:nvPr/>
        </p:nvSpPr>
        <p:spPr>
          <a:xfrm>
            <a:off x="2971800" y="3648456"/>
            <a:ext cx="8458200" cy="1078992"/>
          </a:xfrm>
          <a:prstGeom prst="rect">
            <a:avLst/>
          </a:prstGeom>
          <a:noFill/>
        </p:spPr>
        <p:txBody>
          <a:bodyPr wrap="square" anchor="ctr" lIns="0" rIns="0" tIns="0" bIns="0">
            <a:spAutoFit/>
          </a:bodyPr>
          <a:lstStyle/>
          <a:p>
            <a:pPr algn="l">
              <a:lnSpc>
                <a:spcPct val="116000"/>
              </a:lnSpc>
              <a:spcBef>
                <a:spcPts val="0"/>
              </a:spcBef>
              <a:spcAft>
                <a:spcPts val="0"/>
              </a:spcAft>
            </a:pPr>
            <a:r>
              <a:rPr sz="2000" b="0" i="0">
                <a:solidFill>
                  <a:srgbClr val="212A33"/>
                </a:solidFill>
                <a:latin typeface="Segoe UI"/>
              </a:rPr>
              <a:t>Reyes, J. P. (2022). Low-cost filtration using coconut husk charcoal. </a:t>
            </a:r>
            <a:r>
              <a:rPr sz="2000" b="0" i="1">
                <a:solidFill>
                  <a:srgbClr val="212A33"/>
                </a:solidFill>
                <a:latin typeface="Segoe UI"/>
              </a:rPr>
              <a:t>Philippine Journal of Environmental Engineering, 15</a:t>
            </a:r>
            <a:r>
              <a:rPr sz="2000" b="0" i="0">
                <a:solidFill>
                  <a:srgbClr val="212A33"/>
                </a:solidFill>
                <a:latin typeface="Segoe UI"/>
              </a:rPr>
              <a:t>(2), 45–58.</a:t>
            </a:r>
          </a:p>
        </p:txBody>
      </p:sp>
      <p:sp>
        <p:nvSpPr>
          <p:cNvPr id="18" name="Rounded Rectangle 17"/>
          <p:cNvSpPr/>
          <p:nvPr/>
        </p:nvSpPr>
        <p:spPr>
          <a:xfrm>
            <a:off x="640080" y="5020056"/>
            <a:ext cx="10927080" cy="1298448"/>
          </a:xfrm>
          <a:prstGeom prst="roundRect">
            <a:avLst>
              <a:gd name="adj" fmla="val 5000"/>
            </a:avLst>
          </a:prstGeom>
          <a:solidFill>
            <a:srgbClr val="FFFFFF"/>
          </a:solidFill>
          <a:ln w="12700">
            <a:solidFill>
              <a:srgbClr val="E3ECEF"/>
            </a:solidFill>
          </a:ln>
          <a:effectLst>
            <a:outerShdw blurRad="54864" dist="27432" dir="5400000" rotWithShape="0">
              <a:srgbClr val="1F2A33">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 Same Side Corner Rectangle 18"/>
          <p:cNvSpPr/>
          <p:nvPr/>
        </p:nvSpPr>
        <p:spPr>
          <a:xfrm>
            <a:off x="640080" y="5020056"/>
            <a:ext cx="2148840" cy="1298448"/>
          </a:xfrm>
          <a:prstGeom prst="round2Same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5020056"/>
            <a:ext cx="2011680" cy="1298448"/>
          </a:xfrm>
          <a:prstGeom prst="rect">
            <a:avLst/>
          </a:prstGeom>
          <a:noFill/>
        </p:spPr>
        <p:txBody>
          <a:bodyPr wrap="square" anchor="ctr" lIns="0" rIns="0" tIns="0" bIns="0">
            <a:spAutoFit/>
          </a:bodyPr>
          <a:lstStyle/>
          <a:p>
            <a:pPr algn="ctr">
              <a:lnSpc>
                <a:spcPct val="106000"/>
              </a:lnSpc>
              <a:spcBef>
                <a:spcPts val="0"/>
              </a:spcBef>
              <a:spcAft>
                <a:spcPts val="0"/>
              </a:spcAft>
            </a:pPr>
            <a:r>
              <a:rPr sz="2000" b="1" i="0">
                <a:solidFill>
                  <a:srgbClr val="FFFFFF"/>
                </a:solidFill>
                <a:latin typeface="Segoe UI Semibold"/>
              </a:rPr>
              <a:t>Website</a:t>
            </a:r>
          </a:p>
        </p:txBody>
      </p:sp>
      <p:sp>
        <p:nvSpPr>
          <p:cNvPr id="21" name="TextBox 20"/>
          <p:cNvSpPr txBox="1"/>
          <p:nvPr/>
        </p:nvSpPr>
        <p:spPr>
          <a:xfrm>
            <a:off x="2971800" y="5129784"/>
            <a:ext cx="8458200" cy="1078992"/>
          </a:xfrm>
          <a:prstGeom prst="rect">
            <a:avLst/>
          </a:prstGeom>
          <a:noFill/>
        </p:spPr>
        <p:txBody>
          <a:bodyPr wrap="square" anchor="ctr" lIns="0" rIns="0" tIns="0" bIns="0">
            <a:spAutoFit/>
          </a:bodyPr>
          <a:lstStyle/>
          <a:p>
            <a:pPr algn="l">
              <a:lnSpc>
                <a:spcPct val="116000"/>
              </a:lnSpc>
              <a:spcBef>
                <a:spcPts val="0"/>
              </a:spcBef>
              <a:spcAft>
                <a:spcPts val="0"/>
              </a:spcAft>
            </a:pPr>
            <a:r>
              <a:rPr sz="2000" b="0" i="0">
                <a:solidFill>
                  <a:srgbClr val="212A33"/>
                </a:solidFill>
                <a:latin typeface="Segoe UI"/>
              </a:rPr>
              <a:t>Department of Science and Technology. (2023, March 4). </a:t>
            </a:r>
            <a:r>
              <a:rPr sz="2000" b="0" i="1">
                <a:solidFill>
                  <a:srgbClr val="212A33"/>
                </a:solidFill>
                <a:latin typeface="Segoe UI"/>
              </a:rPr>
              <a:t>Community water testing guidelines.</a:t>
            </a:r>
            <a:r>
              <a:rPr sz="2000" b="0" i="0">
                <a:solidFill>
                  <a:srgbClr val="212A33"/>
                </a:solidFill>
                <a:latin typeface="Segoe UI"/>
              </a:rPr>
              <a:t> DOST Philippines. https://www.dost.gov.ph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6A4C93"/>
                </a:solidFill>
                <a:latin typeface="Segoe UI Semibold"/>
              </a:rPr>
              <a:t>CITING SOURCES (APA)</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Build a Reference List</a:t>
            </a:r>
          </a:p>
        </p:txBody>
      </p:sp>
      <p:sp>
        <p:nvSpPr>
          <p:cNvPr id="7" name="Rectangle 6"/>
          <p:cNvSpPr/>
          <p:nvPr/>
        </p:nvSpPr>
        <p:spPr>
          <a:xfrm>
            <a:off x="658368" y="1572768"/>
            <a:ext cx="1463040" cy="64008"/>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26</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Rounded Rectangle 9"/>
          <p:cNvSpPr/>
          <p:nvPr/>
        </p:nvSpPr>
        <p:spPr>
          <a:xfrm>
            <a:off x="640080" y="1737360"/>
            <a:ext cx="1463040" cy="420624"/>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latin typeface="Segoe UI Semibold"/>
              </a:rPr>
              <a:t>APPLY IT</a:t>
            </a:r>
          </a:p>
        </p:txBody>
      </p:sp>
      <p:sp>
        <p:nvSpPr>
          <p:cNvPr id="11" name="TextBox 10"/>
          <p:cNvSpPr txBox="1"/>
          <p:nvPr/>
        </p:nvSpPr>
        <p:spPr>
          <a:xfrm>
            <a:off x="2331720" y="1737360"/>
            <a:ext cx="9144000" cy="457200"/>
          </a:xfrm>
          <a:prstGeom prst="rect">
            <a:avLst/>
          </a:prstGeom>
          <a:noFill/>
        </p:spPr>
        <p:txBody>
          <a:bodyPr wrap="square" anchor="ctr" lIns="0" rIns="0" tIns="0" bIns="0">
            <a:spAutoFit/>
          </a:bodyPr>
          <a:lstStyle/>
          <a:p>
            <a:pPr algn="l">
              <a:lnSpc>
                <a:spcPct val="106000"/>
              </a:lnSpc>
              <a:spcBef>
                <a:spcPts val="0"/>
              </a:spcBef>
              <a:spcAft>
                <a:spcPts val="0"/>
              </a:spcAft>
            </a:pPr>
            <a:r>
              <a:rPr sz="1900" b="1" i="0">
                <a:solidFill>
                  <a:srgbClr val="6A4C93"/>
                </a:solidFill>
                <a:latin typeface="Segoe UI"/>
              </a:rPr>
              <a:t>Turn this source information into a properly formatted APA reference entry.</a:t>
            </a:r>
          </a:p>
        </p:txBody>
      </p:sp>
      <p:sp>
        <p:nvSpPr>
          <p:cNvPr id="12" name="Rounded Rectangle 11"/>
          <p:cNvSpPr/>
          <p:nvPr/>
        </p:nvSpPr>
        <p:spPr>
          <a:xfrm>
            <a:off x="640080" y="2331720"/>
            <a:ext cx="5623560" cy="3977639"/>
          </a:xfrm>
          <a:prstGeom prst="roundRect">
            <a:avLst>
              <a:gd name="adj" fmla="val 3000"/>
            </a:avLst>
          </a:prstGeom>
          <a:solidFill>
            <a:srgbClr val="FFFFFF"/>
          </a:solidFill>
          <a:ln w="12700">
            <a:solidFill>
              <a:srgbClr val="E3ECEF"/>
            </a:solidFill>
          </a:ln>
          <a:effectLst>
            <a:outerShdw blurRad="73152" dist="45720" dir="5400000" rotWithShape="0">
              <a:srgbClr val="1F2A3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 Same Side Corner Rectangle 12"/>
          <p:cNvSpPr/>
          <p:nvPr/>
        </p:nvSpPr>
        <p:spPr>
          <a:xfrm>
            <a:off x="640080" y="2331720"/>
            <a:ext cx="5623560" cy="621792"/>
          </a:xfrm>
          <a:prstGeom prst="round2Same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331720"/>
            <a:ext cx="5166360" cy="621792"/>
          </a:xfrm>
          <a:prstGeom prst="rect">
            <a:avLst/>
          </a:prstGeom>
          <a:noFill/>
        </p:spPr>
        <p:txBody>
          <a:bodyPr wrap="square" anchor="ctr" lIns="0" rIns="0" tIns="0" bIns="0">
            <a:spAutoFit/>
          </a:bodyPr>
          <a:lstStyle/>
          <a:p>
            <a:pPr algn="l">
              <a:lnSpc>
                <a:spcPct val="106000"/>
              </a:lnSpc>
              <a:spcBef>
                <a:spcPts val="0"/>
              </a:spcBef>
              <a:spcAft>
                <a:spcPts val="0"/>
              </a:spcAft>
            </a:pPr>
            <a:r>
              <a:rPr sz="1800" b="1" i="0">
                <a:solidFill>
                  <a:srgbClr val="FFFFFF"/>
                </a:solidFill>
                <a:latin typeface="Segoe UI Semibold"/>
              </a:rPr>
              <a:t>SOURCE DETAILS</a:t>
            </a:r>
          </a:p>
        </p:txBody>
      </p:sp>
      <p:sp>
        <p:nvSpPr>
          <p:cNvPr id="15" name="TextBox 14"/>
          <p:cNvSpPr txBox="1"/>
          <p:nvPr/>
        </p:nvSpPr>
        <p:spPr>
          <a:xfrm>
            <a:off x="914400" y="3108960"/>
            <a:ext cx="5120640" cy="3108960"/>
          </a:xfrm>
          <a:prstGeom prst="rect">
            <a:avLst/>
          </a:prstGeom>
          <a:noFill/>
        </p:spPr>
        <p:txBody>
          <a:bodyPr wrap="square" anchor="ctr" lIns="0" rIns="0" tIns="0" bIns="0">
            <a:spAutoFit/>
          </a:bodyPr>
          <a:lstStyle/>
          <a:p>
            <a:pPr algn="l">
              <a:lnSpc>
                <a:spcPct val="106000"/>
              </a:lnSpc>
              <a:spcBef>
                <a:spcPts val="0"/>
              </a:spcBef>
              <a:spcAft>
                <a:spcPts val="700"/>
              </a:spcAft>
            </a:pPr>
            <a:r>
              <a:rPr sz="1800" b="1" i="0">
                <a:solidFill>
                  <a:srgbClr val="6A4C93"/>
                </a:solidFill>
                <a:latin typeface="Segoe UI Semibold"/>
              </a:rPr>
              <a:t>Author:  </a:t>
            </a:r>
            <a:r>
              <a:rPr sz="1800" b="0" i="0">
                <a:solidFill>
                  <a:srgbClr val="212A33"/>
                </a:solidFill>
                <a:latin typeface="Segoe UI"/>
              </a:rPr>
              <a:t>Dela Cruz, A.</a:t>
            </a:r>
          </a:p>
          <a:p>
            <a:pPr algn="l">
              <a:lnSpc>
                <a:spcPct val="106000"/>
              </a:lnSpc>
              <a:spcBef>
                <a:spcPts val="0"/>
              </a:spcBef>
              <a:spcAft>
                <a:spcPts val="700"/>
              </a:spcAft>
            </a:pPr>
            <a:r>
              <a:rPr sz="1800" b="1" i="0">
                <a:solidFill>
                  <a:srgbClr val="6A4C93"/>
                </a:solidFill>
                <a:latin typeface="Segoe UI Semibold"/>
              </a:rPr>
              <a:t>Year:  </a:t>
            </a:r>
            <a:r>
              <a:rPr sz="1800" b="0" i="0">
                <a:solidFill>
                  <a:srgbClr val="212A33"/>
                </a:solidFill>
                <a:latin typeface="Segoe UI"/>
              </a:rPr>
              <a:t>2021</a:t>
            </a:r>
          </a:p>
          <a:p>
            <a:pPr algn="l">
              <a:lnSpc>
                <a:spcPct val="106000"/>
              </a:lnSpc>
              <a:spcBef>
                <a:spcPts val="0"/>
              </a:spcBef>
              <a:spcAft>
                <a:spcPts val="700"/>
              </a:spcAft>
            </a:pPr>
            <a:r>
              <a:rPr sz="1800" b="1" i="0">
                <a:solidFill>
                  <a:srgbClr val="6A4C93"/>
                </a:solidFill>
                <a:latin typeface="Segoe UI Semibold"/>
              </a:rPr>
              <a:t>Article title:  </a:t>
            </a:r>
            <a:r>
              <a:rPr sz="1800" b="0" i="0">
                <a:solidFill>
                  <a:srgbClr val="212A33"/>
                </a:solidFill>
                <a:latin typeface="Segoe UI"/>
              </a:rPr>
              <a:t>Sand filtration effectiveness in rural water systems</a:t>
            </a:r>
          </a:p>
          <a:p>
            <a:pPr algn="l">
              <a:lnSpc>
                <a:spcPct val="106000"/>
              </a:lnSpc>
              <a:spcBef>
                <a:spcPts val="0"/>
              </a:spcBef>
              <a:spcAft>
                <a:spcPts val="700"/>
              </a:spcAft>
            </a:pPr>
            <a:r>
              <a:rPr sz="1800" b="1" i="0">
                <a:solidFill>
                  <a:srgbClr val="6A4C93"/>
                </a:solidFill>
                <a:latin typeface="Segoe UI Semibold"/>
              </a:rPr>
              <a:t>Journal:  </a:t>
            </a:r>
            <a:r>
              <a:rPr sz="1800" b="0" i="1">
                <a:solidFill>
                  <a:srgbClr val="212A33"/>
                </a:solidFill>
                <a:latin typeface="Segoe UI"/>
              </a:rPr>
              <a:t>Journal of Applied Environmental Science</a:t>
            </a:r>
          </a:p>
          <a:p>
            <a:pPr algn="l">
              <a:lnSpc>
                <a:spcPct val="106000"/>
              </a:lnSpc>
              <a:spcBef>
                <a:spcPts val="0"/>
              </a:spcBef>
              <a:spcAft>
                <a:spcPts val="700"/>
              </a:spcAft>
            </a:pPr>
            <a:r>
              <a:rPr sz="1800" b="1" i="0">
                <a:solidFill>
                  <a:srgbClr val="6A4C93"/>
                </a:solidFill>
                <a:latin typeface="Segoe UI Semibold"/>
              </a:rPr>
              <a:t>Volume/Issue:  </a:t>
            </a:r>
            <a:r>
              <a:rPr sz="1800" b="0" i="0">
                <a:solidFill>
                  <a:srgbClr val="212A33"/>
                </a:solidFill>
                <a:latin typeface="Segoe UI"/>
              </a:rPr>
              <a:t>9(3)</a:t>
            </a:r>
          </a:p>
          <a:p>
            <a:pPr algn="l">
              <a:lnSpc>
                <a:spcPct val="106000"/>
              </a:lnSpc>
              <a:spcBef>
                <a:spcPts val="0"/>
              </a:spcBef>
              <a:spcAft>
                <a:spcPts val="700"/>
              </a:spcAft>
            </a:pPr>
            <a:r>
              <a:rPr sz="1800" b="1" i="0">
                <a:solidFill>
                  <a:srgbClr val="6A4C93"/>
                </a:solidFill>
                <a:latin typeface="Segoe UI Semibold"/>
              </a:rPr>
              <a:t>Pages:  </a:t>
            </a:r>
            <a:r>
              <a:rPr sz="1800" b="0" i="0">
                <a:solidFill>
                  <a:srgbClr val="212A33"/>
                </a:solidFill>
                <a:latin typeface="Segoe UI"/>
              </a:rPr>
              <a:t>112–120</a:t>
            </a:r>
          </a:p>
        </p:txBody>
      </p:sp>
      <p:sp>
        <p:nvSpPr>
          <p:cNvPr id="16" name="Rounded Rectangle 15"/>
          <p:cNvSpPr/>
          <p:nvPr/>
        </p:nvSpPr>
        <p:spPr>
          <a:xfrm>
            <a:off x="6537960" y="2331720"/>
            <a:ext cx="4983480" cy="3977639"/>
          </a:xfrm>
          <a:prstGeom prst="roundRect">
            <a:avLst>
              <a:gd name="adj" fmla="val 3000"/>
            </a:avLst>
          </a:prstGeom>
          <a:solidFill>
            <a:srgbClr val="F3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12280" y="2697480"/>
            <a:ext cx="4434840" cy="3383280"/>
          </a:xfrm>
          <a:prstGeom prst="rect">
            <a:avLst/>
          </a:prstGeom>
          <a:noFill/>
        </p:spPr>
        <p:txBody>
          <a:bodyPr wrap="square" anchor="t" lIns="0" rIns="0" tIns="0" bIns="0">
            <a:spAutoFit/>
          </a:bodyPr>
          <a:lstStyle/>
          <a:p>
            <a:pPr algn="l">
              <a:lnSpc>
                <a:spcPct val="106000"/>
              </a:lnSpc>
              <a:spcBef>
                <a:spcPts val="0"/>
              </a:spcBef>
              <a:spcAft>
                <a:spcPts val="1800"/>
              </a:spcAft>
            </a:pPr>
            <a:r>
              <a:rPr sz="1900" b="1" i="0">
                <a:solidFill>
                  <a:srgbClr val="6A4C93"/>
                </a:solidFill>
                <a:latin typeface="Segoe UI Semibold"/>
              </a:rPr>
              <a:t>Write the full reference list entry:</a:t>
            </a:r>
          </a:p>
          <a:p>
            <a:pPr algn="l">
              <a:lnSpc>
                <a:spcPct val="106000"/>
              </a:lnSpc>
              <a:spcBef>
                <a:spcPts val="0"/>
              </a:spcBef>
              <a:spcAft>
                <a:spcPts val="2000"/>
              </a:spcAft>
            </a:pPr>
            <a:r>
              <a:rPr sz="1900" b="0" i="0">
                <a:solidFill>
                  <a:srgbClr val="B9A8D0"/>
                </a:solidFill>
                <a:latin typeface="Segoe UI"/>
              </a:rPr>
              <a:t>______________________________</a:t>
            </a:r>
          </a:p>
          <a:p>
            <a:pPr algn="l">
              <a:lnSpc>
                <a:spcPct val="106000"/>
              </a:lnSpc>
              <a:spcBef>
                <a:spcPts val="0"/>
              </a:spcBef>
              <a:spcAft>
                <a:spcPts val="2000"/>
              </a:spcAft>
            </a:pPr>
            <a:r>
              <a:rPr sz="1900" b="0" i="0">
                <a:solidFill>
                  <a:srgbClr val="B9A8D0"/>
                </a:solidFill>
                <a:latin typeface="Segoe UI"/>
              </a:rPr>
              <a:t>______________________________</a:t>
            </a:r>
          </a:p>
          <a:p>
            <a:pPr algn="l">
              <a:lnSpc>
                <a:spcPct val="106000"/>
              </a:lnSpc>
              <a:spcBef>
                <a:spcPts val="0"/>
              </a:spcBef>
              <a:spcAft>
                <a:spcPts val="2000"/>
              </a:spcAft>
            </a:pPr>
            <a:r>
              <a:rPr sz="1900" b="0" i="0">
                <a:solidFill>
                  <a:srgbClr val="B9A8D0"/>
                </a:solidFill>
                <a:latin typeface="Segoe UI"/>
              </a:rPr>
              <a:t>______________________________</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0F4C5C"/>
                </a:solidFill>
                <a:latin typeface="Segoe UI Semibold"/>
              </a:rPr>
              <a:t>PUTTING IT ALL TOGETHER</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Full Ethics and Citation Audit</a:t>
            </a:r>
          </a:p>
        </p:txBody>
      </p:sp>
      <p:sp>
        <p:nvSpPr>
          <p:cNvPr id="7" name="Rectangle 6"/>
          <p:cNvSpPr/>
          <p:nvPr/>
        </p:nvSpPr>
        <p:spPr>
          <a:xfrm>
            <a:off x="658368" y="1572768"/>
            <a:ext cx="1463040"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27</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sp>
        <p:nvSpPr>
          <p:cNvPr id="10" name="Rounded Rectangle 9"/>
          <p:cNvSpPr/>
          <p:nvPr/>
        </p:nvSpPr>
        <p:spPr>
          <a:xfrm>
            <a:off x="640080" y="1700784"/>
            <a:ext cx="3017520" cy="420624"/>
          </a:xfrm>
          <a:prstGeom prst="roundRect">
            <a:avLst>
              <a:gd name="adj" fmla="val 50000"/>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FFFF"/>
                </a:solidFill>
                <a:latin typeface="Segoe UI Semibold"/>
              </a:rPr>
              <a:t>APPLY IT — ONE LAST TIME</a:t>
            </a:r>
          </a:p>
        </p:txBody>
      </p:sp>
      <p:sp>
        <p:nvSpPr>
          <p:cNvPr id="11" name="TextBox 10"/>
          <p:cNvSpPr txBox="1"/>
          <p:nvPr/>
        </p:nvSpPr>
        <p:spPr>
          <a:xfrm>
            <a:off x="3840480" y="1645920"/>
            <a:ext cx="7635240" cy="658368"/>
          </a:xfrm>
          <a:prstGeom prst="rect">
            <a:avLst/>
          </a:prstGeom>
          <a:noFill/>
        </p:spPr>
        <p:txBody>
          <a:bodyPr wrap="square" anchor="ctr" lIns="0" rIns="0" tIns="0" bIns="0">
            <a:spAutoFit/>
          </a:bodyPr>
          <a:lstStyle/>
          <a:p>
            <a:pPr algn="l">
              <a:lnSpc>
                <a:spcPct val="108000"/>
              </a:lnSpc>
              <a:spcBef>
                <a:spcPts val="0"/>
              </a:spcBef>
              <a:spcAft>
                <a:spcPts val="0"/>
              </a:spcAft>
            </a:pPr>
            <a:r>
              <a:rPr sz="1800" b="0" i="0">
                <a:solidFill>
                  <a:srgbClr val="5B6B73"/>
                </a:solidFill>
                <a:latin typeface="Segoe UI"/>
              </a:rPr>
              <a:t>The researchers are ready to submit their final report. Audit their draft against everything covered today:</a:t>
            </a:r>
          </a:p>
        </p:txBody>
      </p:sp>
      <p:sp>
        <p:nvSpPr>
          <p:cNvPr id="12" name="Rounded Rectangle 11"/>
          <p:cNvSpPr/>
          <p:nvPr/>
        </p:nvSpPr>
        <p:spPr>
          <a:xfrm>
            <a:off x="640080" y="2322576"/>
            <a:ext cx="10927080" cy="713232"/>
          </a:xfrm>
          <a:prstGeom prst="roundRect">
            <a:avLst>
              <a:gd name="adj" fmla="val 12000"/>
            </a:avLst>
          </a:prstGeom>
          <a:solidFill>
            <a:srgbClr val="FFFFFF"/>
          </a:solidFill>
          <a:ln w="12700">
            <a:solidFill>
              <a:srgbClr val="E3ECEF"/>
            </a:solidFill>
          </a:ln>
          <a:effectLst>
            <a:outerShdw blurRad="45720" dist="27432" dir="5400000" rotWithShape="0">
              <a:srgbClr val="1F2A33">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2441448"/>
            <a:ext cx="475488" cy="475488"/>
          </a:xfrm>
          <a:prstGeom prst="roundRect">
            <a:avLst>
              <a:gd name="adj" fmla="val 20000"/>
            </a:avLst>
          </a:prstGeom>
          <a:solidFill>
            <a:srgbClr val="F5F8F9"/>
          </a:solidFill>
          <a:ln w="254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45920" y="2322576"/>
            <a:ext cx="9601200" cy="713232"/>
          </a:xfrm>
          <a:prstGeom prst="rect">
            <a:avLst/>
          </a:prstGeom>
          <a:noFill/>
        </p:spPr>
        <p:txBody>
          <a:bodyPr wrap="square" anchor="ctr" lIns="0" rIns="0" tIns="0" bIns="0">
            <a:spAutoFit/>
          </a:bodyPr>
          <a:lstStyle/>
          <a:p>
            <a:pPr algn="l">
              <a:lnSpc>
                <a:spcPct val="104000"/>
              </a:lnSpc>
              <a:spcBef>
                <a:spcPts val="0"/>
              </a:spcBef>
              <a:spcAft>
                <a:spcPts val="0"/>
              </a:spcAft>
            </a:pPr>
            <a:r>
              <a:rPr sz="1900" b="0" i="0">
                <a:solidFill>
                  <a:srgbClr val="212A33"/>
                </a:solidFill>
                <a:latin typeface="Segoe UI"/>
              </a:rPr>
              <a:t>Did they honestly report </a:t>
            </a:r>
            <a:r>
              <a:rPr sz="1900" b="1" i="0">
                <a:solidFill>
                  <a:srgbClr val="212A33"/>
                </a:solidFill>
                <a:latin typeface="Segoe UI"/>
              </a:rPr>
              <a:t>all</a:t>
            </a:r>
            <a:r>
              <a:rPr sz="1900" b="0" i="0">
                <a:solidFill>
                  <a:srgbClr val="212A33"/>
                </a:solidFill>
                <a:latin typeface="Segoe UI"/>
              </a:rPr>
              <a:t> results, not just favorable ones?</a:t>
            </a:r>
          </a:p>
        </p:txBody>
      </p:sp>
      <p:sp>
        <p:nvSpPr>
          <p:cNvPr id="15" name="Rounded Rectangle 14"/>
          <p:cNvSpPr/>
          <p:nvPr/>
        </p:nvSpPr>
        <p:spPr>
          <a:xfrm>
            <a:off x="640080" y="3072384"/>
            <a:ext cx="10927080" cy="713232"/>
          </a:xfrm>
          <a:prstGeom prst="roundRect">
            <a:avLst>
              <a:gd name="adj" fmla="val 12000"/>
            </a:avLst>
          </a:prstGeom>
          <a:solidFill>
            <a:srgbClr val="FFFFFF"/>
          </a:solidFill>
          <a:ln w="12700">
            <a:solidFill>
              <a:srgbClr val="E3ECEF"/>
            </a:solidFill>
          </a:ln>
          <a:effectLst>
            <a:outerShdw blurRad="45720" dist="27432" dir="5400000" rotWithShape="0">
              <a:srgbClr val="1F2A33">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4400" y="3191256"/>
            <a:ext cx="475488" cy="475488"/>
          </a:xfrm>
          <a:prstGeom prst="roundRect">
            <a:avLst>
              <a:gd name="adj" fmla="val 20000"/>
            </a:avLst>
          </a:prstGeom>
          <a:solidFill>
            <a:srgbClr val="F5F8F9"/>
          </a:solidFill>
          <a:ln w="254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45920" y="3072384"/>
            <a:ext cx="9601200" cy="713232"/>
          </a:xfrm>
          <a:prstGeom prst="rect">
            <a:avLst/>
          </a:prstGeom>
          <a:noFill/>
        </p:spPr>
        <p:txBody>
          <a:bodyPr wrap="square" anchor="ctr" lIns="0" rIns="0" tIns="0" bIns="0">
            <a:spAutoFit/>
          </a:bodyPr>
          <a:lstStyle/>
          <a:p>
            <a:pPr algn="l">
              <a:lnSpc>
                <a:spcPct val="104000"/>
              </a:lnSpc>
              <a:spcBef>
                <a:spcPts val="0"/>
              </a:spcBef>
              <a:spcAft>
                <a:spcPts val="0"/>
              </a:spcAft>
            </a:pPr>
            <a:r>
              <a:rPr sz="1900" b="0" i="0">
                <a:solidFill>
                  <a:srgbClr val="212A33"/>
                </a:solidFill>
                <a:latin typeface="Segoe UI"/>
              </a:rPr>
              <a:t>Did participating households know about and agree to the study?</a:t>
            </a:r>
          </a:p>
        </p:txBody>
      </p:sp>
      <p:sp>
        <p:nvSpPr>
          <p:cNvPr id="18" name="Rounded Rectangle 17"/>
          <p:cNvSpPr/>
          <p:nvPr/>
        </p:nvSpPr>
        <p:spPr>
          <a:xfrm>
            <a:off x="640080" y="3822191"/>
            <a:ext cx="10927080" cy="713232"/>
          </a:xfrm>
          <a:prstGeom prst="roundRect">
            <a:avLst>
              <a:gd name="adj" fmla="val 12000"/>
            </a:avLst>
          </a:prstGeom>
          <a:solidFill>
            <a:srgbClr val="FFFFFF"/>
          </a:solidFill>
          <a:ln w="12700">
            <a:solidFill>
              <a:srgbClr val="E3ECEF"/>
            </a:solidFill>
          </a:ln>
          <a:effectLst>
            <a:outerShdw blurRad="45720" dist="27432" dir="5400000" rotWithShape="0">
              <a:srgbClr val="1F2A33">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3941063"/>
            <a:ext cx="475488" cy="475488"/>
          </a:xfrm>
          <a:prstGeom prst="roundRect">
            <a:avLst>
              <a:gd name="adj" fmla="val 20000"/>
            </a:avLst>
          </a:prstGeom>
          <a:solidFill>
            <a:srgbClr val="F5F8F9"/>
          </a:solidFill>
          <a:ln w="254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45920" y="3822191"/>
            <a:ext cx="9601200" cy="713232"/>
          </a:xfrm>
          <a:prstGeom prst="rect">
            <a:avLst/>
          </a:prstGeom>
          <a:noFill/>
        </p:spPr>
        <p:txBody>
          <a:bodyPr wrap="square" anchor="ctr" lIns="0" rIns="0" tIns="0" bIns="0">
            <a:spAutoFit/>
          </a:bodyPr>
          <a:lstStyle/>
          <a:p>
            <a:pPr algn="l">
              <a:lnSpc>
                <a:spcPct val="104000"/>
              </a:lnSpc>
              <a:spcBef>
                <a:spcPts val="0"/>
              </a:spcBef>
              <a:spcAft>
                <a:spcPts val="0"/>
              </a:spcAft>
            </a:pPr>
            <a:r>
              <a:rPr sz="1900" b="0" i="0">
                <a:solidFill>
                  <a:srgbClr val="212A33"/>
                </a:solidFill>
                <a:latin typeface="Segoe UI"/>
              </a:rPr>
              <a:t>Are household identities protected in the report?</a:t>
            </a:r>
          </a:p>
        </p:txBody>
      </p:sp>
      <p:sp>
        <p:nvSpPr>
          <p:cNvPr id="21" name="Rounded Rectangle 20"/>
          <p:cNvSpPr/>
          <p:nvPr/>
        </p:nvSpPr>
        <p:spPr>
          <a:xfrm>
            <a:off x="640080" y="4572000"/>
            <a:ext cx="10927080" cy="713232"/>
          </a:xfrm>
          <a:prstGeom prst="roundRect">
            <a:avLst>
              <a:gd name="adj" fmla="val 12000"/>
            </a:avLst>
          </a:prstGeom>
          <a:solidFill>
            <a:srgbClr val="FFFFFF"/>
          </a:solidFill>
          <a:ln w="12700">
            <a:solidFill>
              <a:srgbClr val="E3ECEF"/>
            </a:solidFill>
          </a:ln>
          <a:effectLst>
            <a:outerShdw blurRad="45720" dist="27432" dir="5400000" rotWithShape="0">
              <a:srgbClr val="1F2A33">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4400" y="4690872"/>
            <a:ext cx="475488" cy="475488"/>
          </a:xfrm>
          <a:prstGeom prst="roundRect">
            <a:avLst>
              <a:gd name="adj" fmla="val 20000"/>
            </a:avLst>
          </a:prstGeom>
          <a:solidFill>
            <a:srgbClr val="F5F8F9"/>
          </a:solidFill>
          <a:ln w="254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0" y="4572000"/>
            <a:ext cx="9601200" cy="713232"/>
          </a:xfrm>
          <a:prstGeom prst="rect">
            <a:avLst/>
          </a:prstGeom>
          <a:noFill/>
        </p:spPr>
        <p:txBody>
          <a:bodyPr wrap="square" anchor="ctr" lIns="0" rIns="0" tIns="0" bIns="0">
            <a:spAutoFit/>
          </a:bodyPr>
          <a:lstStyle/>
          <a:p>
            <a:pPr algn="l">
              <a:lnSpc>
                <a:spcPct val="104000"/>
              </a:lnSpc>
              <a:spcBef>
                <a:spcPts val="0"/>
              </a:spcBef>
              <a:spcAft>
                <a:spcPts val="0"/>
              </a:spcAft>
            </a:pPr>
            <a:r>
              <a:rPr sz="1900" b="0" i="0">
                <a:solidFill>
                  <a:srgbClr val="212A33"/>
                </a:solidFill>
                <a:latin typeface="Segoe UI"/>
              </a:rPr>
              <a:t>Was the research conducted without unnecessary harm to people or place?</a:t>
            </a:r>
          </a:p>
        </p:txBody>
      </p:sp>
      <p:sp>
        <p:nvSpPr>
          <p:cNvPr id="24" name="Rounded Rectangle 23"/>
          <p:cNvSpPr/>
          <p:nvPr/>
        </p:nvSpPr>
        <p:spPr>
          <a:xfrm>
            <a:off x="640080" y="5321808"/>
            <a:ext cx="10927080" cy="713232"/>
          </a:xfrm>
          <a:prstGeom prst="roundRect">
            <a:avLst>
              <a:gd name="adj" fmla="val 12000"/>
            </a:avLst>
          </a:prstGeom>
          <a:solidFill>
            <a:srgbClr val="FFFFFF"/>
          </a:solidFill>
          <a:ln w="12700">
            <a:solidFill>
              <a:srgbClr val="E3ECEF"/>
            </a:solidFill>
          </a:ln>
          <a:effectLst>
            <a:outerShdw blurRad="45720" dist="27432" dir="5400000" rotWithShape="0">
              <a:srgbClr val="1F2A33">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4400" y="5440680"/>
            <a:ext cx="475488" cy="475488"/>
          </a:xfrm>
          <a:prstGeom prst="roundRect">
            <a:avLst>
              <a:gd name="adj" fmla="val 20000"/>
            </a:avLst>
          </a:prstGeom>
          <a:solidFill>
            <a:srgbClr val="F5F8F9"/>
          </a:solidFill>
          <a:ln w="254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0" y="5321808"/>
            <a:ext cx="9601200" cy="713232"/>
          </a:xfrm>
          <a:prstGeom prst="rect">
            <a:avLst/>
          </a:prstGeom>
          <a:noFill/>
        </p:spPr>
        <p:txBody>
          <a:bodyPr wrap="square" anchor="ctr" lIns="0" rIns="0" tIns="0" bIns="0">
            <a:spAutoFit/>
          </a:bodyPr>
          <a:lstStyle/>
          <a:p>
            <a:pPr algn="l">
              <a:lnSpc>
                <a:spcPct val="104000"/>
              </a:lnSpc>
              <a:spcBef>
                <a:spcPts val="0"/>
              </a:spcBef>
              <a:spcAft>
                <a:spcPts val="0"/>
              </a:spcAft>
            </a:pPr>
            <a:r>
              <a:rPr sz="1900" b="0" i="0">
                <a:solidFill>
                  <a:srgbClr val="212A33"/>
                </a:solidFill>
                <a:latin typeface="Segoe UI"/>
              </a:rPr>
              <a:t>Is the earlier filter design properly </a:t>
            </a:r>
            <a:r>
              <a:rPr sz="1900" b="1" i="0">
                <a:solidFill>
                  <a:srgbClr val="212A33"/>
                </a:solidFill>
                <a:latin typeface="Segoe UI"/>
              </a:rPr>
              <a:t>cited</a:t>
            </a:r>
            <a:r>
              <a:rPr sz="1900" b="0" i="0">
                <a:solidFill>
                  <a:srgbClr val="212A33"/>
                </a:solidFill>
                <a:latin typeface="Segoe UI"/>
              </a:rPr>
              <a:t> — both in-text and in the reference list?</a:t>
            </a:r>
          </a:p>
        </p:txBody>
      </p:sp>
      <p:sp>
        <p:nvSpPr>
          <p:cNvPr id="27" name="TextBox 26"/>
          <p:cNvSpPr txBox="1"/>
          <p:nvPr/>
        </p:nvSpPr>
        <p:spPr>
          <a:xfrm>
            <a:off x="640080" y="6163056"/>
            <a:ext cx="10881360" cy="384048"/>
          </a:xfrm>
          <a:prstGeom prst="rect">
            <a:avLst/>
          </a:prstGeom>
          <a:noFill/>
        </p:spPr>
        <p:txBody>
          <a:bodyPr wrap="square" anchor="t" lIns="0" rIns="0" tIns="0" bIns="0">
            <a:spAutoFit/>
          </a:bodyPr>
          <a:lstStyle/>
          <a:p>
            <a:pPr algn="ctr">
              <a:lnSpc>
                <a:spcPct val="106000"/>
              </a:lnSpc>
              <a:spcBef>
                <a:spcPts val="0"/>
              </a:spcBef>
              <a:spcAft>
                <a:spcPts val="0"/>
              </a:spcAft>
            </a:pPr>
            <a:r>
              <a:rPr sz="1700" b="1" i="1">
                <a:solidFill>
                  <a:srgbClr val="0F4C5C"/>
                </a:solidFill>
                <a:latin typeface="Segoe UI"/>
              </a:rPr>
              <a:t>If every box can be checked, the research is both scientifically sound and ethically sound.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457200"/>
            <a:ext cx="310896" cy="310896"/>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84048"/>
            <a:ext cx="10058400" cy="384048"/>
          </a:xfrm>
          <a:prstGeom prst="rect">
            <a:avLst/>
          </a:prstGeom>
          <a:noFill/>
        </p:spPr>
        <p:txBody>
          <a:bodyPr wrap="square" anchor="ctr" lIns="0" rIns="0" tIns="0" bIns="0">
            <a:spAutoFit/>
          </a:bodyPr>
          <a:lstStyle/>
          <a:p>
            <a:pPr algn="l">
              <a:lnSpc>
                <a:spcPct val="106000"/>
              </a:lnSpc>
              <a:spcBef>
                <a:spcPts val="0"/>
              </a:spcBef>
              <a:spcAft>
                <a:spcPts val="0"/>
              </a:spcAft>
            </a:pPr>
            <a:r>
              <a:rPr sz="1400" b="1" i="0">
                <a:solidFill>
                  <a:srgbClr val="0F4C5C"/>
                </a:solidFill>
                <a:latin typeface="Segoe UI Semibold"/>
              </a:rPr>
              <a:t>PUTTING IT ALL TOGETHER</a:t>
            </a:r>
          </a:p>
        </p:txBody>
      </p:sp>
      <p:sp>
        <p:nvSpPr>
          <p:cNvPr id="6" name="TextBox 5"/>
          <p:cNvSpPr txBox="1"/>
          <p:nvPr/>
        </p:nvSpPr>
        <p:spPr>
          <a:xfrm>
            <a:off x="640080" y="786384"/>
            <a:ext cx="11064240" cy="914400"/>
          </a:xfrm>
          <a:prstGeom prst="rect">
            <a:avLst/>
          </a:prstGeom>
          <a:noFill/>
        </p:spPr>
        <p:txBody>
          <a:bodyPr wrap="square" anchor="t" lIns="0" rIns="0" tIns="0" bIns="0">
            <a:spAutoFit/>
          </a:bodyPr>
          <a:lstStyle/>
          <a:p>
            <a:pPr algn="l">
              <a:lnSpc>
                <a:spcPct val="100000"/>
              </a:lnSpc>
              <a:spcBef>
                <a:spcPts val="0"/>
              </a:spcBef>
              <a:spcAft>
                <a:spcPts val="0"/>
              </a:spcAft>
            </a:pPr>
            <a:r>
              <a:rPr sz="3500" b="1" i="0">
                <a:solidFill>
                  <a:srgbClr val="212A33"/>
                </a:solidFill>
                <a:latin typeface="Segoe UI Semibold"/>
              </a:rPr>
              <a:t>Appendix: Slide-to-Competency Map</a:t>
            </a:r>
          </a:p>
        </p:txBody>
      </p:sp>
      <p:sp>
        <p:nvSpPr>
          <p:cNvPr id="7" name="Rectangle 6"/>
          <p:cNvSpPr/>
          <p:nvPr/>
        </p:nvSpPr>
        <p:spPr>
          <a:xfrm>
            <a:off x="658368" y="1572768"/>
            <a:ext cx="1463040"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94415" y="6355080"/>
            <a:ext cx="822960" cy="320040"/>
          </a:xfrm>
          <a:prstGeom prst="rect">
            <a:avLst/>
          </a:prstGeom>
          <a:noFill/>
        </p:spPr>
        <p:txBody>
          <a:bodyPr wrap="square" anchor="ctr" lIns="0" rIns="0" tIns="0" bIns="0">
            <a:spAutoFit/>
          </a:bodyPr>
          <a:lstStyle/>
          <a:p>
            <a:pPr algn="r">
              <a:lnSpc>
                <a:spcPct val="106000"/>
              </a:lnSpc>
              <a:spcBef>
                <a:spcPts val="0"/>
              </a:spcBef>
              <a:spcAft>
                <a:spcPts val="0"/>
              </a:spcAft>
            </a:pPr>
            <a:r>
              <a:rPr sz="1300" b="1" i="0">
                <a:solidFill>
                  <a:srgbClr val="5B6B73"/>
                </a:solidFill>
                <a:latin typeface="Segoe UI Semibold"/>
              </a:rPr>
              <a:t>28</a:t>
            </a:r>
          </a:p>
        </p:txBody>
      </p:sp>
      <p:sp>
        <p:nvSpPr>
          <p:cNvPr id="9" name="TextBox 8"/>
          <p:cNvSpPr txBox="1"/>
          <p:nvPr/>
        </p:nvSpPr>
        <p:spPr>
          <a:xfrm>
            <a:off x="640080" y="6355080"/>
            <a:ext cx="7315200" cy="320040"/>
          </a:xfrm>
          <a:prstGeom prst="rect">
            <a:avLst/>
          </a:prstGeom>
          <a:noFill/>
        </p:spPr>
        <p:txBody>
          <a:bodyPr wrap="square" anchor="ctr" lIns="0" rIns="0" tIns="0" bIns="0">
            <a:spAutoFit/>
          </a:bodyPr>
          <a:lstStyle/>
          <a:p>
            <a:pPr algn="l">
              <a:lnSpc>
                <a:spcPct val="106000"/>
              </a:lnSpc>
              <a:spcBef>
                <a:spcPts val="0"/>
              </a:spcBef>
              <a:spcAft>
                <a:spcPts val="0"/>
              </a:spcAft>
            </a:pPr>
            <a:r>
              <a:rPr sz="1100" b="0" i="0">
                <a:solidFill>
                  <a:srgbClr val="5B6B73"/>
                </a:solidFill>
                <a:latin typeface="Segoe UI"/>
              </a:rPr>
              <a:t>Lecture 2 · Research Ethics</a:t>
            </a:r>
          </a:p>
        </p:txBody>
      </p:sp>
      <p:graphicFrame>
        <p:nvGraphicFramePr>
          <p:cNvPr id="10" name="Table 9"/>
          <p:cNvGraphicFramePr>
            <a:graphicFrameLocks noGrp="1"/>
          </p:cNvGraphicFramePr>
          <p:nvPr/>
        </p:nvGraphicFramePr>
        <p:xfrm>
          <a:off x="640080" y="1874519"/>
          <a:ext cx="10927080" cy="4343395"/>
        </p:xfrm>
        <a:graphic>
          <a:graphicData uri="http://schemas.openxmlformats.org/drawingml/2006/table">
            <a:tbl>
              <a:tblPr firstRow="0" bandRow="0">
                <a:tableStyleId>{5C22544A-7EE6-4342-B048-85BDC9FD1C3A}</a:tableStyleId>
              </a:tblPr>
              <a:tblGrid>
                <a:gridCol w="1783080"/>
                <a:gridCol w="9144000"/>
              </a:tblGrid>
              <a:tr h="620485">
                <a:tc>
                  <a:txBody>
                    <a:bodyPr wrap="square"/>
                    <a:lstStyle/>
                    <a:p>
                      <a:pPr algn="l"/>
                      <a:r>
                        <a:rPr sz="2100" b="1" i="0">
                          <a:solidFill>
                            <a:srgbClr val="FFFFFF"/>
                          </a:solidFill>
                          <a:latin typeface="Segoe UI Semibold"/>
                        </a:rPr>
                        <a:t>Slides</a:t>
                      </a:r>
                    </a:p>
                  </a:txBody>
                  <a:tcPr marL="146304" marR="146304" marT="73152" marB="73152" anchor="ctr">
                    <a:solidFill>
                      <a:srgbClr val="0F4C5C"/>
                    </a:solidFill>
                  </a:tcPr>
                </a:tc>
                <a:tc>
                  <a:txBody>
                    <a:bodyPr wrap="square"/>
                    <a:lstStyle/>
                    <a:p>
                      <a:pPr algn="l"/>
                      <a:r>
                        <a:rPr sz="2100" b="1" i="0">
                          <a:solidFill>
                            <a:srgbClr val="FFFFFF"/>
                          </a:solidFill>
                          <a:latin typeface="Segoe UI Semibold"/>
                        </a:rPr>
                        <a:t>Competency Focus</a:t>
                      </a:r>
                    </a:p>
                  </a:txBody>
                  <a:tcPr marL="146304" marR="146304" marT="73152" marB="73152" anchor="ctr">
                    <a:solidFill>
                      <a:srgbClr val="0F4C5C"/>
                    </a:solidFill>
                  </a:tcPr>
                </a:tc>
              </a:tr>
              <a:tr h="620485">
                <a:tc>
                  <a:txBody>
                    <a:bodyPr wrap="square"/>
                    <a:lstStyle/>
                    <a:p>
                      <a:pPr algn="l"/>
                      <a:r>
                        <a:rPr sz="1900" b="0" i="0">
                          <a:solidFill>
                            <a:srgbClr val="212A33"/>
                          </a:solidFill>
                          <a:latin typeface="Segoe UI"/>
                        </a:rPr>
                        <a:t>1–5</a:t>
                      </a:r>
                    </a:p>
                  </a:txBody>
                  <a:tcPr marL="146304" marR="146304" marT="73152" marB="73152" anchor="ctr">
                    <a:solidFill>
                      <a:srgbClr val="FFFFFF"/>
                    </a:solidFill>
                  </a:tcPr>
                </a:tc>
                <a:tc>
                  <a:txBody>
                    <a:bodyPr wrap="square"/>
                    <a:lstStyle/>
                    <a:p>
                      <a:pPr algn="l"/>
                      <a:r>
                        <a:rPr sz="1900" b="0" i="0">
                          <a:solidFill>
                            <a:srgbClr val="212A33"/>
                          </a:solidFill>
                          <a:latin typeface="Segoe UI"/>
                        </a:rPr>
                        <a:t>Foundation: what research ethics is and why it matters (Comp. 9)</a:t>
                      </a:r>
                    </a:p>
                  </a:txBody>
                  <a:tcPr marL="146304" marR="146304" marT="73152" marB="73152" anchor="ctr">
                    <a:solidFill>
                      <a:srgbClr val="FFFFFF"/>
                    </a:solidFill>
                  </a:tcPr>
                </a:tc>
              </a:tr>
              <a:tr h="620485">
                <a:tc>
                  <a:txBody>
                    <a:bodyPr wrap="square"/>
                    <a:lstStyle/>
                    <a:p>
                      <a:pPr algn="l"/>
                      <a:r>
                        <a:rPr sz="1900" b="0" i="0">
                          <a:solidFill>
                            <a:srgbClr val="212A33"/>
                          </a:solidFill>
                          <a:latin typeface="Segoe UI"/>
                        </a:rPr>
                        <a:t>6–11</a:t>
                      </a:r>
                    </a:p>
                  </a:txBody>
                  <a:tcPr marL="146304" marR="146304" marT="73152" marB="73152" anchor="ctr">
                    <a:solidFill>
                      <a:srgbClr val="E3ECEF"/>
                    </a:solidFill>
                  </a:tcPr>
                </a:tc>
                <a:tc>
                  <a:txBody>
                    <a:bodyPr wrap="square"/>
                    <a:lstStyle/>
                    <a:p>
                      <a:pPr algn="l"/>
                      <a:r>
                        <a:rPr sz="1900" b="0" i="0">
                          <a:solidFill>
                            <a:srgbClr val="212A33"/>
                          </a:solidFill>
                          <a:latin typeface="Segoe UI"/>
                        </a:rPr>
                        <a:t>The four core ethical standards (Comp. 9)</a:t>
                      </a:r>
                    </a:p>
                  </a:txBody>
                  <a:tcPr marL="146304" marR="146304" marT="73152" marB="73152" anchor="ctr">
                    <a:solidFill>
                      <a:srgbClr val="E3ECEF"/>
                    </a:solidFill>
                  </a:tcPr>
                </a:tc>
              </a:tr>
              <a:tr h="620485">
                <a:tc>
                  <a:txBody>
                    <a:bodyPr wrap="square"/>
                    <a:lstStyle/>
                    <a:p>
                      <a:pPr algn="l"/>
                      <a:r>
                        <a:rPr sz="1900" b="0" i="0">
                          <a:solidFill>
                            <a:srgbClr val="212A33"/>
                          </a:solidFill>
                          <a:latin typeface="Segoe UI"/>
                        </a:rPr>
                        <a:t>12–16</a:t>
                      </a:r>
                    </a:p>
                  </a:txBody>
                  <a:tcPr marL="146304" marR="146304" marT="73152" marB="73152" anchor="ctr">
                    <a:solidFill>
                      <a:srgbClr val="FFFFFF"/>
                    </a:solidFill>
                  </a:tcPr>
                </a:tc>
                <a:tc>
                  <a:txBody>
                    <a:bodyPr wrap="square"/>
                    <a:lstStyle/>
                    <a:p>
                      <a:pPr algn="l"/>
                      <a:r>
                        <a:rPr sz="1900" b="0" i="0">
                          <a:solidFill>
                            <a:srgbClr val="212A33"/>
                          </a:solidFill>
                          <a:latin typeface="Segoe UI"/>
                        </a:rPr>
                        <a:t>Applying ethics across all stages of the research process (Comp. 9)</a:t>
                      </a:r>
                    </a:p>
                  </a:txBody>
                  <a:tcPr marL="146304" marR="146304" marT="73152" marB="73152" anchor="ctr">
                    <a:solidFill>
                      <a:srgbClr val="FFFFFF"/>
                    </a:solidFill>
                  </a:tcPr>
                </a:tc>
              </a:tr>
              <a:tr h="620485">
                <a:tc>
                  <a:txBody>
                    <a:bodyPr wrap="square"/>
                    <a:lstStyle/>
                    <a:p>
                      <a:pPr algn="l"/>
                      <a:r>
                        <a:rPr sz="1900" b="0" i="0">
                          <a:solidFill>
                            <a:srgbClr val="212A33"/>
                          </a:solidFill>
                          <a:latin typeface="Segoe UI"/>
                        </a:rPr>
                        <a:t>17–20</a:t>
                      </a:r>
                    </a:p>
                  </a:txBody>
                  <a:tcPr marL="146304" marR="146304" marT="73152" marB="73152" anchor="ctr">
                    <a:solidFill>
                      <a:srgbClr val="E3ECEF"/>
                    </a:solidFill>
                  </a:tcPr>
                </a:tc>
                <a:tc>
                  <a:txBody>
                    <a:bodyPr wrap="square"/>
                    <a:lstStyle/>
                    <a:p>
                      <a:pPr algn="l"/>
                      <a:r>
                        <a:rPr sz="1900" b="0" i="0">
                          <a:solidFill>
                            <a:srgbClr val="212A33"/>
                          </a:solidFill>
                          <a:latin typeface="Segoe UI"/>
                        </a:rPr>
                        <a:t>Plagiarism as the ethical bridge into citation (Comp. 9 → 10)</a:t>
                      </a:r>
                    </a:p>
                  </a:txBody>
                  <a:tcPr marL="146304" marR="146304" marT="73152" marB="73152" anchor="ctr">
                    <a:solidFill>
                      <a:srgbClr val="E3ECEF"/>
                    </a:solidFill>
                  </a:tcPr>
                </a:tc>
              </a:tr>
              <a:tr h="620485">
                <a:tc>
                  <a:txBody>
                    <a:bodyPr wrap="square"/>
                    <a:lstStyle/>
                    <a:p>
                      <a:pPr algn="l"/>
                      <a:r>
                        <a:rPr sz="1900" b="0" i="0">
                          <a:solidFill>
                            <a:srgbClr val="212A33"/>
                          </a:solidFill>
                          <a:latin typeface="Segoe UI"/>
                        </a:rPr>
                        <a:t>21–26</a:t>
                      </a:r>
                    </a:p>
                  </a:txBody>
                  <a:tcPr marL="146304" marR="146304" marT="73152" marB="73152" anchor="ctr">
                    <a:solidFill>
                      <a:srgbClr val="FFFFFF"/>
                    </a:solidFill>
                  </a:tcPr>
                </a:tc>
                <a:tc>
                  <a:txBody>
                    <a:bodyPr wrap="square"/>
                    <a:lstStyle/>
                    <a:p>
                      <a:pPr algn="l"/>
                      <a:r>
                        <a:rPr sz="1900" b="0" i="0">
                          <a:solidFill>
                            <a:srgbClr val="212A33"/>
                          </a:solidFill>
                          <a:latin typeface="Segoe UI"/>
                        </a:rPr>
                        <a:t>APA citation mechanics: in-text and reference list (Comp. 10)</a:t>
                      </a:r>
                    </a:p>
                  </a:txBody>
                  <a:tcPr marL="146304" marR="146304" marT="73152" marB="73152" anchor="ctr">
                    <a:solidFill>
                      <a:srgbClr val="FFFFFF"/>
                    </a:solidFill>
                  </a:tcPr>
                </a:tc>
              </a:tr>
              <a:tr h="620485">
                <a:tc>
                  <a:txBody>
                    <a:bodyPr wrap="square"/>
                    <a:lstStyle/>
                    <a:p>
                      <a:pPr algn="l"/>
                      <a:r>
                        <a:rPr sz="1900" b="0" i="0">
                          <a:solidFill>
                            <a:srgbClr val="212A33"/>
                          </a:solidFill>
                          <a:latin typeface="Segoe UI"/>
                        </a:rPr>
                        <a:t>27</a:t>
                      </a:r>
                    </a:p>
                  </a:txBody>
                  <a:tcPr marL="146304" marR="146304" marT="73152" marB="73152" anchor="ctr">
                    <a:solidFill>
                      <a:srgbClr val="E3ECEF"/>
                    </a:solidFill>
                  </a:tcPr>
                </a:tc>
                <a:tc>
                  <a:txBody>
                    <a:bodyPr wrap="square"/>
                    <a:lstStyle/>
                    <a:p>
                      <a:pPr algn="l"/>
                      <a:r>
                        <a:rPr sz="1900" b="0" i="0">
                          <a:solidFill>
                            <a:srgbClr val="212A33"/>
                          </a:solidFill>
                          <a:latin typeface="Segoe UI"/>
                        </a:rPr>
                        <a:t>Integrated ethics + citation application (Comp. 9 &amp; 10)</a:t>
                      </a:r>
                    </a:p>
                  </a:txBody>
                  <a:tcPr marL="146304" marR="146304" marT="73152" marB="73152" anchor="ctr">
                    <a:solidFill>
                      <a:srgbClr val="E3ECE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