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telling students this lecture answers a very practical question: "I have an idea — now what?" Emphasize that today's lesson is the engine room connecting an initial idea to an actual, defensible research problem. Set expectations: by the end, they will be able to evaluate sources, synthesize them into a gap, and write a problem statement, research questions/hypotheses, and a justification for a quantitative or mixed methods study.</a:t>
            </a:r>
          </a:p>
          <a:p/>
          <a:p>
            <a:r>
              <a:t>Visual: a clean horizontal research workflow diagram with five labeled stages (Sources → Synthesis → Problem Statement → Research Questions/Hypotheses → Justification). This same diagram reappears (highlighted stage-by-stage) throughout the deck to orient students.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Example A: a student wants to build a solar water distiller for a coastal barangay. If they skip the literature, they might not know that similar low-cost distillers have already been tested in other Philippine coastal communities — with results, design flaws, and lessons already documented. Explain that reviewing literature is not "extra homework" — it is the mechanism by which a study earns its place as research rather than just a project. Tie this explicitly to what students learned about ethics and citation in Lecture 2: using others' work responsibly is what allows this whole process to happen with integrity.</a:t>
            </a:r>
          </a:p>
          <a:p/>
          <a:p>
            <a:r>
              <a:t>Visual: a simple cause-and-effect model — two branching paths from the same starting idea, one leading to "duplicated effort / weak contribution," the other to "informed, defensible study."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roadmap once, briefly, so students see this is one continuous chain of reasoning, not seven unrelated topics. Tell them each stage's output becomes the next stage's input — sources feed synthesis, synthesis reveals gaps, gaps become problem statements, and so on. This framing reduces cognitive load because students always know "where we are" in the chain.</a:t>
            </a:r>
          </a:p>
          <a:p/>
          <a:p>
            <a:r>
              <a:t>Visual: a numbered vertical research process flowchart with arrows connecting each stage — reused as a "you are here" locator at the start of each new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concrete — students need a working mental checklist before they touch real material. Note that not everything found through a search engine counts as a usable academic source; the next few slides will teach them how to tell the difference, not just what the categories are.</a:t>
            </a:r>
          </a:p>
          <a:p/>
          <a:p>
            <a:r>
              <a:t>Visual: a simple four-box category chart, one icon per source type, as a quick visual reference students can mentally return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predict the category before revealing each answer — this creates a low-stakes retrieval moment before the harder evaluation skill in the next slide. Point out that a Facebook post can still contain useful ideas worth investigating further, but it is not itself citable as scholarly evidence.</a:t>
            </a:r>
          </a:p>
          <a:p/>
          <a:p>
            <a:r>
              <a:t>Visual: none needed beyond the table — keep this slide text-light and let the table do the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 fast, usable filter — not the full professional information-literacy toolkit researchers eventually learn in college, just enough rigor to keep students from citing unreliable material. Emphasize that a source can be well-written and still fail the test (e.g., accurate but irrelevant, or relevant but from an unverifiable author).</a:t>
            </a:r>
          </a:p>
          <a:p/>
          <a:p>
            <a:r>
              <a:t>Visual: a decision tree — "Does it have a credible author? → Does it match your topic? → Can you verify its claims?" ending in "Usable" or "Not usable yet — dig deeper."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table row by row and ask students to justify each verdict in their own words before you confirm it. This rehearses the A-R-A test on a topic they will actually use later in the lesson (Example A), so the skill and the content reinforce each other.</a:t>
            </a:r>
          </a:p>
          <a:p/>
          <a:p>
            <a:r>
              <a:t>Visual: none additional — the comparison table itself is the visual.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guided-practice checkpoint — students apply the A-R-A test independently in pairs, then share out. Circulate to catch common errors, especially the tendency to treat "recent" as automatically the same as "accurate," or to assume a government report is automatically unbiased.</a:t>
            </a:r>
          </a:p>
          <a:p/>
          <a:p>
            <a:r>
              <a:t>Visual: none required; this is a discussion-based worksheet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this as the single most common trap for beginning researchers: writing what looks like a literature review but is actually just a string of one-paragraph book reports. Tell students that a synthesis should read like a conversation between sources, not a list of separate summaries.</a:t>
            </a:r>
          </a:p>
          <a:p/>
          <a:p>
            <a:r>
              <a:t>Visual: a side-by-side visual — on the left, disconnected boxes (one per source); on the right, the same boxes connected by lines into a shared theme — reinforcing "listing" versus "weaving."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both versions aloud and ask students which one would actually help a reader understand what's missing in the field. Point out that the synthesis version does something the summary cannot: it sets up a gap, which is exactly what the next few slides will teach them to find on purpose.</a:t>
            </a:r>
          </a:p>
          <a:p/>
          <a:p>
            <a:r>
              <a:t>Visual: none needed — direct text contrast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grouping by theme is what makes synthesis possible — you cannot compare sources that are scattered randomly. Use Example B again: sources might cluster into "rainfall-based models," "temperature-based models," and "combined climate models," which immediately makes it visible where overlaps and gaps sit.</a:t>
            </a:r>
          </a:p>
          <a:p/>
          <a:p>
            <a:r>
              <a:t>Visual: a concept map with three or four theme bubbles, each containing two to three small source labels — modelling the clustering process.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not every synthesis reveals a gap — sometimes it reveals a disagreement (issue) or an explicit call for more research (need), and all three are valid springboards for a new study. Beginning researchers often assume they must find a totally unstudied topic; reframe this as unrealistic and unnecessary — even a small, well-defined gap is enough.</a:t>
            </a:r>
          </a:p>
          <a:p/>
          <a:p>
            <a:r>
              <a:t>Visual: three-column layout with color-coded headers keeping the definitions visually distinct.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how this gap statement emerged directly from the synthesis on Slide 10 — this is the payoff moment where students see synthesis is not just an exercise, it produces the seed of a real problem statement. Ask students to predict what a research problem statement built from this gap might sound like, previewing Section 5.</a:t>
            </a:r>
          </a:p>
          <a:p/>
          <a:p>
            <a:r>
              <a:t>Visual: a short cause-and-effect model showing "synthesis finding → identified gap," visually linking back to Slide 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a thinking tool, not a required format — some students will find it easier to spot gaps visually in a matrix than by reading notes. Point out the empty "Mobility factor" column is exactly the gap identified on the previous slide — the matrix makes gaps visible almost automatically.</a:t>
            </a:r>
          </a:p>
          <a:p/>
          <a:p>
            <a:r>
              <a:t>Visual: the matrix itself; empty cells are colour-shaded to draw the eye toward the gap.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in pairs, to identify which theme has the weakest coverage and phrase a one-sentence gap statement from it. This directly rehearses the skill they will need heavily in Section 5 (writing a problem statement), so treat this as a checkpoint rather than a throwaway activity.</a:t>
            </a:r>
          </a:p>
          <a:p/>
          <a:p>
            <a:r>
              <a:t>Visual: none additional — the matrix is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everything students have done so far (evaluating sources, synthesizing, finding a gap) has been preparation — this slide introduces the actual written product that packages all of that. In quantitative and mixed methods research specifically, the literature review is written before data collection and directly sets up the research questions or hypotheses that follow.</a:t>
            </a:r>
          </a:p>
          <a:p/>
          <a:p>
            <a:r>
              <a:t>Visual: none required — keep this a clean transition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this five-part structure is the standard way quantitative studies organize a written literature review — it keeps the review tightly focused on the variables the study will actually investigate, rather than sprawling into loosely related topics. Point out that Topic 3 is usually the shortest section because directly relevant combined studies are often scarce — and that scarcity is often itself part of the gap.</a:t>
            </a:r>
          </a:p>
          <a:p/>
          <a:p>
            <a:r>
              <a:t>Visual: a funnel-shaped process diagram narrowing from Topic 1 and Topic 2 (broad, separate) down into Topic 3 (narrow, combined) and finally the Summary.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part slowly, showing how the outline mirrors the five-part structure exactly. This is the moment students see that "the gap" they found earlier fits naturally into the Summary section as the closing statement of the literature review.</a:t>
            </a:r>
          </a:p>
          <a:p/>
          <a:p>
            <a:r>
              <a:t>Visual: none additional — the outline itself functions as the visual scaffold.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the goal is only to help students recognize that "how much literature review, and when" is a design decision tied to which method leads, not a fixed rule. Since most SHS capstone-style studies are quantitative or quantitative-led mixed methods, reassure students the five-part structure from the previous slides will usually apply.</a:t>
            </a:r>
          </a:p>
          <a:p/>
          <a:p>
            <a:r>
              <a:t>Visual: a short decision tree with two branches labelled "Quantitative-first" and "Qualitative-first," each pointing to a different literature review depth.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use their own emerging topic (or Example B, dengue prediction, if they don't have one yet) to fill in this template. This is a natural checkpoint before moving into problem statement writing, since the Summary line they write here becomes the raw material for the next section.</a:t>
            </a:r>
          </a:p>
          <a:p/>
          <a:p>
            <a:r>
              <a:t>Visual: none needed; the template is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a gap and a problem statement are not the same thing — a gap describes what's missing in the literature, while a problem statement describes the specific issue your study will investigate. This distinction prevents students from simply copying their gap sentence and calling it a problem statement.</a:t>
            </a:r>
          </a:p>
          <a:p/>
          <a:p>
            <a:r>
              <a:t>Visual: none additional — the two-step arrow captures the transformation clearly enough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"tangible" is often the criterion beginning researchers ignore — an excellent problem statement that would require resources or access far beyond a school-based project is not usable yet, no matter how interesting it is. Encourage students to test any problem statement they draft against all five criteria, not just one or two.</a:t>
            </a:r>
          </a:p>
          <a:p/>
          <a:p>
            <a:r>
              <a:t>Visual: a checklist-style graphic (five checkmarks) that can repeat later as a self-assessment tool.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a practical writing formula, not an abstract theory — students often freeze when told to "just write a problem statement," so giving them three concrete building blocks to write in sequence makes the task approachable. Note that this structure works whether the final study is fully quantitative or a quantitative-led mixed methods design.</a:t>
            </a:r>
          </a:p>
          <a:p/>
          <a:p>
            <a:r>
              <a:t>Visual: a funnel diagram narrowing from Context (widest) to Relevance to Strategy (narrowest), ending in a single problem-statement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final boxed statement aloud and ask students to identify which sentence came from Context, which from Relevance, and which from Strategy — this reverse-engineering check reinforces the formula. Note how directly this statement traces back to the Topic 3/Summary gap identified in Slide 18.</a:t>
            </a:r>
          </a:p>
          <a:p/>
          <a:p>
            <a:r>
              <a:t>Visual: none additional beyond the highlighted final-statement box.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through each pitfall using a "spot what's wrong" approach before revealing the fix — this keeps students actively diagnosing rather than passively reading. Connect the "merely descriptive" pitfall back to Slide 22's criteria: a true problem statement must show why something is unresolved, not just describe a situation.</a:t>
            </a:r>
          </a:p>
          <a:p/>
          <a:p>
            <a:r>
              <a:t>Visual: none additional; the table's two-column contrast is sufficient.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work in pairs to name which pitfall each statement falls into, then rewrite it using the Context–Relevance–Strategy formula from Slide 23. Circulate and prompt students who write a "fixed" version that is still too broad — a common second-round mistake.</a:t>
            </a:r>
          </a:p>
          <a:p/>
          <a:p>
            <a:r>
              <a:t>Visual: none required; this is a peer-editing activity.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Example A's problem statement from Slide 24 and ask students what specific question it raises — guide them toward something like "Is there a significant difference in microbial contamination before and after distillation?" This models the narrowing process concretely before the formal criteria are introduced.</a:t>
            </a:r>
          </a:p>
          <a:p/>
          <a:p>
            <a:r>
              <a:t>Visual: a single arrow diagram — "Problem Statement" branching into two or three "Research Question" boxes.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"answerable" is the criterion students most often miss — a research question phrased as an opinion ("Should schools invest in solar energy?") cannot be answered with data the way a phrased comparison or relationship question can.</a:t>
            </a:r>
          </a:p>
          <a:p/>
          <a:p>
            <a:r>
              <a:t>Visual: none required; keep this a clean checklist.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check this question against the three qualities from Slide 28 — is it clear, focused, and answerable? This rehearses evaluation, not just recall, and prepares them to critique their own questions later.</a:t>
            </a:r>
          </a:p>
          <a:p/>
          <a:p>
            <a:r>
              <a:t>Visual: none additional.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and definitional — the point is only to introduce hypotheses as the quantitative counterpart to research questions, not to reopen the qualitative-vs-quantitative discussion from Lecture 1 in depth. Reassure students that since this course is building toward quantitative and mixed methods studies, they will usually be writing both a research question and its matching hypothesis.</a:t>
            </a:r>
          </a:p>
          <a:p/>
          <a:p>
            <a:r>
              <a:t>Visual: none required.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the level needed only to write a hypothesis — detailed measurement scales and operationalization are beyond this lesson. Reconnect to Slide 17's Topic 1/Topic 2 structure: the independent and dependent variables here are the same two variables the literature review was built around.</a:t>
            </a:r>
          </a:p>
          <a:p/>
          <a:p>
            <a:r>
              <a:t>Visual: a variable relationship diagram — an "Independent Variable" box with an arrow pointing to a "Dependent Variable" box.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these two terms only — do not move into how they are statistically tested, since that belongs to a later methodology lesson. Frame the null and alternative hypothesis as two competing predictions the eventual data collection will help decide between.</a:t>
            </a:r>
          </a:p>
          <a:p/>
          <a:p>
            <a:r>
              <a:t>Visual: none additional; the two-column layout with the paired example is sufficient.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 a fully quantitative study, all research questions typically follow the descriptive, comparative, or relationship formats shown here, each paired with a matching hypothesis. In a mixed methods study, researchers often keep the quantitative question and hypothesis as the main driver, then add one qualitative follow-up question to explore why or how the quantitative result occurred — this is the practical bridge between the two approaches without turning today's lesson into a full mixed methods design lecture.</a:t>
            </a:r>
          </a:p>
          <a:p/>
          <a:p>
            <a:r>
              <a:t>Visual: none additional; the reference table itself functions as a usable writing tool.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chain top to bottom, showing students that every element they've learned so far connects — nothing here was invented from scratch; each line grew directly out of the one above it. This slide functions as a model answer students can compare their own work against in the following activity.</a:t>
            </a:r>
          </a:p>
          <a:p/>
          <a:p>
            <a:r>
              <a:t>Visual: a vertical chain diagram with connecting arrows between each of the four boxes, visually reinforcing continuity.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complete this individually using either Example B (dengue prediction) or their own emerging topic, then trade with a partner to check each line against the criteria taught earlier (researchable problem statement, clear/focused/answerable RQ, testable hypothesis). This is the lesson's main checkpoint before moving into justification.</a:t>
            </a:r>
          </a:p>
          <a:p/>
          <a:p>
            <a:r>
              <a:t>Visual: none needed; the template drives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CER as solving a real writing problem: many students can state a problem but struggle to argue convincingly for its importance. Preview that CER gives them a repeatable three-part structure for that argument, built directly from material they already have — their literature synthesis.</a:t>
            </a:r>
          </a:p>
          <a:p/>
          <a:p>
            <a:r>
              <a:t>Visual: none required; a brief framing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Evidence in a CER paragraph should come straight from the synthesis work done in Section 3 — this is not new information, but a repackaging of what students already found. Reasoning is the part students most often skip; without it, a paragraph is just a claim next to a citation, with no argument connecting them.</a:t>
            </a:r>
          </a:p>
          <a:p/>
          <a:p>
            <a:r>
              <a:t>Visual: a three-part concept map with arrows: Claim → supported by → Evidence → explained by → Reasoning, looping back to reinforce the Claim.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paragraph aloud once as a whole, then a second time pausing to label each bracketed part. Ask students to notice that this exact paragraph could be dropped directly into the introduction of a research proposal — this is a real, usable piece of writing, not just a classroom exercise.</a:t>
            </a:r>
          </a:p>
          <a:p/>
          <a:p>
            <a:r>
              <a:t>Visual: colour-code or bracket-label the three sentence parts directly on the slide so students can visually trace Claim, Evidence, and Reasoning.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individually label each sentence as Claim, Evidence, or Reasoning, then compare with a partner before a whole-class check. Use any disagreement as a teaching moment — reasoning sentences are often the ones students misidentify as evidence, since both sentences discuss the same topic.</a:t>
            </a:r>
          </a:p>
          <a:p/>
          <a:p>
            <a:r>
              <a:t>Visual: none additional; students annotate directly on a printed or digital copy of the paragraph.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core distinction simply: assumptions are things you trust to be true because testing them isn't practical, while limitations are things you openly admit might weaken your conclusions. Both are a normal, expected part of any real study — including this framing prevents students from feeling like naming a limitation is confessing to a flawed project.</a:t>
            </a:r>
          </a:p>
          <a:p/>
          <a:p>
            <a:r>
              <a:t>Visual: none additional; the two-column table carries the concept clearly.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this with a quick example: if a study only samples one school but claims its findings apply to "all Filipino students," a reader will distrust the whole study; naming that limitation instead protects the researcher's credibility and shows scientific maturity.</a:t>
            </a:r>
          </a:p>
          <a:p/>
          <a:p>
            <a:r>
              <a:t>Visual: none required; a short reflective framing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how directly these lines connect to the study's actual design choices — assumptions and limitations are not generic disclaimers, they are specific to what this particular study did and did not do. Ask students what would happen to the assumptions list if the researcher instead tested the equipment's accuracy directly — it would move from "assumption" to "verified fact," a subtle but important shift.</a:t>
            </a:r>
          </a:p>
          <a:p/>
          <a:p>
            <a:r>
              <a:t>Visual: none additional; the two labeled lists are sufficient.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as students work in pairs; a common early mistake is confusing a limitation ("only one city was studied") with an assumption ("mobility data accurately reflects real movement patterns") — use this as a chance to reinforce the distinction from Slide 40 one more time before wrapping up.</a:t>
            </a:r>
          </a:p>
          <a:p/>
          <a:p>
            <a:r>
              <a:t>Visual: none required; discussion-based activity.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tracing the full chain from top to bottom once more, reminding students that every stage they practiced today feeds directly into the next — this is not a checklist of separate skills but one continuous argument. Briefly note that the limitations they just identified will later shape decisions about how they actually collect and analyze data, without going into that process now.</a:t>
            </a:r>
          </a:p>
          <a:p/>
          <a:p>
            <a:r>
              <a:t>Visual: the same research process flowchart from Slide 3, now with every stage fully labeled and briefly annotated — a single reference image summarising the entire lesson.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448495" y="-2011680"/>
            <a:ext cx="4754880" cy="4754880"/>
          </a:xfrm>
          <a:prstGeom prst="ellipse">
            <a:avLst/>
          </a:prstGeom>
          <a:solidFill>
            <a:srgbClr val="243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637215" y="640080"/>
            <a:ext cx="2011680" cy="201168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10042855" y="2880360"/>
            <a:ext cx="685800" cy="685800"/>
          </a:xfrm>
          <a:prstGeom prst="ellipse">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22960" y="914400"/>
            <a:ext cx="128016" cy="1005840"/>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97280" y="932688"/>
            <a:ext cx="7315200" cy="365760"/>
          </a:xfrm>
          <a:prstGeom prst="rect">
            <a:avLst/>
          </a:prstGeom>
          <a:noFill/>
        </p:spPr>
        <p:txBody>
          <a:bodyPr wrap="square" anchor="t" lIns="0" rIns="0" tIns="0" bIns="0">
            <a:spAutoFit/>
          </a:bodyPr>
          <a:lstStyle/>
          <a:p>
            <a:pPr algn="l">
              <a:lnSpc>
                <a:spcPct val="105000"/>
              </a:lnSpc>
              <a:spcBef>
                <a:spcPts val="0"/>
              </a:spcBef>
              <a:spcAft>
                <a:spcPts val="0"/>
              </a:spcAft>
            </a:pPr>
            <a:r>
              <a:rPr sz="1600" b="1" i="0">
                <a:solidFill>
                  <a:srgbClr val="E4F1F3"/>
                </a:solidFill>
                <a:latin typeface="Segoe UI Semibold"/>
              </a:rPr>
              <a:t>LECTURE 3</a:t>
            </a:r>
          </a:p>
        </p:txBody>
      </p:sp>
      <p:sp>
        <p:nvSpPr>
          <p:cNvPr id="8" name="TextBox 7"/>
          <p:cNvSpPr txBox="1"/>
          <p:nvPr/>
        </p:nvSpPr>
        <p:spPr>
          <a:xfrm>
            <a:off x="1051560" y="1371600"/>
            <a:ext cx="8778240" cy="2194560"/>
          </a:xfrm>
          <a:prstGeom prst="rect">
            <a:avLst/>
          </a:prstGeom>
          <a:noFill/>
        </p:spPr>
        <p:txBody>
          <a:bodyPr wrap="square" anchor="t" lIns="0" rIns="0" tIns="0" bIns="0">
            <a:spAutoFit/>
          </a:bodyPr>
          <a:lstStyle/>
          <a:p>
            <a:pPr algn="l">
              <a:lnSpc>
                <a:spcPct val="102000"/>
              </a:lnSpc>
              <a:spcBef>
                <a:spcPts val="0"/>
              </a:spcBef>
              <a:spcAft>
                <a:spcPts val="200"/>
              </a:spcAft>
            </a:pPr>
            <a:r>
              <a:rPr sz="4600" b="1" i="0">
                <a:solidFill>
                  <a:srgbClr val="FFFFFF"/>
                </a:solidFill>
                <a:latin typeface="Segoe UI Semibold"/>
              </a:rPr>
              <a:t>Review of Literature</a:t>
            </a:r>
          </a:p>
          <a:p>
            <a:pPr algn="l">
              <a:lnSpc>
                <a:spcPct val="102000"/>
              </a:lnSpc>
              <a:spcBef>
                <a:spcPts val="0"/>
              </a:spcBef>
              <a:spcAft>
                <a:spcPts val="0"/>
              </a:spcAft>
            </a:pPr>
            <a:r>
              <a:rPr sz="4600" b="1" i="0">
                <a:solidFill>
                  <a:srgbClr val="FFFFFF"/>
                </a:solidFill>
                <a:latin typeface="Segoe UI Semibold"/>
              </a:rPr>
              <a:t>for Identifying Research Problems</a:t>
            </a:r>
          </a:p>
        </p:txBody>
      </p:sp>
      <p:sp>
        <p:nvSpPr>
          <p:cNvPr id="9" name="TextBox 8"/>
          <p:cNvSpPr txBox="1"/>
          <p:nvPr/>
        </p:nvSpPr>
        <p:spPr>
          <a:xfrm>
            <a:off x="1078992" y="3429000"/>
            <a:ext cx="8595360" cy="914400"/>
          </a:xfrm>
          <a:prstGeom prst="rect">
            <a:avLst/>
          </a:prstGeom>
          <a:noFill/>
        </p:spPr>
        <p:txBody>
          <a:bodyPr wrap="square" anchor="t" lIns="0" rIns="0" tIns="0" bIns="0">
            <a:spAutoFit/>
          </a:bodyPr>
          <a:lstStyle/>
          <a:p>
            <a:pPr algn="l">
              <a:lnSpc>
                <a:spcPct val="110000"/>
              </a:lnSpc>
              <a:spcBef>
                <a:spcPts val="0"/>
              </a:spcBef>
              <a:spcAft>
                <a:spcPts val="0"/>
              </a:spcAft>
            </a:pPr>
            <a:r>
              <a:rPr sz="2000" b="0" i="0">
                <a:solidFill>
                  <a:srgbClr val="E4F1F3"/>
                </a:solidFill>
                <a:latin typeface="Segoe UI"/>
              </a:rPr>
              <a:t>Turning what others have studied into </a:t>
            </a:r>
            <a:r>
              <a:rPr sz="2000" b="1" i="1">
                <a:solidFill>
                  <a:srgbClr val="F4795B"/>
                </a:solidFill>
                <a:latin typeface="Segoe UI"/>
              </a:rPr>
              <a:t>your</a:t>
            </a:r>
            <a:r>
              <a:rPr sz="2000" b="0" i="0">
                <a:solidFill>
                  <a:srgbClr val="E4F1F3"/>
                </a:solidFill>
                <a:latin typeface="Segoe UI"/>
              </a:rPr>
              <a:t> research problem, questions, and justification</a:t>
            </a:r>
          </a:p>
        </p:txBody>
      </p:sp>
      <p:sp>
        <p:nvSpPr>
          <p:cNvPr id="10" name="Rounded Rectangle 9"/>
          <p:cNvSpPr/>
          <p:nvPr/>
        </p:nvSpPr>
        <p:spPr>
          <a:xfrm>
            <a:off x="1097280" y="4343400"/>
            <a:ext cx="4206240" cy="457200"/>
          </a:xfrm>
          <a:prstGeom prst="roundRect">
            <a:avLst>
              <a:gd name="adj" fmla="val 4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50" b="1" i="0">
                <a:solidFill>
                  <a:srgbClr val="FFFFFF"/>
                </a:solidFill>
                <a:latin typeface="Segoe UI"/>
              </a:rPr>
              <a:t>Competencies 11–16  ·  Quantitative &amp; Mixed Methods</a:t>
            </a:r>
          </a:p>
        </p:txBody>
      </p:sp>
      <p:sp>
        <p:nvSpPr>
          <p:cNvPr id="11" name="TextBox 10"/>
          <p:cNvSpPr txBox="1"/>
          <p:nvPr/>
        </p:nvSpPr>
        <p:spPr>
          <a:xfrm>
            <a:off x="1097280" y="5074920"/>
            <a:ext cx="7315200" cy="274320"/>
          </a:xfrm>
          <a:prstGeom prst="rect">
            <a:avLst/>
          </a:prstGeom>
          <a:noFill/>
        </p:spPr>
        <p:txBody>
          <a:bodyPr wrap="square" anchor="t" lIns="0" rIns="0" tIns="0" bIns="0">
            <a:spAutoFit/>
          </a:bodyPr>
          <a:lstStyle/>
          <a:p>
            <a:pPr algn="l">
              <a:lnSpc>
                <a:spcPct val="105000"/>
              </a:lnSpc>
              <a:spcBef>
                <a:spcPts val="0"/>
              </a:spcBef>
              <a:spcAft>
                <a:spcPts val="0"/>
              </a:spcAft>
            </a:pPr>
            <a:r>
              <a:rPr sz="1100" b="1" i="0">
                <a:solidFill>
                  <a:srgbClr val="5B6B7B"/>
                </a:solidFill>
                <a:latin typeface="Segoe UI Semibold"/>
              </a:rPr>
              <a:t>THE RESEARCH WORKFLOW</a:t>
            </a:r>
          </a:p>
        </p:txBody>
      </p:sp>
      <p:sp>
        <p:nvSpPr>
          <p:cNvPr id="12" name="Chevron 11"/>
          <p:cNvSpPr/>
          <p:nvPr/>
        </p:nvSpPr>
        <p:spPr>
          <a:xfrm>
            <a:off x="1097280" y="5394960"/>
            <a:ext cx="2183587" cy="566928"/>
          </a:xfrm>
          <a:prstGeom prst="chevron">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Sources</a:t>
            </a:r>
          </a:p>
        </p:txBody>
      </p:sp>
      <p:sp>
        <p:nvSpPr>
          <p:cNvPr id="13" name="Chevron 12"/>
          <p:cNvSpPr/>
          <p:nvPr/>
        </p:nvSpPr>
        <p:spPr>
          <a:xfrm>
            <a:off x="3043123" y="5394960"/>
            <a:ext cx="2183587" cy="566928"/>
          </a:xfrm>
          <a:prstGeom prst="chevron">
            <a:avLst/>
          </a:prstGeom>
          <a:solidFill>
            <a:srgbClr val="1159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Synthesis</a:t>
            </a:r>
          </a:p>
        </p:txBody>
      </p:sp>
      <p:sp>
        <p:nvSpPr>
          <p:cNvPr id="14" name="Chevron 13"/>
          <p:cNvSpPr/>
          <p:nvPr/>
        </p:nvSpPr>
        <p:spPr>
          <a:xfrm>
            <a:off x="4988966" y="5394960"/>
            <a:ext cx="2183587" cy="566928"/>
          </a:xfrm>
          <a:prstGeom prst="chevron">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Problem</a:t>
            </a:r>
          </a:p>
        </p:txBody>
      </p:sp>
      <p:sp>
        <p:nvSpPr>
          <p:cNvPr id="15" name="Chevron 14"/>
          <p:cNvSpPr/>
          <p:nvPr/>
        </p:nvSpPr>
        <p:spPr>
          <a:xfrm>
            <a:off x="6934809" y="5394960"/>
            <a:ext cx="2183587" cy="566928"/>
          </a:xfrm>
          <a:prstGeom prst="chevron">
            <a:avLst/>
          </a:prstGeom>
          <a:solidFill>
            <a:srgbClr val="1159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Questions</a:t>
            </a:r>
          </a:p>
        </p:txBody>
      </p:sp>
      <p:sp>
        <p:nvSpPr>
          <p:cNvPr id="16" name="Chevron 15"/>
          <p:cNvSpPr/>
          <p:nvPr/>
        </p:nvSpPr>
        <p:spPr>
          <a:xfrm>
            <a:off x="8880652" y="5394960"/>
            <a:ext cx="2183587" cy="566928"/>
          </a:xfrm>
          <a:prstGeom prst="chevron">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Justification</a:t>
            </a:r>
          </a:p>
        </p:txBody>
      </p:sp>
      <p:sp>
        <p:nvSpPr>
          <p:cNvPr id="17" name="TextBox 16"/>
          <p:cNvSpPr txBox="1"/>
          <p:nvPr/>
        </p:nvSpPr>
        <p:spPr>
          <a:xfrm>
            <a:off x="1097280" y="6172200"/>
            <a:ext cx="10058400" cy="548640"/>
          </a:xfrm>
          <a:prstGeom prst="rect">
            <a:avLst/>
          </a:prstGeom>
          <a:noFill/>
        </p:spPr>
        <p:txBody>
          <a:bodyPr wrap="square" anchor="t" lIns="0" rIns="0" tIns="0" bIns="0">
            <a:spAutoFit/>
          </a:bodyPr>
          <a:lstStyle/>
          <a:p>
            <a:pPr algn="l">
              <a:lnSpc>
                <a:spcPct val="105000"/>
              </a:lnSpc>
              <a:spcBef>
                <a:spcPts val="0"/>
              </a:spcBef>
              <a:spcAft>
                <a:spcPts val="100"/>
              </a:spcAft>
            </a:pPr>
            <a:r>
              <a:rPr sz="1150" b="1" i="0">
                <a:solidFill>
                  <a:srgbClr val="F4795B"/>
                </a:solidFill>
                <a:latin typeface="Segoe UI"/>
              </a:rPr>
              <a:t>Running examples (Philippine STEM):  </a:t>
            </a:r>
            <a:r>
              <a:rPr sz="1150" b="0" i="0">
                <a:solidFill>
                  <a:srgbClr val="E4F1F3"/>
                </a:solidFill>
                <a:latin typeface="Segoe UI"/>
              </a:rPr>
              <a:t>A) low-cost solar water distiller in a Zambales coastal barangay   ·   B) dengue outbreak early-warning model for a Metro Manila city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1 · WHY LITERATURE REVIEW COMES FIRST</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Why Literature Comes Before Solutions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a:t>
            </a:r>
          </a:p>
        </p:txBody>
      </p:sp>
      <p:sp>
        <p:nvSpPr>
          <p:cNvPr id="9" name="Rounded Rectangle 8"/>
          <p:cNvSpPr/>
          <p:nvPr/>
        </p:nvSpPr>
        <p:spPr>
          <a:xfrm>
            <a:off x="777240" y="1737360"/>
            <a:ext cx="5090007" cy="35204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1737360"/>
            <a:ext cx="5090007" cy="566928"/>
          </a:xfrm>
          <a:prstGeom prst="roundRect">
            <a:avLst>
              <a:gd name="adj" fmla="val 12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996695" y="1837943"/>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D1495B"/>
                </a:solidFill>
                <a:latin typeface="Segoe UI"/>
              </a:rPr>
              <a:t>✕</a:t>
            </a:r>
          </a:p>
        </p:txBody>
      </p:sp>
      <p:sp>
        <p:nvSpPr>
          <p:cNvPr id="12" name="TextBox 11"/>
          <p:cNvSpPr txBox="1"/>
          <p:nvPr/>
        </p:nvSpPr>
        <p:spPr>
          <a:xfrm>
            <a:off x="1527048" y="1737360"/>
            <a:ext cx="4157319" cy="566928"/>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FFFFFF"/>
                </a:solidFill>
                <a:latin typeface="Segoe UI Semibold"/>
              </a:rPr>
              <a:t>WITHOUT reviewing literature</a:t>
            </a:r>
          </a:p>
        </p:txBody>
      </p:sp>
      <p:sp>
        <p:nvSpPr>
          <p:cNvPr id="13" name="TextBox 12"/>
          <p:cNvSpPr txBox="1"/>
          <p:nvPr/>
        </p:nvSpPr>
        <p:spPr>
          <a:xfrm>
            <a:off x="1069848" y="2514600"/>
            <a:ext cx="4541367" cy="2606040"/>
          </a:xfrm>
          <a:prstGeom prst="rect">
            <a:avLst/>
          </a:prstGeom>
          <a:noFill/>
        </p:spPr>
        <p:txBody>
          <a:bodyPr wrap="square" anchor="t" lIns="0" rIns="0" tIns="0" bIns="0">
            <a:spAutoFit/>
          </a:bodyPr>
          <a:lstStyle/>
          <a:p>
            <a:pPr algn="l" marL="274638" indent="-274638">
              <a:lnSpc>
                <a:spcPct val="105000"/>
              </a:lnSpc>
              <a:spcBef>
                <a:spcPts val="0"/>
              </a:spcBef>
              <a:spcAft>
                <a:spcPts val="800"/>
              </a:spcAft>
              <a:buClr>
                <a:srgbClr val="D1495B"/>
              </a:buClr>
              <a:buSzPct val="80000"/>
              <a:buFont typeface="Arial"/>
              <a:buChar char="▪"/>
            </a:pPr>
            <a:r>
              <a:rPr sz="2200" b="0" i="0">
                <a:solidFill>
                  <a:srgbClr val="14213D"/>
                </a:solidFill>
                <a:latin typeface="Segoe UI"/>
              </a:rPr>
              <a:t>Risk of repeating a solution that already exists</a:t>
            </a:r>
          </a:p>
          <a:p>
            <a:pPr algn="l" marL="274638" indent="-274638">
              <a:lnSpc>
                <a:spcPct val="105000"/>
              </a:lnSpc>
              <a:spcBef>
                <a:spcPts val="0"/>
              </a:spcBef>
              <a:spcAft>
                <a:spcPts val="800"/>
              </a:spcAft>
              <a:buClr>
                <a:srgbClr val="D1495B"/>
              </a:buClr>
              <a:buSzPct val="80000"/>
              <a:buFont typeface="Arial"/>
              <a:buChar char="▪"/>
            </a:pPr>
            <a:r>
              <a:rPr sz="2200" b="0" i="0">
                <a:solidFill>
                  <a:srgbClr val="14213D"/>
                </a:solidFill>
                <a:latin typeface="Segoe UI"/>
              </a:rPr>
              <a:t>Missing a known design flaw</a:t>
            </a:r>
          </a:p>
          <a:p>
            <a:pPr algn="l" marL="274638" indent="-274638">
              <a:lnSpc>
                <a:spcPct val="105000"/>
              </a:lnSpc>
              <a:spcBef>
                <a:spcPts val="0"/>
              </a:spcBef>
              <a:spcAft>
                <a:spcPts val="800"/>
              </a:spcAft>
              <a:buClr>
                <a:srgbClr val="D1495B"/>
              </a:buClr>
              <a:buSzPct val="80000"/>
              <a:buFont typeface="Arial"/>
              <a:buChar char="▪"/>
            </a:pPr>
            <a:r>
              <a:rPr sz="2200" b="0" i="0">
                <a:solidFill>
                  <a:srgbClr val="14213D"/>
                </a:solidFill>
                <a:latin typeface="Segoe UI"/>
              </a:rPr>
              <a:t>Misjudging what data is even available</a:t>
            </a:r>
          </a:p>
        </p:txBody>
      </p:sp>
      <p:sp>
        <p:nvSpPr>
          <p:cNvPr id="14" name="Rounded Rectangle 13"/>
          <p:cNvSpPr/>
          <p:nvPr/>
        </p:nvSpPr>
        <p:spPr>
          <a:xfrm>
            <a:off x="6324447" y="1737360"/>
            <a:ext cx="5090007" cy="35204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324447" y="1737360"/>
            <a:ext cx="5090007" cy="566928"/>
          </a:xfrm>
          <a:prstGeom prst="roundRect">
            <a:avLst>
              <a:gd name="adj" fmla="val 12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543903" y="1837943"/>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2A9D8F"/>
                </a:solidFill>
                <a:latin typeface="Segoe UI"/>
              </a:rPr>
              <a:t>✓</a:t>
            </a:r>
          </a:p>
        </p:txBody>
      </p:sp>
      <p:sp>
        <p:nvSpPr>
          <p:cNvPr id="17" name="TextBox 16"/>
          <p:cNvSpPr txBox="1"/>
          <p:nvPr/>
        </p:nvSpPr>
        <p:spPr>
          <a:xfrm>
            <a:off x="7074255" y="1737360"/>
            <a:ext cx="4157319" cy="566928"/>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FFFFFF"/>
                </a:solidFill>
                <a:latin typeface="Segoe UI Semibold"/>
              </a:rPr>
              <a:t>WITH reviewing literature</a:t>
            </a:r>
          </a:p>
        </p:txBody>
      </p:sp>
      <p:sp>
        <p:nvSpPr>
          <p:cNvPr id="18" name="TextBox 17"/>
          <p:cNvSpPr txBox="1"/>
          <p:nvPr/>
        </p:nvSpPr>
        <p:spPr>
          <a:xfrm>
            <a:off x="6617055" y="2514600"/>
            <a:ext cx="4541367" cy="2606040"/>
          </a:xfrm>
          <a:prstGeom prst="rect">
            <a:avLst/>
          </a:prstGeom>
          <a:noFill/>
        </p:spPr>
        <p:txBody>
          <a:bodyPr wrap="square" anchor="t" lIns="0" rIns="0" tIns="0" bIns="0">
            <a:spAutoFit/>
          </a:bodyPr>
          <a:lstStyle/>
          <a:p>
            <a:pPr algn="l" marL="274638" indent="-274638">
              <a:lnSpc>
                <a:spcPct val="105000"/>
              </a:lnSpc>
              <a:spcBef>
                <a:spcPts val="0"/>
              </a:spcBef>
              <a:spcAft>
                <a:spcPts val="800"/>
              </a:spcAft>
              <a:buClr>
                <a:srgbClr val="2A9D8F"/>
              </a:buClr>
              <a:buSzPct val="80000"/>
              <a:buFont typeface="Arial"/>
              <a:buChar char="▪"/>
            </a:pPr>
            <a:r>
              <a:rPr sz="2200" b="0" i="0">
                <a:solidFill>
                  <a:srgbClr val="14213D"/>
                </a:solidFill>
                <a:latin typeface="Segoe UI"/>
              </a:rPr>
              <a:t>The study builds on, extends, or fills a real gap in existing knowledge</a:t>
            </a:r>
          </a:p>
        </p:txBody>
      </p:sp>
      <p:sp>
        <p:nvSpPr>
          <p:cNvPr id="19" name="Rounded Rectangle 18"/>
          <p:cNvSpPr/>
          <p:nvPr/>
        </p:nvSpPr>
        <p:spPr>
          <a:xfrm>
            <a:off x="777240" y="5486400"/>
            <a:ext cx="10637215" cy="713232"/>
          </a:xfrm>
          <a:prstGeom prst="roundRect">
            <a:avLst>
              <a:gd name="adj" fmla="val 1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97280" y="5486400"/>
            <a:ext cx="9997135" cy="713232"/>
          </a:xfrm>
          <a:prstGeom prst="rect">
            <a:avLst/>
          </a:prstGeom>
          <a:noFill/>
        </p:spPr>
        <p:txBody>
          <a:bodyPr wrap="square" anchor="ctr" lIns="0" rIns="0" tIns="0" bIns="0">
            <a:spAutoFit/>
          </a:bodyPr>
          <a:lstStyle/>
          <a:p>
            <a:pPr algn="l">
              <a:lnSpc>
                <a:spcPct val="102000"/>
              </a:lnSpc>
              <a:spcBef>
                <a:spcPts val="0"/>
              </a:spcBef>
              <a:spcAft>
                <a:spcPts val="0"/>
              </a:spcAft>
            </a:pPr>
            <a:r>
              <a:rPr sz="1500" b="1" i="0">
                <a:solidFill>
                  <a:srgbClr val="F2B705"/>
                </a:solidFill>
                <a:latin typeface="Segoe UI Semibold"/>
              </a:rPr>
              <a:t>KEY IDEA   </a:t>
            </a:r>
            <a:r>
              <a:rPr sz="1800" b="0" i="0">
                <a:solidFill>
                  <a:srgbClr val="FFFFFF"/>
                </a:solidFill>
                <a:latin typeface="Segoe UI"/>
              </a:rPr>
              <a:t>Research must </a:t>
            </a:r>
            <a:r>
              <a:rPr sz="1800" b="1" i="0">
                <a:solidFill>
                  <a:srgbClr val="F2B705"/>
                </a:solidFill>
                <a:latin typeface="Segoe UI"/>
              </a:rPr>
              <a:t>contribute</a:t>
            </a:r>
            <a:r>
              <a:rPr sz="1800" b="0" i="0">
                <a:solidFill>
                  <a:srgbClr val="FFFFFF"/>
                </a:solidFill>
                <a:latin typeface="Segoe UI"/>
              </a:rPr>
              <a:t> something new — not just restate an interesting topic.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1 · WHY LITERATURE REVIEW COMES FIRST</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Today's Learning Roadmap</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a:t>
            </a:r>
          </a:p>
        </p:txBody>
      </p:sp>
      <p:sp>
        <p:nvSpPr>
          <p:cNvPr id="9" name="Oval 8"/>
          <p:cNvSpPr/>
          <p:nvPr/>
        </p:nvSpPr>
        <p:spPr>
          <a:xfrm>
            <a:off x="2359152" y="1783080"/>
            <a:ext cx="457200" cy="4572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1</a:t>
            </a:r>
          </a:p>
        </p:txBody>
      </p:sp>
      <p:sp>
        <p:nvSpPr>
          <p:cNvPr id="10" name="Rounded Rectangle 9"/>
          <p:cNvSpPr/>
          <p:nvPr/>
        </p:nvSpPr>
        <p:spPr>
          <a:xfrm>
            <a:off x="3017520" y="1783080"/>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291840" y="1783080"/>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Evaluate sources</a:t>
            </a:r>
          </a:p>
        </p:txBody>
      </p:sp>
      <p:cxnSp>
        <p:nvCxnSpPr>
          <p:cNvPr id="12" name="Connector 11"/>
          <p:cNvCxnSpPr/>
          <p:nvPr/>
        </p:nvCxnSpPr>
        <p:spPr>
          <a:xfrm>
            <a:off x="2587752" y="2240280"/>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359152" y="2359152"/>
            <a:ext cx="457200" cy="4572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2</a:t>
            </a:r>
          </a:p>
        </p:txBody>
      </p:sp>
      <p:sp>
        <p:nvSpPr>
          <p:cNvPr id="14" name="Rounded Rectangle 13"/>
          <p:cNvSpPr/>
          <p:nvPr/>
        </p:nvSpPr>
        <p:spPr>
          <a:xfrm>
            <a:off x="3017520" y="2359152"/>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291840" y="2359152"/>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Synthesize the literature</a:t>
            </a:r>
          </a:p>
        </p:txBody>
      </p:sp>
      <p:cxnSp>
        <p:nvCxnSpPr>
          <p:cNvPr id="16" name="Connector 15"/>
          <p:cNvCxnSpPr/>
          <p:nvPr/>
        </p:nvCxnSpPr>
        <p:spPr>
          <a:xfrm>
            <a:off x="2587752" y="2816352"/>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359152" y="2935224"/>
            <a:ext cx="457200" cy="457200"/>
          </a:xfrm>
          <a:prstGeom prst="ellipse">
            <a:avLst/>
          </a:prstGeom>
          <a:solidFill>
            <a:srgbClr val="1159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3</a:t>
            </a:r>
          </a:p>
        </p:txBody>
      </p:sp>
      <p:sp>
        <p:nvSpPr>
          <p:cNvPr id="18" name="Rounded Rectangle 17"/>
          <p:cNvSpPr/>
          <p:nvPr/>
        </p:nvSpPr>
        <p:spPr>
          <a:xfrm>
            <a:off x="3017520" y="2935224"/>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291840" y="2935224"/>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Write the literature review</a:t>
            </a:r>
          </a:p>
        </p:txBody>
      </p:sp>
      <p:cxnSp>
        <p:nvCxnSpPr>
          <p:cNvPr id="20" name="Connector 19"/>
          <p:cNvCxnSpPr/>
          <p:nvPr/>
        </p:nvCxnSpPr>
        <p:spPr>
          <a:xfrm>
            <a:off x="2587752" y="3392424"/>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2359152" y="3511296"/>
            <a:ext cx="457200" cy="457200"/>
          </a:xfrm>
          <a:prstGeom prst="ellipse">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4</a:t>
            </a:r>
          </a:p>
        </p:txBody>
      </p:sp>
      <p:sp>
        <p:nvSpPr>
          <p:cNvPr id="22" name="Rounded Rectangle 21"/>
          <p:cNvSpPr/>
          <p:nvPr/>
        </p:nvSpPr>
        <p:spPr>
          <a:xfrm>
            <a:off x="3017520" y="3511296"/>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291840" y="3511296"/>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Formulate the problem statement</a:t>
            </a:r>
          </a:p>
        </p:txBody>
      </p:sp>
      <p:cxnSp>
        <p:nvCxnSpPr>
          <p:cNvPr id="24" name="Connector 23"/>
          <p:cNvCxnSpPr/>
          <p:nvPr/>
        </p:nvCxnSpPr>
        <p:spPr>
          <a:xfrm>
            <a:off x="2587752" y="3968496"/>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359152" y="4087368"/>
            <a:ext cx="457200" cy="457200"/>
          </a:xfrm>
          <a:prstGeom prst="ellipse">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5</a:t>
            </a:r>
          </a:p>
        </p:txBody>
      </p:sp>
      <p:sp>
        <p:nvSpPr>
          <p:cNvPr id="26" name="Rounded Rectangle 25"/>
          <p:cNvSpPr/>
          <p:nvPr/>
        </p:nvSpPr>
        <p:spPr>
          <a:xfrm>
            <a:off x="3017520" y="4087368"/>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291840" y="4087368"/>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Develop research questions / hypotheses</a:t>
            </a:r>
          </a:p>
        </p:txBody>
      </p:sp>
      <p:cxnSp>
        <p:nvCxnSpPr>
          <p:cNvPr id="28" name="Connector 27"/>
          <p:cNvCxnSpPr/>
          <p:nvPr/>
        </p:nvCxnSpPr>
        <p:spPr>
          <a:xfrm>
            <a:off x="2587752" y="4544568"/>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359152" y="466344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6</a:t>
            </a:r>
          </a:p>
        </p:txBody>
      </p:sp>
      <p:sp>
        <p:nvSpPr>
          <p:cNvPr id="30" name="Rounded Rectangle 29"/>
          <p:cNvSpPr/>
          <p:nvPr/>
        </p:nvSpPr>
        <p:spPr>
          <a:xfrm>
            <a:off x="3017520" y="4663440"/>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291840" y="4663440"/>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Justify the problem (CER)</a:t>
            </a:r>
          </a:p>
        </p:txBody>
      </p:sp>
      <p:cxnSp>
        <p:nvCxnSpPr>
          <p:cNvPr id="32" name="Connector 31"/>
          <p:cNvCxnSpPr/>
          <p:nvPr/>
        </p:nvCxnSpPr>
        <p:spPr>
          <a:xfrm>
            <a:off x="2587752" y="5120640"/>
            <a:ext cx="0" cy="118872"/>
          </a:xfrm>
          <a:prstGeom prst="line">
            <a:avLst/>
          </a:prstGeom>
          <a:ln w="3175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359152" y="5239512"/>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7</a:t>
            </a:r>
          </a:p>
        </p:txBody>
      </p:sp>
      <p:sp>
        <p:nvSpPr>
          <p:cNvPr id="34" name="Rounded Rectangle 33"/>
          <p:cNvSpPr/>
          <p:nvPr/>
        </p:nvSpPr>
        <p:spPr>
          <a:xfrm>
            <a:off x="3017520" y="5239512"/>
            <a:ext cx="7498079" cy="457200"/>
          </a:xfrm>
          <a:prstGeom prst="roundRect">
            <a:avLst>
              <a:gd name="adj" fmla="val 14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291840" y="5239512"/>
            <a:ext cx="7132319" cy="45720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14213D"/>
                </a:solidFill>
                <a:latin typeface="Segoe UI Semibold"/>
              </a:rPr>
              <a:t>State assumptions &amp; limitations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2 · EVALUATING SOURCES (COMPETENCY 11)</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What Counts as a Source?</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a:t>
            </a:r>
          </a:p>
        </p:txBody>
      </p:sp>
      <p:sp>
        <p:nvSpPr>
          <p:cNvPr id="9" name="Rounded Rectangle 8"/>
          <p:cNvSpPr/>
          <p:nvPr/>
        </p:nvSpPr>
        <p:spPr>
          <a:xfrm>
            <a:off x="777240" y="1828800"/>
            <a:ext cx="5090007" cy="178308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1069848" y="2148840"/>
            <a:ext cx="1051560" cy="1051560"/>
          </a:xfrm>
          <a:prstGeom prst="roundRect">
            <a:avLst>
              <a:gd name="adj" fmla="val 20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000" b="1" i="0">
                <a:solidFill>
                  <a:srgbClr val="FFFFFF"/>
                </a:solidFill>
                <a:latin typeface="Segoe UI"/>
              </a:rPr>
              <a:t>JA</a:t>
            </a:r>
          </a:p>
        </p:txBody>
      </p:sp>
      <p:sp>
        <p:nvSpPr>
          <p:cNvPr id="11" name="TextBox 10"/>
          <p:cNvSpPr txBox="1"/>
          <p:nvPr/>
        </p:nvSpPr>
        <p:spPr>
          <a:xfrm>
            <a:off x="2331720" y="2148840"/>
            <a:ext cx="3261207" cy="1188720"/>
          </a:xfrm>
          <a:prstGeom prst="rect">
            <a:avLst/>
          </a:prstGeom>
          <a:noFill/>
        </p:spPr>
        <p:txBody>
          <a:bodyPr wrap="square" anchor="t" lIns="0" rIns="0" tIns="0" bIns="0">
            <a:spAutoFit/>
          </a:bodyPr>
          <a:lstStyle/>
          <a:p>
            <a:pPr algn="l">
              <a:lnSpc>
                <a:spcPct val="100000"/>
              </a:lnSpc>
              <a:spcBef>
                <a:spcPts val="0"/>
              </a:spcBef>
              <a:spcAft>
                <a:spcPts val="500"/>
              </a:spcAft>
            </a:pPr>
            <a:r>
              <a:rPr sz="2100" b="1" i="0">
                <a:solidFill>
                  <a:srgbClr val="14213D"/>
                </a:solidFill>
                <a:latin typeface="Segoe UI Semibold"/>
              </a:rPr>
              <a:t>Journal articles</a:t>
            </a:r>
          </a:p>
          <a:p>
            <a:pPr algn="l">
              <a:lnSpc>
                <a:spcPct val="105000"/>
              </a:lnSpc>
              <a:spcBef>
                <a:spcPts val="0"/>
              </a:spcBef>
              <a:spcAft>
                <a:spcPts val="0"/>
              </a:spcAft>
            </a:pPr>
            <a:r>
              <a:rPr sz="1550" b="0" i="0">
                <a:solidFill>
                  <a:srgbClr val="5B6B7B"/>
                </a:solidFill>
                <a:latin typeface="Segoe UI"/>
              </a:rPr>
              <a:t>Reports of actual studies (a question/hypothesis, data, an answer)</a:t>
            </a:r>
          </a:p>
        </p:txBody>
      </p:sp>
      <p:sp>
        <p:nvSpPr>
          <p:cNvPr id="12" name="Rounded Rectangle 11"/>
          <p:cNvSpPr/>
          <p:nvPr/>
        </p:nvSpPr>
        <p:spPr>
          <a:xfrm>
            <a:off x="6324447" y="1828800"/>
            <a:ext cx="5090007" cy="178308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617055" y="2148840"/>
            <a:ext cx="1051560" cy="1051560"/>
          </a:xfrm>
          <a:prstGeom prst="roundRect">
            <a:avLst>
              <a:gd name="adj" fmla="val 20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000" b="1" i="0">
                <a:solidFill>
                  <a:srgbClr val="FFFFFF"/>
                </a:solidFill>
                <a:latin typeface="Segoe UI"/>
              </a:rPr>
              <a:t>BK</a:t>
            </a:r>
          </a:p>
        </p:txBody>
      </p:sp>
      <p:sp>
        <p:nvSpPr>
          <p:cNvPr id="14" name="TextBox 13"/>
          <p:cNvSpPr txBox="1"/>
          <p:nvPr/>
        </p:nvSpPr>
        <p:spPr>
          <a:xfrm>
            <a:off x="7878927" y="2148840"/>
            <a:ext cx="3261207" cy="1188720"/>
          </a:xfrm>
          <a:prstGeom prst="rect">
            <a:avLst/>
          </a:prstGeom>
          <a:noFill/>
        </p:spPr>
        <p:txBody>
          <a:bodyPr wrap="square" anchor="t" lIns="0" rIns="0" tIns="0" bIns="0">
            <a:spAutoFit/>
          </a:bodyPr>
          <a:lstStyle/>
          <a:p>
            <a:pPr algn="l">
              <a:lnSpc>
                <a:spcPct val="100000"/>
              </a:lnSpc>
              <a:spcBef>
                <a:spcPts val="0"/>
              </a:spcBef>
              <a:spcAft>
                <a:spcPts val="500"/>
              </a:spcAft>
            </a:pPr>
            <a:r>
              <a:rPr sz="2100" b="1" i="0">
                <a:solidFill>
                  <a:srgbClr val="14213D"/>
                </a:solidFill>
                <a:latin typeface="Segoe UI Semibold"/>
              </a:rPr>
              <a:t>Books</a:t>
            </a:r>
          </a:p>
          <a:p>
            <a:pPr algn="l">
              <a:lnSpc>
                <a:spcPct val="105000"/>
              </a:lnSpc>
              <a:spcBef>
                <a:spcPts val="0"/>
              </a:spcBef>
              <a:spcAft>
                <a:spcPts val="0"/>
              </a:spcAft>
            </a:pPr>
            <a:r>
              <a:rPr sz="1550" b="0" i="0">
                <a:solidFill>
                  <a:srgbClr val="5B6B7B"/>
                </a:solidFill>
                <a:latin typeface="Segoe UI"/>
              </a:rPr>
              <a:t>Research monographs or edited collections</a:t>
            </a:r>
          </a:p>
        </p:txBody>
      </p:sp>
      <p:sp>
        <p:nvSpPr>
          <p:cNvPr id="15" name="Rounded Rectangle 14"/>
          <p:cNvSpPr/>
          <p:nvPr/>
        </p:nvSpPr>
        <p:spPr>
          <a:xfrm>
            <a:off x="777240" y="3931920"/>
            <a:ext cx="5090007" cy="178308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069848" y="4251959"/>
            <a:ext cx="1051560" cy="1051560"/>
          </a:xfrm>
          <a:prstGeom prst="roundRect">
            <a:avLst>
              <a:gd name="adj" fmla="val 20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000" b="1" i="0">
                <a:solidFill>
                  <a:srgbClr val="FFFFFF"/>
                </a:solidFill>
                <a:latin typeface="Segoe UI"/>
              </a:rPr>
              <a:t>GR</a:t>
            </a:r>
          </a:p>
        </p:txBody>
      </p:sp>
      <p:sp>
        <p:nvSpPr>
          <p:cNvPr id="17" name="TextBox 16"/>
          <p:cNvSpPr txBox="1"/>
          <p:nvPr/>
        </p:nvSpPr>
        <p:spPr>
          <a:xfrm>
            <a:off x="2331720" y="4251959"/>
            <a:ext cx="3261207" cy="1188720"/>
          </a:xfrm>
          <a:prstGeom prst="rect">
            <a:avLst/>
          </a:prstGeom>
          <a:noFill/>
        </p:spPr>
        <p:txBody>
          <a:bodyPr wrap="square" anchor="t" lIns="0" rIns="0" tIns="0" bIns="0">
            <a:spAutoFit/>
          </a:bodyPr>
          <a:lstStyle/>
          <a:p>
            <a:pPr algn="l">
              <a:lnSpc>
                <a:spcPct val="100000"/>
              </a:lnSpc>
              <a:spcBef>
                <a:spcPts val="0"/>
              </a:spcBef>
              <a:spcAft>
                <a:spcPts val="500"/>
              </a:spcAft>
            </a:pPr>
            <a:r>
              <a:rPr sz="2100" b="1" i="0">
                <a:solidFill>
                  <a:srgbClr val="14213D"/>
                </a:solidFill>
                <a:latin typeface="Segoe UI Semibold"/>
              </a:rPr>
              <a:t>Government / institutional reports</a:t>
            </a:r>
          </a:p>
          <a:p>
            <a:pPr algn="l">
              <a:lnSpc>
                <a:spcPct val="105000"/>
              </a:lnSpc>
              <a:spcBef>
                <a:spcPts val="0"/>
              </a:spcBef>
              <a:spcAft>
                <a:spcPts val="0"/>
              </a:spcAft>
            </a:pPr>
            <a:r>
              <a:rPr sz="1550" b="0" i="0">
                <a:solidFill>
                  <a:srgbClr val="5B6B7B"/>
                </a:solidFill>
                <a:latin typeface="Segoe UI"/>
              </a:rPr>
              <a:t>e.g., DOST, DENR, DOH, PSA</a:t>
            </a:r>
          </a:p>
        </p:txBody>
      </p:sp>
      <p:sp>
        <p:nvSpPr>
          <p:cNvPr id="18" name="Rounded Rectangle 17"/>
          <p:cNvSpPr/>
          <p:nvPr/>
        </p:nvSpPr>
        <p:spPr>
          <a:xfrm>
            <a:off x="6324447" y="3931920"/>
            <a:ext cx="5090007" cy="178308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617055" y="4251959"/>
            <a:ext cx="1051560" cy="1051560"/>
          </a:xfrm>
          <a:prstGeom prst="roundRect">
            <a:avLst>
              <a:gd name="adj" fmla="val 20000"/>
            </a:avLst>
          </a:prstGeom>
          <a:solidFill>
            <a:srgbClr val="F2B705"/>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000" b="1" i="0">
                <a:solidFill>
                  <a:srgbClr val="FFFFFF"/>
                </a:solidFill>
                <a:latin typeface="Segoe UI"/>
              </a:rPr>
              <a:t>WB</a:t>
            </a:r>
          </a:p>
        </p:txBody>
      </p:sp>
      <p:sp>
        <p:nvSpPr>
          <p:cNvPr id="20" name="TextBox 19"/>
          <p:cNvSpPr txBox="1"/>
          <p:nvPr/>
        </p:nvSpPr>
        <p:spPr>
          <a:xfrm>
            <a:off x="7878927" y="4251959"/>
            <a:ext cx="3261207" cy="1188720"/>
          </a:xfrm>
          <a:prstGeom prst="rect">
            <a:avLst/>
          </a:prstGeom>
          <a:noFill/>
        </p:spPr>
        <p:txBody>
          <a:bodyPr wrap="square" anchor="t" lIns="0" rIns="0" tIns="0" bIns="0">
            <a:spAutoFit/>
          </a:bodyPr>
          <a:lstStyle/>
          <a:p>
            <a:pPr algn="l">
              <a:lnSpc>
                <a:spcPct val="100000"/>
              </a:lnSpc>
              <a:spcBef>
                <a:spcPts val="0"/>
              </a:spcBef>
              <a:spcAft>
                <a:spcPts val="500"/>
              </a:spcAft>
            </a:pPr>
            <a:r>
              <a:rPr sz="2100" b="1" i="0">
                <a:solidFill>
                  <a:srgbClr val="14213D"/>
                </a:solidFill>
                <a:latin typeface="Segoe UI Semibold"/>
              </a:rPr>
              <a:t>Credible websites</a:t>
            </a:r>
          </a:p>
          <a:p>
            <a:pPr algn="l">
              <a:lnSpc>
                <a:spcPct val="105000"/>
              </a:lnSpc>
              <a:spcBef>
                <a:spcPts val="0"/>
              </a:spcBef>
              <a:spcAft>
                <a:spcPts val="0"/>
              </a:spcAft>
            </a:pPr>
            <a:r>
              <a:rPr sz="1550" b="0" i="0">
                <a:solidFill>
                  <a:srgbClr val="5B6B7B"/>
                </a:solidFill>
                <a:latin typeface="Segoe UI"/>
              </a:rPr>
              <a:t>From recognized organizations, not personal blogs or social media posts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2 · EVALUATING SOURCES (COMPETENCY 11)</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Example — Sorting Real Sources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5</a:t>
            </a:r>
          </a:p>
        </p:txBody>
      </p:sp>
      <p:sp>
        <p:nvSpPr>
          <p:cNvPr id="9" name="Rounded Rectangle 8"/>
          <p:cNvSpPr/>
          <p:nvPr/>
        </p:nvSpPr>
        <p:spPr>
          <a:xfrm>
            <a:off x="777240" y="1719072"/>
            <a:ext cx="2220163"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2037283"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a:t>
            </a:r>
          </a:p>
        </p:txBody>
      </p:sp>
      <p:graphicFrame>
        <p:nvGraphicFramePr>
          <p:cNvPr id="11" name="Table 10"/>
          <p:cNvGraphicFramePr>
            <a:graphicFrameLocks noGrp="1"/>
          </p:cNvGraphicFramePr>
          <p:nvPr/>
        </p:nvGraphicFramePr>
        <p:xfrm>
          <a:off x="777240" y="2148840"/>
          <a:ext cx="10637214" cy="3794760"/>
        </p:xfrm>
        <a:graphic>
          <a:graphicData uri="http://schemas.openxmlformats.org/drawingml/2006/table">
            <a:tbl>
              <a:tblPr>
                <a:tableStyleId>{5C22544A-7EE6-4342-B048-85BDC9FD1C3A}</a:tableStyleId>
              </a:tblPr>
              <a:tblGrid>
                <a:gridCol w="6545978"/>
                <a:gridCol w="4091236"/>
              </a:tblGrid>
              <a:tr h="502920">
                <a:tc>
                  <a:txBody>
                    <a:bodyPr wrap="square"/>
                    <a:lstStyle/>
                    <a:p>
                      <a:pPr algn="l">
                        <a:lnSpc>
                          <a:spcPct val="100000"/>
                        </a:lnSpc>
                      </a:pPr>
                      <a:r>
                        <a:rPr sz="1700" b="1">
                          <a:solidFill>
                            <a:srgbClr val="FFFFFF"/>
                          </a:solidFill>
                          <a:latin typeface="Segoe UI Semibold"/>
                        </a:rPr>
                        <a:t>Item Found</a:t>
                      </a:r>
                    </a:p>
                  </a:txBody>
                  <a:tcPr marL="101600" marR="101600" marT="50800" marB="50800" anchor="ctr">
                    <a:solidFill>
                      <a:srgbClr val="1D7A8C"/>
                    </a:solidFill>
                  </a:tcPr>
                </a:tc>
                <a:tc>
                  <a:txBody>
                    <a:bodyPr wrap="square"/>
                    <a:lstStyle/>
                    <a:p>
                      <a:pPr algn="l">
                        <a:lnSpc>
                          <a:spcPct val="100000"/>
                        </a:lnSpc>
                      </a:pPr>
                      <a:r>
                        <a:rPr sz="1700" b="1">
                          <a:solidFill>
                            <a:srgbClr val="FFFFFF"/>
                          </a:solidFill>
                          <a:latin typeface="Segoe UI Semibold"/>
                        </a:rPr>
                        <a:t>Source Type</a:t>
                      </a:r>
                    </a:p>
                  </a:txBody>
                  <a:tcPr marL="101600" marR="101600" marT="50800" marB="50800" anchor="ctr">
                    <a:solidFill>
                      <a:srgbClr val="1D7A8C"/>
                    </a:solidFill>
                  </a:tcPr>
                </a:tc>
              </a:tr>
              <a:tr h="658368">
                <a:tc>
                  <a:txBody>
                    <a:bodyPr wrap="square"/>
                    <a:lstStyle/>
                    <a:p>
                      <a:pPr algn="l">
                        <a:lnSpc>
                          <a:spcPct val="100000"/>
                        </a:lnSpc>
                      </a:pPr>
                      <a:r>
                        <a:rPr sz="1700" b="0">
                          <a:solidFill>
                            <a:srgbClr val="14213D"/>
                          </a:solidFill>
                          <a:latin typeface="Segoe UI"/>
                        </a:rPr>
                        <a:t>DOST-published feasibility study on solar water distillation</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Government / institutional report</a:t>
                      </a:r>
                    </a:p>
                  </a:txBody>
                  <a:tcPr marL="101600" marR="101600" marT="50800" marB="50800" anchor="ctr">
                    <a:solidFill>
                      <a:srgbClr val="D9F0EC"/>
                    </a:solidFill>
                  </a:tcPr>
                </a:tc>
              </a:tr>
              <a:tr h="658368">
                <a:tc>
                  <a:txBody>
                    <a:bodyPr wrap="square"/>
                    <a:lstStyle/>
                    <a:p>
                      <a:pPr algn="l">
                        <a:lnSpc>
                          <a:spcPct val="100000"/>
                        </a:lnSpc>
                      </a:pPr>
                      <a:r>
                        <a:rPr sz="1700" b="0">
                          <a:solidFill>
                            <a:srgbClr val="14213D"/>
                          </a:solidFill>
                          <a:latin typeface="Segoe UI"/>
                        </a:rPr>
                        <a:t>Peer-reviewed journal article on membrane distillation for rural water treatment</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Journal article</a:t>
                      </a:r>
                    </a:p>
                  </a:txBody>
                  <a:tcPr marL="101600" marR="101600" marT="50800" marB="50800" anchor="ctr">
                    <a:solidFill>
                      <a:srgbClr val="D9F0EC"/>
                    </a:solidFill>
                  </a:tcPr>
                </a:tc>
              </a:tr>
              <a:tr h="658368">
                <a:tc>
                  <a:txBody>
                    <a:bodyPr wrap="square"/>
                    <a:lstStyle/>
                    <a:p>
                      <a:pPr algn="l">
                        <a:lnSpc>
                          <a:spcPct val="100000"/>
                        </a:lnSpc>
                      </a:pPr>
                      <a:r>
                        <a:rPr sz="1700" b="0">
                          <a:solidFill>
                            <a:srgbClr val="14213D"/>
                          </a:solidFill>
                          <a:latin typeface="Segoe UI"/>
                        </a:rPr>
                        <a:t>A barangay health worker's personal Facebook post about “clean water tips”</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Not an academic source</a:t>
                      </a:r>
                    </a:p>
                  </a:txBody>
                  <a:tcPr marL="101600" marR="101600" marT="50800" marB="50800" anchor="ctr">
                    <a:solidFill>
                      <a:srgbClr val="F7DEE2"/>
                    </a:solidFill>
                  </a:tcPr>
                </a:tc>
              </a:tr>
              <a:tr h="658368">
                <a:tc>
                  <a:txBody>
                    <a:bodyPr wrap="square"/>
                    <a:lstStyle/>
                    <a:p>
                      <a:pPr algn="l">
                        <a:lnSpc>
                          <a:spcPct val="100000"/>
                        </a:lnSpc>
                      </a:pPr>
                      <a:r>
                        <a:rPr sz="1700" b="0">
                          <a:solidFill>
                            <a:srgbClr val="14213D"/>
                          </a:solidFill>
                          <a:latin typeface="Segoe UI"/>
                        </a:rPr>
                        <a:t>A university thesis available through an online repository</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Academic source (student research)</a:t>
                      </a:r>
                    </a:p>
                  </a:txBody>
                  <a:tcPr marL="101600" marR="101600" marT="50800" marB="50800" anchor="ctr">
                    <a:solidFill>
                      <a:srgbClr val="E4F1F3"/>
                    </a:solidFill>
                  </a:tcPr>
                </a:tc>
              </a:tr>
              <a:tr h="658368">
                <a:tc>
                  <a:txBody>
                    <a:bodyPr wrap="square"/>
                    <a:lstStyle/>
                    <a:p>
                      <a:pPr algn="l">
                        <a:lnSpc>
                          <a:spcPct val="100000"/>
                        </a:lnSpc>
                      </a:pPr>
                      <a:r>
                        <a:rPr sz="1700" b="0">
                          <a:solidFill>
                            <a:srgbClr val="14213D"/>
                          </a:solidFill>
                          <a:latin typeface="Segoe UI"/>
                        </a:rPr>
                        <a:t>A blog post summarizing “5 easy DIY water filters”</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Not an academic source</a:t>
                      </a:r>
                    </a:p>
                  </a:txBody>
                  <a:tcPr marL="101600" marR="101600" marT="50800" marB="50800" anchor="ctr">
                    <a:solidFill>
                      <a:srgbClr val="F7DEE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2 · EVALUATING SOURCES (COMPETENCY 11)</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The A-R-A Test for Sources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6</a:t>
            </a:r>
          </a:p>
        </p:txBody>
      </p:sp>
      <p:sp>
        <p:nvSpPr>
          <p:cNvPr id="9" name="Rounded Rectangle 8"/>
          <p:cNvSpPr/>
          <p:nvPr/>
        </p:nvSpPr>
        <p:spPr>
          <a:xfrm>
            <a:off x="777240" y="1828800"/>
            <a:ext cx="3271418" cy="26517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910029" y="2103120"/>
            <a:ext cx="1005840" cy="1005840"/>
          </a:xfrm>
          <a:prstGeom prst="ellipse">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4000" b="1" i="0">
                <a:solidFill>
                  <a:srgbClr val="FFFFFF"/>
                </a:solidFill>
                <a:latin typeface="Segoe UI"/>
              </a:rPr>
              <a:t>A</a:t>
            </a:r>
          </a:p>
        </p:txBody>
      </p:sp>
      <p:sp>
        <p:nvSpPr>
          <p:cNvPr id="11" name="TextBox 10"/>
          <p:cNvSpPr txBox="1"/>
          <p:nvPr/>
        </p:nvSpPr>
        <p:spPr>
          <a:xfrm>
            <a:off x="960120" y="3246120"/>
            <a:ext cx="2905658" cy="365760"/>
          </a:xfrm>
          <a:prstGeom prst="rect">
            <a:avLst/>
          </a:prstGeom>
          <a:noFill/>
        </p:spPr>
        <p:txBody>
          <a:bodyPr wrap="square" anchor="t" lIns="0" rIns="0" tIns="0" bIns="0">
            <a:spAutoFit/>
          </a:bodyPr>
          <a:lstStyle/>
          <a:p>
            <a:pPr algn="ctr">
              <a:lnSpc>
                <a:spcPct val="105000"/>
              </a:lnSpc>
              <a:spcBef>
                <a:spcPts val="0"/>
              </a:spcBef>
              <a:spcAft>
                <a:spcPts val="400"/>
              </a:spcAft>
            </a:pPr>
            <a:r>
              <a:rPr sz="2200" b="1" i="0">
                <a:solidFill>
                  <a:srgbClr val="14213D"/>
                </a:solidFill>
                <a:latin typeface="Segoe UI Semibold"/>
              </a:rPr>
              <a:t>Authority</a:t>
            </a:r>
          </a:p>
        </p:txBody>
      </p:sp>
      <p:sp>
        <p:nvSpPr>
          <p:cNvPr id="12" name="TextBox 11"/>
          <p:cNvSpPr txBox="1"/>
          <p:nvPr/>
        </p:nvSpPr>
        <p:spPr>
          <a:xfrm>
            <a:off x="1033271" y="3703320"/>
            <a:ext cx="2759354" cy="822960"/>
          </a:xfrm>
          <a:prstGeom prst="rect">
            <a:avLst/>
          </a:prstGeom>
          <a:noFill/>
        </p:spPr>
        <p:txBody>
          <a:bodyPr wrap="square" anchor="t" lIns="0" rIns="0" tIns="0" bIns="0">
            <a:spAutoFit/>
          </a:bodyPr>
          <a:lstStyle/>
          <a:p>
            <a:pPr algn="ctr">
              <a:lnSpc>
                <a:spcPct val="105000"/>
              </a:lnSpc>
              <a:spcBef>
                <a:spcPts val="0"/>
              </a:spcBef>
              <a:spcAft>
                <a:spcPts val="0"/>
              </a:spcAft>
            </a:pPr>
            <a:r>
              <a:rPr sz="1600" b="0" i="0">
                <a:solidFill>
                  <a:srgbClr val="5B6B7B"/>
                </a:solidFill>
                <a:latin typeface="Segoe UI"/>
              </a:rPr>
              <a:t>Who wrote it? What are their credentials or affiliation?</a:t>
            </a:r>
          </a:p>
        </p:txBody>
      </p:sp>
      <p:sp>
        <p:nvSpPr>
          <p:cNvPr id="13" name="Rounded Rectangle 12"/>
          <p:cNvSpPr/>
          <p:nvPr/>
        </p:nvSpPr>
        <p:spPr>
          <a:xfrm>
            <a:off x="4460138" y="1828800"/>
            <a:ext cx="3271418" cy="26517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92927" y="2103120"/>
            <a:ext cx="1005840" cy="1005840"/>
          </a:xfrm>
          <a:prstGeom prst="ellipse">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4000" b="1" i="0">
                <a:solidFill>
                  <a:srgbClr val="FFFFFF"/>
                </a:solidFill>
                <a:latin typeface="Segoe UI"/>
              </a:rPr>
              <a:t>R</a:t>
            </a:r>
          </a:p>
        </p:txBody>
      </p:sp>
      <p:sp>
        <p:nvSpPr>
          <p:cNvPr id="15" name="TextBox 14"/>
          <p:cNvSpPr txBox="1"/>
          <p:nvPr/>
        </p:nvSpPr>
        <p:spPr>
          <a:xfrm>
            <a:off x="4643018" y="3246120"/>
            <a:ext cx="2905658" cy="365760"/>
          </a:xfrm>
          <a:prstGeom prst="rect">
            <a:avLst/>
          </a:prstGeom>
          <a:noFill/>
        </p:spPr>
        <p:txBody>
          <a:bodyPr wrap="square" anchor="t" lIns="0" rIns="0" tIns="0" bIns="0">
            <a:spAutoFit/>
          </a:bodyPr>
          <a:lstStyle/>
          <a:p>
            <a:pPr algn="ctr">
              <a:lnSpc>
                <a:spcPct val="105000"/>
              </a:lnSpc>
              <a:spcBef>
                <a:spcPts val="0"/>
              </a:spcBef>
              <a:spcAft>
                <a:spcPts val="400"/>
              </a:spcAft>
            </a:pPr>
            <a:r>
              <a:rPr sz="2200" b="1" i="0">
                <a:solidFill>
                  <a:srgbClr val="14213D"/>
                </a:solidFill>
                <a:latin typeface="Segoe UI Semibold"/>
              </a:rPr>
              <a:t>Relevance</a:t>
            </a:r>
          </a:p>
        </p:txBody>
      </p:sp>
      <p:sp>
        <p:nvSpPr>
          <p:cNvPr id="16" name="TextBox 15"/>
          <p:cNvSpPr txBox="1"/>
          <p:nvPr/>
        </p:nvSpPr>
        <p:spPr>
          <a:xfrm>
            <a:off x="4716170" y="3703320"/>
            <a:ext cx="2759354" cy="822960"/>
          </a:xfrm>
          <a:prstGeom prst="rect">
            <a:avLst/>
          </a:prstGeom>
          <a:noFill/>
        </p:spPr>
        <p:txBody>
          <a:bodyPr wrap="square" anchor="t" lIns="0" rIns="0" tIns="0" bIns="0">
            <a:spAutoFit/>
          </a:bodyPr>
          <a:lstStyle/>
          <a:p>
            <a:pPr algn="ctr">
              <a:lnSpc>
                <a:spcPct val="105000"/>
              </a:lnSpc>
              <a:spcBef>
                <a:spcPts val="0"/>
              </a:spcBef>
              <a:spcAft>
                <a:spcPts val="0"/>
              </a:spcAft>
            </a:pPr>
            <a:r>
              <a:rPr sz="1600" b="0" i="0">
                <a:solidFill>
                  <a:srgbClr val="5B6B7B"/>
                </a:solidFill>
                <a:latin typeface="Segoe UI"/>
              </a:rPr>
              <a:t>Does it actually match your topic, population, or timeframe?</a:t>
            </a:r>
          </a:p>
        </p:txBody>
      </p:sp>
      <p:sp>
        <p:nvSpPr>
          <p:cNvPr id="17" name="Rounded Rectangle 16"/>
          <p:cNvSpPr/>
          <p:nvPr/>
        </p:nvSpPr>
        <p:spPr>
          <a:xfrm>
            <a:off x="8143036" y="1828800"/>
            <a:ext cx="3271418" cy="26517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275825" y="2103120"/>
            <a:ext cx="1005840" cy="1005840"/>
          </a:xfrm>
          <a:prstGeom prst="ellipse">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4000" b="1" i="0">
                <a:solidFill>
                  <a:srgbClr val="FFFFFF"/>
                </a:solidFill>
                <a:latin typeface="Segoe UI"/>
              </a:rPr>
              <a:t>A</a:t>
            </a:r>
          </a:p>
        </p:txBody>
      </p:sp>
      <p:sp>
        <p:nvSpPr>
          <p:cNvPr id="19" name="TextBox 18"/>
          <p:cNvSpPr txBox="1"/>
          <p:nvPr/>
        </p:nvSpPr>
        <p:spPr>
          <a:xfrm>
            <a:off x="8325916" y="3246120"/>
            <a:ext cx="2905658" cy="365760"/>
          </a:xfrm>
          <a:prstGeom prst="rect">
            <a:avLst/>
          </a:prstGeom>
          <a:noFill/>
        </p:spPr>
        <p:txBody>
          <a:bodyPr wrap="square" anchor="t" lIns="0" rIns="0" tIns="0" bIns="0">
            <a:spAutoFit/>
          </a:bodyPr>
          <a:lstStyle/>
          <a:p>
            <a:pPr algn="ctr">
              <a:lnSpc>
                <a:spcPct val="105000"/>
              </a:lnSpc>
              <a:spcBef>
                <a:spcPts val="0"/>
              </a:spcBef>
              <a:spcAft>
                <a:spcPts val="400"/>
              </a:spcAft>
            </a:pPr>
            <a:r>
              <a:rPr sz="2200" b="1" i="0">
                <a:solidFill>
                  <a:srgbClr val="14213D"/>
                </a:solidFill>
                <a:latin typeface="Segoe UI Semibold"/>
              </a:rPr>
              <a:t>Accuracy</a:t>
            </a:r>
          </a:p>
        </p:txBody>
      </p:sp>
      <p:sp>
        <p:nvSpPr>
          <p:cNvPr id="20" name="TextBox 19"/>
          <p:cNvSpPr txBox="1"/>
          <p:nvPr/>
        </p:nvSpPr>
        <p:spPr>
          <a:xfrm>
            <a:off x="8399068" y="3703320"/>
            <a:ext cx="2759354" cy="822960"/>
          </a:xfrm>
          <a:prstGeom prst="rect">
            <a:avLst/>
          </a:prstGeom>
          <a:noFill/>
        </p:spPr>
        <p:txBody>
          <a:bodyPr wrap="square" anchor="t" lIns="0" rIns="0" tIns="0" bIns="0">
            <a:spAutoFit/>
          </a:bodyPr>
          <a:lstStyle/>
          <a:p>
            <a:pPr algn="ctr">
              <a:lnSpc>
                <a:spcPct val="105000"/>
              </a:lnSpc>
              <a:spcBef>
                <a:spcPts val="0"/>
              </a:spcBef>
              <a:spcAft>
                <a:spcPts val="0"/>
              </a:spcAft>
            </a:pPr>
            <a:r>
              <a:rPr sz="1600" b="0" i="0">
                <a:solidFill>
                  <a:srgbClr val="5B6B7B"/>
                </a:solidFill>
                <a:latin typeface="Segoe UI"/>
              </a:rPr>
              <a:t>Can the claims be checked or confirmed elsewhere?</a:t>
            </a:r>
          </a:p>
        </p:txBody>
      </p:sp>
      <p:sp>
        <p:nvSpPr>
          <p:cNvPr id="21" name="Rounded Rectangle 20"/>
          <p:cNvSpPr/>
          <p:nvPr/>
        </p:nvSpPr>
        <p:spPr>
          <a:xfrm>
            <a:off x="777240" y="4709160"/>
            <a:ext cx="10637215" cy="640080"/>
          </a:xfrm>
          <a:prstGeom prst="roundRect">
            <a:avLst>
              <a:gd name="adj" fmla="val 1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97280" y="4709160"/>
            <a:ext cx="9997135" cy="640080"/>
          </a:xfrm>
          <a:prstGeom prst="rect">
            <a:avLst/>
          </a:prstGeom>
          <a:noFill/>
        </p:spPr>
        <p:txBody>
          <a:bodyPr wrap="square" anchor="ctr" lIns="0" rIns="0" tIns="0" bIns="0">
            <a:spAutoFit/>
          </a:bodyPr>
          <a:lstStyle/>
          <a:p>
            <a:pPr algn="l">
              <a:lnSpc>
                <a:spcPct val="100000"/>
              </a:lnSpc>
              <a:spcBef>
                <a:spcPts val="0"/>
              </a:spcBef>
              <a:spcAft>
                <a:spcPts val="0"/>
              </a:spcAft>
            </a:pPr>
            <a:r>
              <a:rPr sz="1800" b="0" i="0">
                <a:solidFill>
                  <a:srgbClr val="FFFFFF"/>
                </a:solidFill>
                <a:latin typeface="Segoe UI"/>
              </a:rPr>
              <a:t>A source should pass </a:t>
            </a:r>
            <a:r>
              <a:rPr sz="1800" b="1" i="0">
                <a:solidFill>
                  <a:srgbClr val="F2B705"/>
                </a:solidFill>
                <a:latin typeface="Segoe UI"/>
              </a:rPr>
              <a:t>all three</a:t>
            </a:r>
            <a:r>
              <a:rPr sz="1800" b="0" i="0">
                <a:solidFill>
                  <a:srgbClr val="FFFFFF"/>
                </a:solidFill>
                <a:latin typeface="Segoe UI"/>
              </a:rPr>
              <a:t> — not just one — before it earns a place in your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2 · EVALUATING SOURCES (COMPETENCY 11)</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Example — Applying the A-R-A Test</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7</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graphicFrame>
        <p:nvGraphicFramePr>
          <p:cNvPr id="11" name="Table 10"/>
          <p:cNvGraphicFramePr>
            <a:graphicFrameLocks noGrp="1"/>
          </p:cNvGraphicFramePr>
          <p:nvPr/>
        </p:nvGraphicFramePr>
        <p:xfrm>
          <a:off x="777240" y="2194560"/>
          <a:ext cx="10637213" cy="2980944"/>
        </p:xfrm>
        <a:graphic>
          <a:graphicData uri="http://schemas.openxmlformats.org/drawingml/2006/table">
            <a:tbl>
              <a:tblPr>
                <a:tableStyleId>{5C22544A-7EE6-4342-B048-85BDC9FD1C3A}</a:tableStyleId>
              </a:tblPr>
              <a:tblGrid>
                <a:gridCol w="3039204"/>
                <a:gridCol w="1999476"/>
                <a:gridCol w="1919497"/>
                <a:gridCol w="2079455"/>
                <a:gridCol w="1599581"/>
              </a:tblGrid>
              <a:tr h="457200">
                <a:tc>
                  <a:txBody>
                    <a:bodyPr wrap="square"/>
                    <a:lstStyle/>
                    <a:p>
                      <a:pPr algn="l">
                        <a:lnSpc>
                          <a:spcPct val="100000"/>
                        </a:lnSpc>
                      </a:pPr>
                      <a:r>
                        <a:rPr sz="1500" b="1">
                          <a:solidFill>
                            <a:srgbClr val="FFFFFF"/>
                          </a:solidFill>
                          <a:latin typeface="Segoe UI Semibold"/>
                        </a:rPr>
                        <a:t>Source</a:t>
                      </a:r>
                    </a:p>
                  </a:txBody>
                  <a:tcPr marL="101600" marR="101600" marT="50800" marB="50800" anchor="ctr">
                    <a:solidFill>
                      <a:srgbClr val="1D7A8C"/>
                    </a:solidFill>
                  </a:tcPr>
                </a:tc>
                <a:tc>
                  <a:txBody>
                    <a:bodyPr wrap="square"/>
                    <a:lstStyle/>
                    <a:p>
                      <a:pPr algn="l">
                        <a:lnSpc>
                          <a:spcPct val="100000"/>
                        </a:lnSpc>
                      </a:pPr>
                      <a:r>
                        <a:rPr sz="1500" b="1">
                          <a:solidFill>
                            <a:srgbClr val="FFFFFF"/>
                          </a:solidFill>
                          <a:latin typeface="Segoe UI Semibold"/>
                        </a:rPr>
                        <a:t>Authority</a:t>
                      </a:r>
                    </a:p>
                  </a:txBody>
                  <a:tcPr marL="101600" marR="101600" marT="50800" marB="50800" anchor="ctr">
                    <a:solidFill>
                      <a:srgbClr val="1D7A8C"/>
                    </a:solidFill>
                  </a:tcPr>
                </a:tc>
                <a:tc>
                  <a:txBody>
                    <a:bodyPr wrap="square"/>
                    <a:lstStyle/>
                    <a:p>
                      <a:pPr algn="l">
                        <a:lnSpc>
                          <a:spcPct val="100000"/>
                        </a:lnSpc>
                      </a:pPr>
                      <a:r>
                        <a:rPr sz="1500" b="1">
                          <a:solidFill>
                            <a:srgbClr val="FFFFFF"/>
                          </a:solidFill>
                          <a:latin typeface="Segoe UI Semibold"/>
                        </a:rPr>
                        <a:t>Relevance</a:t>
                      </a:r>
                    </a:p>
                  </a:txBody>
                  <a:tcPr marL="101600" marR="101600" marT="50800" marB="50800" anchor="ctr">
                    <a:solidFill>
                      <a:srgbClr val="1D7A8C"/>
                    </a:solidFill>
                  </a:tcPr>
                </a:tc>
                <a:tc>
                  <a:txBody>
                    <a:bodyPr wrap="square"/>
                    <a:lstStyle/>
                    <a:p>
                      <a:pPr algn="l">
                        <a:lnSpc>
                          <a:spcPct val="100000"/>
                        </a:lnSpc>
                      </a:pPr>
                      <a:r>
                        <a:rPr sz="1500" b="1">
                          <a:solidFill>
                            <a:srgbClr val="FFFFFF"/>
                          </a:solidFill>
                          <a:latin typeface="Segoe UI Semibold"/>
                        </a:rPr>
                        <a:t>Accuracy</a:t>
                      </a:r>
                    </a:p>
                  </a:txBody>
                  <a:tcPr marL="101600" marR="101600" marT="50800" marB="50800" anchor="ctr">
                    <a:solidFill>
                      <a:srgbClr val="1D7A8C"/>
                    </a:solidFill>
                  </a:tcPr>
                </a:tc>
                <a:tc>
                  <a:txBody>
                    <a:bodyPr wrap="square"/>
                    <a:lstStyle/>
                    <a:p>
                      <a:pPr algn="l">
                        <a:lnSpc>
                          <a:spcPct val="100000"/>
                        </a:lnSpc>
                      </a:pPr>
                      <a:r>
                        <a:rPr sz="1500" b="1">
                          <a:solidFill>
                            <a:srgbClr val="FFFFFF"/>
                          </a:solidFill>
                          <a:latin typeface="Segoe UI Semibold"/>
                        </a:rPr>
                        <a:t>Verdict</a:t>
                      </a:r>
                    </a:p>
                  </a:txBody>
                  <a:tcPr marL="101600" marR="101600" marT="50800" marB="50800" anchor="ctr">
                    <a:solidFill>
                      <a:srgbClr val="1D7A8C"/>
                    </a:solidFill>
                  </a:tcPr>
                </a:tc>
              </a:tr>
              <a:tr h="841248">
                <a:tc>
                  <a:txBody>
                    <a:bodyPr wrap="square"/>
                    <a:lstStyle/>
                    <a:p>
                      <a:pPr algn="l">
                        <a:lnSpc>
                          <a:spcPct val="100000"/>
                        </a:lnSpc>
                      </a:pPr>
                      <a:r>
                        <a:rPr sz="1450" b="0">
                          <a:solidFill>
                            <a:srgbClr val="14213D"/>
                          </a:solidFill>
                          <a:latin typeface="Segoe UI"/>
                        </a:rPr>
                        <a:t>DOST-published engineering report on solar distillers</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High (government agency)</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High (same technology)</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Checkable (data included)</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USABLE</a:t>
                      </a:r>
                    </a:p>
                  </a:txBody>
                  <a:tcPr marL="101600" marR="101600" marT="50800" marB="50800" anchor="ctr">
                    <a:solidFill>
                      <a:srgbClr val="D9F0EC"/>
                    </a:solidFill>
                  </a:tcPr>
                </a:tc>
              </a:tr>
              <a:tr h="841248">
                <a:tc>
                  <a:txBody>
                    <a:bodyPr wrap="square"/>
                    <a:lstStyle/>
                    <a:p>
                      <a:pPr algn="l">
                        <a:lnSpc>
                          <a:spcPct val="100000"/>
                        </a:lnSpc>
                      </a:pPr>
                      <a:r>
                        <a:rPr sz="1450" b="0">
                          <a:solidFill>
                            <a:srgbClr val="14213D"/>
                          </a:solidFill>
                          <a:latin typeface="Segoe UI"/>
                        </a:rPr>
                        <a:t>Personal blog: “How I Built My Own Water Filter”</a:t>
                      </a:r>
                    </a:p>
                  </a:txBody>
                  <a:tcPr marL="101600" marR="101600" marT="50800" marB="50800" anchor="ctr">
                    <a:solidFill>
                      <a:srgbClr val="EEF4F7"/>
                    </a:solidFill>
                  </a:tcPr>
                </a:tc>
                <a:tc>
                  <a:txBody>
                    <a:bodyPr wrap="square"/>
                    <a:lstStyle/>
                    <a:p>
                      <a:pPr algn="l">
                        <a:lnSpc>
                          <a:spcPct val="100000"/>
                        </a:lnSpc>
                      </a:pPr>
                      <a:r>
                        <a:rPr sz="1450" b="0">
                          <a:solidFill>
                            <a:srgbClr val="14213D"/>
                          </a:solidFill>
                          <a:latin typeface="Segoe UI"/>
                        </a:rPr>
                        <a:t>Unclear author</a:t>
                      </a:r>
                    </a:p>
                  </a:txBody>
                  <a:tcPr marL="101600" marR="101600" marT="50800" marB="50800" anchor="ctr">
                    <a:solidFill>
                      <a:srgbClr val="EEF4F7"/>
                    </a:solidFill>
                  </a:tcPr>
                </a:tc>
                <a:tc>
                  <a:txBody>
                    <a:bodyPr wrap="square"/>
                    <a:lstStyle/>
                    <a:p>
                      <a:pPr algn="l">
                        <a:lnSpc>
                          <a:spcPct val="100000"/>
                        </a:lnSpc>
                      </a:pPr>
                      <a:r>
                        <a:rPr sz="1450" b="0">
                          <a:solidFill>
                            <a:srgbClr val="14213D"/>
                          </a:solidFill>
                          <a:latin typeface="Segoe UI"/>
                        </a:rPr>
                        <a:t>Partial (different method)</a:t>
                      </a:r>
                    </a:p>
                  </a:txBody>
                  <a:tcPr marL="101600" marR="101600" marT="50800" marB="50800" anchor="ctr">
                    <a:solidFill>
                      <a:srgbClr val="EEF4F7"/>
                    </a:solidFill>
                  </a:tcPr>
                </a:tc>
                <a:tc>
                  <a:txBody>
                    <a:bodyPr wrap="square"/>
                    <a:lstStyle/>
                    <a:p>
                      <a:pPr algn="l">
                        <a:lnSpc>
                          <a:spcPct val="100000"/>
                        </a:lnSpc>
                      </a:pPr>
                      <a:r>
                        <a:rPr sz="1450" b="0">
                          <a:solidFill>
                            <a:srgbClr val="14213D"/>
                          </a:solidFill>
                          <a:latin typeface="Segoe UI"/>
                        </a:rPr>
                        <a:t>Cannot verify claims</a:t>
                      </a:r>
                    </a:p>
                  </a:txBody>
                  <a:tcPr marL="101600" marR="101600" marT="50800" marB="50800" anchor="ctr">
                    <a:solidFill>
                      <a:srgbClr val="EEF4F7"/>
                    </a:solidFill>
                  </a:tcPr>
                </a:tc>
                <a:tc>
                  <a:txBody>
                    <a:bodyPr wrap="square"/>
                    <a:lstStyle/>
                    <a:p>
                      <a:pPr algn="l">
                        <a:lnSpc>
                          <a:spcPct val="100000"/>
                        </a:lnSpc>
                      </a:pPr>
                      <a:r>
                        <a:rPr sz="1450" b="0">
                          <a:solidFill>
                            <a:srgbClr val="14213D"/>
                          </a:solidFill>
                          <a:latin typeface="Segoe UI"/>
                        </a:rPr>
                        <a:t>NOT USABLE</a:t>
                      </a:r>
                    </a:p>
                  </a:txBody>
                  <a:tcPr marL="101600" marR="101600" marT="50800" marB="50800" anchor="ctr">
                    <a:solidFill>
                      <a:srgbClr val="F7DEE2"/>
                    </a:solidFill>
                  </a:tcPr>
                </a:tc>
              </a:tr>
              <a:tr h="841248">
                <a:tc>
                  <a:txBody>
                    <a:bodyPr wrap="square"/>
                    <a:lstStyle/>
                    <a:p>
                      <a:pPr algn="l">
                        <a:lnSpc>
                          <a:spcPct val="100000"/>
                        </a:lnSpc>
                      </a:pPr>
                      <a:r>
                        <a:rPr sz="1450" b="0">
                          <a:solidFill>
                            <a:srgbClr val="14213D"/>
                          </a:solidFill>
                          <a:latin typeface="Segoe UI"/>
                        </a:rPr>
                        <a:t>International journal article on solar distillation efficiency</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High (peer-reviewed)</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High</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Checkable</a:t>
                      </a:r>
                    </a:p>
                  </a:txBody>
                  <a:tcPr marL="101600" marR="101600" marT="50800" marB="50800" anchor="ctr">
                    <a:solidFill>
                      <a:srgbClr val="FFFFFF"/>
                    </a:solidFill>
                  </a:tcPr>
                </a:tc>
                <a:tc>
                  <a:txBody>
                    <a:bodyPr wrap="square"/>
                    <a:lstStyle/>
                    <a:p>
                      <a:pPr algn="l">
                        <a:lnSpc>
                          <a:spcPct val="100000"/>
                        </a:lnSpc>
                      </a:pPr>
                      <a:r>
                        <a:rPr sz="1450" b="0">
                          <a:solidFill>
                            <a:srgbClr val="14213D"/>
                          </a:solidFill>
                          <a:latin typeface="Segoe UI"/>
                        </a:rPr>
                        <a:t>USABLE</a:t>
                      </a:r>
                    </a:p>
                  </a:txBody>
                  <a:tcPr marL="101600" marR="101600" marT="50800" marB="50800" anchor="ctr">
                    <a:solidFill>
                      <a:srgbClr val="D9F0E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2 · EVALUATING SOURCES (COMPETENCY 11)</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Application — Rate These Sources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8</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B topic</a:t>
            </a:r>
          </a:p>
        </p:txBody>
      </p:sp>
      <p:graphicFrame>
        <p:nvGraphicFramePr>
          <p:cNvPr id="11" name="Table 10"/>
          <p:cNvGraphicFramePr>
            <a:graphicFrameLocks noGrp="1"/>
          </p:cNvGraphicFramePr>
          <p:nvPr/>
        </p:nvGraphicFramePr>
        <p:xfrm>
          <a:off x="777240" y="2194560"/>
          <a:ext cx="10637214" cy="3090672"/>
        </p:xfrm>
        <a:graphic>
          <a:graphicData uri="http://schemas.openxmlformats.org/drawingml/2006/table">
            <a:tbl>
              <a:tblPr>
                <a:tableStyleId>{5C22544A-7EE6-4342-B048-85BDC9FD1C3A}</a:tableStyleId>
              </a:tblPr>
              <a:tblGrid>
                <a:gridCol w="759801"/>
                <a:gridCol w="6078408"/>
                <a:gridCol w="3799005"/>
              </a:tblGrid>
              <a:tr h="457200">
                <a:tc>
                  <a:txBody>
                    <a:bodyPr wrap="square"/>
                    <a:lstStyle/>
                    <a:p>
                      <a:pPr algn="l">
                        <a:lnSpc>
                          <a:spcPct val="100000"/>
                        </a:lnSpc>
                      </a:pPr>
                      <a:r>
                        <a:rPr sz="1600" b="1">
                          <a:solidFill>
                            <a:srgbClr val="FFFFFF"/>
                          </a:solidFill>
                          <a:latin typeface="Segoe UI Semibold"/>
                        </a:rPr>
                        <a:t>#</a:t>
                      </a:r>
                    </a:p>
                  </a:txBody>
                  <a:tcPr marL="101600" marR="101600" marT="50800" marB="50800" anchor="ctr">
                    <a:solidFill>
                      <a:srgbClr val="1D7A8C"/>
                    </a:solidFill>
                  </a:tcPr>
                </a:tc>
                <a:tc>
                  <a:txBody>
                    <a:bodyPr wrap="square"/>
                    <a:lstStyle/>
                    <a:p>
                      <a:pPr algn="l">
                        <a:lnSpc>
                          <a:spcPct val="100000"/>
                        </a:lnSpc>
                      </a:pPr>
                      <a:r>
                        <a:rPr sz="1600" b="1">
                          <a:solidFill>
                            <a:srgbClr val="FFFFFF"/>
                          </a:solidFill>
                          <a:latin typeface="Segoe UI Semibold"/>
                        </a:rPr>
                        <a:t>Source</a:t>
                      </a:r>
                    </a:p>
                  </a:txBody>
                  <a:tcPr marL="101600" marR="101600" marT="50800" marB="50800" anchor="ctr">
                    <a:solidFill>
                      <a:srgbClr val="1D7A8C"/>
                    </a:solidFill>
                  </a:tcPr>
                </a:tc>
                <a:tc>
                  <a:txBody>
                    <a:bodyPr wrap="square"/>
                    <a:lstStyle/>
                    <a:p>
                      <a:pPr algn="l">
                        <a:lnSpc>
                          <a:spcPct val="100000"/>
                        </a:lnSpc>
                      </a:pPr>
                      <a:r>
                        <a:rPr sz="1600" b="1">
                          <a:solidFill>
                            <a:srgbClr val="FFFFFF"/>
                          </a:solidFill>
                          <a:latin typeface="Segoe UI Semibold"/>
                        </a:rPr>
                        <a:t>Your verdict (apply A-R-A)</a:t>
                      </a:r>
                    </a:p>
                  </a:txBody>
                  <a:tcPr marL="101600" marR="101600" marT="50800" marB="50800" anchor="ctr">
                    <a:solidFill>
                      <a:srgbClr val="1D7A8C"/>
                    </a:solidFill>
                  </a:tcPr>
                </a:tc>
              </a:tr>
              <a:tr h="658368">
                <a:tc>
                  <a:txBody>
                    <a:bodyPr wrap="square"/>
                    <a:lstStyle/>
                    <a:p>
                      <a:pPr algn="l">
                        <a:lnSpc>
                          <a:spcPct val="100000"/>
                        </a:lnSpc>
                      </a:pPr>
                      <a:r>
                        <a:rPr sz="1700" b="0">
                          <a:solidFill>
                            <a:srgbClr val="14213D"/>
                          </a:solidFill>
                          <a:latin typeface="Segoe UI"/>
                        </a:rPr>
                        <a:t>1</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A DOH dengue surveillance report with raw case data</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
                      </a:r>
                    </a:p>
                  </a:txBody>
                  <a:tcPr marL="101600" marR="101600" marT="50800" marB="50800" anchor="ctr">
                    <a:solidFill>
                      <a:srgbClr val="FCF0CC"/>
                    </a:solidFill>
                  </a:tcPr>
                </a:tc>
              </a:tr>
              <a:tr h="658368">
                <a:tc>
                  <a:txBody>
                    <a:bodyPr wrap="square"/>
                    <a:lstStyle/>
                    <a:p>
                      <a:pPr algn="l">
                        <a:lnSpc>
                          <a:spcPct val="100000"/>
                        </a:lnSpc>
                      </a:pPr>
                      <a:r>
                        <a:rPr sz="1700" b="0">
                          <a:solidFill>
                            <a:srgbClr val="14213D"/>
                          </a:solidFill>
                          <a:latin typeface="Segoe UI"/>
                        </a:rPr>
                        <a:t>2</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A viral text message claiming a “miracle dengue cure”</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
                      </a:r>
                    </a:p>
                  </a:txBody>
                  <a:tcPr marL="101600" marR="101600" marT="50800" marB="50800" anchor="ctr">
                    <a:solidFill>
                      <a:srgbClr val="FCF0CC"/>
                    </a:solidFill>
                  </a:tcPr>
                </a:tc>
              </a:tr>
              <a:tr h="658368">
                <a:tc>
                  <a:txBody>
                    <a:bodyPr wrap="square"/>
                    <a:lstStyle/>
                    <a:p>
                      <a:pPr algn="l">
                        <a:lnSpc>
                          <a:spcPct val="100000"/>
                        </a:lnSpc>
                      </a:pPr>
                      <a:r>
                        <a:rPr sz="1700" b="0">
                          <a:solidFill>
                            <a:srgbClr val="14213D"/>
                          </a:solidFill>
                          <a:latin typeface="Segoe UI"/>
                        </a:rPr>
                        <a:t>3</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A peer-reviewed study on rainfall and dengue incidence in an Asian city</a:t>
                      </a:r>
                    </a:p>
                  </a:txBody>
                  <a:tcPr marL="101600" marR="101600" marT="50800" marB="50800" anchor="ctr">
                    <a:solidFill>
                      <a:srgbClr val="FFFFFF"/>
                    </a:solidFill>
                  </a:tcPr>
                </a:tc>
                <a:tc>
                  <a:txBody>
                    <a:bodyPr wrap="square"/>
                    <a:lstStyle/>
                    <a:p>
                      <a:pPr algn="l">
                        <a:lnSpc>
                          <a:spcPct val="100000"/>
                        </a:lnSpc>
                      </a:pPr>
                      <a:r>
                        <a:rPr sz="1700" b="0">
                          <a:solidFill>
                            <a:srgbClr val="14213D"/>
                          </a:solidFill>
                          <a:latin typeface="Segoe UI"/>
                        </a:rPr>
                        <a:t/>
                      </a:r>
                    </a:p>
                  </a:txBody>
                  <a:tcPr marL="101600" marR="101600" marT="50800" marB="50800" anchor="ctr">
                    <a:solidFill>
                      <a:srgbClr val="FCF0CC"/>
                    </a:solidFill>
                  </a:tcPr>
                </a:tc>
              </a:tr>
              <a:tr h="658368">
                <a:tc>
                  <a:txBody>
                    <a:bodyPr wrap="square"/>
                    <a:lstStyle/>
                    <a:p>
                      <a:pPr algn="l">
                        <a:lnSpc>
                          <a:spcPct val="100000"/>
                        </a:lnSpc>
                      </a:pPr>
                      <a:r>
                        <a:rPr sz="1700" b="0">
                          <a:solidFill>
                            <a:srgbClr val="14213D"/>
                          </a:solidFill>
                          <a:latin typeface="Segoe UI"/>
                        </a:rPr>
                        <a:t>4</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A five-year-old news article about a local dengue outbreak</a:t>
                      </a:r>
                    </a:p>
                  </a:txBody>
                  <a:tcPr marL="101600" marR="101600" marT="50800" marB="50800" anchor="ctr">
                    <a:solidFill>
                      <a:srgbClr val="EEF4F7"/>
                    </a:solidFill>
                  </a:tcPr>
                </a:tc>
                <a:tc>
                  <a:txBody>
                    <a:bodyPr wrap="square"/>
                    <a:lstStyle/>
                    <a:p>
                      <a:pPr algn="l">
                        <a:lnSpc>
                          <a:spcPct val="100000"/>
                        </a:lnSpc>
                      </a:pPr>
                      <a:r>
                        <a:rPr sz="1700" b="0">
                          <a:solidFill>
                            <a:srgbClr val="14213D"/>
                          </a:solidFill>
                          <a:latin typeface="Segoe UI"/>
                        </a:rPr>
                        <a:t/>
                      </a:r>
                    </a:p>
                  </a:txBody>
                  <a:tcPr marL="101600" marR="101600" marT="50800" marB="50800" anchor="ctr">
                    <a:solidFill>
                      <a:srgbClr val="FCF0CC"/>
                    </a:solidFill>
                  </a:tcPr>
                </a:tc>
              </a:tr>
            </a:tbl>
          </a:graphicData>
        </a:graphic>
      </p:graphicFrame>
      <p:sp>
        <p:nvSpPr>
          <p:cNvPr id="12" name="Rounded Rectangle 11"/>
          <p:cNvSpPr/>
          <p:nvPr/>
        </p:nvSpPr>
        <p:spPr>
          <a:xfrm>
            <a:off x="777240" y="5257800"/>
            <a:ext cx="10637215" cy="566928"/>
          </a:xfrm>
          <a:prstGeom prst="roundRect">
            <a:avLst>
              <a:gd name="adj" fmla="val 12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960120" y="5358384"/>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2B705"/>
                </a:solidFill>
                <a:latin typeface="Segoe UI"/>
              </a:rPr>
              <a:t>✎</a:t>
            </a:r>
          </a:p>
        </p:txBody>
      </p:sp>
      <p:sp>
        <p:nvSpPr>
          <p:cNvPr id="14" name="TextBox 13"/>
          <p:cNvSpPr txBox="1"/>
          <p:nvPr/>
        </p:nvSpPr>
        <p:spPr>
          <a:xfrm>
            <a:off x="1490472" y="5257800"/>
            <a:ext cx="9722815" cy="566928"/>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14213D"/>
                </a:solidFill>
                <a:latin typeface="Segoe UI Semibold"/>
              </a:rPr>
              <a:t>In pairs: apply Authority – Relevance – Accuracy to each, then share 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Summarizing vs. Synthesizing</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9</a:t>
            </a:r>
          </a:p>
        </p:txBody>
      </p:sp>
      <p:graphicFrame>
        <p:nvGraphicFramePr>
          <p:cNvPr id="9" name="Table 8"/>
          <p:cNvGraphicFramePr>
            <a:graphicFrameLocks noGrp="1"/>
          </p:cNvGraphicFramePr>
          <p:nvPr/>
        </p:nvGraphicFramePr>
        <p:xfrm>
          <a:off x="777240" y="1920240"/>
          <a:ext cx="10637214" cy="3310128"/>
        </p:xfrm>
        <a:graphic>
          <a:graphicData uri="http://schemas.openxmlformats.org/drawingml/2006/table">
            <a:tbl>
              <a:tblPr>
                <a:tableStyleId>{5C22544A-7EE6-4342-B048-85BDC9FD1C3A}</a:tableStyleId>
              </a:tblPr>
              <a:tblGrid>
                <a:gridCol w="5318607"/>
                <a:gridCol w="5318607"/>
              </a:tblGrid>
              <a:tr h="566928">
                <a:tc>
                  <a:txBody>
                    <a:bodyPr wrap="square"/>
                    <a:lstStyle/>
                    <a:p>
                      <a:pPr algn="l">
                        <a:lnSpc>
                          <a:spcPct val="100000"/>
                        </a:lnSpc>
                      </a:pPr>
                      <a:r>
                        <a:rPr sz="2000" b="1">
                          <a:solidFill>
                            <a:srgbClr val="FFFFFF"/>
                          </a:solidFill>
                          <a:latin typeface="Segoe UI Semibold"/>
                        </a:rPr>
                        <a:t>Summarizing</a:t>
                      </a:r>
                    </a:p>
                  </a:txBody>
                  <a:tcPr marL="101600" marR="101600" marT="50800" marB="50800" anchor="ctr">
                    <a:solidFill>
                      <a:srgbClr val="5B6B7B"/>
                    </a:solidFill>
                  </a:tcPr>
                </a:tc>
                <a:tc>
                  <a:txBody>
                    <a:bodyPr wrap="square"/>
                    <a:lstStyle/>
                    <a:p>
                      <a:pPr algn="l">
                        <a:lnSpc>
                          <a:spcPct val="100000"/>
                        </a:lnSpc>
                      </a:pPr>
                      <a:r>
                        <a:rPr sz="2000" b="1">
                          <a:solidFill>
                            <a:srgbClr val="FFFFFF"/>
                          </a:solidFill>
                          <a:latin typeface="Segoe UI Semibold"/>
                        </a:rPr>
                        <a:t>Synthesizing</a:t>
                      </a:r>
                    </a:p>
                  </a:txBody>
                  <a:tcPr marL="101600" marR="101600" marT="50800" marB="50800" anchor="ctr">
                    <a:solidFill>
                      <a:srgbClr val="5B6B7B"/>
                    </a:solidFill>
                  </a:tcPr>
                </a:tc>
              </a:tr>
              <a:tr h="914400">
                <a:tc>
                  <a:txBody>
                    <a:bodyPr wrap="square"/>
                    <a:lstStyle/>
                    <a:p>
                      <a:pPr algn="l">
                        <a:lnSpc>
                          <a:spcPct val="100000"/>
                        </a:lnSpc>
                      </a:pPr>
                      <a:r>
                        <a:rPr sz="2000" b="0">
                          <a:solidFill>
                            <a:srgbClr val="14213D"/>
                          </a:solidFill>
                          <a:latin typeface="Segoe UI"/>
                        </a:rPr>
                        <a:t>Describes one source at a time</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Connects multiple sources by theme</a:t>
                      </a:r>
                    </a:p>
                  </a:txBody>
                  <a:tcPr marL="101600" marR="101600" marT="50800" marB="50800" anchor="ctr">
                    <a:solidFill>
                      <a:srgbClr val="FFFFFF"/>
                    </a:solidFill>
                  </a:tcPr>
                </a:tc>
              </a:tr>
              <a:tr h="914400">
                <a:tc>
                  <a:txBody>
                    <a:bodyPr wrap="square"/>
                    <a:lstStyle/>
                    <a:p>
                      <a:pPr algn="l">
                        <a:lnSpc>
                          <a:spcPct val="100000"/>
                        </a:lnSpc>
                      </a:pPr>
                      <a:r>
                        <a:rPr sz="2000" b="0">
                          <a:solidFill>
                            <a:srgbClr val="14213D"/>
                          </a:solidFill>
                          <a:latin typeface="Segoe UI"/>
                        </a:rPr>
                        <a:t>“Source A found X. Source B found Y.”</a:t>
                      </a:r>
                    </a:p>
                  </a:txBody>
                  <a:tcPr marL="101600" marR="101600" marT="50800" marB="50800" anchor="ctr">
                    <a:solidFill>
                      <a:srgbClr val="EEF4F7"/>
                    </a:solidFill>
                  </a:tcPr>
                </a:tc>
                <a:tc>
                  <a:txBody>
                    <a:bodyPr wrap="square"/>
                    <a:lstStyle/>
                    <a:p>
                      <a:pPr algn="l">
                        <a:lnSpc>
                          <a:spcPct val="100000"/>
                        </a:lnSpc>
                      </a:pPr>
                      <a:r>
                        <a:rPr sz="2000" b="0">
                          <a:solidFill>
                            <a:srgbClr val="14213D"/>
                          </a:solidFill>
                          <a:latin typeface="Segoe UI"/>
                        </a:rPr>
                        <a:t>“Sources A and B agree that X, but disagree on Y.”</a:t>
                      </a:r>
                    </a:p>
                  </a:txBody>
                  <a:tcPr marL="101600" marR="101600" marT="50800" marB="50800" anchor="ctr">
                    <a:solidFill>
                      <a:srgbClr val="EEF4F7"/>
                    </a:solidFill>
                  </a:tcPr>
                </a:tc>
              </a:tr>
              <a:tr h="914400">
                <a:tc>
                  <a:txBody>
                    <a:bodyPr wrap="square"/>
                    <a:lstStyle/>
                    <a:p>
                      <a:pPr algn="l">
                        <a:lnSpc>
                          <a:spcPct val="100000"/>
                        </a:lnSpc>
                      </a:pPr>
                      <a:r>
                        <a:rPr sz="2000" b="0">
                          <a:solidFill>
                            <a:srgbClr val="14213D"/>
                          </a:solidFill>
                          <a:latin typeface="Segoe UI"/>
                        </a:rPr>
                        <a:t>Produces a list</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Produces an argument about the state of knowledge</a:t>
                      </a:r>
                    </a:p>
                  </a:txBody>
                  <a:tcPr marL="101600" marR="101600" marT="50800" marB="50800"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Example — Summary vs. Synthesis Side by Side</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10</a:t>
            </a:r>
          </a:p>
        </p:txBody>
      </p:sp>
      <p:sp>
        <p:nvSpPr>
          <p:cNvPr id="9" name="Rounded Rectangle 8"/>
          <p:cNvSpPr/>
          <p:nvPr/>
        </p:nvSpPr>
        <p:spPr>
          <a:xfrm>
            <a:off x="777240" y="1719072"/>
            <a:ext cx="4754880"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4572000"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B — three dengue-prediction studies</a:t>
            </a:r>
          </a:p>
        </p:txBody>
      </p:sp>
      <p:sp>
        <p:nvSpPr>
          <p:cNvPr id="11" name="Rounded Rectangle 10"/>
          <p:cNvSpPr/>
          <p:nvPr/>
        </p:nvSpPr>
        <p:spPr>
          <a:xfrm>
            <a:off x="777240" y="2194560"/>
            <a:ext cx="10637215" cy="155448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777240" y="2194560"/>
            <a:ext cx="10637215" cy="566928"/>
          </a:xfrm>
          <a:prstGeom prst="roundRect">
            <a:avLst>
              <a:gd name="adj" fmla="val 12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33271" y="2194560"/>
            <a:ext cx="10198303" cy="566928"/>
          </a:xfrm>
          <a:prstGeom prst="rect">
            <a:avLst/>
          </a:prstGeom>
          <a:noFill/>
        </p:spPr>
        <p:txBody>
          <a:bodyPr wrap="square" anchor="ctr" lIns="0" rIns="0" tIns="0" bIns="0">
            <a:spAutoFit/>
          </a:bodyPr>
          <a:lstStyle/>
          <a:p>
            <a:pPr algn="l">
              <a:lnSpc>
                <a:spcPct val="105000"/>
              </a:lnSpc>
              <a:spcBef>
                <a:spcPts val="0"/>
              </a:spcBef>
              <a:spcAft>
                <a:spcPts val="0"/>
              </a:spcAft>
            </a:pPr>
            <a:r>
              <a:rPr sz="1600" b="1" i="0">
                <a:solidFill>
                  <a:srgbClr val="FFFFFF"/>
                </a:solidFill>
                <a:latin typeface="Segoe UI Semibold"/>
              </a:rPr>
              <a:t>SUMMARY VERSION</a:t>
            </a:r>
          </a:p>
        </p:txBody>
      </p:sp>
      <p:sp>
        <p:nvSpPr>
          <p:cNvPr id="14" name="TextBox 13"/>
          <p:cNvSpPr txBox="1"/>
          <p:nvPr/>
        </p:nvSpPr>
        <p:spPr>
          <a:xfrm>
            <a:off x="1097280" y="2926080"/>
            <a:ext cx="9997135" cy="822960"/>
          </a:xfrm>
          <a:prstGeom prst="rect">
            <a:avLst/>
          </a:prstGeom>
          <a:noFill/>
        </p:spPr>
        <p:txBody>
          <a:bodyPr wrap="square" anchor="ctr" lIns="0" rIns="0" tIns="0" bIns="0">
            <a:spAutoFit/>
          </a:bodyPr>
          <a:lstStyle/>
          <a:p>
            <a:pPr algn="l">
              <a:lnSpc>
                <a:spcPct val="110000"/>
              </a:lnSpc>
              <a:spcBef>
                <a:spcPts val="0"/>
              </a:spcBef>
              <a:spcAft>
                <a:spcPts val="0"/>
              </a:spcAft>
            </a:pPr>
            <a:r>
              <a:rPr sz="2200" b="0" i="1">
                <a:solidFill>
                  <a:srgbClr val="14213D"/>
                </a:solidFill>
                <a:latin typeface="Segoe UI"/>
              </a:rPr>
              <a:t>“Study 1 used rainfall data. Study 2 used temperature data. Study 3 used both rainfall and temperature.”</a:t>
            </a:r>
          </a:p>
        </p:txBody>
      </p:sp>
      <p:sp>
        <p:nvSpPr>
          <p:cNvPr id="15" name="Rounded Rectangle 14"/>
          <p:cNvSpPr/>
          <p:nvPr/>
        </p:nvSpPr>
        <p:spPr>
          <a:xfrm>
            <a:off x="777240" y="3931920"/>
            <a:ext cx="10637215" cy="1691640"/>
          </a:xfrm>
          <a:prstGeom prst="roundRect">
            <a:avLst>
              <a:gd name="adj" fmla="val 6000"/>
            </a:avLst>
          </a:prstGeom>
          <a:solidFill>
            <a:srgbClr val="FBFDFE"/>
          </a:solidFill>
          <a:ln w="12700">
            <a:solidFill>
              <a:srgbClr val="1D7A8C"/>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77240" y="3931920"/>
            <a:ext cx="10637215"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33271" y="3931920"/>
            <a:ext cx="10198303" cy="566928"/>
          </a:xfrm>
          <a:prstGeom prst="rect">
            <a:avLst/>
          </a:prstGeom>
          <a:noFill/>
        </p:spPr>
        <p:txBody>
          <a:bodyPr wrap="square" anchor="ctr" lIns="0" rIns="0" tIns="0" bIns="0">
            <a:spAutoFit/>
          </a:bodyPr>
          <a:lstStyle/>
          <a:p>
            <a:pPr algn="l">
              <a:lnSpc>
                <a:spcPct val="105000"/>
              </a:lnSpc>
              <a:spcBef>
                <a:spcPts val="0"/>
              </a:spcBef>
              <a:spcAft>
                <a:spcPts val="0"/>
              </a:spcAft>
            </a:pPr>
            <a:r>
              <a:rPr sz="1600" b="1" i="0">
                <a:solidFill>
                  <a:srgbClr val="FFFFFF"/>
                </a:solidFill>
                <a:latin typeface="Segoe UI Semibold"/>
              </a:rPr>
              <a:t>SYNTHESIS VERSION</a:t>
            </a:r>
          </a:p>
        </p:txBody>
      </p:sp>
      <p:sp>
        <p:nvSpPr>
          <p:cNvPr id="18" name="TextBox 17"/>
          <p:cNvSpPr txBox="1"/>
          <p:nvPr/>
        </p:nvSpPr>
        <p:spPr>
          <a:xfrm>
            <a:off x="1097280" y="4663440"/>
            <a:ext cx="9997135" cy="914400"/>
          </a:xfrm>
          <a:prstGeom prst="rect">
            <a:avLst/>
          </a:prstGeom>
          <a:noFill/>
        </p:spPr>
        <p:txBody>
          <a:bodyPr wrap="square" anchor="ctr" lIns="0" rIns="0" tIns="0" bIns="0">
            <a:spAutoFit/>
          </a:bodyPr>
          <a:lstStyle/>
          <a:p>
            <a:pPr algn="l">
              <a:lnSpc>
                <a:spcPct val="110000"/>
              </a:lnSpc>
              <a:spcBef>
                <a:spcPts val="0"/>
              </a:spcBef>
              <a:spcAft>
                <a:spcPts val="0"/>
              </a:spcAft>
            </a:pPr>
            <a:r>
              <a:rPr sz="2200" b="0" i="1">
                <a:solidFill>
                  <a:srgbClr val="14213D"/>
                </a:solidFill>
                <a:latin typeface="Segoe UI"/>
              </a:rPr>
              <a:t>“Most dengue prediction studies rely on rainfall and temperature, but they consistently leave out </a:t>
            </a:r>
            <a:r>
              <a:rPr sz="2200" b="1" i="1">
                <a:solidFill>
                  <a:srgbClr val="F4795B"/>
                </a:solidFill>
                <a:latin typeface="Segoe UI"/>
              </a:rPr>
              <a:t>human mobility patterns</a:t>
            </a:r>
            <a:r>
              <a:rPr sz="2200" b="0" i="1">
                <a:solidFill>
                  <a:srgbClr val="14213D"/>
                </a:solidFill>
                <a:latin typeface="Segoe UI"/>
              </a:rPr>
              <a:t> — a factor increasingly seen as relevant in outbreak spread.”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Grouping Sources by Theme</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11</a:t>
            </a:r>
          </a:p>
        </p:txBody>
      </p:sp>
      <p:sp>
        <p:nvSpPr>
          <p:cNvPr id="9" name="TextBox 8"/>
          <p:cNvSpPr txBox="1"/>
          <p:nvPr/>
        </p:nvSpPr>
        <p:spPr>
          <a:xfrm>
            <a:off x="822960" y="1965960"/>
            <a:ext cx="5120640" cy="4389120"/>
          </a:xfrm>
          <a:prstGeom prst="rect">
            <a:avLst/>
          </a:prstGeom>
          <a:noFill/>
        </p:spPr>
        <p:txBody>
          <a:bodyPr wrap="square" anchor="t" lIns="0" rIns="0" tIns="0" bIns="0">
            <a:spAutoFit/>
          </a:bodyPr>
          <a:lstStyle/>
          <a:p>
            <a:pPr algn="l" marL="274638" indent="-274638">
              <a:lnSpc>
                <a:spcPct val="105000"/>
              </a:lnSpc>
              <a:spcBef>
                <a:spcPts val="0"/>
              </a:spcBef>
              <a:spcAft>
                <a:spcPts val="1800"/>
              </a:spcAft>
              <a:buClr>
                <a:srgbClr val="1D7A8C"/>
              </a:buClr>
              <a:buSzPct val="80000"/>
              <a:buFont typeface="Arial"/>
              <a:buChar char="▪"/>
            </a:pPr>
            <a:r>
              <a:rPr sz="2100" b="1" i="0">
                <a:solidFill>
                  <a:srgbClr val="1D7A8C"/>
                </a:solidFill>
                <a:latin typeface="Segoe UI"/>
              </a:rPr>
              <a:t>Step 1  </a:t>
            </a:r>
            <a:r>
              <a:rPr sz="2100" b="0" i="0">
                <a:solidFill>
                  <a:srgbClr val="14213D"/>
                </a:solidFill>
                <a:latin typeface="Segoe UI"/>
              </a:rPr>
              <a:t>Read across all your gathered sources</a:t>
            </a:r>
          </a:p>
          <a:p>
            <a:pPr algn="l" marL="274638" indent="-274638">
              <a:lnSpc>
                <a:spcPct val="105000"/>
              </a:lnSpc>
              <a:spcBef>
                <a:spcPts val="0"/>
              </a:spcBef>
              <a:spcAft>
                <a:spcPts val="1800"/>
              </a:spcAft>
              <a:buClr>
                <a:srgbClr val="1D7A8C"/>
              </a:buClr>
              <a:buSzPct val="80000"/>
              <a:buFont typeface="Arial"/>
              <a:buChar char="▪"/>
            </a:pPr>
            <a:r>
              <a:rPr sz="2100" b="1" i="0">
                <a:solidFill>
                  <a:srgbClr val="1D7A8C"/>
                </a:solidFill>
                <a:latin typeface="Segoe UI"/>
              </a:rPr>
              <a:t>Step 2  </a:t>
            </a:r>
            <a:r>
              <a:rPr sz="2100" b="0" i="0">
                <a:solidFill>
                  <a:srgbClr val="14213D"/>
                </a:solidFill>
                <a:latin typeface="Segoe UI"/>
              </a:rPr>
              <a:t>Identify shared variables, populations, or ideas</a:t>
            </a:r>
          </a:p>
          <a:p>
            <a:pPr algn="l" marL="274638" indent="-274638">
              <a:lnSpc>
                <a:spcPct val="105000"/>
              </a:lnSpc>
              <a:spcBef>
                <a:spcPts val="0"/>
              </a:spcBef>
              <a:spcAft>
                <a:spcPts val="1800"/>
              </a:spcAft>
              <a:buClr>
                <a:srgbClr val="1D7A8C"/>
              </a:buClr>
              <a:buSzPct val="80000"/>
              <a:buFont typeface="Arial"/>
              <a:buChar char="▪"/>
            </a:pPr>
            <a:r>
              <a:rPr sz="2100" b="1" i="0">
                <a:solidFill>
                  <a:srgbClr val="1D7A8C"/>
                </a:solidFill>
                <a:latin typeface="Segoe UI"/>
              </a:rPr>
              <a:t>Step 3  </a:t>
            </a:r>
            <a:r>
              <a:rPr sz="2100" b="0" i="0">
                <a:solidFill>
                  <a:srgbClr val="14213D"/>
                </a:solidFill>
                <a:latin typeface="Segoe UI"/>
              </a:rPr>
              <a:t>Cluster sources under those shared themes (not by author or date)</a:t>
            </a:r>
          </a:p>
        </p:txBody>
      </p:sp>
      <p:sp>
        <p:nvSpPr>
          <p:cNvPr id="10" name="Rounded Rectangle 9"/>
          <p:cNvSpPr/>
          <p:nvPr/>
        </p:nvSpPr>
        <p:spPr>
          <a:xfrm>
            <a:off x="7772400" y="2697480"/>
            <a:ext cx="1554480" cy="914400"/>
          </a:xfrm>
          <a:prstGeom prst="roundRect">
            <a:avLst>
              <a:gd name="adj" fmla="val 2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Gathered
sources</a:t>
            </a:r>
          </a:p>
        </p:txBody>
      </p:sp>
      <p:cxnSp>
        <p:nvCxnSpPr>
          <p:cNvPr id="11" name="Connector 10"/>
          <p:cNvCxnSpPr/>
          <p:nvPr/>
        </p:nvCxnSpPr>
        <p:spPr>
          <a:xfrm flipH="1" flipV="1">
            <a:off x="7772400" y="1389888"/>
            <a:ext cx="777240" cy="1764792"/>
          </a:xfrm>
          <a:prstGeom prst="line">
            <a:avLst/>
          </a:prstGeom>
          <a:ln w="25400">
            <a:solidFill>
              <a:srgbClr val="D8E1E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549640" y="2624328"/>
            <a:ext cx="1737360" cy="530352"/>
          </a:xfrm>
          <a:prstGeom prst="line">
            <a:avLst/>
          </a:prstGeom>
          <a:ln w="25400">
            <a:solidFill>
              <a:srgbClr val="D8E1E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772400" y="3154680"/>
            <a:ext cx="777240" cy="1618488"/>
          </a:xfrm>
          <a:prstGeom prst="line">
            <a:avLst/>
          </a:prstGeom>
          <a:ln w="25400">
            <a:solidFill>
              <a:srgbClr val="D8E1E8"/>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95159" y="1005840"/>
            <a:ext cx="1737360" cy="777240"/>
          </a:xfrm>
          <a:prstGeom prst="roundRect">
            <a:avLst>
              <a:gd name="adj" fmla="val 20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50" b="1" i="0">
                <a:solidFill>
                  <a:srgbClr val="FFFFFF"/>
                </a:solidFill>
                <a:latin typeface="Segoe UI"/>
              </a:rPr>
              <a:t>Rainfall-based
models</a:t>
            </a:r>
          </a:p>
        </p:txBody>
      </p:sp>
      <p:sp>
        <p:nvSpPr>
          <p:cNvPr id="15" name="Rounded Rectangle 14"/>
          <p:cNvSpPr/>
          <p:nvPr/>
        </p:nvSpPr>
        <p:spPr>
          <a:xfrm>
            <a:off x="9509760" y="2240280"/>
            <a:ext cx="1737360" cy="777240"/>
          </a:xfrm>
          <a:prstGeom prst="roundRect">
            <a:avLst>
              <a:gd name="adj" fmla="val 20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50" b="1" i="0">
                <a:solidFill>
                  <a:srgbClr val="FFFFFF"/>
                </a:solidFill>
                <a:latin typeface="Segoe UI"/>
              </a:rPr>
              <a:t>Temperature-based
models</a:t>
            </a:r>
          </a:p>
        </p:txBody>
      </p:sp>
      <p:sp>
        <p:nvSpPr>
          <p:cNvPr id="16" name="Rounded Rectangle 15"/>
          <p:cNvSpPr/>
          <p:nvPr/>
        </p:nvSpPr>
        <p:spPr>
          <a:xfrm>
            <a:off x="6995159" y="4389120"/>
            <a:ext cx="1737360" cy="777240"/>
          </a:xfrm>
          <a:prstGeom prst="roundRect">
            <a:avLst>
              <a:gd name="adj" fmla="val 20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50" b="1" i="0">
                <a:solidFill>
                  <a:srgbClr val="FFFFFF"/>
                </a:solidFill>
                <a:latin typeface="Segoe UI"/>
              </a:rPr>
              <a:t>Combined climate
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Spotting Gaps, Issues, and Needs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12</a:t>
            </a:r>
          </a:p>
        </p:txBody>
      </p:sp>
      <p:sp>
        <p:nvSpPr>
          <p:cNvPr id="9" name="Rounded Rectangle 8"/>
          <p:cNvSpPr/>
          <p:nvPr/>
        </p:nvSpPr>
        <p:spPr>
          <a:xfrm>
            <a:off x="777240" y="1965960"/>
            <a:ext cx="3271418" cy="31089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1965960"/>
            <a:ext cx="3271418" cy="640080"/>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1" y="1965960"/>
            <a:ext cx="2832506" cy="64008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FFFFFF"/>
                </a:solidFill>
                <a:latin typeface="Segoe UI Semibold"/>
              </a:rPr>
              <a:t>GAP</a:t>
            </a:r>
          </a:p>
        </p:txBody>
      </p:sp>
      <p:sp>
        <p:nvSpPr>
          <p:cNvPr id="12" name="TextBox 11"/>
          <p:cNvSpPr txBox="1"/>
          <p:nvPr/>
        </p:nvSpPr>
        <p:spPr>
          <a:xfrm>
            <a:off x="1051560" y="2834639"/>
            <a:ext cx="2722778" cy="2011680"/>
          </a:xfrm>
          <a:prstGeom prst="rect">
            <a:avLst/>
          </a:prstGeom>
          <a:noFill/>
        </p:spPr>
        <p:txBody>
          <a:bodyPr wrap="square" anchor="t" lIns="0" rIns="0" tIns="0" bIns="0">
            <a:spAutoFit/>
          </a:bodyPr>
          <a:lstStyle/>
          <a:p>
            <a:pPr algn="l">
              <a:lnSpc>
                <a:spcPct val="115000"/>
              </a:lnSpc>
              <a:spcBef>
                <a:spcPts val="0"/>
              </a:spcBef>
              <a:spcAft>
                <a:spcPts val="0"/>
              </a:spcAft>
            </a:pPr>
            <a:r>
              <a:rPr sz="2200" b="0" i="0">
                <a:solidFill>
                  <a:srgbClr val="14213D"/>
                </a:solidFill>
                <a:latin typeface="Segoe UI"/>
              </a:rPr>
              <a:t>Something the literature has not studied yet</a:t>
            </a:r>
          </a:p>
        </p:txBody>
      </p:sp>
      <p:sp>
        <p:nvSpPr>
          <p:cNvPr id="13" name="Rounded Rectangle 12"/>
          <p:cNvSpPr/>
          <p:nvPr/>
        </p:nvSpPr>
        <p:spPr>
          <a:xfrm>
            <a:off x="4460138" y="1965960"/>
            <a:ext cx="3271418" cy="31089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460138" y="1965960"/>
            <a:ext cx="3271418" cy="640080"/>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716170" y="1965960"/>
            <a:ext cx="2832506" cy="64008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FFFFFF"/>
                </a:solidFill>
                <a:latin typeface="Segoe UI Semibold"/>
              </a:rPr>
              <a:t>ISSUE</a:t>
            </a:r>
          </a:p>
        </p:txBody>
      </p:sp>
      <p:sp>
        <p:nvSpPr>
          <p:cNvPr id="16" name="TextBox 15"/>
          <p:cNvSpPr txBox="1"/>
          <p:nvPr/>
        </p:nvSpPr>
        <p:spPr>
          <a:xfrm>
            <a:off x="4734458" y="2834639"/>
            <a:ext cx="2722778" cy="2011680"/>
          </a:xfrm>
          <a:prstGeom prst="rect">
            <a:avLst/>
          </a:prstGeom>
          <a:noFill/>
        </p:spPr>
        <p:txBody>
          <a:bodyPr wrap="square" anchor="t" lIns="0" rIns="0" tIns="0" bIns="0">
            <a:spAutoFit/>
          </a:bodyPr>
          <a:lstStyle/>
          <a:p>
            <a:pPr algn="l">
              <a:lnSpc>
                <a:spcPct val="115000"/>
              </a:lnSpc>
              <a:spcBef>
                <a:spcPts val="0"/>
              </a:spcBef>
              <a:spcAft>
                <a:spcPts val="0"/>
              </a:spcAft>
            </a:pPr>
            <a:r>
              <a:rPr sz="2200" b="0" i="0">
                <a:solidFill>
                  <a:srgbClr val="14213D"/>
                </a:solidFill>
                <a:latin typeface="Segoe UI"/>
              </a:rPr>
              <a:t>Something the literature disagrees or is inconsistent about</a:t>
            </a:r>
          </a:p>
        </p:txBody>
      </p:sp>
      <p:sp>
        <p:nvSpPr>
          <p:cNvPr id="17" name="Rounded Rectangle 16"/>
          <p:cNvSpPr/>
          <p:nvPr/>
        </p:nvSpPr>
        <p:spPr>
          <a:xfrm>
            <a:off x="8143036" y="1965960"/>
            <a:ext cx="3271418" cy="31089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143036" y="1965960"/>
            <a:ext cx="3271418" cy="640080"/>
          </a:xfrm>
          <a:prstGeom prst="roundRect">
            <a:avLst>
              <a:gd name="adj" fmla="val 12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99068" y="1965960"/>
            <a:ext cx="2832506" cy="640080"/>
          </a:xfrm>
          <a:prstGeom prst="rect">
            <a:avLst/>
          </a:prstGeom>
          <a:noFill/>
        </p:spPr>
        <p:txBody>
          <a:bodyPr wrap="square" anchor="ctr" lIns="0" rIns="0" tIns="0" bIns="0">
            <a:spAutoFit/>
          </a:bodyPr>
          <a:lstStyle/>
          <a:p>
            <a:pPr algn="l">
              <a:lnSpc>
                <a:spcPct val="105000"/>
              </a:lnSpc>
              <a:spcBef>
                <a:spcPts val="0"/>
              </a:spcBef>
              <a:spcAft>
                <a:spcPts val="0"/>
              </a:spcAft>
            </a:pPr>
            <a:r>
              <a:rPr sz="2000" b="1" i="0">
                <a:solidFill>
                  <a:srgbClr val="FFFFFF"/>
                </a:solidFill>
                <a:latin typeface="Segoe UI Semibold"/>
              </a:rPr>
              <a:t>NEED</a:t>
            </a:r>
          </a:p>
        </p:txBody>
      </p:sp>
      <p:sp>
        <p:nvSpPr>
          <p:cNvPr id="20" name="TextBox 19"/>
          <p:cNvSpPr txBox="1"/>
          <p:nvPr/>
        </p:nvSpPr>
        <p:spPr>
          <a:xfrm>
            <a:off x="8417356" y="2834639"/>
            <a:ext cx="2722778" cy="2011680"/>
          </a:xfrm>
          <a:prstGeom prst="rect">
            <a:avLst/>
          </a:prstGeom>
          <a:noFill/>
        </p:spPr>
        <p:txBody>
          <a:bodyPr wrap="square" anchor="t" lIns="0" rIns="0" tIns="0" bIns="0">
            <a:spAutoFit/>
          </a:bodyPr>
          <a:lstStyle/>
          <a:p>
            <a:pPr algn="l">
              <a:lnSpc>
                <a:spcPct val="115000"/>
              </a:lnSpc>
              <a:spcBef>
                <a:spcPts val="0"/>
              </a:spcBef>
              <a:spcAft>
                <a:spcPts val="0"/>
              </a:spcAft>
            </a:pPr>
            <a:r>
              <a:rPr sz="2200" b="0" i="0">
                <a:solidFill>
                  <a:srgbClr val="14213D"/>
                </a:solidFill>
                <a:latin typeface="Segoe UI"/>
              </a:rPr>
              <a:t>Something the literature explicitly calls for but has not yet addressed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Example — Finding the Real Gap</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13</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B topic</a:t>
            </a:r>
          </a:p>
        </p:txBody>
      </p:sp>
      <p:sp>
        <p:nvSpPr>
          <p:cNvPr id="11" name="TextBox 10"/>
          <p:cNvSpPr txBox="1"/>
          <p:nvPr/>
        </p:nvSpPr>
        <p:spPr>
          <a:xfrm>
            <a:off x="822960" y="2240280"/>
            <a:ext cx="10454335" cy="4389120"/>
          </a:xfrm>
          <a:prstGeom prst="rect">
            <a:avLst/>
          </a:prstGeom>
          <a:noFill/>
        </p:spPr>
        <p:txBody>
          <a:bodyPr wrap="square" anchor="t" lIns="0" rIns="0" tIns="0" bIns="0">
            <a:spAutoFit/>
          </a:bodyPr>
          <a:lstStyle/>
          <a:p>
            <a:pPr algn="l" marL="274638" indent="-274638">
              <a:lnSpc>
                <a:spcPct val="105000"/>
              </a:lnSpc>
              <a:spcBef>
                <a:spcPts val="0"/>
              </a:spcBef>
              <a:spcAft>
                <a:spcPts val="1200"/>
              </a:spcAft>
              <a:buClr>
                <a:srgbClr val="1D7A8C"/>
              </a:buClr>
              <a:buSzPct val="80000"/>
              <a:buFont typeface="Arial"/>
              <a:buChar char="▪"/>
            </a:pPr>
            <a:r>
              <a:rPr sz="2300" b="0" i="0">
                <a:solidFill>
                  <a:srgbClr val="14213D"/>
                </a:solidFill>
                <a:latin typeface="Segoe UI"/>
              </a:rPr>
              <a:t>Most Philippine dengue early-warning studies use rainfall and temperature data</a:t>
            </a:r>
          </a:p>
          <a:p>
            <a:pPr algn="l" marL="274638" indent="-274638">
              <a:lnSpc>
                <a:spcPct val="105000"/>
              </a:lnSpc>
              <a:spcBef>
                <a:spcPts val="0"/>
              </a:spcBef>
              <a:spcAft>
                <a:spcPts val="1200"/>
              </a:spcAft>
              <a:buClr>
                <a:srgbClr val="1D7A8C"/>
              </a:buClr>
              <a:buSzPct val="80000"/>
              <a:buFont typeface="Arial"/>
              <a:buChar char="▪"/>
            </a:pPr>
            <a:r>
              <a:rPr sz="2300" b="0" i="0">
                <a:solidFill>
                  <a:srgbClr val="14213D"/>
                </a:solidFill>
                <a:latin typeface="Segoe UI"/>
              </a:rPr>
              <a:t>Few studies incorporate community-level human mobility patterns, even though outbreaks often follow people's movement, not just weather</a:t>
            </a:r>
          </a:p>
        </p:txBody>
      </p:sp>
      <p:sp>
        <p:nvSpPr>
          <p:cNvPr id="12" name="Rounded Rectangle 11"/>
          <p:cNvSpPr/>
          <p:nvPr/>
        </p:nvSpPr>
        <p:spPr>
          <a:xfrm>
            <a:off x="777240" y="3886200"/>
            <a:ext cx="10637215" cy="1051560"/>
          </a:xfrm>
          <a:prstGeom prst="roundRect">
            <a:avLst>
              <a:gd name="adj" fmla="val 8000"/>
            </a:avLst>
          </a:prstGeom>
          <a:solidFill>
            <a:srgbClr val="FCE4DD"/>
          </a:solidFill>
          <a:ln w="12700">
            <a:solidFill>
              <a:srgbClr val="F479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886200"/>
            <a:ext cx="9997135" cy="1051560"/>
          </a:xfrm>
          <a:prstGeom prst="rect">
            <a:avLst/>
          </a:prstGeom>
          <a:noFill/>
        </p:spPr>
        <p:txBody>
          <a:bodyPr wrap="square" anchor="ctr" lIns="0" rIns="0" tIns="0" bIns="0">
            <a:spAutoFit/>
          </a:bodyPr>
          <a:lstStyle/>
          <a:p>
            <a:pPr algn="l">
              <a:lnSpc>
                <a:spcPct val="110000"/>
              </a:lnSpc>
              <a:spcBef>
                <a:spcPts val="0"/>
              </a:spcBef>
              <a:spcAft>
                <a:spcPts val="0"/>
              </a:spcAft>
            </a:pPr>
            <a:r>
              <a:rPr sz="1500" b="1" i="0">
                <a:solidFill>
                  <a:srgbClr val="F4795B"/>
                </a:solidFill>
                <a:latin typeface="Segoe UI Semibold"/>
              </a:rPr>
              <a:t>IDENTIFIED GAP   </a:t>
            </a:r>
            <a:r>
              <a:rPr sz="2300" b="0" i="0">
                <a:solidFill>
                  <a:srgbClr val="14213D"/>
                </a:solidFill>
                <a:latin typeface="Segoe UI"/>
              </a:rPr>
              <a:t>The role of </a:t>
            </a:r>
            <a:r>
              <a:rPr sz="2300" b="1" i="0">
                <a:solidFill>
                  <a:srgbClr val="F4795B"/>
                </a:solidFill>
                <a:latin typeface="Segoe UI"/>
              </a:rPr>
              <a:t>human mobility</a:t>
            </a:r>
            <a:r>
              <a:rPr sz="2300" b="0" i="0">
                <a:solidFill>
                  <a:srgbClr val="14213D"/>
                </a:solidFill>
                <a:latin typeface="Segoe UI"/>
              </a:rPr>
              <a:t> in dengue prediction models remains underexplored.</a:t>
            </a:r>
          </a:p>
        </p:txBody>
      </p:sp>
      <p:sp>
        <p:nvSpPr>
          <p:cNvPr id="14" name="Rounded Rectangle 13"/>
          <p:cNvSpPr/>
          <p:nvPr/>
        </p:nvSpPr>
        <p:spPr>
          <a:xfrm>
            <a:off x="2926080" y="5166360"/>
            <a:ext cx="2743200" cy="502920"/>
          </a:xfrm>
          <a:prstGeom prst="roundRect">
            <a:avLst>
              <a:gd name="adj" fmla="val 2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Synthesis finding</a:t>
            </a:r>
          </a:p>
        </p:txBody>
      </p:sp>
      <p:sp>
        <p:nvSpPr>
          <p:cNvPr id="15" name="Right Arrow 14"/>
          <p:cNvSpPr/>
          <p:nvPr/>
        </p:nvSpPr>
        <p:spPr>
          <a:xfrm>
            <a:off x="5760720" y="5266944"/>
            <a:ext cx="502920" cy="292608"/>
          </a:xfrm>
          <a:prstGeom prst="rightArrow">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263640" y="5166360"/>
            <a:ext cx="2743200" cy="502920"/>
          </a:xfrm>
          <a:prstGeom prst="roundRect">
            <a:avLst>
              <a:gd name="adj" fmla="val 2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Identified gap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The Synthesis Matrix Tool</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14</a:t>
            </a:r>
          </a:p>
        </p:txBody>
      </p:sp>
      <p:sp>
        <p:nvSpPr>
          <p:cNvPr id="9" name="TextBox 8"/>
          <p:cNvSpPr txBox="1"/>
          <p:nvPr/>
        </p:nvSpPr>
        <p:spPr>
          <a:xfrm>
            <a:off x="822960" y="1783080"/>
            <a:ext cx="10454335" cy="4389120"/>
          </a:xfrm>
          <a:prstGeom prst="rect">
            <a:avLst/>
          </a:prstGeom>
          <a:noFill/>
        </p:spPr>
        <p:txBody>
          <a:bodyPr wrap="square" anchor="t" lIns="0" rIns="0" tIns="0" bIns="0">
            <a:spAutoFit/>
          </a:bodyPr>
          <a:lstStyle/>
          <a:p>
            <a:pPr algn="l" marL="274638" indent="-274638">
              <a:lnSpc>
                <a:spcPct val="105000"/>
              </a:lnSpc>
              <a:spcBef>
                <a:spcPts val="0"/>
              </a:spcBef>
              <a:spcAft>
                <a:spcPts val="800"/>
              </a:spcAft>
              <a:buClr>
                <a:srgbClr val="1D7A8C"/>
              </a:buClr>
              <a:buSzPct val="80000"/>
              <a:buFont typeface="Arial"/>
              <a:buChar char="▪"/>
            </a:pPr>
            <a:r>
              <a:rPr sz="2000" b="0" i="0">
                <a:solidFill>
                  <a:srgbClr val="14213D"/>
                </a:solidFill>
                <a:latin typeface="Segoe UI"/>
              </a:rPr>
              <a:t>A </a:t>
            </a:r>
            <a:r>
              <a:rPr sz="2000" b="1" i="0">
                <a:solidFill>
                  <a:srgbClr val="1D7A8C"/>
                </a:solidFill>
                <a:latin typeface="Segoe UI"/>
              </a:rPr>
              <a:t>synthesis matrix</a:t>
            </a:r>
            <a:r>
              <a:rPr sz="2000" b="0" i="0">
                <a:solidFill>
                  <a:srgbClr val="14213D"/>
                </a:solidFill>
                <a:latin typeface="Segoe UI"/>
              </a:rPr>
              <a:t> is a table where each row is a source and each column is a theme</a:t>
            </a:r>
          </a:p>
          <a:p>
            <a:pPr algn="l" marL="274638" indent="-274638">
              <a:lnSpc>
                <a:spcPct val="105000"/>
              </a:lnSpc>
              <a:spcBef>
                <a:spcPts val="0"/>
              </a:spcBef>
              <a:spcAft>
                <a:spcPts val="800"/>
              </a:spcAft>
              <a:buClr>
                <a:srgbClr val="1D7A8C"/>
              </a:buClr>
              <a:buSzPct val="80000"/>
              <a:buFont typeface="Arial"/>
              <a:buChar char="▪"/>
            </a:pPr>
            <a:r>
              <a:rPr sz="2000" b="0" i="0">
                <a:solidFill>
                  <a:srgbClr val="14213D"/>
                </a:solidFill>
                <a:latin typeface="Segoe UI"/>
              </a:rPr>
              <a:t>Filling in the cells shows which sources cover which themes — and which themes are thin or missing</a:t>
            </a:r>
          </a:p>
        </p:txBody>
      </p:sp>
      <p:graphicFrame>
        <p:nvGraphicFramePr>
          <p:cNvPr id="10" name="Table 9"/>
          <p:cNvGraphicFramePr>
            <a:graphicFrameLocks noGrp="1"/>
          </p:cNvGraphicFramePr>
          <p:nvPr/>
        </p:nvGraphicFramePr>
        <p:xfrm>
          <a:off x="777240" y="3200400"/>
          <a:ext cx="10637213" cy="2249424"/>
        </p:xfrm>
        <a:graphic>
          <a:graphicData uri="http://schemas.openxmlformats.org/drawingml/2006/table">
            <a:tbl>
              <a:tblPr>
                <a:tableStyleId>{5C22544A-7EE6-4342-B048-85BDC9FD1C3A}</a:tableStyleId>
              </a:tblPr>
              <a:tblGrid>
                <a:gridCol w="2263237"/>
                <a:gridCol w="2715884"/>
                <a:gridCol w="2942208"/>
                <a:gridCol w="2715884"/>
              </a:tblGrid>
              <a:tr h="548640">
                <a:tc>
                  <a:txBody>
                    <a:bodyPr wrap="square"/>
                    <a:lstStyle/>
                    <a:p>
                      <a:pPr algn="l">
                        <a:lnSpc>
                          <a:spcPct val="100000"/>
                        </a:lnSpc>
                      </a:pPr>
                      <a:r>
                        <a:rPr sz="1700" b="1">
                          <a:solidFill>
                            <a:srgbClr val="FFFFFF"/>
                          </a:solidFill>
                          <a:latin typeface="Segoe UI Semibold"/>
                        </a:rPr>
                        <a:t>Source</a:t>
                      </a:r>
                    </a:p>
                  </a:txBody>
                  <a:tcPr marL="101600" marR="101600" marT="50800" marB="50800" anchor="ctr">
                    <a:solidFill>
                      <a:srgbClr val="1D7A8C"/>
                    </a:solidFill>
                  </a:tcPr>
                </a:tc>
                <a:tc>
                  <a:txBody>
                    <a:bodyPr wrap="square"/>
                    <a:lstStyle/>
                    <a:p>
                      <a:pPr algn="l">
                        <a:lnSpc>
                          <a:spcPct val="100000"/>
                        </a:lnSpc>
                      </a:pPr>
                      <a:r>
                        <a:rPr sz="1700" b="1">
                          <a:solidFill>
                            <a:srgbClr val="FFFFFF"/>
                          </a:solidFill>
                          <a:latin typeface="Segoe UI Semibold"/>
                        </a:rPr>
                        <a:t>Rainfall factor</a:t>
                      </a:r>
                    </a:p>
                  </a:txBody>
                  <a:tcPr marL="101600" marR="101600" marT="50800" marB="50800" anchor="ctr">
                    <a:solidFill>
                      <a:srgbClr val="1D7A8C"/>
                    </a:solidFill>
                  </a:tcPr>
                </a:tc>
                <a:tc>
                  <a:txBody>
                    <a:bodyPr wrap="square"/>
                    <a:lstStyle/>
                    <a:p>
                      <a:pPr algn="l">
                        <a:lnSpc>
                          <a:spcPct val="100000"/>
                        </a:lnSpc>
                      </a:pPr>
                      <a:r>
                        <a:rPr sz="1700" b="1">
                          <a:solidFill>
                            <a:srgbClr val="FFFFFF"/>
                          </a:solidFill>
                          <a:latin typeface="Segoe UI Semibold"/>
                        </a:rPr>
                        <a:t>Temperature factor</a:t>
                      </a:r>
                    </a:p>
                  </a:txBody>
                  <a:tcPr marL="101600" marR="101600" marT="50800" marB="50800" anchor="ctr">
                    <a:solidFill>
                      <a:srgbClr val="1D7A8C"/>
                    </a:solidFill>
                  </a:tcPr>
                </a:tc>
                <a:tc>
                  <a:txBody>
                    <a:bodyPr wrap="square"/>
                    <a:lstStyle/>
                    <a:p>
                      <a:pPr algn="l">
                        <a:lnSpc>
                          <a:spcPct val="100000"/>
                        </a:lnSpc>
                      </a:pPr>
                      <a:r>
                        <a:rPr sz="1700" b="1">
                          <a:solidFill>
                            <a:srgbClr val="FFFFFF"/>
                          </a:solidFill>
                          <a:latin typeface="Segoe UI Semibold"/>
                        </a:rPr>
                        <a:t>Mobility factor</a:t>
                      </a:r>
                    </a:p>
                  </a:txBody>
                  <a:tcPr marL="101600" marR="101600" marT="50800" marB="50800" anchor="ctr">
                    <a:solidFill>
                      <a:srgbClr val="1D7A8C"/>
                    </a:solidFill>
                  </a:tcPr>
                </a:tc>
              </a:tr>
              <a:tr h="566928">
                <a:tc>
                  <a:txBody>
                    <a:bodyPr wrap="square"/>
                    <a:lstStyle/>
                    <a:p>
                      <a:pPr algn="l">
                        <a:lnSpc>
                          <a:spcPct val="100000"/>
                        </a:lnSpc>
                      </a:pPr>
                      <a:r>
                        <a:rPr sz="2000" b="0">
                          <a:solidFill>
                            <a:srgbClr val="14213D"/>
                          </a:solidFill>
                          <a:latin typeface="Segoe UI"/>
                        </a:rPr>
                        <a:t>Study 1</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
                      </a:r>
                    </a:p>
                  </a:txBody>
                  <a:tcPr marL="101600" marR="101600" marT="50800" marB="50800" anchor="ctr">
                    <a:solidFill>
                      <a:srgbClr val="FCF0CC"/>
                    </a:solidFill>
                  </a:tcPr>
                </a:tc>
              </a:tr>
              <a:tr h="566928">
                <a:tc>
                  <a:txBody>
                    <a:bodyPr wrap="square"/>
                    <a:lstStyle/>
                    <a:p>
                      <a:pPr algn="l">
                        <a:lnSpc>
                          <a:spcPct val="100000"/>
                        </a:lnSpc>
                      </a:pPr>
                      <a:r>
                        <a:rPr sz="2000" b="0">
                          <a:solidFill>
                            <a:srgbClr val="14213D"/>
                          </a:solidFill>
                          <a:latin typeface="Segoe UI"/>
                        </a:rPr>
                        <a:t>Study 2</a:t>
                      </a:r>
                    </a:p>
                  </a:txBody>
                  <a:tcPr marL="101600" marR="101600" marT="50800" marB="50800" anchor="ctr">
                    <a:solidFill>
                      <a:srgbClr val="EEF4F7"/>
                    </a:solidFill>
                  </a:tcPr>
                </a:tc>
                <a:tc>
                  <a:txBody>
                    <a:bodyPr wrap="square"/>
                    <a:lstStyle/>
                    <a:p>
                      <a:pPr algn="l">
                        <a:lnSpc>
                          <a:spcPct val="100000"/>
                        </a:lnSpc>
                      </a:pPr>
                      <a:r>
                        <a:rPr sz="2000" b="0">
                          <a:solidFill>
                            <a:srgbClr val="14213D"/>
                          </a:solidFill>
                          <a:latin typeface="Segoe UI"/>
                        </a:rPr>
                        <a:t/>
                      </a:r>
                    </a:p>
                  </a:txBody>
                  <a:tcPr marL="101600" marR="101600" marT="50800" marB="50800" anchor="ctr">
                    <a:solidFill>
                      <a:srgbClr val="EEF4F7"/>
                    </a:solidFill>
                  </a:tcPr>
                </a:tc>
                <a:tc>
                  <a:txBody>
                    <a:bodyPr wrap="square"/>
                    <a:lstStyle/>
                    <a:p>
                      <a:pPr algn="l">
                        <a:lnSpc>
                          <a:spcPct val="100000"/>
                        </a:lnSpc>
                      </a:pPr>
                      <a:r>
                        <a:rPr sz="2000" b="0">
                          <a:solidFill>
                            <a:srgbClr val="14213D"/>
                          </a:solidFill>
                          <a:latin typeface="Segoe UI"/>
                        </a:rPr>
                        <a:t>✓</a:t>
                      </a:r>
                    </a:p>
                  </a:txBody>
                  <a:tcPr marL="101600" marR="101600" marT="50800" marB="50800" anchor="ctr">
                    <a:solidFill>
                      <a:srgbClr val="EEF4F7"/>
                    </a:solidFill>
                  </a:tcPr>
                </a:tc>
                <a:tc>
                  <a:txBody>
                    <a:bodyPr wrap="square"/>
                    <a:lstStyle/>
                    <a:p>
                      <a:pPr algn="l">
                        <a:lnSpc>
                          <a:spcPct val="100000"/>
                        </a:lnSpc>
                      </a:pPr>
                      <a:r>
                        <a:rPr sz="2000" b="0">
                          <a:solidFill>
                            <a:srgbClr val="14213D"/>
                          </a:solidFill>
                          <a:latin typeface="Segoe UI"/>
                        </a:rPr>
                        <a:t/>
                      </a:r>
                    </a:p>
                  </a:txBody>
                  <a:tcPr marL="101600" marR="101600" marT="50800" marB="50800" anchor="ctr">
                    <a:solidFill>
                      <a:srgbClr val="FCF0CC"/>
                    </a:solidFill>
                  </a:tcPr>
                </a:tc>
              </a:tr>
              <a:tr h="566928">
                <a:tc>
                  <a:txBody>
                    <a:bodyPr wrap="square"/>
                    <a:lstStyle/>
                    <a:p>
                      <a:pPr algn="l">
                        <a:lnSpc>
                          <a:spcPct val="100000"/>
                        </a:lnSpc>
                      </a:pPr>
                      <a:r>
                        <a:rPr sz="2000" b="0">
                          <a:solidFill>
                            <a:srgbClr val="14213D"/>
                          </a:solidFill>
                          <a:latin typeface="Segoe UI"/>
                        </a:rPr>
                        <a:t>Study 3</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a:t>
                      </a:r>
                    </a:p>
                  </a:txBody>
                  <a:tcPr marL="101600" marR="101600" marT="50800" marB="50800" anchor="ctr">
                    <a:solidFill>
                      <a:srgbClr val="FFFFFF"/>
                    </a:solidFill>
                  </a:tcPr>
                </a:tc>
                <a:tc>
                  <a:txBody>
                    <a:bodyPr wrap="square"/>
                    <a:lstStyle/>
                    <a:p>
                      <a:pPr algn="l">
                        <a:lnSpc>
                          <a:spcPct val="100000"/>
                        </a:lnSpc>
                      </a:pPr>
                      <a:r>
                        <a:rPr sz="2000" b="0">
                          <a:solidFill>
                            <a:srgbClr val="14213D"/>
                          </a:solidFill>
                          <a:latin typeface="Segoe UI"/>
                        </a:rPr>
                        <a:t/>
                      </a:r>
                    </a:p>
                  </a:txBody>
                  <a:tcPr marL="101600" marR="101600" marT="50800" marB="50800" anchor="ctr">
                    <a:solidFill>
                      <a:srgbClr val="FCF0CC"/>
                    </a:solidFill>
                  </a:tcPr>
                </a:tc>
              </a:tr>
            </a:tbl>
          </a:graphicData>
        </a:graphic>
      </p:graphicFrame>
      <p:sp>
        <p:nvSpPr>
          <p:cNvPr id="11" name="TextBox 10"/>
          <p:cNvSpPr txBox="1"/>
          <p:nvPr/>
        </p:nvSpPr>
        <p:spPr>
          <a:xfrm>
            <a:off x="777240" y="5440679"/>
            <a:ext cx="10637215" cy="365760"/>
          </a:xfrm>
          <a:prstGeom prst="rect">
            <a:avLst/>
          </a:prstGeom>
          <a:noFill/>
        </p:spPr>
        <p:txBody>
          <a:bodyPr wrap="square" anchor="t" lIns="0" rIns="0" tIns="0" bIns="0">
            <a:spAutoFit/>
          </a:bodyPr>
          <a:lstStyle/>
          <a:p>
            <a:pPr algn="l">
              <a:lnSpc>
                <a:spcPct val="105000"/>
              </a:lnSpc>
              <a:spcBef>
                <a:spcPts val="0"/>
              </a:spcBef>
              <a:spcAft>
                <a:spcPts val="0"/>
              </a:spcAft>
            </a:pPr>
            <a:r>
              <a:rPr sz="1500" b="0" i="0">
                <a:solidFill>
                  <a:srgbClr val="5B6B7B"/>
                </a:solidFill>
                <a:latin typeface="Segoe UI"/>
              </a:rPr>
              <a:t>The empty </a:t>
            </a:r>
            <a:r>
              <a:rPr sz="1500" b="1" i="0">
                <a:solidFill>
                  <a:srgbClr val="F2B705"/>
                </a:solidFill>
                <a:latin typeface="Segoe UI"/>
              </a:rPr>
              <a:t>Mobility factor</a:t>
            </a:r>
            <a:r>
              <a:rPr sz="1500" b="0" i="0">
                <a:solidFill>
                  <a:srgbClr val="5B6B7B"/>
                </a:solidFill>
                <a:latin typeface="Segoe UI"/>
              </a:rPr>
              <a:t> column is exactly the gap — the matrix makes gaps visible almost automatically.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3 · SYNTHESIZING THE LITERATURE (COMPETENCY 12)</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Application — Build a Mini Synthesis Matrix</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15</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graphicFrame>
        <p:nvGraphicFramePr>
          <p:cNvPr id="11" name="Table 10"/>
          <p:cNvGraphicFramePr>
            <a:graphicFrameLocks noGrp="1"/>
          </p:cNvGraphicFramePr>
          <p:nvPr/>
        </p:nvGraphicFramePr>
        <p:xfrm>
          <a:off x="777240" y="2194560"/>
          <a:ext cx="10637212" cy="2468880"/>
        </p:xfrm>
        <a:graphic>
          <a:graphicData uri="http://schemas.openxmlformats.org/drawingml/2006/table">
            <a:tbl>
              <a:tblPr>
                <a:tableStyleId>{5C22544A-7EE6-4342-B048-85BDC9FD1C3A}</a:tableStyleId>
              </a:tblPr>
              <a:tblGrid>
                <a:gridCol w="3425543"/>
                <a:gridCol w="2163501"/>
                <a:gridCol w="2524084"/>
                <a:gridCol w="2524084"/>
              </a:tblGrid>
              <a:tr h="548640">
                <a:tc>
                  <a:txBody>
                    <a:bodyPr wrap="square"/>
                    <a:lstStyle/>
                    <a:p>
                      <a:pPr algn="l">
                        <a:lnSpc>
                          <a:spcPct val="100000"/>
                        </a:lnSpc>
                      </a:pPr>
                      <a:r>
                        <a:rPr sz="1600" b="1">
                          <a:solidFill>
                            <a:srgbClr val="FFFFFF"/>
                          </a:solidFill>
                          <a:latin typeface="Segoe UI Semibold"/>
                        </a:rPr>
                        <a:t>Source</a:t>
                      </a:r>
                    </a:p>
                  </a:txBody>
                  <a:tcPr marL="101600" marR="101600" marT="50800" marB="50800" anchor="ctr">
                    <a:solidFill>
                      <a:srgbClr val="1D7A8C"/>
                    </a:solidFill>
                  </a:tcPr>
                </a:tc>
                <a:tc>
                  <a:txBody>
                    <a:bodyPr wrap="square"/>
                    <a:lstStyle/>
                    <a:p>
                      <a:pPr algn="l">
                        <a:lnSpc>
                          <a:spcPct val="100000"/>
                        </a:lnSpc>
                      </a:pPr>
                      <a:r>
                        <a:rPr sz="1600" b="1">
                          <a:solidFill>
                            <a:srgbClr val="FFFFFF"/>
                          </a:solidFill>
                          <a:latin typeface="Segoe UI Semibold"/>
                        </a:rPr>
                        <a:t>Distiller design</a:t>
                      </a:r>
                    </a:p>
                  </a:txBody>
                  <a:tcPr marL="101600" marR="101600" marT="50800" marB="50800" anchor="ctr">
                    <a:solidFill>
                      <a:srgbClr val="1D7A8C"/>
                    </a:solidFill>
                  </a:tcPr>
                </a:tc>
                <a:tc>
                  <a:txBody>
                    <a:bodyPr wrap="square"/>
                    <a:lstStyle/>
                    <a:p>
                      <a:pPr algn="l">
                        <a:lnSpc>
                          <a:spcPct val="100000"/>
                        </a:lnSpc>
                      </a:pPr>
                      <a:r>
                        <a:rPr sz="1600" b="1">
                          <a:solidFill>
                            <a:srgbClr val="FFFFFF"/>
                          </a:solidFill>
                          <a:latin typeface="Segoe UI Semibold"/>
                        </a:rPr>
                        <a:t>Water safety testing</a:t>
                      </a:r>
                    </a:p>
                  </a:txBody>
                  <a:tcPr marL="101600" marR="101600" marT="50800" marB="50800" anchor="ctr">
                    <a:solidFill>
                      <a:srgbClr val="1D7A8C"/>
                    </a:solidFill>
                  </a:tcPr>
                </a:tc>
                <a:tc>
                  <a:txBody>
                    <a:bodyPr wrap="square"/>
                    <a:lstStyle/>
                    <a:p>
                      <a:pPr algn="l">
                        <a:lnSpc>
                          <a:spcPct val="100000"/>
                        </a:lnSpc>
                      </a:pPr>
                      <a:r>
                        <a:rPr sz="1600" b="1">
                          <a:solidFill>
                            <a:srgbClr val="FFFFFF"/>
                          </a:solidFill>
                          <a:latin typeface="Segoe UI Semibold"/>
                        </a:rPr>
                        <a:t>Community adoption</a:t>
                      </a:r>
                    </a:p>
                  </a:txBody>
                  <a:tcPr marL="101600" marR="101600" marT="50800" marB="50800" anchor="ctr">
                    <a:solidFill>
                      <a:srgbClr val="1D7A8C"/>
                    </a:solidFill>
                  </a:tcPr>
                </a:tc>
              </a:tr>
              <a:tr h="640080">
                <a:tc>
                  <a:txBody>
                    <a:bodyPr wrap="square"/>
                    <a:lstStyle/>
                    <a:p>
                      <a:pPr algn="l">
                        <a:lnSpc>
                          <a:spcPct val="100000"/>
                        </a:lnSpc>
                      </a:pPr>
                      <a:r>
                        <a:rPr sz="1800" b="0">
                          <a:solidFill>
                            <a:srgbClr val="14213D"/>
                          </a:solidFill>
                          <a:latin typeface="Segoe UI"/>
                        </a:rPr>
                        <a:t>Source 1: engineering report</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FFFFFF"/>
                    </a:solidFill>
                  </a:tcPr>
                </a:tc>
              </a:tr>
              <a:tr h="640080">
                <a:tc>
                  <a:txBody>
                    <a:bodyPr wrap="square"/>
                    <a:lstStyle/>
                    <a:p>
                      <a:pPr algn="l">
                        <a:lnSpc>
                          <a:spcPct val="100000"/>
                        </a:lnSpc>
                      </a:pPr>
                      <a:r>
                        <a:rPr sz="1800" b="0">
                          <a:solidFill>
                            <a:srgbClr val="14213D"/>
                          </a:solidFill>
                          <a:latin typeface="Segoe UI"/>
                        </a:rPr>
                        <a:t>Source 2: WHO water safety guideline</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EEF4F7"/>
                    </a:solidFill>
                  </a:tcPr>
                </a:tc>
              </a:tr>
              <a:tr h="640080">
                <a:tc>
                  <a:txBody>
                    <a:bodyPr wrap="square"/>
                    <a:lstStyle/>
                    <a:p>
                      <a:pPr algn="l">
                        <a:lnSpc>
                          <a:spcPct val="100000"/>
                        </a:lnSpc>
                      </a:pPr>
                      <a:r>
                        <a:rPr sz="1800" b="0">
                          <a:solidFill>
                            <a:srgbClr val="14213D"/>
                          </a:solidFill>
                          <a:latin typeface="Segoe UI"/>
                        </a:rPr>
                        <a:t>Source 3: rural adoption case study</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a:t>
                      </a:r>
                    </a:p>
                  </a:txBody>
                  <a:tcPr marL="101600" marR="101600" marT="50800" marB="50800" anchor="ctr">
                    <a:solidFill>
                      <a:srgbClr val="FFFFFF"/>
                    </a:solidFill>
                  </a:tcPr>
                </a:tc>
              </a:tr>
            </a:tbl>
          </a:graphicData>
        </a:graphic>
      </p:graphicFrame>
      <p:sp>
        <p:nvSpPr>
          <p:cNvPr id="12" name="Rounded Rectangle 11"/>
          <p:cNvSpPr/>
          <p:nvPr/>
        </p:nvSpPr>
        <p:spPr>
          <a:xfrm>
            <a:off x="777240" y="4983479"/>
            <a:ext cx="10637215" cy="566928"/>
          </a:xfrm>
          <a:prstGeom prst="roundRect">
            <a:avLst>
              <a:gd name="adj" fmla="val 12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960120" y="5084064"/>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2B705"/>
                </a:solidFill>
                <a:latin typeface="Segoe UI"/>
              </a:rPr>
              <a:t>✎</a:t>
            </a:r>
          </a:p>
        </p:txBody>
      </p:sp>
      <p:sp>
        <p:nvSpPr>
          <p:cNvPr id="14" name="TextBox 13"/>
          <p:cNvSpPr txBox="1"/>
          <p:nvPr/>
        </p:nvSpPr>
        <p:spPr>
          <a:xfrm>
            <a:off x="1490472" y="4983479"/>
            <a:ext cx="9722815" cy="566928"/>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14213D"/>
                </a:solidFill>
                <a:latin typeface="Segoe UI Semibold"/>
              </a:rPr>
              <a:t>In pairs: which theme has the weakest coverage? Phrase a one-sentence gap statement from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4 · WRITING THE LITERATURE REVIEW</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900" b="1" i="0">
                <a:solidFill>
                  <a:srgbClr val="14213D"/>
                </a:solidFill>
                <a:latin typeface="Segoe UI Semibold"/>
              </a:rPr>
              <a:t>What a Literature Review Actually Does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16</a:t>
            </a:r>
          </a:p>
        </p:txBody>
      </p:sp>
      <p:sp>
        <p:nvSpPr>
          <p:cNvPr id="9" name="Rounded Rectangle 8"/>
          <p:cNvSpPr/>
          <p:nvPr/>
        </p:nvSpPr>
        <p:spPr>
          <a:xfrm>
            <a:off x="1463040" y="2194560"/>
            <a:ext cx="9265615" cy="749808"/>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691640" y="2368296"/>
            <a:ext cx="402336" cy="402336"/>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1</a:t>
            </a:r>
          </a:p>
        </p:txBody>
      </p:sp>
      <p:sp>
        <p:nvSpPr>
          <p:cNvPr id="11" name="TextBox 10"/>
          <p:cNvSpPr txBox="1"/>
          <p:nvPr/>
        </p:nvSpPr>
        <p:spPr>
          <a:xfrm>
            <a:off x="2331720" y="2194560"/>
            <a:ext cx="8259775" cy="749808"/>
          </a:xfrm>
          <a:prstGeom prst="rect">
            <a:avLst/>
          </a:prstGeom>
          <a:noFill/>
        </p:spPr>
        <p:txBody>
          <a:bodyPr wrap="square" anchor="ctr" lIns="0" rIns="0" tIns="0" bIns="0">
            <a:spAutoFit/>
          </a:bodyPr>
          <a:lstStyle/>
          <a:p>
            <a:pPr algn="l">
              <a:lnSpc>
                <a:spcPct val="100000"/>
              </a:lnSpc>
              <a:spcBef>
                <a:spcPts val="0"/>
              </a:spcBef>
              <a:spcAft>
                <a:spcPts val="0"/>
              </a:spcAft>
            </a:pPr>
            <a:r>
              <a:rPr sz="2200" b="0" i="0">
                <a:solidFill>
                  <a:srgbClr val="14213D"/>
                </a:solidFill>
                <a:latin typeface="Segoe UI"/>
              </a:rPr>
              <a:t>Shares what related studies have already found</a:t>
            </a:r>
          </a:p>
        </p:txBody>
      </p:sp>
      <p:sp>
        <p:nvSpPr>
          <p:cNvPr id="12" name="Rounded Rectangle 11"/>
          <p:cNvSpPr/>
          <p:nvPr/>
        </p:nvSpPr>
        <p:spPr>
          <a:xfrm>
            <a:off x="1463040" y="3127248"/>
            <a:ext cx="9265615" cy="749808"/>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1691640" y="3300984"/>
            <a:ext cx="402336" cy="402336"/>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2</a:t>
            </a:r>
          </a:p>
        </p:txBody>
      </p:sp>
      <p:sp>
        <p:nvSpPr>
          <p:cNvPr id="14" name="TextBox 13"/>
          <p:cNvSpPr txBox="1"/>
          <p:nvPr/>
        </p:nvSpPr>
        <p:spPr>
          <a:xfrm>
            <a:off x="2331720" y="3127248"/>
            <a:ext cx="8259775" cy="749808"/>
          </a:xfrm>
          <a:prstGeom prst="rect">
            <a:avLst/>
          </a:prstGeom>
          <a:noFill/>
        </p:spPr>
        <p:txBody>
          <a:bodyPr wrap="square" anchor="ctr" lIns="0" rIns="0" tIns="0" bIns="0">
            <a:spAutoFit/>
          </a:bodyPr>
          <a:lstStyle/>
          <a:p>
            <a:pPr algn="l">
              <a:lnSpc>
                <a:spcPct val="100000"/>
              </a:lnSpc>
              <a:spcBef>
                <a:spcPts val="0"/>
              </a:spcBef>
              <a:spcAft>
                <a:spcPts val="0"/>
              </a:spcAft>
            </a:pPr>
            <a:r>
              <a:rPr sz="2200" b="0" i="0">
                <a:solidFill>
                  <a:srgbClr val="14213D"/>
                </a:solidFill>
                <a:latin typeface="Segoe UI"/>
              </a:rPr>
              <a:t>Connects your study to the larger, ongoing conversation in the field</a:t>
            </a:r>
          </a:p>
        </p:txBody>
      </p:sp>
      <p:sp>
        <p:nvSpPr>
          <p:cNvPr id="15" name="Rounded Rectangle 14"/>
          <p:cNvSpPr/>
          <p:nvPr/>
        </p:nvSpPr>
        <p:spPr>
          <a:xfrm>
            <a:off x="1463040" y="4059935"/>
            <a:ext cx="9265615" cy="749808"/>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691640" y="4233672"/>
            <a:ext cx="402336" cy="402336"/>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3</a:t>
            </a:r>
          </a:p>
        </p:txBody>
      </p:sp>
      <p:sp>
        <p:nvSpPr>
          <p:cNvPr id="17" name="TextBox 16"/>
          <p:cNvSpPr txBox="1"/>
          <p:nvPr/>
        </p:nvSpPr>
        <p:spPr>
          <a:xfrm>
            <a:off x="2331720" y="4059935"/>
            <a:ext cx="8259775" cy="749808"/>
          </a:xfrm>
          <a:prstGeom prst="rect">
            <a:avLst/>
          </a:prstGeom>
          <a:noFill/>
        </p:spPr>
        <p:txBody>
          <a:bodyPr wrap="square" anchor="ctr" lIns="0" rIns="0" tIns="0" bIns="0">
            <a:spAutoFit/>
          </a:bodyPr>
          <a:lstStyle/>
          <a:p>
            <a:pPr algn="l">
              <a:lnSpc>
                <a:spcPct val="100000"/>
              </a:lnSpc>
              <a:spcBef>
                <a:spcPts val="0"/>
              </a:spcBef>
              <a:spcAft>
                <a:spcPts val="0"/>
              </a:spcAft>
            </a:pPr>
            <a:r>
              <a:rPr sz="2200" b="0" i="0">
                <a:solidFill>
                  <a:srgbClr val="14213D"/>
                </a:solidFill>
                <a:latin typeface="Segoe UI"/>
              </a:rPr>
              <a:t>Provides a framework for judging the importance of your study</a:t>
            </a:r>
          </a:p>
        </p:txBody>
      </p:sp>
      <p:sp>
        <p:nvSpPr>
          <p:cNvPr id="18" name="Rounded Rectangle 17"/>
          <p:cNvSpPr/>
          <p:nvPr/>
        </p:nvSpPr>
        <p:spPr>
          <a:xfrm>
            <a:off x="1463040" y="4992623"/>
            <a:ext cx="9265615" cy="749808"/>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691640" y="5166359"/>
            <a:ext cx="402336" cy="402336"/>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4</a:t>
            </a:r>
          </a:p>
        </p:txBody>
      </p:sp>
      <p:sp>
        <p:nvSpPr>
          <p:cNvPr id="20" name="TextBox 19"/>
          <p:cNvSpPr txBox="1"/>
          <p:nvPr/>
        </p:nvSpPr>
        <p:spPr>
          <a:xfrm>
            <a:off x="2331720" y="4992623"/>
            <a:ext cx="8259775" cy="749808"/>
          </a:xfrm>
          <a:prstGeom prst="rect">
            <a:avLst/>
          </a:prstGeom>
          <a:noFill/>
        </p:spPr>
        <p:txBody>
          <a:bodyPr wrap="square" anchor="ctr" lIns="0" rIns="0" tIns="0" bIns="0">
            <a:spAutoFit/>
          </a:bodyPr>
          <a:lstStyle/>
          <a:p>
            <a:pPr algn="l">
              <a:lnSpc>
                <a:spcPct val="100000"/>
              </a:lnSpc>
              <a:spcBef>
                <a:spcPts val="0"/>
              </a:spcBef>
              <a:spcAft>
                <a:spcPts val="0"/>
              </a:spcAft>
            </a:pPr>
            <a:r>
              <a:rPr sz="2200" b="0" i="0">
                <a:solidFill>
                  <a:srgbClr val="14213D"/>
                </a:solidFill>
                <a:latin typeface="Segoe UI"/>
              </a:rPr>
              <a:t>Gives a benchmark for later comparing your own results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4 · WRITING THE LITERATURE REVIEW</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The Quantitative Literature Review Structure</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17</a:t>
            </a:r>
          </a:p>
        </p:txBody>
      </p:sp>
      <p:sp>
        <p:nvSpPr>
          <p:cNvPr id="9" name="Rounded Rectangle 8"/>
          <p:cNvSpPr/>
          <p:nvPr/>
        </p:nvSpPr>
        <p:spPr>
          <a:xfrm>
            <a:off x="1706727" y="1847088"/>
            <a:ext cx="8778240" cy="713232"/>
          </a:xfrm>
          <a:prstGeom prst="roundRect">
            <a:avLst>
              <a:gd name="adj" fmla="val 14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800" b="1" i="0">
                <a:solidFill>
                  <a:srgbClr val="FFFFFF"/>
                </a:solidFill>
                <a:latin typeface="Segoe UI Semibold"/>
              </a:rPr>
              <a:t>1  Introduction  </a:t>
            </a:r>
            <a:r>
              <a:rPr sz="1500" b="0" i="0">
                <a:solidFill>
                  <a:srgbClr val="EAF6F8"/>
                </a:solidFill>
                <a:latin typeface="Segoe UI"/>
              </a:rPr>
              <a:t>previews the sections to come</a:t>
            </a:r>
          </a:p>
        </p:txBody>
      </p:sp>
      <p:sp>
        <p:nvSpPr>
          <p:cNvPr id="10" name="Rounded Rectangle 9"/>
          <p:cNvSpPr/>
          <p:nvPr/>
        </p:nvSpPr>
        <p:spPr>
          <a:xfrm>
            <a:off x="2255367" y="2688336"/>
            <a:ext cx="7680960" cy="713232"/>
          </a:xfrm>
          <a:prstGeom prst="roundRect">
            <a:avLst>
              <a:gd name="adj" fmla="val 14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800" b="1" i="0">
                <a:solidFill>
                  <a:srgbClr val="FFFFFF"/>
                </a:solidFill>
                <a:latin typeface="Segoe UI Semibold"/>
              </a:rPr>
              <a:t>2  Topic 1  </a:t>
            </a:r>
            <a:r>
              <a:rPr sz="1500" b="0" i="0">
                <a:solidFill>
                  <a:srgbClr val="EAF6F8"/>
                </a:solidFill>
                <a:latin typeface="Segoe UI"/>
              </a:rPr>
              <a:t>literature on the independent variable</a:t>
            </a:r>
          </a:p>
        </p:txBody>
      </p:sp>
      <p:sp>
        <p:nvSpPr>
          <p:cNvPr id="11" name="Rounded Rectangle 10"/>
          <p:cNvSpPr/>
          <p:nvPr/>
        </p:nvSpPr>
        <p:spPr>
          <a:xfrm>
            <a:off x="2804007" y="3529584"/>
            <a:ext cx="6583680" cy="713232"/>
          </a:xfrm>
          <a:prstGeom prst="roundRect">
            <a:avLst>
              <a:gd name="adj" fmla="val 14000"/>
            </a:avLst>
          </a:prstGeom>
          <a:solidFill>
            <a:srgbClr val="115968"/>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800" b="1" i="0">
                <a:solidFill>
                  <a:srgbClr val="FFFFFF"/>
                </a:solidFill>
                <a:latin typeface="Segoe UI Semibold"/>
              </a:rPr>
              <a:t>3  Topic 2  </a:t>
            </a:r>
            <a:r>
              <a:rPr sz="1500" b="0" i="0">
                <a:solidFill>
                  <a:srgbClr val="EAF6F8"/>
                </a:solidFill>
                <a:latin typeface="Segoe UI"/>
              </a:rPr>
              <a:t>literature on the dependent variable</a:t>
            </a:r>
          </a:p>
        </p:txBody>
      </p:sp>
      <p:sp>
        <p:nvSpPr>
          <p:cNvPr id="12" name="Rounded Rectangle 11"/>
          <p:cNvSpPr/>
          <p:nvPr/>
        </p:nvSpPr>
        <p:spPr>
          <a:xfrm>
            <a:off x="3352647" y="4370832"/>
            <a:ext cx="5486400" cy="713232"/>
          </a:xfrm>
          <a:prstGeom prst="roundRect">
            <a:avLst>
              <a:gd name="adj" fmla="val 14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800" b="1" i="0">
                <a:solidFill>
                  <a:srgbClr val="FFFFFF"/>
                </a:solidFill>
                <a:latin typeface="Segoe UI Semibold"/>
              </a:rPr>
              <a:t>4  Topic 3  </a:t>
            </a:r>
            <a:r>
              <a:rPr sz="1500" b="0" i="0">
                <a:solidFill>
                  <a:srgbClr val="EAF6F8"/>
                </a:solidFill>
                <a:latin typeface="Segoe UI"/>
              </a:rPr>
              <a:t>studies that connect both variables together</a:t>
            </a:r>
          </a:p>
        </p:txBody>
      </p:sp>
      <p:sp>
        <p:nvSpPr>
          <p:cNvPr id="13" name="Rounded Rectangle 12"/>
          <p:cNvSpPr/>
          <p:nvPr/>
        </p:nvSpPr>
        <p:spPr>
          <a:xfrm>
            <a:off x="2072487" y="5212080"/>
            <a:ext cx="8046720" cy="713232"/>
          </a:xfrm>
          <a:prstGeom prst="roundRect">
            <a:avLst>
              <a:gd name="adj" fmla="val 14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800" b="1" i="0">
                <a:solidFill>
                  <a:srgbClr val="FFFFFF"/>
                </a:solidFill>
                <a:latin typeface="Segoe UI Semibold"/>
              </a:rPr>
              <a:t>5  Summary  </a:t>
            </a:r>
            <a:r>
              <a:rPr sz="1500" b="0" i="0">
                <a:solidFill>
                  <a:srgbClr val="EAF6F8"/>
                </a:solidFill>
                <a:latin typeface="Segoe UI"/>
              </a:rPr>
              <a:t>key themes · why more research is needed · how the study fills the need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4 · WRITING THE LITERATURE REVIEW</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Example — Applying the Five-Part Structure</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18</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Rounded Rectangle 10"/>
          <p:cNvSpPr/>
          <p:nvPr/>
        </p:nvSpPr>
        <p:spPr>
          <a:xfrm>
            <a:off x="777240" y="2194560"/>
            <a:ext cx="109728" cy="566928"/>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560" y="2194560"/>
            <a:ext cx="10271455" cy="640080"/>
          </a:xfrm>
          <a:prstGeom prst="rect">
            <a:avLst/>
          </a:prstGeom>
          <a:noFill/>
        </p:spPr>
        <p:txBody>
          <a:bodyPr wrap="square" anchor="ctr" lIns="0" rIns="0" tIns="0" bIns="0">
            <a:spAutoFit/>
          </a:bodyPr>
          <a:lstStyle/>
          <a:p>
            <a:pPr algn="l">
              <a:lnSpc>
                <a:spcPct val="102000"/>
              </a:lnSpc>
              <a:spcBef>
                <a:spcPts val="0"/>
              </a:spcBef>
              <a:spcAft>
                <a:spcPts val="0"/>
              </a:spcAft>
            </a:pPr>
            <a:r>
              <a:rPr sz="1850" b="1" i="0">
                <a:solidFill>
                  <a:srgbClr val="1D7A8C"/>
                </a:solidFill>
                <a:latin typeface="Segoe UI Semibold"/>
              </a:rPr>
              <a:t>Introduction:  </a:t>
            </a:r>
            <a:r>
              <a:rPr sz="1850" b="0" i="0">
                <a:solidFill>
                  <a:srgbClr val="14213D"/>
                </a:solidFill>
                <a:latin typeface="Segoe UI"/>
              </a:rPr>
              <a:t>This review covers solar water distillation design, microbial water safety, and studies linking the two</a:t>
            </a:r>
          </a:p>
        </p:txBody>
      </p:sp>
      <p:sp>
        <p:nvSpPr>
          <p:cNvPr id="13" name="Rounded Rectangle 12"/>
          <p:cNvSpPr/>
          <p:nvPr/>
        </p:nvSpPr>
        <p:spPr>
          <a:xfrm>
            <a:off x="777240" y="2944368"/>
            <a:ext cx="109728" cy="566928"/>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51560" y="2944368"/>
            <a:ext cx="10271455" cy="640080"/>
          </a:xfrm>
          <a:prstGeom prst="rect">
            <a:avLst/>
          </a:prstGeom>
          <a:noFill/>
        </p:spPr>
        <p:txBody>
          <a:bodyPr wrap="square" anchor="ctr" lIns="0" rIns="0" tIns="0" bIns="0">
            <a:spAutoFit/>
          </a:bodyPr>
          <a:lstStyle/>
          <a:p>
            <a:pPr algn="l">
              <a:lnSpc>
                <a:spcPct val="102000"/>
              </a:lnSpc>
              <a:spcBef>
                <a:spcPts val="0"/>
              </a:spcBef>
              <a:spcAft>
                <a:spcPts val="0"/>
              </a:spcAft>
            </a:pPr>
            <a:r>
              <a:rPr sz="1850" b="1" i="0">
                <a:solidFill>
                  <a:srgbClr val="1D7A8C"/>
                </a:solidFill>
                <a:latin typeface="Segoe UI Semibold"/>
              </a:rPr>
              <a:t>Topic 1 (independent variable):  </a:t>
            </a:r>
            <a:r>
              <a:rPr sz="1850" b="0" i="0">
                <a:solidFill>
                  <a:srgbClr val="14213D"/>
                </a:solidFill>
                <a:latin typeface="Segoe UI"/>
              </a:rPr>
              <a:t>literature on solar water distiller designs and efficiency</a:t>
            </a:r>
          </a:p>
        </p:txBody>
      </p:sp>
      <p:sp>
        <p:nvSpPr>
          <p:cNvPr id="15" name="Rounded Rectangle 14"/>
          <p:cNvSpPr/>
          <p:nvPr/>
        </p:nvSpPr>
        <p:spPr>
          <a:xfrm>
            <a:off x="777240" y="3694176"/>
            <a:ext cx="109728" cy="566928"/>
          </a:xfrm>
          <a:prstGeom prst="roundRect">
            <a:avLst>
              <a:gd name="adj" fmla="val 50000"/>
            </a:avLst>
          </a:prstGeom>
          <a:solidFill>
            <a:srgbClr val="1159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51560" y="3694176"/>
            <a:ext cx="10271455" cy="640080"/>
          </a:xfrm>
          <a:prstGeom prst="rect">
            <a:avLst/>
          </a:prstGeom>
          <a:noFill/>
        </p:spPr>
        <p:txBody>
          <a:bodyPr wrap="square" anchor="ctr" lIns="0" rIns="0" tIns="0" bIns="0">
            <a:spAutoFit/>
          </a:bodyPr>
          <a:lstStyle/>
          <a:p>
            <a:pPr algn="l">
              <a:lnSpc>
                <a:spcPct val="102000"/>
              </a:lnSpc>
              <a:spcBef>
                <a:spcPts val="0"/>
              </a:spcBef>
              <a:spcAft>
                <a:spcPts val="0"/>
              </a:spcAft>
            </a:pPr>
            <a:r>
              <a:rPr sz="1850" b="1" i="0">
                <a:solidFill>
                  <a:srgbClr val="115968"/>
                </a:solidFill>
                <a:latin typeface="Segoe UI Semibold"/>
              </a:rPr>
              <a:t>Topic 2 (dependent variable):  </a:t>
            </a:r>
            <a:r>
              <a:rPr sz="1850" b="0" i="0">
                <a:solidFill>
                  <a:srgbClr val="14213D"/>
                </a:solidFill>
                <a:latin typeface="Segoe UI"/>
              </a:rPr>
              <a:t>literature on microbial contamination levels and water safety standards</a:t>
            </a:r>
          </a:p>
        </p:txBody>
      </p:sp>
      <p:sp>
        <p:nvSpPr>
          <p:cNvPr id="17" name="Rounded Rectangle 16"/>
          <p:cNvSpPr/>
          <p:nvPr/>
        </p:nvSpPr>
        <p:spPr>
          <a:xfrm>
            <a:off x="777240" y="4443984"/>
            <a:ext cx="109728" cy="56692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51560" y="4443984"/>
            <a:ext cx="10271455" cy="640080"/>
          </a:xfrm>
          <a:prstGeom prst="rect">
            <a:avLst/>
          </a:prstGeom>
          <a:noFill/>
        </p:spPr>
        <p:txBody>
          <a:bodyPr wrap="square" anchor="ctr" lIns="0" rIns="0" tIns="0" bIns="0">
            <a:spAutoFit/>
          </a:bodyPr>
          <a:lstStyle/>
          <a:p>
            <a:pPr algn="l">
              <a:lnSpc>
                <a:spcPct val="102000"/>
              </a:lnSpc>
              <a:spcBef>
                <a:spcPts val="0"/>
              </a:spcBef>
              <a:spcAft>
                <a:spcPts val="0"/>
              </a:spcAft>
            </a:pPr>
            <a:r>
              <a:rPr sz="1850" b="1" i="0">
                <a:solidFill>
                  <a:srgbClr val="F4795B"/>
                </a:solidFill>
                <a:latin typeface="Segoe UI Semibold"/>
              </a:rPr>
              <a:t>Topic 3 (linking studies):  </a:t>
            </a:r>
            <a:r>
              <a:rPr sz="1850" b="0" i="0">
                <a:solidFill>
                  <a:srgbClr val="14213D"/>
                </a:solidFill>
                <a:latin typeface="Segoe UI"/>
              </a:rPr>
              <a:t>the few existing studies testing distillation's direct effect on microbial safety</a:t>
            </a:r>
          </a:p>
        </p:txBody>
      </p:sp>
      <p:sp>
        <p:nvSpPr>
          <p:cNvPr id="19" name="Rounded Rectangle 18"/>
          <p:cNvSpPr/>
          <p:nvPr/>
        </p:nvSpPr>
        <p:spPr>
          <a:xfrm>
            <a:off x="777240" y="5193792"/>
            <a:ext cx="109728" cy="56692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51560" y="5193792"/>
            <a:ext cx="10271455" cy="640080"/>
          </a:xfrm>
          <a:prstGeom prst="rect">
            <a:avLst/>
          </a:prstGeom>
          <a:noFill/>
        </p:spPr>
        <p:txBody>
          <a:bodyPr wrap="square" anchor="ctr" lIns="0" rIns="0" tIns="0" bIns="0">
            <a:spAutoFit/>
          </a:bodyPr>
          <a:lstStyle/>
          <a:p>
            <a:pPr algn="l">
              <a:lnSpc>
                <a:spcPct val="102000"/>
              </a:lnSpc>
              <a:spcBef>
                <a:spcPts val="0"/>
              </a:spcBef>
              <a:spcAft>
                <a:spcPts val="0"/>
              </a:spcAft>
            </a:pPr>
            <a:r>
              <a:rPr sz="1850" b="1" i="0">
                <a:solidFill>
                  <a:srgbClr val="14213D"/>
                </a:solidFill>
                <a:latin typeface="Segoe UI Semibold"/>
              </a:rPr>
              <a:t>Summary:  </a:t>
            </a:r>
            <a:r>
              <a:rPr sz="1850" b="0" i="0">
                <a:solidFill>
                  <a:srgbClr val="14213D"/>
                </a:solidFill>
                <a:latin typeface="Segoe UI"/>
              </a:rPr>
              <a:t>most studies test distillation efficiency or water safety separately, rarely together in a Philippine coastal barangay setting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4 · WRITING THE LITERATURE REVIEW</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Literature Review in a Mixed Methods Study</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19</a:t>
            </a:r>
          </a:p>
        </p:txBody>
      </p:sp>
      <p:sp>
        <p:nvSpPr>
          <p:cNvPr id="9" name="Rounded Rectangle 8"/>
          <p:cNvSpPr/>
          <p:nvPr/>
        </p:nvSpPr>
        <p:spPr>
          <a:xfrm>
            <a:off x="4175607" y="1874519"/>
            <a:ext cx="3840480" cy="640080"/>
          </a:xfrm>
          <a:prstGeom prst="roundRect">
            <a:avLst>
              <a:gd name="adj" fmla="val 12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Which phase leads the study's design?</a:t>
            </a:r>
          </a:p>
        </p:txBody>
      </p:sp>
      <p:cxnSp>
        <p:nvCxnSpPr>
          <p:cNvPr id="10" name="Connector 9"/>
          <p:cNvCxnSpPr/>
          <p:nvPr/>
        </p:nvCxnSpPr>
        <p:spPr>
          <a:xfrm flipH="1">
            <a:off x="3566160" y="2514600"/>
            <a:ext cx="2529687" cy="914400"/>
          </a:xfrm>
          <a:prstGeom prst="line">
            <a:avLst/>
          </a:prstGeom>
          <a:ln w="31750">
            <a:solidFill>
              <a:srgbClr val="1D7A8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2514600"/>
            <a:ext cx="2590953" cy="914400"/>
          </a:xfrm>
          <a:prstGeom prst="line">
            <a:avLst/>
          </a:prstGeom>
          <a:ln w="31750">
            <a:solidFill>
              <a:srgbClr val="F4795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4560" y="3429000"/>
            <a:ext cx="2743200"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450591" y="3429000"/>
            <a:ext cx="2304288"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Quantitative-first</a:t>
            </a:r>
          </a:p>
        </p:txBody>
      </p:sp>
      <p:sp>
        <p:nvSpPr>
          <p:cNvPr id="14" name="Rounded Rectangle 13"/>
          <p:cNvSpPr/>
          <p:nvPr/>
        </p:nvSpPr>
        <p:spPr>
          <a:xfrm>
            <a:off x="2194560" y="3995928"/>
            <a:ext cx="2743200" cy="16916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450591" y="3995928"/>
            <a:ext cx="2231136" cy="1691640"/>
          </a:xfrm>
          <a:prstGeom prst="rect">
            <a:avLst/>
          </a:prstGeom>
          <a:noFill/>
        </p:spPr>
        <p:txBody>
          <a:bodyPr wrap="square" anchor="ctr" lIns="0" rIns="0" tIns="0" bIns="0">
            <a:spAutoFit/>
          </a:bodyPr>
          <a:lstStyle/>
          <a:p>
            <a:pPr algn="l">
              <a:lnSpc>
                <a:spcPct val="112000"/>
              </a:lnSpc>
              <a:spcBef>
                <a:spcPts val="0"/>
              </a:spcBef>
              <a:spcAft>
                <a:spcPts val="0"/>
              </a:spcAft>
            </a:pPr>
            <a:r>
              <a:rPr sz="1800" b="0" i="0">
                <a:solidFill>
                  <a:srgbClr val="14213D"/>
                </a:solidFill>
                <a:latin typeface="Segoe UI"/>
              </a:rPr>
              <a:t>Include a fuller literature review upfront, similar to the five-part structure</a:t>
            </a:r>
          </a:p>
        </p:txBody>
      </p:sp>
      <p:sp>
        <p:nvSpPr>
          <p:cNvPr id="16" name="Rounded Rectangle 15"/>
          <p:cNvSpPr/>
          <p:nvPr/>
        </p:nvSpPr>
        <p:spPr>
          <a:xfrm>
            <a:off x="7315200" y="3429000"/>
            <a:ext cx="2743200" cy="566928"/>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571231" y="3429000"/>
            <a:ext cx="2304288"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Qualitative-first</a:t>
            </a:r>
          </a:p>
        </p:txBody>
      </p:sp>
      <p:sp>
        <p:nvSpPr>
          <p:cNvPr id="18" name="Rounded Rectangle 17"/>
          <p:cNvSpPr/>
          <p:nvPr/>
        </p:nvSpPr>
        <p:spPr>
          <a:xfrm>
            <a:off x="7315200" y="3995928"/>
            <a:ext cx="2743200" cy="16916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571231" y="3995928"/>
            <a:ext cx="2231136" cy="1691640"/>
          </a:xfrm>
          <a:prstGeom prst="rect">
            <a:avLst/>
          </a:prstGeom>
          <a:noFill/>
        </p:spPr>
        <p:txBody>
          <a:bodyPr wrap="square" anchor="ctr" lIns="0" rIns="0" tIns="0" bIns="0">
            <a:spAutoFit/>
          </a:bodyPr>
          <a:lstStyle/>
          <a:p>
            <a:pPr algn="l">
              <a:lnSpc>
                <a:spcPct val="112000"/>
              </a:lnSpc>
              <a:spcBef>
                <a:spcPts val="0"/>
              </a:spcBef>
              <a:spcAft>
                <a:spcPts val="0"/>
              </a:spcAft>
            </a:pPr>
            <a:r>
              <a:rPr sz="1800" b="0" i="0">
                <a:solidFill>
                  <a:srgbClr val="14213D"/>
                </a:solidFill>
                <a:latin typeface="Segoe UI"/>
              </a:rPr>
              <a:t>Include less literature upfront; more may be added later as findings emerge</a:t>
            </a:r>
          </a:p>
        </p:txBody>
      </p:sp>
      <p:sp>
        <p:nvSpPr>
          <p:cNvPr id="20" name="Rounded Rectangle 19"/>
          <p:cNvSpPr/>
          <p:nvPr/>
        </p:nvSpPr>
        <p:spPr>
          <a:xfrm>
            <a:off x="777240" y="5715000"/>
            <a:ext cx="10637215" cy="566928"/>
          </a:xfrm>
          <a:prstGeom prst="roundRect">
            <a:avLst>
              <a:gd name="adj" fmla="val 1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7280" y="5715000"/>
            <a:ext cx="9997135" cy="566928"/>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24344F"/>
                </a:solidFill>
                <a:latin typeface="Segoe UI"/>
              </a:rPr>
              <a:t>The choice depends on which phase leads the study's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4 · WRITING THE LITERATURE REVIEW</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Application — Outline Your Own Review</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20</a:t>
            </a:r>
          </a:p>
        </p:txBody>
      </p:sp>
      <p:sp>
        <p:nvSpPr>
          <p:cNvPr id="9" name="Rounded Rectangle 8"/>
          <p:cNvSpPr/>
          <p:nvPr/>
        </p:nvSpPr>
        <p:spPr>
          <a:xfrm>
            <a:off x="777240" y="1719072"/>
            <a:ext cx="1495958"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1313078"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Activity template</a:t>
            </a:r>
          </a:p>
        </p:txBody>
      </p:sp>
      <p:sp>
        <p:nvSpPr>
          <p:cNvPr id="11" name="Rounded Rectangle 10"/>
          <p:cNvSpPr/>
          <p:nvPr/>
        </p:nvSpPr>
        <p:spPr>
          <a:xfrm>
            <a:off x="777240" y="2194560"/>
            <a:ext cx="10637215" cy="393192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43000" y="2514600"/>
            <a:ext cx="9905695" cy="3383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4213D"/>
                </a:solidFill>
                <a:latin typeface="Segoe UI Semibold"/>
              </a:rPr>
              <a:t>Introduction:</a:t>
            </a:r>
          </a:p>
        </p:txBody>
      </p:sp>
      <p:sp>
        <p:nvSpPr>
          <p:cNvPr id="13" name="Rounded Rectangle 12"/>
          <p:cNvSpPr/>
          <p:nvPr/>
        </p:nvSpPr>
        <p:spPr>
          <a:xfrm>
            <a:off x="1143000" y="2934126"/>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43000" y="3191256"/>
            <a:ext cx="9905695" cy="3383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4213D"/>
                </a:solidFill>
                <a:latin typeface="Segoe UI Semibold"/>
              </a:rPr>
              <a:t>Topic 1 (independent variable):</a:t>
            </a:r>
          </a:p>
        </p:txBody>
      </p:sp>
      <p:sp>
        <p:nvSpPr>
          <p:cNvPr id="15" name="Rounded Rectangle 14"/>
          <p:cNvSpPr/>
          <p:nvPr/>
        </p:nvSpPr>
        <p:spPr>
          <a:xfrm>
            <a:off x="1143000" y="3610782"/>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143000" y="3867912"/>
            <a:ext cx="9905695" cy="3383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4213D"/>
                </a:solidFill>
                <a:latin typeface="Segoe UI Semibold"/>
              </a:rPr>
              <a:t>Topic 2 (dependent variable):</a:t>
            </a:r>
          </a:p>
        </p:txBody>
      </p:sp>
      <p:sp>
        <p:nvSpPr>
          <p:cNvPr id="17" name="Rounded Rectangle 16"/>
          <p:cNvSpPr/>
          <p:nvPr/>
        </p:nvSpPr>
        <p:spPr>
          <a:xfrm>
            <a:off x="1143000" y="4287438"/>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43000" y="4544568"/>
            <a:ext cx="9905695" cy="3383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4213D"/>
                </a:solidFill>
                <a:latin typeface="Segoe UI Semibold"/>
              </a:rPr>
              <a:t>Topic 3 (linking studies):</a:t>
            </a:r>
          </a:p>
        </p:txBody>
      </p:sp>
      <p:sp>
        <p:nvSpPr>
          <p:cNvPr id="19" name="Rounded Rectangle 18"/>
          <p:cNvSpPr/>
          <p:nvPr/>
        </p:nvSpPr>
        <p:spPr>
          <a:xfrm>
            <a:off x="1143000" y="4964094"/>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143000" y="5221224"/>
            <a:ext cx="9905695" cy="338328"/>
          </a:xfrm>
          <a:prstGeom prst="rect">
            <a:avLst/>
          </a:prstGeom>
          <a:noFill/>
        </p:spPr>
        <p:txBody>
          <a:bodyPr wrap="square" anchor="t" lIns="0" rIns="0" tIns="0" bIns="0">
            <a:spAutoFit/>
          </a:bodyPr>
          <a:lstStyle/>
          <a:p>
            <a:pPr algn="l">
              <a:lnSpc>
                <a:spcPct val="105000"/>
              </a:lnSpc>
              <a:spcBef>
                <a:spcPts val="0"/>
              </a:spcBef>
              <a:spcAft>
                <a:spcPts val="0"/>
              </a:spcAft>
            </a:pPr>
            <a:r>
              <a:rPr sz="2200" b="1" i="0">
                <a:solidFill>
                  <a:srgbClr val="14213D"/>
                </a:solidFill>
                <a:latin typeface="Segoe UI Semibold"/>
              </a:rPr>
              <a:t>Summary / gap statement:</a:t>
            </a:r>
          </a:p>
        </p:txBody>
      </p:sp>
      <p:sp>
        <p:nvSpPr>
          <p:cNvPr id="21" name="Rounded Rectangle 20"/>
          <p:cNvSpPr/>
          <p:nvPr/>
        </p:nvSpPr>
        <p:spPr>
          <a:xfrm>
            <a:off x="1143000" y="5640750"/>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From Gap to Problem Statement</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21</a:t>
            </a:r>
          </a:p>
        </p:txBody>
      </p:sp>
      <p:sp>
        <p:nvSpPr>
          <p:cNvPr id="9" name="Rounded Rectangle 8"/>
          <p:cNvSpPr/>
          <p:nvPr/>
        </p:nvSpPr>
        <p:spPr>
          <a:xfrm>
            <a:off x="777240" y="2514600"/>
            <a:ext cx="4663440" cy="210312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2514600"/>
            <a:ext cx="4663440"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1" y="2514600"/>
            <a:ext cx="4224527" cy="566928"/>
          </a:xfrm>
          <a:prstGeom prst="rect">
            <a:avLst/>
          </a:prstGeom>
          <a:noFill/>
        </p:spPr>
        <p:txBody>
          <a:bodyPr wrap="square" anchor="ctr" lIns="0" rIns="0" tIns="0" bIns="0">
            <a:spAutoFit/>
          </a:bodyPr>
          <a:lstStyle/>
          <a:p>
            <a:pPr algn="l">
              <a:lnSpc>
                <a:spcPct val="105000"/>
              </a:lnSpc>
              <a:spcBef>
                <a:spcPts val="0"/>
              </a:spcBef>
              <a:spcAft>
                <a:spcPts val="0"/>
              </a:spcAft>
            </a:pPr>
            <a:r>
              <a:rPr sz="1600" b="1" i="0">
                <a:solidFill>
                  <a:srgbClr val="FFFFFF"/>
                </a:solidFill>
                <a:latin typeface="Segoe UI Semibold"/>
              </a:rPr>
              <a:t>STEP 1 · YOU HAVE A GAP</a:t>
            </a:r>
          </a:p>
        </p:txBody>
      </p:sp>
      <p:sp>
        <p:nvSpPr>
          <p:cNvPr id="12" name="TextBox 11"/>
          <p:cNvSpPr txBox="1"/>
          <p:nvPr/>
        </p:nvSpPr>
        <p:spPr>
          <a:xfrm>
            <a:off x="1051560" y="3246120"/>
            <a:ext cx="4114800" cy="1280160"/>
          </a:xfrm>
          <a:prstGeom prst="rect">
            <a:avLst/>
          </a:prstGeom>
          <a:noFill/>
        </p:spPr>
        <p:txBody>
          <a:bodyPr wrap="square" anchor="ctr" lIns="0" rIns="0" tIns="0" bIns="0">
            <a:spAutoFit/>
          </a:bodyPr>
          <a:lstStyle/>
          <a:p>
            <a:pPr algn="l">
              <a:lnSpc>
                <a:spcPct val="112000"/>
              </a:lnSpc>
              <a:spcBef>
                <a:spcPts val="0"/>
              </a:spcBef>
              <a:spcAft>
                <a:spcPts val="0"/>
              </a:spcAft>
            </a:pPr>
            <a:r>
              <a:rPr sz="2200" b="0" i="1">
                <a:solidFill>
                  <a:srgbClr val="14213D"/>
                </a:solidFill>
                <a:latin typeface="Segoe UI"/>
              </a:rPr>
              <a:t>“Human mobility is underused in dengue prediction models.”</a:t>
            </a:r>
          </a:p>
        </p:txBody>
      </p:sp>
      <p:sp>
        <p:nvSpPr>
          <p:cNvPr id="13" name="Right Arrow 12"/>
          <p:cNvSpPr/>
          <p:nvPr/>
        </p:nvSpPr>
        <p:spPr>
          <a:xfrm>
            <a:off x="5623560" y="3337560"/>
            <a:ext cx="914400" cy="457200"/>
          </a:xfrm>
          <a:prstGeom prst="rightArrow">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0" y="2514600"/>
            <a:ext cx="4663440" cy="210312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0" y="2514600"/>
            <a:ext cx="4663440" cy="566928"/>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022592" y="2514600"/>
            <a:ext cx="4224527" cy="566928"/>
          </a:xfrm>
          <a:prstGeom prst="rect">
            <a:avLst/>
          </a:prstGeom>
          <a:noFill/>
        </p:spPr>
        <p:txBody>
          <a:bodyPr wrap="square" anchor="ctr" lIns="0" rIns="0" tIns="0" bIns="0">
            <a:spAutoFit/>
          </a:bodyPr>
          <a:lstStyle/>
          <a:p>
            <a:pPr algn="l">
              <a:lnSpc>
                <a:spcPct val="105000"/>
              </a:lnSpc>
              <a:spcBef>
                <a:spcPts val="0"/>
              </a:spcBef>
              <a:spcAft>
                <a:spcPts val="0"/>
              </a:spcAft>
            </a:pPr>
            <a:r>
              <a:rPr sz="1600" b="1" i="0">
                <a:solidFill>
                  <a:srgbClr val="FFFFFF"/>
                </a:solidFill>
                <a:latin typeface="Segoe UI Semibold"/>
              </a:rPr>
              <a:t>STEP 2 · PROBLEM STATEMENT</a:t>
            </a:r>
          </a:p>
        </p:txBody>
      </p:sp>
      <p:sp>
        <p:nvSpPr>
          <p:cNvPr id="17" name="TextBox 16"/>
          <p:cNvSpPr txBox="1"/>
          <p:nvPr/>
        </p:nvSpPr>
        <p:spPr>
          <a:xfrm>
            <a:off x="7040880" y="3246120"/>
            <a:ext cx="4114800" cy="1280160"/>
          </a:xfrm>
          <a:prstGeom prst="rect">
            <a:avLst/>
          </a:prstGeom>
          <a:noFill/>
        </p:spPr>
        <p:txBody>
          <a:bodyPr wrap="square" anchor="ctr" lIns="0" rIns="0" tIns="0" bIns="0">
            <a:spAutoFit/>
          </a:bodyPr>
          <a:lstStyle/>
          <a:p>
            <a:pPr algn="l">
              <a:lnSpc>
                <a:spcPct val="112000"/>
              </a:lnSpc>
              <a:spcBef>
                <a:spcPts val="0"/>
              </a:spcBef>
              <a:spcAft>
                <a:spcPts val="0"/>
              </a:spcAft>
            </a:pPr>
            <a:r>
              <a:rPr sz="2200" b="0" i="0">
                <a:solidFill>
                  <a:srgbClr val="14213D"/>
                </a:solidFill>
                <a:latin typeface="Segoe UI"/>
              </a:rPr>
              <a:t>A focused, researchable claim about what is missing and why it matters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Characteristics of a Researchable Problem</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22</a:t>
            </a:r>
          </a:p>
        </p:txBody>
      </p:sp>
      <p:sp>
        <p:nvSpPr>
          <p:cNvPr id="9" name="Oval 8"/>
          <p:cNvSpPr/>
          <p:nvPr/>
        </p:nvSpPr>
        <p:spPr>
          <a:xfrm>
            <a:off x="1280160" y="205740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a:t>
            </a:r>
          </a:p>
        </p:txBody>
      </p:sp>
      <p:sp>
        <p:nvSpPr>
          <p:cNvPr id="10" name="TextBox 9"/>
          <p:cNvSpPr txBox="1"/>
          <p:nvPr/>
        </p:nvSpPr>
        <p:spPr>
          <a:xfrm>
            <a:off x="1847088" y="2002536"/>
            <a:ext cx="9064447" cy="658368"/>
          </a:xfrm>
          <a:prstGeom prst="rect">
            <a:avLst/>
          </a:prstGeom>
          <a:noFill/>
        </p:spPr>
        <p:txBody>
          <a:bodyPr wrap="square" anchor="ctr" lIns="0" rIns="0" tIns="0" bIns="0">
            <a:spAutoFit/>
          </a:bodyPr>
          <a:lstStyle/>
          <a:p>
            <a:pPr algn="l">
              <a:lnSpc>
                <a:spcPct val="100000"/>
              </a:lnSpc>
              <a:spcBef>
                <a:spcPts val="0"/>
              </a:spcBef>
              <a:spcAft>
                <a:spcPts val="0"/>
              </a:spcAft>
            </a:pPr>
            <a:r>
              <a:rPr sz="2300" b="0" i="0">
                <a:solidFill>
                  <a:srgbClr val="14213D"/>
                </a:solidFill>
                <a:latin typeface="Segoe UI"/>
              </a:rPr>
              <a:t>Addresses a real </a:t>
            </a:r>
            <a:r>
              <a:rPr sz="2300" b="1" i="0">
                <a:solidFill>
                  <a:srgbClr val="14213D"/>
                </a:solidFill>
                <a:latin typeface="Segoe UI"/>
              </a:rPr>
              <a:t>knowledge gap</a:t>
            </a:r>
          </a:p>
        </p:txBody>
      </p:sp>
      <p:sp>
        <p:nvSpPr>
          <p:cNvPr id="11" name="Oval 10"/>
          <p:cNvSpPr/>
          <p:nvPr/>
        </p:nvSpPr>
        <p:spPr>
          <a:xfrm>
            <a:off x="1280160" y="288036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a:t>
            </a:r>
          </a:p>
        </p:txBody>
      </p:sp>
      <p:sp>
        <p:nvSpPr>
          <p:cNvPr id="12" name="TextBox 11"/>
          <p:cNvSpPr txBox="1"/>
          <p:nvPr/>
        </p:nvSpPr>
        <p:spPr>
          <a:xfrm>
            <a:off x="1847088" y="2825496"/>
            <a:ext cx="9064447" cy="658368"/>
          </a:xfrm>
          <a:prstGeom prst="rect">
            <a:avLst/>
          </a:prstGeom>
          <a:noFill/>
        </p:spPr>
        <p:txBody>
          <a:bodyPr wrap="square" anchor="ctr" lIns="0" rIns="0" tIns="0" bIns="0">
            <a:spAutoFit/>
          </a:bodyPr>
          <a:lstStyle/>
          <a:p>
            <a:pPr algn="l">
              <a:lnSpc>
                <a:spcPct val="100000"/>
              </a:lnSpc>
              <a:spcBef>
                <a:spcPts val="0"/>
              </a:spcBef>
              <a:spcAft>
                <a:spcPts val="0"/>
              </a:spcAft>
            </a:pPr>
            <a:r>
              <a:rPr sz="2300" b="0" i="0">
                <a:solidFill>
                  <a:srgbClr val="14213D"/>
                </a:solidFill>
                <a:latin typeface="Segoe UI"/>
              </a:rPr>
              <a:t>Is </a:t>
            </a:r>
            <a:r>
              <a:rPr sz="2300" b="1" i="0">
                <a:solidFill>
                  <a:srgbClr val="14213D"/>
                </a:solidFill>
                <a:latin typeface="Segoe UI"/>
              </a:rPr>
              <a:t>current and relevant</a:t>
            </a:r>
            <a:r>
              <a:rPr sz="2300" b="0" i="0">
                <a:solidFill>
                  <a:srgbClr val="14213D"/>
                </a:solidFill>
                <a:latin typeface="Segoe UI"/>
              </a:rPr>
              <a:t>, not outdated</a:t>
            </a:r>
          </a:p>
        </p:txBody>
      </p:sp>
      <p:sp>
        <p:nvSpPr>
          <p:cNvPr id="13" name="Oval 12"/>
          <p:cNvSpPr/>
          <p:nvPr/>
        </p:nvSpPr>
        <p:spPr>
          <a:xfrm>
            <a:off x="1280160" y="370332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a:t>
            </a:r>
          </a:p>
        </p:txBody>
      </p:sp>
      <p:sp>
        <p:nvSpPr>
          <p:cNvPr id="14" name="TextBox 13"/>
          <p:cNvSpPr txBox="1"/>
          <p:nvPr/>
        </p:nvSpPr>
        <p:spPr>
          <a:xfrm>
            <a:off x="1847088" y="3648456"/>
            <a:ext cx="9064447" cy="658368"/>
          </a:xfrm>
          <a:prstGeom prst="rect">
            <a:avLst/>
          </a:prstGeom>
          <a:noFill/>
        </p:spPr>
        <p:txBody>
          <a:bodyPr wrap="square" anchor="ctr" lIns="0" rIns="0" tIns="0" bIns="0">
            <a:spAutoFit/>
          </a:bodyPr>
          <a:lstStyle/>
          <a:p>
            <a:pPr algn="l">
              <a:lnSpc>
                <a:spcPct val="100000"/>
              </a:lnSpc>
              <a:spcBef>
                <a:spcPts val="0"/>
              </a:spcBef>
              <a:spcAft>
                <a:spcPts val="0"/>
              </a:spcAft>
            </a:pPr>
            <a:r>
              <a:rPr sz="2300" b="0" i="0">
                <a:solidFill>
                  <a:srgbClr val="14213D"/>
                </a:solidFill>
                <a:latin typeface="Segoe UI"/>
              </a:rPr>
              <a:t>Is </a:t>
            </a:r>
            <a:r>
              <a:rPr sz="2300" b="1" i="0">
                <a:solidFill>
                  <a:srgbClr val="14213D"/>
                </a:solidFill>
                <a:latin typeface="Segoe UI"/>
              </a:rPr>
              <a:t>based on facts and evidence</a:t>
            </a:r>
            <a:r>
              <a:rPr sz="2300" b="0" i="0">
                <a:solidFill>
                  <a:srgbClr val="14213D"/>
                </a:solidFill>
                <a:latin typeface="Segoe UI"/>
              </a:rPr>
              <a:t>, not assumptions or hypothetical situations</a:t>
            </a:r>
          </a:p>
        </p:txBody>
      </p:sp>
      <p:sp>
        <p:nvSpPr>
          <p:cNvPr id="15" name="Oval 14"/>
          <p:cNvSpPr/>
          <p:nvPr/>
        </p:nvSpPr>
        <p:spPr>
          <a:xfrm>
            <a:off x="1280160" y="4526279"/>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a:t>
            </a:r>
          </a:p>
        </p:txBody>
      </p:sp>
      <p:sp>
        <p:nvSpPr>
          <p:cNvPr id="16" name="TextBox 15"/>
          <p:cNvSpPr txBox="1"/>
          <p:nvPr/>
        </p:nvSpPr>
        <p:spPr>
          <a:xfrm>
            <a:off x="1847088" y="4471416"/>
            <a:ext cx="9064447" cy="658368"/>
          </a:xfrm>
          <a:prstGeom prst="rect">
            <a:avLst/>
          </a:prstGeom>
          <a:noFill/>
        </p:spPr>
        <p:txBody>
          <a:bodyPr wrap="square" anchor="ctr" lIns="0" rIns="0" tIns="0" bIns="0">
            <a:spAutoFit/>
          </a:bodyPr>
          <a:lstStyle/>
          <a:p>
            <a:pPr algn="l">
              <a:lnSpc>
                <a:spcPct val="100000"/>
              </a:lnSpc>
              <a:spcBef>
                <a:spcPts val="0"/>
              </a:spcBef>
              <a:spcAft>
                <a:spcPts val="0"/>
              </a:spcAft>
            </a:pPr>
            <a:r>
              <a:rPr sz="2300" b="0" i="0">
                <a:solidFill>
                  <a:srgbClr val="14213D"/>
                </a:solidFill>
                <a:latin typeface="Segoe UI"/>
              </a:rPr>
              <a:t>Is </a:t>
            </a:r>
            <a:r>
              <a:rPr sz="2300" b="1" i="0">
                <a:solidFill>
                  <a:srgbClr val="14213D"/>
                </a:solidFill>
                <a:latin typeface="Segoe UI"/>
              </a:rPr>
              <a:t>tangible</a:t>
            </a:r>
            <a:r>
              <a:rPr sz="2300" b="0" i="0">
                <a:solidFill>
                  <a:srgbClr val="14213D"/>
                </a:solidFill>
                <a:latin typeface="Segoe UI"/>
              </a:rPr>
              <a:t> — realistic given the time, budget, and skills available</a:t>
            </a:r>
          </a:p>
        </p:txBody>
      </p:sp>
      <p:sp>
        <p:nvSpPr>
          <p:cNvPr id="17" name="Oval 16"/>
          <p:cNvSpPr/>
          <p:nvPr/>
        </p:nvSpPr>
        <p:spPr>
          <a:xfrm>
            <a:off x="1280160" y="5349240"/>
            <a:ext cx="384048" cy="384048"/>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FFFFF"/>
                </a:solidFill>
                <a:latin typeface="Segoe UI"/>
              </a:rPr>
              <a:t>✓</a:t>
            </a:r>
          </a:p>
        </p:txBody>
      </p:sp>
      <p:sp>
        <p:nvSpPr>
          <p:cNvPr id="18" name="TextBox 17"/>
          <p:cNvSpPr txBox="1"/>
          <p:nvPr/>
        </p:nvSpPr>
        <p:spPr>
          <a:xfrm>
            <a:off x="1847088" y="5294376"/>
            <a:ext cx="9064447" cy="658368"/>
          </a:xfrm>
          <a:prstGeom prst="rect">
            <a:avLst/>
          </a:prstGeom>
          <a:noFill/>
        </p:spPr>
        <p:txBody>
          <a:bodyPr wrap="square" anchor="ctr" lIns="0" rIns="0" tIns="0" bIns="0">
            <a:spAutoFit/>
          </a:bodyPr>
          <a:lstStyle/>
          <a:p>
            <a:pPr algn="l">
              <a:lnSpc>
                <a:spcPct val="100000"/>
              </a:lnSpc>
              <a:spcBef>
                <a:spcPts val="0"/>
              </a:spcBef>
              <a:spcAft>
                <a:spcPts val="0"/>
              </a:spcAft>
            </a:pPr>
            <a:r>
              <a:rPr sz="2300" b="0" i="0">
                <a:solidFill>
                  <a:srgbClr val="14213D"/>
                </a:solidFill>
                <a:latin typeface="Segoe UI"/>
              </a:rPr>
              <a:t>Naturally </a:t>
            </a:r>
            <a:r>
              <a:rPr sz="2300" b="1" i="0">
                <a:solidFill>
                  <a:srgbClr val="14213D"/>
                </a:solidFill>
                <a:latin typeface="Segoe UI"/>
              </a:rPr>
              <a:t>generates further research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600" b="1" i="0">
                <a:solidFill>
                  <a:srgbClr val="14213D"/>
                </a:solidFill>
                <a:latin typeface="Segoe UI Semibold"/>
              </a:rPr>
              <a:t>Three Building Blocks: Context, Relevance, Strategy</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23</a:t>
            </a:r>
          </a:p>
        </p:txBody>
      </p:sp>
      <p:sp>
        <p:nvSpPr>
          <p:cNvPr id="9" name="Rounded Rectangle 8"/>
          <p:cNvSpPr/>
          <p:nvPr/>
        </p:nvSpPr>
        <p:spPr>
          <a:xfrm>
            <a:off x="1249527" y="1874519"/>
            <a:ext cx="9692640" cy="777240"/>
          </a:xfrm>
          <a:prstGeom prst="roundRect">
            <a:avLst>
              <a:gd name="adj" fmla="val 14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900" b="1" i="0">
                <a:solidFill>
                  <a:srgbClr val="FFFFFF"/>
                </a:solidFill>
                <a:latin typeface="Segoe UI Semibold"/>
              </a:rPr>
              <a:t>Context  </a:t>
            </a:r>
            <a:r>
              <a:rPr sz="1600" b="0" i="0">
                <a:solidFill>
                  <a:srgbClr val="EAF6F8"/>
                </a:solidFill>
                <a:latin typeface="Segoe UI"/>
              </a:rPr>
              <a:t>the background and current situation surrounding the issue</a:t>
            </a:r>
          </a:p>
        </p:txBody>
      </p:sp>
      <p:sp>
        <p:nvSpPr>
          <p:cNvPr id="10" name="Rounded Rectangle 9"/>
          <p:cNvSpPr/>
          <p:nvPr/>
        </p:nvSpPr>
        <p:spPr>
          <a:xfrm>
            <a:off x="2163927" y="2798063"/>
            <a:ext cx="7863840" cy="777240"/>
          </a:xfrm>
          <a:prstGeom prst="roundRect">
            <a:avLst>
              <a:gd name="adj" fmla="val 14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900" b="1" i="0">
                <a:solidFill>
                  <a:srgbClr val="FFFFFF"/>
                </a:solidFill>
                <a:latin typeface="Segoe UI Semibold"/>
              </a:rPr>
              <a:t>Relevance  </a:t>
            </a:r>
            <a:r>
              <a:rPr sz="1600" b="0" i="0">
                <a:solidFill>
                  <a:srgbClr val="EAF6F8"/>
                </a:solidFill>
                <a:latin typeface="Segoe UI"/>
              </a:rPr>
              <a:t>why the issue matters, and who is affected if it stays unresolved</a:t>
            </a:r>
          </a:p>
        </p:txBody>
      </p:sp>
      <p:sp>
        <p:nvSpPr>
          <p:cNvPr id="11" name="Rounded Rectangle 10"/>
          <p:cNvSpPr/>
          <p:nvPr/>
        </p:nvSpPr>
        <p:spPr>
          <a:xfrm>
            <a:off x="3078327" y="3721607"/>
            <a:ext cx="6035040" cy="777240"/>
          </a:xfrm>
          <a:prstGeom prst="roundRect">
            <a:avLst>
              <a:gd name="adj" fmla="val 14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900" b="1" i="0">
                <a:solidFill>
                  <a:srgbClr val="FFFFFF"/>
                </a:solidFill>
                <a:latin typeface="Segoe UI Semibold"/>
              </a:rPr>
              <a:t>Strategy  </a:t>
            </a:r>
            <a:r>
              <a:rPr sz="1600" b="0" i="0">
                <a:solidFill>
                  <a:srgbClr val="EAF6F8"/>
                </a:solidFill>
                <a:latin typeface="Segoe UI"/>
              </a:rPr>
              <a:t>the general goal and approach your study will take to address it</a:t>
            </a:r>
          </a:p>
        </p:txBody>
      </p:sp>
      <p:sp>
        <p:nvSpPr>
          <p:cNvPr id="12" name="Rounded Rectangle 11"/>
          <p:cNvSpPr/>
          <p:nvPr/>
        </p:nvSpPr>
        <p:spPr>
          <a:xfrm>
            <a:off x="2438247" y="4709160"/>
            <a:ext cx="7315200" cy="621792"/>
          </a:xfrm>
          <a:prstGeom prst="roundRect">
            <a:avLst>
              <a:gd name="adj" fmla="val 14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650" b="1" i="0">
                <a:solidFill>
                  <a:srgbClr val="FFFFFF"/>
                </a:solidFill>
                <a:latin typeface="Segoe UI"/>
              </a:rPr>
              <a:t>↓  These three, written in order, build a complete problem statement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14213D"/>
                </a:solidFill>
                <a:latin typeface="Segoe UI Semibold"/>
              </a:rPr>
              <a:t>Example — Writing a Problem Statement Step by Step</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24</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Rounded Rectangle 10"/>
          <p:cNvSpPr/>
          <p:nvPr/>
        </p:nvSpPr>
        <p:spPr>
          <a:xfrm>
            <a:off x="777240" y="2194560"/>
            <a:ext cx="109728" cy="621792"/>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51560" y="2194560"/>
            <a:ext cx="10271455" cy="685800"/>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1D7A8C"/>
                </a:solidFill>
                <a:latin typeface="Segoe UI Semibold"/>
              </a:rPr>
              <a:t>Context:  </a:t>
            </a:r>
            <a:r>
              <a:rPr sz="1800" b="0" i="0">
                <a:solidFill>
                  <a:srgbClr val="14213D"/>
                </a:solidFill>
                <a:latin typeface="Segoe UI"/>
              </a:rPr>
              <a:t>Many coastal barangays rely on unsafe drinking water sources, and low-cost solar distillers have been proposed as a solution</a:t>
            </a:r>
          </a:p>
        </p:txBody>
      </p:sp>
      <p:sp>
        <p:nvSpPr>
          <p:cNvPr id="13" name="Rounded Rectangle 12"/>
          <p:cNvSpPr/>
          <p:nvPr/>
        </p:nvSpPr>
        <p:spPr>
          <a:xfrm>
            <a:off x="777240" y="2907791"/>
            <a:ext cx="109728" cy="621792"/>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51560" y="2907791"/>
            <a:ext cx="10271455" cy="685800"/>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F4795B"/>
                </a:solidFill>
                <a:latin typeface="Segoe UI Semibold"/>
              </a:rPr>
              <a:t>Relevance:  </a:t>
            </a:r>
            <a:r>
              <a:rPr sz="1800" b="0" i="0">
                <a:solidFill>
                  <a:srgbClr val="14213D"/>
                </a:solidFill>
                <a:latin typeface="Segoe UI"/>
              </a:rPr>
              <a:t>Existing studies test either distiller efficiency or water safety standards, but rarely both together in an actual barangay setting</a:t>
            </a:r>
          </a:p>
        </p:txBody>
      </p:sp>
      <p:sp>
        <p:nvSpPr>
          <p:cNvPr id="15" name="Rounded Rectangle 14"/>
          <p:cNvSpPr/>
          <p:nvPr/>
        </p:nvSpPr>
        <p:spPr>
          <a:xfrm>
            <a:off x="777240" y="3621024"/>
            <a:ext cx="109728" cy="621792"/>
          </a:xfrm>
          <a:prstGeom prst="roundRect">
            <a:avLst>
              <a:gd name="adj" fmla="val 50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51560" y="3621024"/>
            <a:ext cx="10271455" cy="685800"/>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2A9D8F"/>
                </a:solidFill>
                <a:latin typeface="Segoe UI Semibold"/>
              </a:rPr>
              <a:t>Strategy:  </a:t>
            </a:r>
            <a:r>
              <a:rPr sz="1800" b="0" i="0">
                <a:solidFill>
                  <a:srgbClr val="14213D"/>
                </a:solidFill>
                <a:latin typeface="Segoe UI"/>
              </a:rPr>
              <a:t>This study will test the distiller's real-world effect on microbial water safety</a:t>
            </a:r>
          </a:p>
        </p:txBody>
      </p:sp>
      <p:sp>
        <p:nvSpPr>
          <p:cNvPr id="17" name="Rounded Rectangle 16"/>
          <p:cNvSpPr/>
          <p:nvPr/>
        </p:nvSpPr>
        <p:spPr>
          <a:xfrm>
            <a:off x="777240" y="4379976"/>
            <a:ext cx="10637215" cy="1051560"/>
          </a:xfrm>
          <a:prstGeom prst="roundRect">
            <a:avLst>
              <a:gd name="adj" fmla="val 8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97280" y="4379976"/>
            <a:ext cx="9997135" cy="1051560"/>
          </a:xfrm>
          <a:prstGeom prst="rect">
            <a:avLst/>
          </a:prstGeom>
          <a:noFill/>
        </p:spPr>
        <p:txBody>
          <a:bodyPr wrap="square" anchor="ctr" lIns="0" rIns="0" tIns="0" bIns="0">
            <a:spAutoFit/>
          </a:bodyPr>
          <a:lstStyle/>
          <a:p>
            <a:pPr algn="l">
              <a:lnSpc>
                <a:spcPct val="105000"/>
              </a:lnSpc>
              <a:spcBef>
                <a:spcPts val="0"/>
              </a:spcBef>
              <a:spcAft>
                <a:spcPts val="300"/>
              </a:spcAft>
            </a:pPr>
            <a:r>
              <a:rPr sz="1300" b="1" i="0">
                <a:solidFill>
                  <a:srgbClr val="F2B705"/>
                </a:solidFill>
                <a:latin typeface="Segoe UI Semibold"/>
              </a:rPr>
              <a:t>FINAL PROBLEM STATEMENT</a:t>
            </a:r>
          </a:p>
          <a:p>
            <a:pPr algn="l">
              <a:lnSpc>
                <a:spcPct val="108000"/>
              </a:lnSpc>
              <a:spcBef>
                <a:spcPts val="0"/>
              </a:spcBef>
              <a:spcAft>
                <a:spcPts val="0"/>
              </a:spcAft>
            </a:pPr>
            <a:r>
              <a:rPr sz="1750" b="0" i="1">
                <a:solidFill>
                  <a:srgbClr val="FFFFFF"/>
                </a:solidFill>
                <a:latin typeface="Segoe UI"/>
              </a:rPr>
              <a:t>“This study addresses the limited evidence on whether a low-cost solar water distiller measurably improves the microbial safety of drinking water in a coastal barangay setting.”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Common Pitfalls in Problem Statements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25</a:t>
            </a:r>
          </a:p>
        </p:txBody>
      </p:sp>
      <p:graphicFrame>
        <p:nvGraphicFramePr>
          <p:cNvPr id="9" name="Table 8"/>
          <p:cNvGraphicFramePr>
            <a:graphicFrameLocks noGrp="1"/>
          </p:cNvGraphicFramePr>
          <p:nvPr/>
        </p:nvGraphicFramePr>
        <p:xfrm>
          <a:off x="777240" y="1965960"/>
          <a:ext cx="10637214" cy="3675888"/>
        </p:xfrm>
        <a:graphic>
          <a:graphicData uri="http://schemas.openxmlformats.org/drawingml/2006/table">
            <a:tbl>
              <a:tblPr>
                <a:tableStyleId>{5C22544A-7EE6-4342-B048-85BDC9FD1C3A}</a:tableStyleId>
              </a:tblPr>
              <a:tblGrid>
                <a:gridCol w="5689673"/>
                <a:gridCol w="4947541"/>
              </a:tblGrid>
              <a:tr h="530352">
                <a:tc>
                  <a:txBody>
                    <a:bodyPr wrap="square"/>
                    <a:lstStyle/>
                    <a:p>
                      <a:pPr algn="l">
                        <a:lnSpc>
                          <a:spcPct val="100000"/>
                        </a:lnSpc>
                      </a:pPr>
                      <a:r>
                        <a:rPr sz="1800" b="1">
                          <a:solidFill>
                            <a:srgbClr val="FFFFFF"/>
                          </a:solidFill>
                          <a:latin typeface="Segoe UI Semibold"/>
                        </a:rPr>
                        <a:t>Pitfall</a:t>
                      </a:r>
                    </a:p>
                  </a:txBody>
                  <a:tcPr marL="101600" marR="101600" marT="50800" marB="50800" anchor="ctr">
                    <a:solidFill>
                      <a:srgbClr val="D1495B"/>
                    </a:solidFill>
                  </a:tcPr>
                </a:tc>
                <a:tc>
                  <a:txBody>
                    <a:bodyPr wrap="square"/>
                    <a:lstStyle/>
                    <a:p>
                      <a:pPr algn="l">
                        <a:lnSpc>
                          <a:spcPct val="100000"/>
                        </a:lnSpc>
                      </a:pPr>
                      <a:r>
                        <a:rPr sz="1800" b="1">
                          <a:solidFill>
                            <a:srgbClr val="FFFFFF"/>
                          </a:solidFill>
                          <a:latin typeface="Segoe UI Semibold"/>
                        </a:rPr>
                        <a:t>Fix</a:t>
                      </a:r>
                    </a:p>
                  </a:txBody>
                  <a:tcPr marL="101600" marR="101600" marT="50800" marB="50800" anchor="ctr">
                    <a:solidFill>
                      <a:srgbClr val="D1495B"/>
                    </a:solidFill>
                  </a:tcPr>
                </a:tc>
              </a:tr>
              <a:tr h="786384">
                <a:tc>
                  <a:txBody>
                    <a:bodyPr wrap="square"/>
                    <a:lstStyle/>
                    <a:p>
                      <a:pPr algn="l">
                        <a:lnSpc>
                          <a:spcPct val="100000"/>
                        </a:lnSpc>
                      </a:pPr>
                      <a:r>
                        <a:rPr sz="1800" b="0">
                          <a:solidFill>
                            <a:srgbClr val="14213D"/>
                          </a:solidFill>
                          <a:latin typeface="Segoe UI"/>
                        </a:rPr>
                        <a:t>Too broad: “Water pollution is a big problem.”</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Narrow to a specific variable, population, or setting</a:t>
                      </a:r>
                    </a:p>
                  </a:txBody>
                  <a:tcPr marL="101600" marR="101600" marT="50800" marB="50800" anchor="ctr">
                    <a:solidFill>
                      <a:srgbClr val="FFFFFF"/>
                    </a:solidFill>
                  </a:tcPr>
                </a:tc>
              </a:tr>
              <a:tr h="786384">
                <a:tc>
                  <a:txBody>
                    <a:bodyPr wrap="square"/>
                    <a:lstStyle/>
                    <a:p>
                      <a:pPr algn="l">
                        <a:lnSpc>
                          <a:spcPct val="100000"/>
                        </a:lnSpc>
                      </a:pPr>
                      <a:r>
                        <a:rPr sz="1800" b="0">
                          <a:solidFill>
                            <a:srgbClr val="14213D"/>
                          </a:solidFill>
                          <a:latin typeface="Segoe UI"/>
                        </a:rPr>
                        <a:t>Too vague: “Something should be done about dengue.”</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State exactly what is missing or unresolved</a:t>
                      </a:r>
                    </a:p>
                  </a:txBody>
                  <a:tcPr marL="101600" marR="101600" marT="50800" marB="50800" anchor="ctr">
                    <a:solidFill>
                      <a:srgbClr val="EEF4F7"/>
                    </a:solidFill>
                  </a:tcPr>
                </a:tc>
              </a:tr>
              <a:tr h="786384">
                <a:tc>
                  <a:txBody>
                    <a:bodyPr wrap="square"/>
                    <a:lstStyle/>
                    <a:p>
                      <a:pPr algn="l">
                        <a:lnSpc>
                          <a:spcPct val="100000"/>
                        </a:lnSpc>
                      </a:pPr>
                      <a:r>
                        <a:rPr sz="1800" b="0">
                          <a:solidFill>
                            <a:srgbClr val="14213D"/>
                          </a:solidFill>
                          <a:latin typeface="Segoe UI"/>
                        </a:rPr>
                        <a:t>Merely descriptive: “Many barangays use rainwater.”</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Add why this is an unresolved issue worth studying</a:t>
                      </a:r>
                    </a:p>
                  </a:txBody>
                  <a:tcPr marL="101600" marR="101600" marT="50800" marB="50800" anchor="ctr">
                    <a:solidFill>
                      <a:srgbClr val="FFFFFF"/>
                    </a:solidFill>
                  </a:tcPr>
                </a:tc>
              </a:tr>
              <a:tr h="786384">
                <a:tc>
                  <a:txBody>
                    <a:bodyPr wrap="square"/>
                    <a:lstStyle/>
                    <a:p>
                      <a:pPr algn="l">
                        <a:lnSpc>
                          <a:spcPct val="100000"/>
                        </a:lnSpc>
                      </a:pPr>
                      <a:r>
                        <a:rPr sz="1800" b="0">
                          <a:solidFill>
                            <a:srgbClr val="14213D"/>
                          </a:solidFill>
                          <a:latin typeface="Segoe UI"/>
                        </a:rPr>
                        <a:t>Unanswerable: “Is clean water important?”</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Rephrase around something investigable with data</a:t>
                      </a:r>
                    </a:p>
                  </a:txBody>
                  <a:tcPr marL="101600" marR="101600" marT="50800" marB="50800" anchor="ctr">
                    <a:solidFill>
                      <a:srgbClr val="EEF4F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5 · FORMULATING THE PROBLEM STATEMENT (COMPETENCY 13)</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Application — Diagnose and Fix</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26</a:t>
            </a:r>
          </a:p>
        </p:txBody>
      </p:sp>
      <p:sp>
        <p:nvSpPr>
          <p:cNvPr id="9" name="Rounded Rectangle 8"/>
          <p:cNvSpPr/>
          <p:nvPr/>
        </p:nvSpPr>
        <p:spPr>
          <a:xfrm>
            <a:off x="777240" y="1719072"/>
            <a:ext cx="2220163"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2037283"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a:t>
            </a:r>
          </a:p>
        </p:txBody>
      </p:sp>
      <p:sp>
        <p:nvSpPr>
          <p:cNvPr id="11" name="Rounded Rectangle 10"/>
          <p:cNvSpPr/>
          <p:nvPr/>
        </p:nvSpPr>
        <p:spPr>
          <a:xfrm>
            <a:off x="777240" y="2240280"/>
            <a:ext cx="10637215" cy="868680"/>
          </a:xfrm>
          <a:prstGeom prst="roundRect">
            <a:avLst>
              <a:gd name="adj" fmla="val 10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05840" y="2478024"/>
            <a:ext cx="402336" cy="40233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1</a:t>
            </a:r>
          </a:p>
        </p:txBody>
      </p:sp>
      <p:sp>
        <p:nvSpPr>
          <p:cNvPr id="13" name="TextBox 12"/>
          <p:cNvSpPr txBox="1"/>
          <p:nvPr/>
        </p:nvSpPr>
        <p:spPr>
          <a:xfrm>
            <a:off x="1600200" y="2240280"/>
            <a:ext cx="9539935" cy="868680"/>
          </a:xfrm>
          <a:prstGeom prst="rect">
            <a:avLst/>
          </a:prstGeom>
          <a:noFill/>
        </p:spPr>
        <p:txBody>
          <a:bodyPr wrap="square" anchor="ctr" lIns="0" rIns="0" tIns="0" bIns="0">
            <a:spAutoFit/>
          </a:bodyPr>
          <a:lstStyle/>
          <a:p>
            <a:pPr algn="l">
              <a:lnSpc>
                <a:spcPct val="100000"/>
              </a:lnSpc>
              <a:spcBef>
                <a:spcPts val="0"/>
              </a:spcBef>
              <a:spcAft>
                <a:spcPts val="0"/>
              </a:spcAft>
            </a:pPr>
            <a:r>
              <a:rPr sz="2200" b="0" i="1">
                <a:solidFill>
                  <a:srgbClr val="14213D"/>
                </a:solidFill>
                <a:latin typeface="Segoe UI"/>
              </a:rPr>
              <a:t>“Renewable energy is important for the Philippines.”</a:t>
            </a:r>
          </a:p>
        </p:txBody>
      </p:sp>
      <p:sp>
        <p:nvSpPr>
          <p:cNvPr id="14" name="Rounded Rectangle 13"/>
          <p:cNvSpPr/>
          <p:nvPr/>
        </p:nvSpPr>
        <p:spPr>
          <a:xfrm>
            <a:off x="777240" y="3264408"/>
            <a:ext cx="10637215" cy="868680"/>
          </a:xfrm>
          <a:prstGeom prst="roundRect">
            <a:avLst>
              <a:gd name="adj" fmla="val 10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1005840" y="3502152"/>
            <a:ext cx="402336" cy="40233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2</a:t>
            </a:r>
          </a:p>
        </p:txBody>
      </p:sp>
      <p:sp>
        <p:nvSpPr>
          <p:cNvPr id="16" name="TextBox 15"/>
          <p:cNvSpPr txBox="1"/>
          <p:nvPr/>
        </p:nvSpPr>
        <p:spPr>
          <a:xfrm>
            <a:off x="1600200" y="3264408"/>
            <a:ext cx="9539935" cy="868680"/>
          </a:xfrm>
          <a:prstGeom prst="rect">
            <a:avLst/>
          </a:prstGeom>
          <a:noFill/>
        </p:spPr>
        <p:txBody>
          <a:bodyPr wrap="square" anchor="ctr" lIns="0" rIns="0" tIns="0" bIns="0">
            <a:spAutoFit/>
          </a:bodyPr>
          <a:lstStyle/>
          <a:p>
            <a:pPr algn="l">
              <a:lnSpc>
                <a:spcPct val="100000"/>
              </a:lnSpc>
              <a:spcBef>
                <a:spcPts val="0"/>
              </a:spcBef>
              <a:spcAft>
                <a:spcPts val="0"/>
              </a:spcAft>
            </a:pPr>
            <a:r>
              <a:rPr sz="2200" b="0" i="1">
                <a:solidFill>
                  <a:srgbClr val="14213D"/>
                </a:solidFill>
                <a:latin typeface="Segoe UI"/>
              </a:rPr>
              <a:t>“This study is about students and their phones.”</a:t>
            </a:r>
          </a:p>
        </p:txBody>
      </p:sp>
      <p:sp>
        <p:nvSpPr>
          <p:cNvPr id="17" name="Rounded Rectangle 16"/>
          <p:cNvSpPr/>
          <p:nvPr/>
        </p:nvSpPr>
        <p:spPr>
          <a:xfrm>
            <a:off x="777240" y="4288536"/>
            <a:ext cx="10637215" cy="868680"/>
          </a:xfrm>
          <a:prstGeom prst="roundRect">
            <a:avLst>
              <a:gd name="adj" fmla="val 10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005840" y="4526280"/>
            <a:ext cx="402336" cy="40233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3</a:t>
            </a:r>
          </a:p>
        </p:txBody>
      </p:sp>
      <p:sp>
        <p:nvSpPr>
          <p:cNvPr id="19" name="TextBox 18"/>
          <p:cNvSpPr txBox="1"/>
          <p:nvPr/>
        </p:nvSpPr>
        <p:spPr>
          <a:xfrm>
            <a:off x="1600200" y="4288536"/>
            <a:ext cx="9539935" cy="868680"/>
          </a:xfrm>
          <a:prstGeom prst="rect">
            <a:avLst/>
          </a:prstGeom>
          <a:noFill/>
        </p:spPr>
        <p:txBody>
          <a:bodyPr wrap="square" anchor="ctr" lIns="0" rIns="0" tIns="0" bIns="0">
            <a:spAutoFit/>
          </a:bodyPr>
          <a:lstStyle/>
          <a:p>
            <a:pPr algn="l">
              <a:lnSpc>
                <a:spcPct val="100000"/>
              </a:lnSpc>
              <a:spcBef>
                <a:spcPts val="0"/>
              </a:spcBef>
              <a:spcAft>
                <a:spcPts val="0"/>
              </a:spcAft>
            </a:pPr>
            <a:r>
              <a:rPr sz="2200" b="0" i="1">
                <a:solidFill>
                  <a:srgbClr val="14213D"/>
                </a:solidFill>
                <a:latin typeface="Segoe UI"/>
              </a:rPr>
              <a:t>“Flooding happens in many cities during the rainy season.”</a:t>
            </a:r>
          </a:p>
        </p:txBody>
      </p:sp>
      <p:sp>
        <p:nvSpPr>
          <p:cNvPr id="20" name="Rounded Rectangle 19"/>
          <p:cNvSpPr/>
          <p:nvPr/>
        </p:nvSpPr>
        <p:spPr>
          <a:xfrm>
            <a:off x="777240" y="5294376"/>
            <a:ext cx="10637215" cy="566928"/>
          </a:xfrm>
          <a:prstGeom prst="roundRect">
            <a:avLst>
              <a:gd name="adj" fmla="val 12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960120" y="5394960"/>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2B705"/>
                </a:solidFill>
                <a:latin typeface="Segoe UI"/>
              </a:rPr>
              <a:t>✎</a:t>
            </a:r>
          </a:p>
        </p:txBody>
      </p:sp>
      <p:sp>
        <p:nvSpPr>
          <p:cNvPr id="22" name="TextBox 21"/>
          <p:cNvSpPr txBox="1"/>
          <p:nvPr/>
        </p:nvSpPr>
        <p:spPr>
          <a:xfrm>
            <a:off x="1490472" y="5294376"/>
            <a:ext cx="9722815" cy="566928"/>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14213D"/>
                </a:solidFill>
                <a:latin typeface="Segoe UI Semibold"/>
              </a:rPr>
              <a:t>In pairs: name the pitfall, then rewrite using the Context – Relevance – Strategy formula.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14213D"/>
                </a:solidFill>
                <a:latin typeface="Segoe UI Semibold"/>
              </a:rPr>
              <a:t>From Problem Statement to Research Questions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27</a:t>
            </a:r>
          </a:p>
        </p:txBody>
      </p:sp>
      <p:sp>
        <p:nvSpPr>
          <p:cNvPr id="9" name="Rounded Rectangle 8"/>
          <p:cNvSpPr/>
          <p:nvPr/>
        </p:nvSpPr>
        <p:spPr>
          <a:xfrm>
            <a:off x="822960" y="2743200"/>
            <a:ext cx="3108960" cy="1280160"/>
          </a:xfrm>
          <a:prstGeom prst="roundRect">
            <a:avLst>
              <a:gd name="adj" fmla="val 10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700" b="1" i="0">
                <a:solidFill>
                  <a:srgbClr val="FFFFFF"/>
                </a:solidFill>
                <a:latin typeface="Segoe UI"/>
              </a:rPr>
              <a:t>Problem Statement
names the issue</a:t>
            </a:r>
          </a:p>
        </p:txBody>
      </p:sp>
      <p:sp>
        <p:nvSpPr>
          <p:cNvPr id="10" name="Rounded Rectangle 9"/>
          <p:cNvSpPr/>
          <p:nvPr/>
        </p:nvSpPr>
        <p:spPr>
          <a:xfrm>
            <a:off x="6035040" y="2057400"/>
            <a:ext cx="4937760" cy="658368"/>
          </a:xfrm>
          <a:prstGeom prst="roundRect">
            <a:avLst>
              <a:gd name="adj" fmla="val 15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Research Question 1</a:t>
            </a:r>
          </a:p>
        </p:txBody>
      </p:sp>
      <p:cxnSp>
        <p:nvCxnSpPr>
          <p:cNvPr id="11" name="Connector 10"/>
          <p:cNvCxnSpPr/>
          <p:nvPr/>
        </p:nvCxnSpPr>
        <p:spPr>
          <a:xfrm flipV="1">
            <a:off x="3931920" y="2386584"/>
            <a:ext cx="2103120" cy="996696"/>
          </a:xfrm>
          <a:prstGeom prst="line">
            <a:avLst/>
          </a:prstGeom>
          <a:ln w="27940">
            <a:solidFill>
              <a:srgbClr val="F4795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35040" y="3172968"/>
            <a:ext cx="4937760" cy="658368"/>
          </a:xfrm>
          <a:prstGeom prst="roundRect">
            <a:avLst>
              <a:gd name="adj" fmla="val 15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Research Question 2</a:t>
            </a:r>
          </a:p>
        </p:txBody>
      </p:sp>
      <p:cxnSp>
        <p:nvCxnSpPr>
          <p:cNvPr id="13" name="Connector 12"/>
          <p:cNvCxnSpPr/>
          <p:nvPr/>
        </p:nvCxnSpPr>
        <p:spPr>
          <a:xfrm>
            <a:off x="3931920" y="3383280"/>
            <a:ext cx="2103120" cy="118871"/>
          </a:xfrm>
          <a:prstGeom prst="line">
            <a:avLst/>
          </a:prstGeom>
          <a:ln w="27940">
            <a:solidFill>
              <a:srgbClr val="F4795B"/>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35040" y="4288536"/>
            <a:ext cx="4937760" cy="658368"/>
          </a:xfrm>
          <a:prstGeom prst="roundRect">
            <a:avLst>
              <a:gd name="adj" fmla="val 15000"/>
            </a:avLst>
          </a:prstGeom>
          <a:solidFill>
            <a:srgbClr val="115968"/>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800" b="1" i="0">
                <a:solidFill>
                  <a:srgbClr val="FFFFFF"/>
                </a:solidFill>
                <a:latin typeface="Segoe UI"/>
              </a:rPr>
              <a:t>Research Question 3</a:t>
            </a:r>
          </a:p>
        </p:txBody>
      </p:sp>
      <p:cxnSp>
        <p:nvCxnSpPr>
          <p:cNvPr id="15" name="Connector 14"/>
          <p:cNvCxnSpPr/>
          <p:nvPr/>
        </p:nvCxnSpPr>
        <p:spPr>
          <a:xfrm>
            <a:off x="3931920" y="3383280"/>
            <a:ext cx="2103120" cy="1234440"/>
          </a:xfrm>
          <a:prstGeom prst="line">
            <a:avLst/>
          </a:prstGeom>
          <a:ln w="27940">
            <a:solidFill>
              <a:srgbClr val="F4795B"/>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4572000"/>
            <a:ext cx="10454335" cy="1463040"/>
          </a:xfrm>
          <a:prstGeom prst="rect">
            <a:avLst/>
          </a:prstGeom>
          <a:noFill/>
        </p:spPr>
        <p:txBody>
          <a:bodyPr wrap="square" anchor="t" lIns="0" rIns="0" tIns="0" bIns="0">
            <a:spAutoFit/>
          </a:bodyPr>
          <a:lstStyle/>
          <a:p>
            <a:pPr algn="l" marL="274638" indent="-274638">
              <a:lnSpc>
                <a:spcPct val="105000"/>
              </a:lnSpc>
              <a:spcBef>
                <a:spcPts val="0"/>
              </a:spcBef>
              <a:spcAft>
                <a:spcPts val="600"/>
              </a:spcAft>
              <a:buClr>
                <a:srgbClr val="1D7A8C"/>
              </a:buClr>
              <a:buSzPct val="80000"/>
              <a:buFont typeface="Arial"/>
              <a:buChar char="▪"/>
            </a:pPr>
            <a:r>
              <a:rPr sz="1900" b="0" i="0">
                <a:solidFill>
                  <a:srgbClr val="14213D"/>
                </a:solidFill>
                <a:latin typeface="Segoe UI"/>
              </a:rPr>
              <a:t>A problem statement names the issue</a:t>
            </a:r>
          </a:p>
          <a:p>
            <a:pPr algn="l" marL="274638" indent="-274638">
              <a:lnSpc>
                <a:spcPct val="105000"/>
              </a:lnSpc>
              <a:spcBef>
                <a:spcPts val="0"/>
              </a:spcBef>
              <a:spcAft>
                <a:spcPts val="600"/>
              </a:spcAft>
              <a:buClr>
                <a:srgbClr val="1D7A8C"/>
              </a:buClr>
              <a:buSzPct val="80000"/>
              <a:buFont typeface="Arial"/>
              <a:buChar char="▪"/>
            </a:pPr>
            <a:r>
              <a:rPr sz="1900" b="0" i="0">
                <a:solidFill>
                  <a:srgbClr val="14213D"/>
                </a:solidFill>
                <a:latin typeface="Segoe UI"/>
              </a:rPr>
              <a:t>Research questions break that issue into specific, answerable pieces</a:t>
            </a:r>
          </a:p>
          <a:p>
            <a:pPr algn="l" marL="274638" indent="-274638">
              <a:lnSpc>
                <a:spcPct val="105000"/>
              </a:lnSpc>
              <a:spcBef>
                <a:spcPts val="0"/>
              </a:spcBef>
              <a:spcAft>
                <a:spcPts val="600"/>
              </a:spcAft>
              <a:buClr>
                <a:srgbClr val="1D7A8C"/>
              </a:buClr>
              <a:buSzPct val="80000"/>
              <a:buFont typeface="Arial"/>
              <a:buChar char="▪"/>
            </a:pPr>
            <a:r>
              <a:rPr sz="1900" b="0" i="0">
                <a:solidFill>
                  <a:srgbClr val="14213D"/>
                </a:solidFill>
                <a:latin typeface="Segoe UI"/>
              </a:rPr>
              <a:t>One problem statement can lead to one or several research questions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Qualities of a Good Research Question</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28</a:t>
            </a:r>
          </a:p>
        </p:txBody>
      </p:sp>
      <p:sp>
        <p:nvSpPr>
          <p:cNvPr id="9" name="Rounded Rectangle 8"/>
          <p:cNvSpPr/>
          <p:nvPr/>
        </p:nvSpPr>
        <p:spPr>
          <a:xfrm>
            <a:off x="777240" y="2057400"/>
            <a:ext cx="3240938" cy="28346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1940509" y="2377439"/>
            <a:ext cx="914400" cy="914400"/>
          </a:xfrm>
          <a:prstGeom prst="ellipse">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400" b="1" i="0">
                <a:solidFill>
                  <a:srgbClr val="FFFFFF"/>
                </a:solidFill>
                <a:latin typeface="Segoe UI"/>
              </a:rPr>
              <a:t>✓</a:t>
            </a:r>
          </a:p>
        </p:txBody>
      </p:sp>
      <p:sp>
        <p:nvSpPr>
          <p:cNvPr id="11" name="TextBox 10"/>
          <p:cNvSpPr txBox="1"/>
          <p:nvPr/>
        </p:nvSpPr>
        <p:spPr>
          <a:xfrm>
            <a:off x="960120" y="3429000"/>
            <a:ext cx="2875178" cy="411480"/>
          </a:xfrm>
          <a:prstGeom prst="rect">
            <a:avLst/>
          </a:prstGeom>
          <a:noFill/>
        </p:spPr>
        <p:txBody>
          <a:bodyPr wrap="square" anchor="t" lIns="0" rIns="0" tIns="0" bIns="0">
            <a:spAutoFit/>
          </a:bodyPr>
          <a:lstStyle/>
          <a:p>
            <a:pPr algn="ctr">
              <a:lnSpc>
                <a:spcPct val="105000"/>
              </a:lnSpc>
              <a:spcBef>
                <a:spcPts val="0"/>
              </a:spcBef>
              <a:spcAft>
                <a:spcPts val="400"/>
              </a:spcAft>
            </a:pPr>
            <a:r>
              <a:rPr sz="2300" b="1" i="0">
                <a:solidFill>
                  <a:srgbClr val="14213D"/>
                </a:solidFill>
                <a:latin typeface="Segoe UI Semibold"/>
              </a:rPr>
              <a:t>Clear</a:t>
            </a:r>
          </a:p>
        </p:txBody>
      </p:sp>
      <p:sp>
        <p:nvSpPr>
          <p:cNvPr id="12" name="TextBox 11"/>
          <p:cNvSpPr txBox="1"/>
          <p:nvPr/>
        </p:nvSpPr>
        <p:spPr>
          <a:xfrm>
            <a:off x="1051560" y="3886200"/>
            <a:ext cx="2692298" cy="914400"/>
          </a:xfrm>
          <a:prstGeom prst="rect">
            <a:avLst/>
          </a:prstGeom>
          <a:noFill/>
        </p:spPr>
        <p:txBody>
          <a:bodyPr wrap="square" anchor="t" lIns="0" rIns="0" tIns="0" bIns="0">
            <a:spAutoFit/>
          </a:bodyPr>
          <a:lstStyle/>
          <a:p>
            <a:pPr algn="ctr">
              <a:lnSpc>
                <a:spcPct val="108000"/>
              </a:lnSpc>
              <a:spcBef>
                <a:spcPts val="0"/>
              </a:spcBef>
              <a:spcAft>
                <a:spcPts val="0"/>
              </a:spcAft>
            </a:pPr>
            <a:r>
              <a:rPr sz="1700" b="0" i="0">
                <a:solidFill>
                  <a:srgbClr val="5B6B7B"/>
                </a:solidFill>
                <a:latin typeface="Segoe UI"/>
              </a:rPr>
              <a:t>uses precise, unambiguous language</a:t>
            </a:r>
          </a:p>
        </p:txBody>
      </p:sp>
      <p:sp>
        <p:nvSpPr>
          <p:cNvPr id="13" name="Rounded Rectangle 12"/>
          <p:cNvSpPr/>
          <p:nvPr/>
        </p:nvSpPr>
        <p:spPr>
          <a:xfrm>
            <a:off x="4475378" y="2057400"/>
            <a:ext cx="3240938" cy="28346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638647" y="2377439"/>
            <a:ext cx="914400" cy="914400"/>
          </a:xfrm>
          <a:prstGeom prst="ellipse">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400" b="1" i="0">
                <a:solidFill>
                  <a:srgbClr val="FFFFFF"/>
                </a:solidFill>
                <a:latin typeface="Segoe UI"/>
              </a:rPr>
              <a:t>✓</a:t>
            </a:r>
          </a:p>
        </p:txBody>
      </p:sp>
      <p:sp>
        <p:nvSpPr>
          <p:cNvPr id="15" name="TextBox 14"/>
          <p:cNvSpPr txBox="1"/>
          <p:nvPr/>
        </p:nvSpPr>
        <p:spPr>
          <a:xfrm>
            <a:off x="4658258" y="3429000"/>
            <a:ext cx="2875178" cy="411480"/>
          </a:xfrm>
          <a:prstGeom prst="rect">
            <a:avLst/>
          </a:prstGeom>
          <a:noFill/>
        </p:spPr>
        <p:txBody>
          <a:bodyPr wrap="square" anchor="t" lIns="0" rIns="0" tIns="0" bIns="0">
            <a:spAutoFit/>
          </a:bodyPr>
          <a:lstStyle/>
          <a:p>
            <a:pPr algn="ctr">
              <a:lnSpc>
                <a:spcPct val="105000"/>
              </a:lnSpc>
              <a:spcBef>
                <a:spcPts val="0"/>
              </a:spcBef>
              <a:spcAft>
                <a:spcPts val="400"/>
              </a:spcAft>
            </a:pPr>
            <a:r>
              <a:rPr sz="2300" b="1" i="0">
                <a:solidFill>
                  <a:srgbClr val="14213D"/>
                </a:solidFill>
                <a:latin typeface="Segoe UI Semibold"/>
              </a:rPr>
              <a:t>Focused</a:t>
            </a:r>
          </a:p>
        </p:txBody>
      </p:sp>
      <p:sp>
        <p:nvSpPr>
          <p:cNvPr id="16" name="TextBox 15"/>
          <p:cNvSpPr txBox="1"/>
          <p:nvPr/>
        </p:nvSpPr>
        <p:spPr>
          <a:xfrm>
            <a:off x="4749698" y="3886200"/>
            <a:ext cx="2692298" cy="914400"/>
          </a:xfrm>
          <a:prstGeom prst="rect">
            <a:avLst/>
          </a:prstGeom>
          <a:noFill/>
        </p:spPr>
        <p:txBody>
          <a:bodyPr wrap="square" anchor="t" lIns="0" rIns="0" tIns="0" bIns="0">
            <a:spAutoFit/>
          </a:bodyPr>
          <a:lstStyle/>
          <a:p>
            <a:pPr algn="ctr">
              <a:lnSpc>
                <a:spcPct val="108000"/>
              </a:lnSpc>
              <a:spcBef>
                <a:spcPts val="0"/>
              </a:spcBef>
              <a:spcAft>
                <a:spcPts val="0"/>
              </a:spcAft>
            </a:pPr>
            <a:r>
              <a:rPr sz="1700" b="0" i="0">
                <a:solidFill>
                  <a:srgbClr val="5B6B7B"/>
                </a:solidFill>
                <a:latin typeface="Segoe UI"/>
              </a:rPr>
              <a:t>addresses one specific issue, not several at once</a:t>
            </a:r>
          </a:p>
        </p:txBody>
      </p:sp>
      <p:sp>
        <p:nvSpPr>
          <p:cNvPr id="17" name="Rounded Rectangle 16"/>
          <p:cNvSpPr/>
          <p:nvPr/>
        </p:nvSpPr>
        <p:spPr>
          <a:xfrm>
            <a:off x="8173516" y="2057400"/>
            <a:ext cx="3240938" cy="283464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336786" y="2377439"/>
            <a:ext cx="914400" cy="914400"/>
          </a:xfrm>
          <a:prstGeom prst="ellipse">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3400" b="1" i="0">
                <a:solidFill>
                  <a:srgbClr val="FFFFFF"/>
                </a:solidFill>
                <a:latin typeface="Segoe UI"/>
              </a:rPr>
              <a:t>✓</a:t>
            </a:r>
          </a:p>
        </p:txBody>
      </p:sp>
      <p:sp>
        <p:nvSpPr>
          <p:cNvPr id="19" name="TextBox 18"/>
          <p:cNvSpPr txBox="1"/>
          <p:nvPr/>
        </p:nvSpPr>
        <p:spPr>
          <a:xfrm>
            <a:off x="8356396" y="3429000"/>
            <a:ext cx="2875178" cy="411480"/>
          </a:xfrm>
          <a:prstGeom prst="rect">
            <a:avLst/>
          </a:prstGeom>
          <a:noFill/>
        </p:spPr>
        <p:txBody>
          <a:bodyPr wrap="square" anchor="t" lIns="0" rIns="0" tIns="0" bIns="0">
            <a:spAutoFit/>
          </a:bodyPr>
          <a:lstStyle/>
          <a:p>
            <a:pPr algn="ctr">
              <a:lnSpc>
                <a:spcPct val="105000"/>
              </a:lnSpc>
              <a:spcBef>
                <a:spcPts val="0"/>
              </a:spcBef>
              <a:spcAft>
                <a:spcPts val="400"/>
              </a:spcAft>
            </a:pPr>
            <a:r>
              <a:rPr sz="2300" b="1" i="0">
                <a:solidFill>
                  <a:srgbClr val="14213D"/>
                </a:solidFill>
                <a:latin typeface="Segoe UI Semibold"/>
              </a:rPr>
              <a:t>Answerable</a:t>
            </a:r>
          </a:p>
        </p:txBody>
      </p:sp>
      <p:sp>
        <p:nvSpPr>
          <p:cNvPr id="20" name="TextBox 19"/>
          <p:cNvSpPr txBox="1"/>
          <p:nvPr/>
        </p:nvSpPr>
        <p:spPr>
          <a:xfrm>
            <a:off x="8447836" y="3886200"/>
            <a:ext cx="2692298" cy="914400"/>
          </a:xfrm>
          <a:prstGeom prst="rect">
            <a:avLst/>
          </a:prstGeom>
          <a:noFill/>
        </p:spPr>
        <p:txBody>
          <a:bodyPr wrap="square" anchor="t" lIns="0" rIns="0" tIns="0" bIns="0">
            <a:spAutoFit/>
          </a:bodyPr>
          <a:lstStyle/>
          <a:p>
            <a:pPr algn="ctr">
              <a:lnSpc>
                <a:spcPct val="108000"/>
              </a:lnSpc>
              <a:spcBef>
                <a:spcPts val="0"/>
              </a:spcBef>
              <a:spcAft>
                <a:spcPts val="0"/>
              </a:spcAft>
            </a:pPr>
            <a:r>
              <a:rPr sz="1700" b="0" i="0">
                <a:solidFill>
                  <a:srgbClr val="5B6B7B"/>
                </a:solidFill>
                <a:latin typeface="Segoe UI"/>
              </a:rPr>
              <a:t>can actually be investigated through data collection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Example — Turning a Problem Into Questions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29</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Rounded Rectangle 10"/>
          <p:cNvSpPr/>
          <p:nvPr/>
        </p:nvSpPr>
        <p:spPr>
          <a:xfrm>
            <a:off x="777240" y="2286000"/>
            <a:ext cx="10637215" cy="12801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777240" y="2286000"/>
            <a:ext cx="10637215" cy="566928"/>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33271" y="2286000"/>
            <a:ext cx="10198303" cy="566928"/>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FFFFFF"/>
                </a:solidFill>
                <a:latin typeface="Segoe UI Semibold"/>
              </a:rPr>
              <a:t>PROBLEM STATEMENT (from Slide 24)</a:t>
            </a:r>
          </a:p>
        </p:txBody>
      </p:sp>
      <p:sp>
        <p:nvSpPr>
          <p:cNvPr id="14" name="TextBox 13"/>
          <p:cNvSpPr txBox="1"/>
          <p:nvPr/>
        </p:nvSpPr>
        <p:spPr>
          <a:xfrm>
            <a:off x="1097280" y="3017520"/>
            <a:ext cx="9997135" cy="548640"/>
          </a:xfrm>
          <a:prstGeom prst="rect">
            <a:avLst/>
          </a:prstGeom>
          <a:noFill/>
        </p:spPr>
        <p:txBody>
          <a:bodyPr wrap="square" anchor="ctr" lIns="0" rIns="0" tIns="0" bIns="0">
            <a:spAutoFit/>
          </a:bodyPr>
          <a:lstStyle/>
          <a:p>
            <a:pPr algn="l">
              <a:lnSpc>
                <a:spcPct val="105000"/>
              </a:lnSpc>
              <a:spcBef>
                <a:spcPts val="0"/>
              </a:spcBef>
              <a:spcAft>
                <a:spcPts val="0"/>
              </a:spcAft>
            </a:pPr>
            <a:r>
              <a:rPr sz="2000" b="0" i="0">
                <a:solidFill>
                  <a:srgbClr val="14213D"/>
                </a:solidFill>
                <a:latin typeface="Segoe UI"/>
              </a:rPr>
              <a:t>Limited evidence on whether the distiller improves microbial water safety.</a:t>
            </a:r>
          </a:p>
        </p:txBody>
      </p:sp>
      <p:sp>
        <p:nvSpPr>
          <p:cNvPr id="15" name="Down Arrow 14"/>
          <p:cNvSpPr/>
          <p:nvPr/>
        </p:nvSpPr>
        <p:spPr>
          <a:xfrm>
            <a:off x="5844387" y="3703320"/>
            <a:ext cx="502920" cy="365760"/>
          </a:xfrm>
          <a:prstGeom prst="downArrow">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77240" y="4206240"/>
            <a:ext cx="10637215" cy="1371600"/>
          </a:xfrm>
          <a:prstGeom prst="roundRect">
            <a:avLst>
              <a:gd name="adj" fmla="val 6000"/>
            </a:avLst>
          </a:prstGeom>
          <a:solidFill>
            <a:srgbClr val="FBFDFE"/>
          </a:solidFill>
          <a:ln w="12700">
            <a:solidFill>
              <a:srgbClr val="1D7A8C"/>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777240" y="4206240"/>
            <a:ext cx="10637215"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33271" y="4206240"/>
            <a:ext cx="10198303" cy="566928"/>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FFFFFF"/>
                </a:solidFill>
                <a:latin typeface="Segoe UI Semibold"/>
              </a:rPr>
              <a:t>RESEARCH QUESTION</a:t>
            </a:r>
          </a:p>
        </p:txBody>
      </p:sp>
      <p:sp>
        <p:nvSpPr>
          <p:cNvPr id="19" name="TextBox 18"/>
          <p:cNvSpPr txBox="1"/>
          <p:nvPr/>
        </p:nvSpPr>
        <p:spPr>
          <a:xfrm>
            <a:off x="1097280" y="4937760"/>
            <a:ext cx="9997135" cy="640080"/>
          </a:xfrm>
          <a:prstGeom prst="rect">
            <a:avLst/>
          </a:prstGeom>
          <a:noFill/>
        </p:spPr>
        <p:txBody>
          <a:bodyPr wrap="square" anchor="ctr" lIns="0" rIns="0" tIns="0" bIns="0">
            <a:spAutoFit/>
          </a:bodyPr>
          <a:lstStyle/>
          <a:p>
            <a:pPr algn="l">
              <a:lnSpc>
                <a:spcPct val="108000"/>
              </a:lnSpc>
              <a:spcBef>
                <a:spcPts val="0"/>
              </a:spcBef>
              <a:spcAft>
                <a:spcPts val="0"/>
              </a:spcAft>
            </a:pPr>
            <a:r>
              <a:rPr sz="2100" b="0" i="1">
                <a:solidFill>
                  <a:srgbClr val="14213D"/>
                </a:solidFill>
                <a:latin typeface="Segoe UI"/>
              </a:rPr>
              <a:t>“What is the difference in microbial contamination levels of drinking water before and after solar distillation treatment?”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Introducing the Hypothesis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30</a:t>
            </a:r>
          </a:p>
        </p:txBody>
      </p:sp>
      <p:sp>
        <p:nvSpPr>
          <p:cNvPr id="9" name="Rounded Rectangle 8"/>
          <p:cNvSpPr/>
          <p:nvPr/>
        </p:nvSpPr>
        <p:spPr>
          <a:xfrm>
            <a:off x="777240" y="2194560"/>
            <a:ext cx="10637215" cy="1554480"/>
          </a:xfrm>
          <a:prstGeom prst="roundRect">
            <a:avLst>
              <a:gd name="adj" fmla="val 6000"/>
            </a:avLst>
          </a:prstGeom>
          <a:solidFill>
            <a:srgbClr val="E4F1F3"/>
          </a:solidFill>
          <a:ln w="12700">
            <a:solidFill>
              <a:srgbClr val="1D7A8C"/>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88720" y="2194560"/>
            <a:ext cx="9814255" cy="1554480"/>
          </a:xfrm>
          <a:prstGeom prst="rect">
            <a:avLst/>
          </a:prstGeom>
          <a:noFill/>
        </p:spPr>
        <p:txBody>
          <a:bodyPr wrap="square" anchor="ctr" lIns="0" rIns="0" tIns="0" bIns="0">
            <a:spAutoFit/>
          </a:bodyPr>
          <a:lstStyle/>
          <a:p>
            <a:pPr algn="l">
              <a:lnSpc>
                <a:spcPct val="110000"/>
              </a:lnSpc>
              <a:spcBef>
                <a:spcPts val="0"/>
              </a:spcBef>
              <a:spcAft>
                <a:spcPts val="0"/>
              </a:spcAft>
            </a:pPr>
            <a:r>
              <a:rPr sz="2400" b="0" i="0">
                <a:solidFill>
                  <a:srgbClr val="14213D"/>
                </a:solidFill>
                <a:latin typeface="Segoe UI"/>
              </a:rPr>
              <a:t>A </a:t>
            </a:r>
            <a:r>
              <a:rPr sz="2400" b="1" i="1">
                <a:solidFill>
                  <a:srgbClr val="115968"/>
                </a:solidFill>
                <a:latin typeface="Segoe UI"/>
              </a:rPr>
              <a:t>hypothesis</a:t>
            </a:r>
            <a:r>
              <a:rPr sz="2400" b="0" i="0">
                <a:solidFill>
                  <a:srgbClr val="14213D"/>
                </a:solidFill>
                <a:latin typeface="Segoe UI"/>
              </a:rPr>
              <a:t> is a predicted answer to a research question, stated before data is collected.</a:t>
            </a:r>
          </a:p>
        </p:txBody>
      </p:sp>
      <p:sp>
        <p:nvSpPr>
          <p:cNvPr id="11" name="Rounded Rectangle 10"/>
          <p:cNvSpPr/>
          <p:nvPr/>
        </p:nvSpPr>
        <p:spPr>
          <a:xfrm>
            <a:off x="777240" y="4114800"/>
            <a:ext cx="10637215" cy="1371600"/>
          </a:xfrm>
          <a:prstGeom prst="roundRect">
            <a:avLst>
              <a:gd name="adj" fmla="val 10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88720" y="4114800"/>
            <a:ext cx="9814255" cy="1371600"/>
          </a:xfrm>
          <a:prstGeom prst="rect">
            <a:avLst/>
          </a:prstGeom>
          <a:noFill/>
        </p:spPr>
        <p:txBody>
          <a:bodyPr wrap="square" anchor="ctr" lIns="0" rIns="0" tIns="0" bIns="0">
            <a:spAutoFit/>
          </a:bodyPr>
          <a:lstStyle/>
          <a:p>
            <a:pPr algn="l">
              <a:lnSpc>
                <a:spcPct val="115000"/>
              </a:lnSpc>
              <a:spcBef>
                <a:spcPts val="0"/>
              </a:spcBef>
              <a:spcAft>
                <a:spcPts val="0"/>
              </a:spcAft>
            </a:pPr>
            <a:r>
              <a:rPr sz="2200" b="0" i="0">
                <a:solidFill>
                  <a:srgbClr val="14213D"/>
                </a:solidFill>
                <a:latin typeface="Segoe UI"/>
              </a:rPr>
              <a:t>Quantitative studies typically use </a:t>
            </a:r>
            <a:r>
              <a:rPr sz="2200" b="1" i="0">
                <a:solidFill>
                  <a:srgbClr val="F4795B"/>
                </a:solidFill>
                <a:latin typeface="Segoe UI"/>
              </a:rPr>
              <a:t>hypotheses</a:t>
            </a:r>
            <a:r>
              <a:rPr sz="2200" b="0" i="0">
                <a:solidFill>
                  <a:srgbClr val="14213D"/>
                </a:solidFill>
                <a:latin typeface="Segoe UI"/>
              </a:rPr>
              <a:t>; purely exploratory studies may use </a:t>
            </a:r>
            <a:r>
              <a:rPr sz="2200" b="1" i="0">
                <a:solidFill>
                  <a:srgbClr val="2A9D8F"/>
                </a:solidFill>
                <a:latin typeface="Segoe UI"/>
              </a:rPr>
              <a:t>research questions only</a:t>
            </a:r>
            <a:r>
              <a:rPr sz="2200" b="0" i="0">
                <a:solidFill>
                  <a:srgbClr val="14213D"/>
                </a:solidFill>
                <a:latin typeface="Segoe UI"/>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Variables in a Hypothesis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31</a:t>
            </a:r>
          </a:p>
        </p:txBody>
      </p:sp>
      <p:sp>
        <p:nvSpPr>
          <p:cNvPr id="9" name="Rounded Rectangle 8"/>
          <p:cNvSpPr/>
          <p:nvPr/>
        </p:nvSpPr>
        <p:spPr>
          <a:xfrm>
            <a:off x="1188720" y="2331720"/>
            <a:ext cx="3840480" cy="1554480"/>
          </a:xfrm>
          <a:prstGeom prst="roundRect">
            <a:avLst>
              <a:gd name="adj" fmla="val 10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pPr>
            <a:r>
              <a:rPr sz="1700" b="1" i="0">
                <a:solidFill>
                  <a:srgbClr val="FFFFFF"/>
                </a:solidFill>
                <a:latin typeface="Segoe UI Semibold"/>
              </a:rPr>
              <a:t>INDEPENDENT VARIABLE
</a:t>
            </a:r>
            <a:r>
              <a:rPr sz="1500" b="0" i="0">
                <a:solidFill>
                  <a:srgbClr val="EAF6F8"/>
                </a:solidFill>
                <a:latin typeface="Segoe UI"/>
              </a:rPr>
              <a:t>the factor being tested or changed
</a:t>
            </a:r>
            <a:r>
              <a:rPr sz="1500" b="0" i="1">
                <a:solidFill>
                  <a:srgbClr val="F2B705"/>
                </a:solidFill>
                <a:latin typeface="Segoe UI"/>
              </a:rPr>
              <a:t>(e.g., use of the solar distiller)</a:t>
            </a:r>
          </a:p>
        </p:txBody>
      </p:sp>
      <p:sp>
        <p:nvSpPr>
          <p:cNvPr id="10" name="Right Arrow 9"/>
          <p:cNvSpPr/>
          <p:nvPr/>
        </p:nvSpPr>
        <p:spPr>
          <a:xfrm>
            <a:off x="5257800" y="2834639"/>
            <a:ext cx="1463040" cy="502920"/>
          </a:xfrm>
          <a:prstGeom prst="rightArrow">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300" b="1" i="0">
                <a:solidFill>
                  <a:srgbClr val="FFFFFF"/>
                </a:solidFill>
                <a:latin typeface="Segoe UI"/>
              </a:rPr>
              <a:t>affects</a:t>
            </a:r>
          </a:p>
        </p:txBody>
      </p:sp>
      <p:sp>
        <p:nvSpPr>
          <p:cNvPr id="11" name="Rounded Rectangle 10"/>
          <p:cNvSpPr/>
          <p:nvPr/>
        </p:nvSpPr>
        <p:spPr>
          <a:xfrm>
            <a:off x="7178040" y="2331720"/>
            <a:ext cx="3840480" cy="1554480"/>
          </a:xfrm>
          <a:prstGeom prst="roundRect">
            <a:avLst>
              <a:gd name="adj" fmla="val 10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5000"/>
              </a:lnSpc>
            </a:pPr>
            <a:r>
              <a:rPr sz="1700" b="1" i="0">
                <a:solidFill>
                  <a:srgbClr val="FFFFFF"/>
                </a:solidFill>
                <a:latin typeface="Segoe UI Semibold"/>
              </a:rPr>
              <a:t>DEPENDENT VARIABLE
</a:t>
            </a:r>
            <a:r>
              <a:rPr sz="1500" b="0" i="0">
                <a:solidFill>
                  <a:srgbClr val="E6F5F2"/>
                </a:solidFill>
                <a:latin typeface="Segoe UI"/>
              </a:rPr>
              <a:t>the outcome being measured
</a:t>
            </a:r>
            <a:r>
              <a:rPr sz="1500" b="0" i="1">
                <a:solidFill>
                  <a:srgbClr val="F2B705"/>
                </a:solidFill>
                <a:latin typeface="Segoe UI"/>
              </a:rPr>
              <a:t>(e.g., microbial contamination level)</a:t>
            </a:r>
          </a:p>
        </p:txBody>
      </p:sp>
      <p:sp>
        <p:nvSpPr>
          <p:cNvPr id="12" name="Rounded Rectangle 11"/>
          <p:cNvSpPr/>
          <p:nvPr/>
        </p:nvSpPr>
        <p:spPr>
          <a:xfrm>
            <a:off x="777240" y="4480560"/>
            <a:ext cx="10637215" cy="685800"/>
          </a:xfrm>
          <a:prstGeom prst="roundRect">
            <a:avLst>
              <a:gd name="adj" fmla="val 1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4480560"/>
            <a:ext cx="9997135" cy="685800"/>
          </a:xfrm>
          <a:prstGeom prst="rect">
            <a:avLst/>
          </a:prstGeom>
          <a:noFill/>
        </p:spPr>
        <p:txBody>
          <a:bodyPr wrap="square" anchor="ctr" lIns="0" rIns="0" tIns="0" bIns="0">
            <a:spAutoFit/>
          </a:bodyPr>
          <a:lstStyle/>
          <a:p>
            <a:pPr algn="l">
              <a:lnSpc>
                <a:spcPct val="100000"/>
              </a:lnSpc>
              <a:spcBef>
                <a:spcPts val="0"/>
              </a:spcBef>
              <a:spcAft>
                <a:spcPts val="0"/>
              </a:spcAft>
            </a:pPr>
            <a:r>
              <a:rPr sz="2000" b="1" i="0">
                <a:solidFill>
                  <a:srgbClr val="24344F"/>
                </a:solidFill>
                <a:latin typeface="Segoe UI"/>
              </a:rPr>
              <a:t>A hypothesis predicts how the independent variable affects the dependent variable.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Null vs. Alternative Hypothesis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32</a:t>
            </a:r>
          </a:p>
        </p:txBody>
      </p:sp>
      <p:sp>
        <p:nvSpPr>
          <p:cNvPr id="9" name="Rounded Rectangle 8"/>
          <p:cNvSpPr/>
          <p:nvPr/>
        </p:nvSpPr>
        <p:spPr>
          <a:xfrm>
            <a:off x="777240" y="1783080"/>
            <a:ext cx="5090007" cy="1737359"/>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1783080"/>
            <a:ext cx="5090007" cy="566928"/>
          </a:xfrm>
          <a:prstGeom prst="roundRect">
            <a:avLst>
              <a:gd name="adj" fmla="val 12000"/>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1" y="178308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FFFFFF"/>
                </a:solidFill>
                <a:latin typeface="Segoe UI Semibold"/>
              </a:rPr>
              <a:t>NULL HYPOTHESIS  (H₀)</a:t>
            </a:r>
          </a:p>
        </p:txBody>
      </p:sp>
      <p:sp>
        <p:nvSpPr>
          <p:cNvPr id="12" name="TextBox 11"/>
          <p:cNvSpPr txBox="1"/>
          <p:nvPr/>
        </p:nvSpPr>
        <p:spPr>
          <a:xfrm>
            <a:off x="1069848" y="2560320"/>
            <a:ext cx="4541367" cy="822959"/>
          </a:xfrm>
          <a:prstGeom prst="rect">
            <a:avLst/>
          </a:prstGeom>
          <a:noFill/>
        </p:spPr>
        <p:txBody>
          <a:bodyPr wrap="square" anchor="t" lIns="0" rIns="0" tIns="0" bIns="0">
            <a:spAutoFit/>
          </a:bodyPr>
          <a:lstStyle/>
          <a:p>
            <a:pPr algn="l" marL="274638" indent="-274638">
              <a:lnSpc>
                <a:spcPct val="105000"/>
              </a:lnSpc>
              <a:spcBef>
                <a:spcPts val="0"/>
              </a:spcBef>
              <a:spcAft>
                <a:spcPts val="800"/>
              </a:spcAft>
              <a:buClr>
                <a:srgbClr val="5B6B7B"/>
              </a:buClr>
              <a:buSzPct val="80000"/>
              <a:buFont typeface="Arial"/>
              <a:buChar char="▪"/>
            </a:pPr>
            <a:r>
              <a:rPr sz="2200" b="0" i="0">
                <a:solidFill>
                  <a:srgbClr val="14213D"/>
                </a:solidFill>
                <a:latin typeface="Segoe UI"/>
              </a:rPr>
              <a:t>States there is no significant difference or relationship</a:t>
            </a:r>
          </a:p>
        </p:txBody>
      </p:sp>
      <p:sp>
        <p:nvSpPr>
          <p:cNvPr id="13" name="Rounded Rectangle 12"/>
          <p:cNvSpPr/>
          <p:nvPr/>
        </p:nvSpPr>
        <p:spPr>
          <a:xfrm>
            <a:off x="6324447" y="1783080"/>
            <a:ext cx="5090007" cy="1737359"/>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324447" y="1783080"/>
            <a:ext cx="5090007"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0479" y="178308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FFFFFF"/>
                </a:solidFill>
                <a:latin typeface="Segoe UI Semibold"/>
              </a:rPr>
              <a:t>ALTERNATIVE HYPOTHESIS  (H₁)</a:t>
            </a:r>
          </a:p>
        </p:txBody>
      </p:sp>
      <p:sp>
        <p:nvSpPr>
          <p:cNvPr id="16" name="TextBox 15"/>
          <p:cNvSpPr txBox="1"/>
          <p:nvPr/>
        </p:nvSpPr>
        <p:spPr>
          <a:xfrm>
            <a:off x="6617055" y="2560320"/>
            <a:ext cx="4541367" cy="822959"/>
          </a:xfrm>
          <a:prstGeom prst="rect">
            <a:avLst/>
          </a:prstGeom>
          <a:noFill/>
        </p:spPr>
        <p:txBody>
          <a:bodyPr wrap="square" anchor="t" lIns="0" rIns="0" tIns="0" bIns="0">
            <a:spAutoFit/>
          </a:bodyPr>
          <a:lstStyle/>
          <a:p>
            <a:pPr algn="l" marL="274638" indent="-274638">
              <a:lnSpc>
                <a:spcPct val="105000"/>
              </a:lnSpc>
              <a:spcBef>
                <a:spcPts val="0"/>
              </a:spcBef>
              <a:spcAft>
                <a:spcPts val="800"/>
              </a:spcAft>
              <a:buClr>
                <a:srgbClr val="1D7A8C"/>
              </a:buClr>
              <a:buSzPct val="80000"/>
              <a:buFont typeface="Arial"/>
              <a:buChar char="▪"/>
            </a:pPr>
            <a:r>
              <a:rPr sz="2200" b="0" i="0">
                <a:solidFill>
                  <a:srgbClr val="14213D"/>
                </a:solidFill>
                <a:latin typeface="Segoe UI"/>
              </a:rPr>
              <a:t>States there is a significant difference or relationship</a:t>
            </a:r>
          </a:p>
        </p:txBody>
      </p:sp>
      <p:sp>
        <p:nvSpPr>
          <p:cNvPr id="17" name="Rounded Rectangle 16"/>
          <p:cNvSpPr/>
          <p:nvPr/>
        </p:nvSpPr>
        <p:spPr>
          <a:xfrm>
            <a:off x="777240" y="3749039"/>
            <a:ext cx="10637215" cy="1600200"/>
          </a:xfrm>
          <a:prstGeom prst="roundRect">
            <a:avLst>
              <a:gd name="adj" fmla="val 8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43000" y="3749039"/>
            <a:ext cx="9905695" cy="1600200"/>
          </a:xfrm>
          <a:prstGeom prst="rect">
            <a:avLst/>
          </a:prstGeom>
          <a:noFill/>
        </p:spPr>
        <p:txBody>
          <a:bodyPr wrap="square" anchor="ctr" lIns="0" rIns="0" tIns="0" bIns="0">
            <a:spAutoFit/>
          </a:bodyPr>
          <a:lstStyle/>
          <a:p>
            <a:pPr algn="l">
              <a:lnSpc>
                <a:spcPct val="105000"/>
              </a:lnSpc>
              <a:spcBef>
                <a:spcPts val="0"/>
              </a:spcBef>
              <a:spcAft>
                <a:spcPts val="600"/>
              </a:spcAft>
            </a:pPr>
            <a:r>
              <a:rPr sz="1300" b="1" i="0">
                <a:solidFill>
                  <a:srgbClr val="F2B705"/>
                </a:solidFill>
                <a:latin typeface="Segoe UI Semibold"/>
              </a:rPr>
              <a:t>EXAMPLE A</a:t>
            </a:r>
          </a:p>
          <a:p>
            <a:pPr algn="l">
              <a:lnSpc>
                <a:spcPct val="105000"/>
              </a:lnSpc>
              <a:spcBef>
                <a:spcPts val="0"/>
              </a:spcBef>
              <a:spcAft>
                <a:spcPts val="500"/>
              </a:spcAft>
            </a:pPr>
            <a:r>
              <a:rPr sz="2000" b="1" i="0">
                <a:solidFill>
                  <a:srgbClr val="9FB8C8"/>
                </a:solidFill>
                <a:latin typeface="Segoe UI"/>
              </a:rPr>
              <a:t>H₀  </a:t>
            </a:r>
            <a:r>
              <a:rPr sz="1900" b="0" i="0">
                <a:solidFill>
                  <a:srgbClr val="FFFFFF"/>
                </a:solidFill>
                <a:latin typeface="Segoe UI"/>
              </a:rPr>
              <a:t>There is no significant difference in contamination levels before and after distillation.</a:t>
            </a:r>
          </a:p>
          <a:p>
            <a:pPr algn="l">
              <a:lnSpc>
                <a:spcPct val="105000"/>
              </a:lnSpc>
              <a:spcBef>
                <a:spcPts val="0"/>
              </a:spcBef>
              <a:spcAft>
                <a:spcPts val="0"/>
              </a:spcAft>
            </a:pPr>
            <a:r>
              <a:rPr sz="2000" b="1" i="0">
                <a:solidFill>
                  <a:srgbClr val="F2B705"/>
                </a:solidFill>
                <a:latin typeface="Segoe UI"/>
              </a:rPr>
              <a:t>H₁  </a:t>
            </a:r>
            <a:r>
              <a:rPr sz="1900" b="0" i="0">
                <a:solidFill>
                  <a:srgbClr val="FFFFFF"/>
                </a:solidFill>
                <a:latin typeface="Segoe UI"/>
              </a:rPr>
              <a:t>There is a significant difference.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400" b="1" i="0">
                <a:solidFill>
                  <a:srgbClr val="14213D"/>
                </a:solidFill>
                <a:latin typeface="Segoe UI Semibold"/>
              </a:rPr>
              <a:t>Writing RQs &amp; Hypotheses for Quantitative / Mixed Studies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33</a:t>
            </a:r>
          </a:p>
        </p:txBody>
      </p:sp>
      <p:graphicFrame>
        <p:nvGraphicFramePr>
          <p:cNvPr id="9" name="Table 8"/>
          <p:cNvGraphicFramePr>
            <a:graphicFrameLocks noGrp="1"/>
          </p:cNvGraphicFramePr>
          <p:nvPr/>
        </p:nvGraphicFramePr>
        <p:xfrm>
          <a:off x="777240" y="2057400"/>
          <a:ext cx="10637214" cy="3310128"/>
        </p:xfrm>
        <a:graphic>
          <a:graphicData uri="http://schemas.openxmlformats.org/drawingml/2006/table">
            <a:tbl>
              <a:tblPr>
                <a:tableStyleId>{5C22544A-7EE6-4342-B048-85BDC9FD1C3A}</a:tableStyleId>
              </a:tblPr>
              <a:tblGrid>
                <a:gridCol w="2727491"/>
                <a:gridCol w="4636734"/>
                <a:gridCol w="3272989"/>
              </a:tblGrid>
              <a:tr h="530352">
                <a:tc>
                  <a:txBody>
                    <a:bodyPr wrap="square"/>
                    <a:lstStyle/>
                    <a:p>
                      <a:pPr algn="l">
                        <a:lnSpc>
                          <a:spcPct val="100000"/>
                        </a:lnSpc>
                      </a:pPr>
                      <a:r>
                        <a:rPr sz="1800" b="1">
                          <a:solidFill>
                            <a:srgbClr val="FFFFFF"/>
                          </a:solidFill>
                          <a:latin typeface="Segoe UI Semibold"/>
                        </a:rPr>
                        <a:t>Question Type</a:t>
                      </a:r>
                    </a:p>
                  </a:txBody>
                  <a:tcPr marL="101600" marR="101600" marT="50800" marB="50800" anchor="ctr">
                    <a:solidFill>
                      <a:srgbClr val="1D7A8C"/>
                    </a:solidFill>
                  </a:tcPr>
                </a:tc>
                <a:tc>
                  <a:txBody>
                    <a:bodyPr wrap="square"/>
                    <a:lstStyle/>
                    <a:p>
                      <a:pPr algn="l">
                        <a:lnSpc>
                          <a:spcPct val="100000"/>
                        </a:lnSpc>
                      </a:pPr>
                      <a:r>
                        <a:rPr sz="1800" b="1">
                          <a:solidFill>
                            <a:srgbClr val="FFFFFF"/>
                          </a:solidFill>
                          <a:latin typeface="Segoe UI Semibold"/>
                        </a:rPr>
                        <a:t>Sentence Starter</a:t>
                      </a:r>
                    </a:p>
                  </a:txBody>
                  <a:tcPr marL="101600" marR="101600" marT="50800" marB="50800" anchor="ctr">
                    <a:solidFill>
                      <a:srgbClr val="1D7A8C"/>
                    </a:solidFill>
                  </a:tcPr>
                </a:tc>
                <a:tc>
                  <a:txBody>
                    <a:bodyPr wrap="square"/>
                    <a:lstStyle/>
                    <a:p>
                      <a:pPr algn="l">
                        <a:lnSpc>
                          <a:spcPct val="100000"/>
                        </a:lnSpc>
                      </a:pPr>
                      <a:r>
                        <a:rPr sz="1800" b="1">
                          <a:solidFill>
                            <a:srgbClr val="FFFFFF"/>
                          </a:solidFill>
                          <a:latin typeface="Segoe UI Semibold"/>
                        </a:rPr>
                        <a:t>Best Fit</a:t>
                      </a:r>
                    </a:p>
                  </a:txBody>
                  <a:tcPr marL="101600" marR="101600" marT="50800" marB="50800" anchor="ctr">
                    <a:solidFill>
                      <a:srgbClr val="1D7A8C"/>
                    </a:solidFill>
                  </a:tcPr>
                </a:tc>
              </a:tr>
              <a:tr h="694944">
                <a:tc>
                  <a:txBody>
                    <a:bodyPr wrap="square"/>
                    <a:lstStyle/>
                    <a:p>
                      <a:pPr algn="l">
                        <a:lnSpc>
                          <a:spcPct val="100000"/>
                        </a:lnSpc>
                      </a:pPr>
                      <a:r>
                        <a:rPr sz="1800" b="0">
                          <a:solidFill>
                            <a:srgbClr val="14213D"/>
                          </a:solidFill>
                          <a:latin typeface="Segoe UI"/>
                        </a:rPr>
                        <a:t>Descriptive</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“What is the level / extent of…?”</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Quantitative</a:t>
                      </a:r>
                    </a:p>
                  </a:txBody>
                  <a:tcPr marL="101600" marR="101600" marT="50800" marB="50800" anchor="ctr">
                    <a:solidFill>
                      <a:srgbClr val="FFFFFF"/>
                    </a:solidFill>
                  </a:tcPr>
                </a:tc>
              </a:tr>
              <a:tr h="694944">
                <a:tc>
                  <a:txBody>
                    <a:bodyPr wrap="square"/>
                    <a:lstStyle/>
                    <a:p>
                      <a:pPr algn="l">
                        <a:lnSpc>
                          <a:spcPct val="100000"/>
                        </a:lnSpc>
                      </a:pPr>
                      <a:r>
                        <a:rPr sz="1800" b="0">
                          <a:solidFill>
                            <a:srgbClr val="14213D"/>
                          </a:solidFill>
                          <a:latin typeface="Segoe UI"/>
                        </a:rPr>
                        <a:t>Comparative</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“Is there a difference between…?”</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Quantitative</a:t>
                      </a:r>
                    </a:p>
                  </a:txBody>
                  <a:tcPr marL="101600" marR="101600" marT="50800" marB="50800" anchor="ctr">
                    <a:solidFill>
                      <a:srgbClr val="EEF4F7"/>
                    </a:solidFill>
                  </a:tcPr>
                </a:tc>
              </a:tr>
              <a:tr h="694944">
                <a:tc>
                  <a:txBody>
                    <a:bodyPr wrap="square"/>
                    <a:lstStyle/>
                    <a:p>
                      <a:pPr algn="l">
                        <a:lnSpc>
                          <a:spcPct val="100000"/>
                        </a:lnSpc>
                      </a:pPr>
                      <a:r>
                        <a:rPr sz="1800" b="0">
                          <a:solidFill>
                            <a:srgbClr val="14213D"/>
                          </a:solidFill>
                          <a:latin typeface="Segoe UI"/>
                        </a:rPr>
                        <a:t>Relationship</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“Is there a relationship / effect between…?”</a:t>
                      </a:r>
                    </a:p>
                  </a:txBody>
                  <a:tcPr marL="101600" marR="101600" marT="50800" marB="50800" anchor="ctr">
                    <a:solidFill>
                      <a:srgbClr val="FFFFFF"/>
                    </a:solidFill>
                  </a:tcPr>
                </a:tc>
                <a:tc>
                  <a:txBody>
                    <a:bodyPr wrap="square"/>
                    <a:lstStyle/>
                    <a:p>
                      <a:pPr algn="l">
                        <a:lnSpc>
                          <a:spcPct val="100000"/>
                        </a:lnSpc>
                      </a:pPr>
                      <a:r>
                        <a:rPr sz="1800" b="0">
                          <a:solidFill>
                            <a:srgbClr val="14213D"/>
                          </a:solidFill>
                          <a:latin typeface="Segoe UI"/>
                        </a:rPr>
                        <a:t>Quantitative</a:t>
                      </a:r>
                    </a:p>
                  </a:txBody>
                  <a:tcPr marL="101600" marR="101600" marT="50800" marB="50800" anchor="ctr">
                    <a:solidFill>
                      <a:srgbClr val="FFFFFF"/>
                    </a:solidFill>
                  </a:tcPr>
                </a:tc>
              </a:tr>
              <a:tr h="694944">
                <a:tc>
                  <a:txBody>
                    <a:bodyPr wrap="square"/>
                    <a:lstStyle/>
                    <a:p>
                      <a:pPr algn="l">
                        <a:lnSpc>
                          <a:spcPct val="100000"/>
                        </a:lnSpc>
                      </a:pPr>
                      <a:r>
                        <a:rPr sz="1800" b="0">
                          <a:solidFill>
                            <a:srgbClr val="14213D"/>
                          </a:solidFill>
                          <a:latin typeface="Segoe UI"/>
                        </a:rPr>
                        <a:t>Follow-up qualitative</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“How do participants experience / explain…?”</a:t>
                      </a:r>
                    </a:p>
                  </a:txBody>
                  <a:tcPr marL="101600" marR="101600" marT="50800" marB="50800" anchor="ctr">
                    <a:solidFill>
                      <a:srgbClr val="EEF4F7"/>
                    </a:solidFill>
                  </a:tcPr>
                </a:tc>
                <a:tc>
                  <a:txBody>
                    <a:bodyPr wrap="square"/>
                    <a:lstStyle/>
                    <a:p>
                      <a:pPr algn="l">
                        <a:lnSpc>
                          <a:spcPct val="100000"/>
                        </a:lnSpc>
                      </a:pPr>
                      <a:r>
                        <a:rPr sz="1800" b="0">
                          <a:solidFill>
                            <a:srgbClr val="14213D"/>
                          </a:solidFill>
                          <a:latin typeface="Segoe UI"/>
                        </a:rPr>
                        <a:t>Added in mixed methods designs</a:t>
                      </a:r>
                    </a:p>
                  </a:txBody>
                  <a:tcPr marL="101600" marR="101600" marT="50800" marB="50800" anchor="ctr">
                    <a:solidFill>
                      <a:srgbClr val="FCE4DD"/>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Example — The Complete Chain</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34</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Rounded Rectangle 10"/>
          <p:cNvSpPr/>
          <p:nvPr/>
        </p:nvSpPr>
        <p:spPr>
          <a:xfrm>
            <a:off x="2103120" y="2240280"/>
            <a:ext cx="7955279" cy="786384"/>
          </a:xfrm>
          <a:prstGeom prst="roundRect">
            <a:avLst>
              <a:gd name="adj" fmla="val 12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ctr">
              <a:lnSpc>
                <a:spcPct val="100000"/>
              </a:lnSpc>
            </a:pPr>
            <a:r>
              <a:rPr sz="1600" b="1" i="0">
                <a:solidFill>
                  <a:srgbClr val="FFFFFF"/>
                </a:solidFill>
                <a:latin typeface="Segoe UI Semibold"/>
              </a:rPr>
              <a:t>Problem Statement:  </a:t>
            </a:r>
            <a:r>
              <a:rPr sz="1500" b="0" i="0">
                <a:solidFill>
                  <a:srgbClr val="EAF6F8"/>
                </a:solidFill>
                <a:latin typeface="Segoe UI"/>
              </a:rPr>
              <a:t>limited evidence on whether the distiller improves microbial water safety</a:t>
            </a:r>
          </a:p>
        </p:txBody>
      </p:sp>
      <p:sp>
        <p:nvSpPr>
          <p:cNvPr id="12" name="Down Arrow 11"/>
          <p:cNvSpPr/>
          <p:nvPr/>
        </p:nvSpPr>
        <p:spPr>
          <a:xfrm>
            <a:off x="5925312" y="3055193"/>
            <a:ext cx="310896" cy="180685"/>
          </a:xfrm>
          <a:prstGeom prst="downArrow">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103120" y="3264408"/>
            <a:ext cx="7955279" cy="786384"/>
          </a:xfrm>
          <a:prstGeom prst="roundRect">
            <a:avLst>
              <a:gd name="adj" fmla="val 12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ctr">
              <a:lnSpc>
                <a:spcPct val="100000"/>
              </a:lnSpc>
            </a:pPr>
            <a:r>
              <a:rPr sz="1600" b="1" i="0">
                <a:solidFill>
                  <a:srgbClr val="FFFFFF"/>
                </a:solidFill>
                <a:latin typeface="Segoe UI Semibold"/>
              </a:rPr>
              <a:t>Research Question:  </a:t>
            </a:r>
            <a:r>
              <a:rPr sz="1500" b="0" i="0">
                <a:solidFill>
                  <a:srgbClr val="EAF6F8"/>
                </a:solidFill>
                <a:latin typeface="Segoe UI"/>
              </a:rPr>
              <a:t>Is there a significant difference in microbial contamination before and after distillation?</a:t>
            </a:r>
          </a:p>
        </p:txBody>
      </p:sp>
      <p:sp>
        <p:nvSpPr>
          <p:cNvPr id="14" name="Down Arrow 13"/>
          <p:cNvSpPr/>
          <p:nvPr/>
        </p:nvSpPr>
        <p:spPr>
          <a:xfrm>
            <a:off x="5925312" y="4079321"/>
            <a:ext cx="310896" cy="180685"/>
          </a:xfrm>
          <a:prstGeom prst="downArrow">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2103120" y="4288536"/>
            <a:ext cx="7955279" cy="786384"/>
          </a:xfrm>
          <a:prstGeom prst="roundRect">
            <a:avLst>
              <a:gd name="adj" fmla="val 12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ctr">
              <a:lnSpc>
                <a:spcPct val="100000"/>
              </a:lnSpc>
            </a:pPr>
            <a:r>
              <a:rPr sz="1600" b="1" i="0">
                <a:solidFill>
                  <a:srgbClr val="FFFFFF"/>
                </a:solidFill>
                <a:latin typeface="Segoe UI Semibold"/>
              </a:rPr>
              <a:t>Hypothesis (H₁):  </a:t>
            </a:r>
            <a:r>
              <a:rPr sz="1500" b="0" i="0">
                <a:solidFill>
                  <a:srgbClr val="EAF6F8"/>
                </a:solidFill>
                <a:latin typeface="Segoe UI"/>
              </a:rPr>
              <a:t>there is a significant difference in contamination levels before and after treatment</a:t>
            </a:r>
          </a:p>
        </p:txBody>
      </p:sp>
      <p:sp>
        <p:nvSpPr>
          <p:cNvPr id="16" name="Down Arrow 15"/>
          <p:cNvSpPr/>
          <p:nvPr/>
        </p:nvSpPr>
        <p:spPr>
          <a:xfrm>
            <a:off x="5925312" y="5103449"/>
            <a:ext cx="310896" cy="180685"/>
          </a:xfrm>
          <a:prstGeom prst="downArrow">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103120" y="5312664"/>
            <a:ext cx="7955279" cy="786384"/>
          </a:xfrm>
          <a:prstGeom prst="roundRect">
            <a:avLst>
              <a:gd name="adj" fmla="val 12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ctr">
              <a:lnSpc>
                <a:spcPct val="100000"/>
              </a:lnSpc>
            </a:pPr>
            <a:r>
              <a:rPr sz="1600" b="1" i="0">
                <a:solidFill>
                  <a:srgbClr val="FFFFFF"/>
                </a:solidFill>
                <a:latin typeface="Segoe UI Semibold"/>
              </a:rPr>
              <a:t>Mixed methods add-on:  </a:t>
            </a:r>
            <a:r>
              <a:rPr sz="1500" b="0" i="0">
                <a:solidFill>
                  <a:srgbClr val="EAF6F8"/>
                </a:solidFill>
                <a:latin typeface="Segoe UI"/>
              </a:rPr>
              <a:t>How do barangay residents perceive the safety of the distilled water?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6 · RESEARCH QUESTIONS AND HYPOTHESES (COMPETENCY 14)</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Application — Draft Your Own Chain</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35</a:t>
            </a:r>
          </a:p>
        </p:txBody>
      </p:sp>
      <p:sp>
        <p:nvSpPr>
          <p:cNvPr id="9" name="Rounded Rectangle 8"/>
          <p:cNvSpPr/>
          <p:nvPr/>
        </p:nvSpPr>
        <p:spPr>
          <a:xfrm>
            <a:off x="777240" y="1719072"/>
            <a:ext cx="3909974"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727094"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Activity template · Example B topic or your own</a:t>
            </a:r>
          </a:p>
        </p:txBody>
      </p:sp>
      <p:sp>
        <p:nvSpPr>
          <p:cNvPr id="11" name="Rounded Rectangle 10"/>
          <p:cNvSpPr/>
          <p:nvPr/>
        </p:nvSpPr>
        <p:spPr>
          <a:xfrm>
            <a:off x="777240" y="2194560"/>
            <a:ext cx="10637215" cy="393192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43000" y="2514600"/>
            <a:ext cx="9905695" cy="422909"/>
          </a:xfrm>
          <a:prstGeom prst="rect">
            <a:avLst/>
          </a:prstGeom>
          <a:noFill/>
        </p:spPr>
        <p:txBody>
          <a:bodyPr wrap="square" anchor="t" lIns="0" rIns="0" tIns="0" bIns="0">
            <a:spAutoFit/>
          </a:bodyPr>
          <a:lstStyle/>
          <a:p>
            <a:pPr algn="l">
              <a:lnSpc>
                <a:spcPct val="105000"/>
              </a:lnSpc>
              <a:spcBef>
                <a:spcPts val="0"/>
              </a:spcBef>
              <a:spcAft>
                <a:spcPts val="0"/>
              </a:spcAft>
            </a:pPr>
            <a:r>
              <a:rPr sz="2300" b="1" i="0">
                <a:solidFill>
                  <a:srgbClr val="14213D"/>
                </a:solidFill>
                <a:latin typeface="Segoe UI Semibold"/>
              </a:rPr>
              <a:t>Problem Statement:</a:t>
            </a:r>
          </a:p>
        </p:txBody>
      </p:sp>
      <p:sp>
        <p:nvSpPr>
          <p:cNvPr id="13" name="Rounded Rectangle 12"/>
          <p:cNvSpPr/>
          <p:nvPr/>
        </p:nvSpPr>
        <p:spPr>
          <a:xfrm>
            <a:off x="1143000" y="3039008"/>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43000" y="3360420"/>
            <a:ext cx="9905695" cy="422909"/>
          </a:xfrm>
          <a:prstGeom prst="rect">
            <a:avLst/>
          </a:prstGeom>
          <a:noFill/>
        </p:spPr>
        <p:txBody>
          <a:bodyPr wrap="square" anchor="t" lIns="0" rIns="0" tIns="0" bIns="0">
            <a:spAutoFit/>
          </a:bodyPr>
          <a:lstStyle/>
          <a:p>
            <a:pPr algn="l">
              <a:lnSpc>
                <a:spcPct val="105000"/>
              </a:lnSpc>
              <a:spcBef>
                <a:spcPts val="0"/>
              </a:spcBef>
              <a:spcAft>
                <a:spcPts val="0"/>
              </a:spcAft>
            </a:pPr>
            <a:r>
              <a:rPr sz="2300" b="1" i="0">
                <a:solidFill>
                  <a:srgbClr val="14213D"/>
                </a:solidFill>
                <a:latin typeface="Segoe UI Semibold"/>
              </a:rPr>
              <a:t>Research Question:</a:t>
            </a:r>
          </a:p>
        </p:txBody>
      </p:sp>
      <p:sp>
        <p:nvSpPr>
          <p:cNvPr id="15" name="Rounded Rectangle 14"/>
          <p:cNvSpPr/>
          <p:nvPr/>
        </p:nvSpPr>
        <p:spPr>
          <a:xfrm>
            <a:off x="1143000" y="3884828"/>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143000" y="4206240"/>
            <a:ext cx="9905695" cy="422909"/>
          </a:xfrm>
          <a:prstGeom prst="rect">
            <a:avLst/>
          </a:prstGeom>
          <a:noFill/>
        </p:spPr>
        <p:txBody>
          <a:bodyPr wrap="square" anchor="t" lIns="0" rIns="0" tIns="0" bIns="0">
            <a:spAutoFit/>
          </a:bodyPr>
          <a:lstStyle/>
          <a:p>
            <a:pPr algn="l">
              <a:lnSpc>
                <a:spcPct val="105000"/>
              </a:lnSpc>
              <a:spcBef>
                <a:spcPts val="0"/>
              </a:spcBef>
              <a:spcAft>
                <a:spcPts val="0"/>
              </a:spcAft>
            </a:pPr>
            <a:r>
              <a:rPr sz="2300" b="1" i="0">
                <a:solidFill>
                  <a:srgbClr val="14213D"/>
                </a:solidFill>
                <a:latin typeface="Segoe UI Semibold"/>
              </a:rPr>
              <a:t>Hypothesis (H₁):</a:t>
            </a:r>
          </a:p>
        </p:txBody>
      </p:sp>
      <p:sp>
        <p:nvSpPr>
          <p:cNvPr id="17" name="Rounded Rectangle 16"/>
          <p:cNvSpPr/>
          <p:nvPr/>
        </p:nvSpPr>
        <p:spPr>
          <a:xfrm>
            <a:off x="1143000" y="4730648"/>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43000" y="5052059"/>
            <a:ext cx="9905695" cy="422909"/>
          </a:xfrm>
          <a:prstGeom prst="rect">
            <a:avLst/>
          </a:prstGeom>
          <a:noFill/>
        </p:spPr>
        <p:txBody>
          <a:bodyPr wrap="square" anchor="t" lIns="0" rIns="0" tIns="0" bIns="0">
            <a:spAutoFit/>
          </a:bodyPr>
          <a:lstStyle/>
          <a:p>
            <a:pPr algn="l">
              <a:lnSpc>
                <a:spcPct val="105000"/>
              </a:lnSpc>
              <a:spcBef>
                <a:spcPts val="0"/>
              </a:spcBef>
              <a:spcAft>
                <a:spcPts val="0"/>
              </a:spcAft>
            </a:pPr>
            <a:r>
              <a:rPr sz="2300" b="1" i="0">
                <a:solidFill>
                  <a:srgbClr val="14213D"/>
                </a:solidFill>
                <a:latin typeface="Segoe UI Semibold"/>
              </a:rPr>
              <a:t>(Optional mixed methods add-on question):</a:t>
            </a:r>
          </a:p>
        </p:txBody>
      </p:sp>
      <p:sp>
        <p:nvSpPr>
          <p:cNvPr id="19" name="Rounded Rectangle 18"/>
          <p:cNvSpPr/>
          <p:nvPr/>
        </p:nvSpPr>
        <p:spPr>
          <a:xfrm>
            <a:off x="1143000" y="5576468"/>
            <a:ext cx="9905695"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7 · JUSTIFYING THE PROBLEM WITH CER (COMPETENCY 15)</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Justifying Why This Problem Matters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36</a:t>
            </a:r>
          </a:p>
        </p:txBody>
      </p:sp>
      <p:sp>
        <p:nvSpPr>
          <p:cNvPr id="9" name="Rounded Rectangle 8"/>
          <p:cNvSpPr/>
          <p:nvPr/>
        </p:nvSpPr>
        <p:spPr>
          <a:xfrm>
            <a:off x="1280160" y="2103120"/>
            <a:ext cx="9631375" cy="822960"/>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600200" y="2103120"/>
            <a:ext cx="9082735" cy="822960"/>
          </a:xfrm>
          <a:prstGeom prst="rect">
            <a:avLst/>
          </a:prstGeom>
          <a:noFill/>
        </p:spPr>
        <p:txBody>
          <a:bodyPr wrap="square" anchor="ctr" lIns="0" rIns="0" tIns="0" bIns="0">
            <a:spAutoFit/>
          </a:bodyPr>
          <a:lstStyle/>
          <a:p>
            <a:pPr algn="l">
              <a:lnSpc>
                <a:spcPct val="105000"/>
              </a:lnSpc>
              <a:spcBef>
                <a:spcPts val="0"/>
              </a:spcBef>
              <a:spcAft>
                <a:spcPts val="0"/>
              </a:spcAft>
            </a:pPr>
            <a:r>
              <a:rPr sz="2200" b="0" i="0">
                <a:solidFill>
                  <a:srgbClr val="14213D"/>
                </a:solidFill>
                <a:latin typeface="Segoe UI"/>
              </a:rPr>
              <a:t>A problem statement says </a:t>
            </a:r>
            <a:r>
              <a:rPr sz="2200" b="1" i="0">
                <a:solidFill>
                  <a:srgbClr val="1D7A8C"/>
                </a:solidFill>
                <a:latin typeface="Segoe UI"/>
              </a:rPr>
              <a:t>what</a:t>
            </a:r>
            <a:r>
              <a:rPr sz="2200" b="0" i="0">
                <a:solidFill>
                  <a:srgbClr val="14213D"/>
                </a:solidFill>
                <a:latin typeface="Segoe UI"/>
              </a:rPr>
              <a:t> you will study</a:t>
            </a:r>
          </a:p>
        </p:txBody>
      </p:sp>
      <p:sp>
        <p:nvSpPr>
          <p:cNvPr id="11" name="Rounded Rectangle 10"/>
          <p:cNvSpPr/>
          <p:nvPr/>
        </p:nvSpPr>
        <p:spPr>
          <a:xfrm>
            <a:off x="1280160" y="3108960"/>
            <a:ext cx="9631375" cy="822960"/>
          </a:xfrm>
          <a:prstGeom prst="roundRect">
            <a:avLst>
              <a:gd name="adj" fmla="val 12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00200" y="3108960"/>
            <a:ext cx="9082735" cy="822960"/>
          </a:xfrm>
          <a:prstGeom prst="rect">
            <a:avLst/>
          </a:prstGeom>
          <a:noFill/>
        </p:spPr>
        <p:txBody>
          <a:bodyPr wrap="square" anchor="ctr" lIns="0" rIns="0" tIns="0" bIns="0">
            <a:spAutoFit/>
          </a:bodyPr>
          <a:lstStyle/>
          <a:p>
            <a:pPr algn="l">
              <a:lnSpc>
                <a:spcPct val="105000"/>
              </a:lnSpc>
              <a:spcBef>
                <a:spcPts val="0"/>
              </a:spcBef>
              <a:spcAft>
                <a:spcPts val="0"/>
              </a:spcAft>
            </a:pPr>
            <a:r>
              <a:rPr sz="2200" b="0" i="0">
                <a:solidFill>
                  <a:srgbClr val="14213D"/>
                </a:solidFill>
                <a:latin typeface="Segoe UI"/>
              </a:rPr>
              <a:t>A justification explains </a:t>
            </a:r>
            <a:r>
              <a:rPr sz="2200" b="1" i="0">
                <a:solidFill>
                  <a:srgbClr val="F4795B"/>
                </a:solidFill>
                <a:latin typeface="Segoe UI"/>
              </a:rPr>
              <a:t>why it deserves</a:t>
            </a:r>
            <a:r>
              <a:rPr sz="2200" b="0" i="0">
                <a:solidFill>
                  <a:srgbClr val="14213D"/>
                </a:solidFill>
                <a:latin typeface="Segoe UI"/>
              </a:rPr>
              <a:t> to be studied</a:t>
            </a:r>
          </a:p>
        </p:txBody>
      </p:sp>
      <p:sp>
        <p:nvSpPr>
          <p:cNvPr id="13" name="Rounded Rectangle 12"/>
          <p:cNvSpPr/>
          <p:nvPr/>
        </p:nvSpPr>
        <p:spPr>
          <a:xfrm>
            <a:off x="1280160" y="4206240"/>
            <a:ext cx="9631375" cy="1051560"/>
          </a:xfrm>
          <a:prstGeom prst="roundRect">
            <a:avLst>
              <a:gd name="adj" fmla="val 10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600200" y="4206240"/>
            <a:ext cx="9082735" cy="1051560"/>
          </a:xfrm>
          <a:prstGeom prst="rect">
            <a:avLst/>
          </a:prstGeom>
          <a:noFill/>
        </p:spPr>
        <p:txBody>
          <a:bodyPr wrap="square" anchor="ctr" lIns="0" rIns="0" tIns="0" bIns="0">
            <a:spAutoFit/>
          </a:bodyPr>
          <a:lstStyle/>
          <a:p>
            <a:pPr algn="l">
              <a:lnSpc>
                <a:spcPct val="105000"/>
              </a:lnSpc>
              <a:spcBef>
                <a:spcPts val="0"/>
              </a:spcBef>
              <a:spcAft>
                <a:spcPts val="0"/>
              </a:spcAft>
            </a:pPr>
            <a:r>
              <a:rPr sz="2000" b="0" i="0">
                <a:solidFill>
                  <a:srgbClr val="FFFFFF"/>
                </a:solidFill>
                <a:latin typeface="Segoe UI"/>
              </a:rPr>
              <a:t>Tool for building this justification:  the </a:t>
            </a:r>
            <a:r>
              <a:rPr sz="2000" b="1" i="0">
                <a:solidFill>
                  <a:srgbClr val="F2B705"/>
                </a:solidFill>
                <a:latin typeface="Segoe UI"/>
              </a:rPr>
              <a:t>Claim – Evidence – Reasoning (CER)</a:t>
            </a:r>
            <a:r>
              <a:rPr sz="2000" b="0" i="0">
                <a:solidFill>
                  <a:srgbClr val="FFFFFF"/>
                </a:solidFill>
                <a:latin typeface="Segoe UI"/>
              </a:rPr>
              <a:t> framework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7 · JUSTIFYING THE PROBLEM WITH CER (COMPETENCY 15)</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Breaking Down Claim, Evidence, Reasoning</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37</a:t>
            </a:r>
          </a:p>
        </p:txBody>
      </p:sp>
      <p:sp>
        <p:nvSpPr>
          <p:cNvPr id="9" name="Rounded Rectangle 8"/>
          <p:cNvSpPr/>
          <p:nvPr/>
        </p:nvSpPr>
        <p:spPr>
          <a:xfrm>
            <a:off x="777240" y="1965960"/>
            <a:ext cx="3301898" cy="22860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1965960"/>
            <a:ext cx="3301898" cy="594360"/>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1" y="1965960"/>
            <a:ext cx="2862986" cy="594360"/>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CLAIM</a:t>
            </a:r>
          </a:p>
        </p:txBody>
      </p:sp>
      <p:sp>
        <p:nvSpPr>
          <p:cNvPr id="12" name="TextBox 11"/>
          <p:cNvSpPr txBox="1"/>
          <p:nvPr/>
        </p:nvSpPr>
        <p:spPr>
          <a:xfrm>
            <a:off x="1033271" y="2697480"/>
            <a:ext cx="2789834" cy="1463040"/>
          </a:xfrm>
          <a:prstGeom prst="rect">
            <a:avLst/>
          </a:prstGeom>
          <a:noFill/>
        </p:spPr>
        <p:txBody>
          <a:bodyPr wrap="square" anchor="t" lIns="0" rIns="0" tIns="0" bIns="0">
            <a:spAutoFit/>
          </a:bodyPr>
          <a:lstStyle/>
          <a:p>
            <a:pPr algn="l">
              <a:lnSpc>
                <a:spcPct val="112000"/>
              </a:lnSpc>
              <a:spcBef>
                <a:spcPts val="0"/>
              </a:spcBef>
              <a:spcAft>
                <a:spcPts val="0"/>
              </a:spcAft>
            </a:pPr>
            <a:r>
              <a:rPr sz="2000" b="0" i="0">
                <a:solidFill>
                  <a:srgbClr val="14213D"/>
                </a:solidFill>
                <a:latin typeface="Segoe UI"/>
              </a:rPr>
              <a:t>this problem is worth studying</a:t>
            </a:r>
          </a:p>
        </p:txBody>
      </p:sp>
      <p:sp>
        <p:nvSpPr>
          <p:cNvPr id="13" name="Right Arrow 12"/>
          <p:cNvSpPr/>
          <p:nvPr/>
        </p:nvSpPr>
        <p:spPr>
          <a:xfrm>
            <a:off x="4060850" y="2880360"/>
            <a:ext cx="402336" cy="365760"/>
          </a:xfrm>
          <a:prstGeom prst="rightArrow">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444898" y="1965960"/>
            <a:ext cx="3301898" cy="22860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4444898" y="1965960"/>
            <a:ext cx="3301898" cy="594360"/>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700930" y="1965960"/>
            <a:ext cx="2862986" cy="594360"/>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EVIDENCE</a:t>
            </a:r>
          </a:p>
        </p:txBody>
      </p:sp>
      <p:sp>
        <p:nvSpPr>
          <p:cNvPr id="17" name="TextBox 16"/>
          <p:cNvSpPr txBox="1"/>
          <p:nvPr/>
        </p:nvSpPr>
        <p:spPr>
          <a:xfrm>
            <a:off x="4700930" y="2697480"/>
            <a:ext cx="2789834" cy="1463040"/>
          </a:xfrm>
          <a:prstGeom prst="rect">
            <a:avLst/>
          </a:prstGeom>
          <a:noFill/>
        </p:spPr>
        <p:txBody>
          <a:bodyPr wrap="square" anchor="t" lIns="0" rIns="0" tIns="0" bIns="0">
            <a:spAutoFit/>
          </a:bodyPr>
          <a:lstStyle/>
          <a:p>
            <a:pPr algn="l">
              <a:lnSpc>
                <a:spcPct val="112000"/>
              </a:lnSpc>
              <a:spcBef>
                <a:spcPts val="0"/>
              </a:spcBef>
              <a:spcAft>
                <a:spcPts val="0"/>
              </a:spcAft>
            </a:pPr>
            <a:r>
              <a:rPr sz="2000" b="0" i="0">
                <a:solidFill>
                  <a:srgbClr val="14213D"/>
                </a:solidFill>
                <a:latin typeface="Segoe UI"/>
              </a:rPr>
              <a:t>findings and gaps drawn from your literature synthesis</a:t>
            </a:r>
          </a:p>
        </p:txBody>
      </p:sp>
      <p:sp>
        <p:nvSpPr>
          <p:cNvPr id="18" name="Right Arrow 17"/>
          <p:cNvSpPr/>
          <p:nvPr/>
        </p:nvSpPr>
        <p:spPr>
          <a:xfrm>
            <a:off x="7728508" y="2880360"/>
            <a:ext cx="402336" cy="365760"/>
          </a:xfrm>
          <a:prstGeom prst="rightArrow">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8112556" y="1965960"/>
            <a:ext cx="3301898" cy="22860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8112556" y="1965960"/>
            <a:ext cx="3301898" cy="594360"/>
          </a:xfrm>
          <a:prstGeom prst="roundRect">
            <a:avLst>
              <a:gd name="adj" fmla="val 12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68588" y="1965960"/>
            <a:ext cx="2862986" cy="594360"/>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REASONING</a:t>
            </a:r>
          </a:p>
        </p:txBody>
      </p:sp>
      <p:sp>
        <p:nvSpPr>
          <p:cNvPr id="22" name="TextBox 21"/>
          <p:cNvSpPr txBox="1"/>
          <p:nvPr/>
        </p:nvSpPr>
        <p:spPr>
          <a:xfrm>
            <a:off x="8368588" y="2697480"/>
            <a:ext cx="2789834" cy="1463040"/>
          </a:xfrm>
          <a:prstGeom prst="rect">
            <a:avLst/>
          </a:prstGeom>
          <a:noFill/>
        </p:spPr>
        <p:txBody>
          <a:bodyPr wrap="square" anchor="t" lIns="0" rIns="0" tIns="0" bIns="0">
            <a:spAutoFit/>
          </a:bodyPr>
          <a:lstStyle/>
          <a:p>
            <a:pPr algn="l">
              <a:lnSpc>
                <a:spcPct val="112000"/>
              </a:lnSpc>
              <a:spcBef>
                <a:spcPts val="0"/>
              </a:spcBef>
              <a:spcAft>
                <a:spcPts val="0"/>
              </a:spcAft>
            </a:pPr>
            <a:r>
              <a:rPr sz="2000" b="0" i="0">
                <a:solidFill>
                  <a:srgbClr val="14213D"/>
                </a:solidFill>
                <a:latin typeface="Segoe UI"/>
              </a:rPr>
              <a:t>the explicit logic connecting the evidence to the claim</a:t>
            </a:r>
          </a:p>
        </p:txBody>
      </p:sp>
      <p:sp>
        <p:nvSpPr>
          <p:cNvPr id="23" name="Rounded Rectangle 22"/>
          <p:cNvSpPr/>
          <p:nvPr/>
        </p:nvSpPr>
        <p:spPr>
          <a:xfrm>
            <a:off x="777240" y="4526279"/>
            <a:ext cx="10637215" cy="777240"/>
          </a:xfrm>
          <a:prstGeom prst="roundRect">
            <a:avLst>
              <a:gd name="adj" fmla="val 1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97280" y="4526279"/>
            <a:ext cx="9997135" cy="777240"/>
          </a:xfrm>
          <a:prstGeom prst="rect">
            <a:avLst/>
          </a:prstGeom>
          <a:noFill/>
        </p:spPr>
        <p:txBody>
          <a:bodyPr wrap="square" anchor="ctr" lIns="0" rIns="0" tIns="0" bIns="0">
            <a:spAutoFit/>
          </a:bodyPr>
          <a:lstStyle/>
          <a:p>
            <a:pPr algn="l">
              <a:lnSpc>
                <a:spcPct val="105000"/>
              </a:lnSpc>
              <a:spcBef>
                <a:spcPts val="0"/>
              </a:spcBef>
              <a:spcAft>
                <a:spcPts val="0"/>
              </a:spcAft>
            </a:pPr>
            <a:r>
              <a:rPr sz="1800" b="1" i="0">
                <a:solidFill>
                  <a:srgbClr val="115968"/>
                </a:solidFill>
                <a:latin typeface="Segoe UI"/>
              </a:rPr>
              <a:t>CER = </a:t>
            </a:r>
            <a:r>
              <a:rPr sz="1800" b="0" i="0">
                <a:solidFill>
                  <a:srgbClr val="24344F"/>
                </a:solidFill>
                <a:latin typeface="Segoe UI"/>
              </a:rPr>
              <a:t>you assert something, back it with real findings, and explain why those findings support your assertion.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7 · JUSTIFYING THE PROBLEM WITH CER (COMPETENCY 15)</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Example — A Worked CER Paragraph</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38</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Oval 10"/>
          <p:cNvSpPr/>
          <p:nvPr/>
        </p:nvSpPr>
        <p:spPr>
          <a:xfrm>
            <a:off x="777240" y="2194560"/>
            <a:ext cx="237744" cy="237744"/>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88136" y="2139696"/>
            <a:ext cx="1554480" cy="320040"/>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14213D"/>
                </a:solidFill>
                <a:latin typeface="Segoe UI Semibold"/>
              </a:rPr>
              <a:t>Claim</a:t>
            </a:r>
          </a:p>
        </p:txBody>
      </p:sp>
      <p:sp>
        <p:nvSpPr>
          <p:cNvPr id="13" name="Oval 12"/>
          <p:cNvSpPr/>
          <p:nvPr/>
        </p:nvSpPr>
        <p:spPr>
          <a:xfrm>
            <a:off x="2606040" y="2194560"/>
            <a:ext cx="237744" cy="237744"/>
          </a:xfrm>
          <a:prstGeom prst="ellipse">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916936" y="2139696"/>
            <a:ext cx="1554480" cy="320040"/>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14213D"/>
                </a:solidFill>
                <a:latin typeface="Segoe UI Semibold"/>
              </a:rPr>
              <a:t>Evidence</a:t>
            </a:r>
          </a:p>
        </p:txBody>
      </p:sp>
      <p:sp>
        <p:nvSpPr>
          <p:cNvPr id="15" name="Oval 14"/>
          <p:cNvSpPr/>
          <p:nvPr/>
        </p:nvSpPr>
        <p:spPr>
          <a:xfrm>
            <a:off x="4434840" y="2194560"/>
            <a:ext cx="237744" cy="23774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745736" y="2139696"/>
            <a:ext cx="1554480" cy="320040"/>
          </a:xfrm>
          <a:prstGeom prst="rect">
            <a:avLst/>
          </a:prstGeom>
          <a:noFill/>
        </p:spPr>
        <p:txBody>
          <a:bodyPr wrap="square" anchor="ctr" lIns="0" rIns="0" tIns="0" bIns="0">
            <a:spAutoFit/>
          </a:bodyPr>
          <a:lstStyle/>
          <a:p>
            <a:pPr algn="l">
              <a:lnSpc>
                <a:spcPct val="105000"/>
              </a:lnSpc>
              <a:spcBef>
                <a:spcPts val="0"/>
              </a:spcBef>
              <a:spcAft>
                <a:spcPts val="0"/>
              </a:spcAft>
            </a:pPr>
            <a:r>
              <a:rPr sz="1500" b="1" i="0">
                <a:solidFill>
                  <a:srgbClr val="14213D"/>
                </a:solidFill>
                <a:latin typeface="Segoe UI Semibold"/>
              </a:rPr>
              <a:t>Reasoning</a:t>
            </a:r>
          </a:p>
        </p:txBody>
      </p:sp>
      <p:sp>
        <p:nvSpPr>
          <p:cNvPr id="17" name="Rounded Rectangle 16"/>
          <p:cNvSpPr/>
          <p:nvPr/>
        </p:nvSpPr>
        <p:spPr>
          <a:xfrm>
            <a:off x="777240" y="2651760"/>
            <a:ext cx="10637215" cy="2743200"/>
          </a:xfrm>
          <a:prstGeom prst="roundRect">
            <a:avLst>
              <a:gd name="adj" fmla="val 6000"/>
            </a:avLst>
          </a:prstGeom>
          <a:solidFill>
            <a:srgbClr val="FBFDFE"/>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88720" y="2880360"/>
            <a:ext cx="9814255" cy="2286000"/>
          </a:xfrm>
          <a:prstGeom prst="rect">
            <a:avLst/>
          </a:prstGeom>
          <a:noFill/>
        </p:spPr>
        <p:txBody>
          <a:bodyPr wrap="square" anchor="ctr" lIns="0" rIns="0" tIns="0" bIns="0">
            <a:spAutoFit/>
          </a:bodyPr>
          <a:lstStyle/>
          <a:p>
            <a:pPr algn="l">
              <a:lnSpc>
                <a:spcPct val="130000"/>
              </a:lnSpc>
              <a:spcBef>
                <a:spcPts val="0"/>
              </a:spcBef>
              <a:spcAft>
                <a:spcPts val="0"/>
              </a:spcAft>
            </a:pPr>
            <a:r>
              <a:rPr sz="2000" b="1" i="0">
                <a:solidFill>
                  <a:srgbClr val="1D7A8C"/>
                </a:solidFill>
                <a:latin typeface="Segoe UI"/>
              </a:rPr>
              <a:t>[Claim] </a:t>
            </a:r>
            <a:r>
              <a:rPr sz="2000" b="0" i="0">
                <a:solidFill>
                  <a:srgbClr val="14213D"/>
                </a:solidFill>
                <a:latin typeface="Segoe UI"/>
              </a:rPr>
              <a:t>Testing the solar distiller's effect on microbial water safety is a worthwhile research problem. </a:t>
            </a:r>
            <a:r>
              <a:rPr sz="2000" b="1" i="0">
                <a:solidFill>
                  <a:srgbClr val="F4795B"/>
                </a:solidFill>
                <a:latin typeface="Segoe UI"/>
              </a:rPr>
              <a:t>[Evidence] </a:t>
            </a:r>
            <a:r>
              <a:rPr sz="2000" b="0" i="0">
                <a:solidFill>
                  <a:srgbClr val="14213D"/>
                </a:solidFill>
                <a:latin typeface="Segoe UI"/>
              </a:rPr>
              <a:t>Existing studies test distiller efficiency or water safety separately, but rarely evaluate both together in an actual barangay setting. </a:t>
            </a:r>
            <a:r>
              <a:rPr sz="2000" b="1" i="0">
                <a:solidFill>
                  <a:srgbClr val="2A9D8F"/>
                </a:solidFill>
                <a:latin typeface="Segoe UI"/>
              </a:rPr>
              <a:t>[Reasoning] </a:t>
            </a:r>
            <a:r>
              <a:rPr sz="2000" b="0" i="0">
                <a:solidFill>
                  <a:srgbClr val="14213D"/>
                </a:solidFill>
                <a:latin typeface="Segoe UI"/>
              </a:rPr>
              <a:t>Because coastal communities are adopting these distillers based on efficiency claims alone, verifying their actual effect on water safety directly addresses a real, practical gap in current knowledge.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7 · JUSTIFYING THE PROBLEM WITH CER (COMPETENCY 15)</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700" b="1" i="0">
                <a:solidFill>
                  <a:srgbClr val="14213D"/>
                </a:solidFill>
                <a:latin typeface="Segoe UI Semibold"/>
              </a:rPr>
              <a:t>Application — Spot the Claim, Evidence, Reasoning</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39</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B topic</a:t>
            </a:r>
          </a:p>
        </p:txBody>
      </p:sp>
      <p:sp>
        <p:nvSpPr>
          <p:cNvPr id="11" name="Rounded Rectangle 10"/>
          <p:cNvSpPr/>
          <p:nvPr/>
        </p:nvSpPr>
        <p:spPr>
          <a:xfrm>
            <a:off x="777240" y="2240280"/>
            <a:ext cx="10637215" cy="2606040"/>
          </a:xfrm>
          <a:prstGeom prst="roundRect">
            <a:avLst>
              <a:gd name="adj" fmla="val 6000"/>
            </a:avLst>
          </a:prstGeom>
          <a:solidFill>
            <a:srgbClr val="FFFFFF"/>
          </a:solidFill>
          <a:ln w="12700">
            <a:solidFill>
              <a:srgbClr val="1D7A8C"/>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88720" y="2468880"/>
            <a:ext cx="9814255" cy="2148840"/>
          </a:xfrm>
          <a:prstGeom prst="rect">
            <a:avLst/>
          </a:prstGeom>
          <a:noFill/>
        </p:spPr>
        <p:txBody>
          <a:bodyPr wrap="square" anchor="ctr" lIns="0" rIns="0" tIns="0" bIns="0">
            <a:spAutoFit/>
          </a:bodyPr>
          <a:lstStyle/>
          <a:p>
            <a:pPr algn="l">
              <a:lnSpc>
                <a:spcPct val="130000"/>
              </a:lnSpc>
              <a:spcBef>
                <a:spcPts val="0"/>
              </a:spcBef>
              <a:spcAft>
                <a:spcPts val="0"/>
              </a:spcAft>
            </a:pPr>
            <a:r>
              <a:rPr sz="2000" b="0" i="0">
                <a:solidFill>
                  <a:srgbClr val="14213D"/>
                </a:solidFill>
                <a:latin typeface="Segoe UI"/>
              </a:rPr>
              <a:t>“Improving dengue prediction models is an important research problem. Most existing models rely only on rainfall and temperature, leaving out human mobility patterns that influence outbreak spread. Since mobility data is now more accessible through mobile network records, incorporating it could meaningfully improve prediction accuracy for local health units.”</a:t>
            </a:r>
          </a:p>
        </p:txBody>
      </p:sp>
      <p:sp>
        <p:nvSpPr>
          <p:cNvPr id="13" name="Rounded Rectangle 12"/>
          <p:cNvSpPr/>
          <p:nvPr/>
        </p:nvSpPr>
        <p:spPr>
          <a:xfrm>
            <a:off x="777240" y="5029200"/>
            <a:ext cx="10637215" cy="566928"/>
          </a:xfrm>
          <a:prstGeom prst="roundRect">
            <a:avLst>
              <a:gd name="adj" fmla="val 12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60120" y="5129784"/>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2B705"/>
                </a:solidFill>
                <a:latin typeface="Segoe UI"/>
              </a:rPr>
              <a:t>✎</a:t>
            </a:r>
          </a:p>
        </p:txBody>
      </p:sp>
      <p:sp>
        <p:nvSpPr>
          <p:cNvPr id="15" name="TextBox 14"/>
          <p:cNvSpPr txBox="1"/>
          <p:nvPr/>
        </p:nvSpPr>
        <p:spPr>
          <a:xfrm>
            <a:off x="1490472" y="5029200"/>
            <a:ext cx="9722815" cy="566928"/>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14213D"/>
                </a:solidFill>
                <a:latin typeface="Segoe UI Semibold"/>
              </a:rPr>
              <a:t>Individually: label each sentence as Claim, Evidence, or Reasoning — then compare with a partner.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8 · ASSUMPTIONS AND LIMITATIONS (COMPETENCY 16)</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3000" b="1" i="0">
                <a:solidFill>
                  <a:srgbClr val="14213D"/>
                </a:solidFill>
                <a:latin typeface="Segoe UI Semibold"/>
              </a:rPr>
              <a:t>Assumptions vs. Limitations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40</a:t>
            </a:r>
          </a:p>
        </p:txBody>
      </p:sp>
      <p:sp>
        <p:nvSpPr>
          <p:cNvPr id="9" name="Rounded Rectangle 8"/>
          <p:cNvSpPr/>
          <p:nvPr/>
        </p:nvSpPr>
        <p:spPr>
          <a:xfrm>
            <a:off x="777240" y="1828800"/>
            <a:ext cx="5090007" cy="3291839"/>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1828800"/>
            <a:ext cx="5090007"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33271" y="182880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ASSUMPTIONS</a:t>
            </a:r>
          </a:p>
        </p:txBody>
      </p:sp>
      <p:sp>
        <p:nvSpPr>
          <p:cNvPr id="12" name="TextBox 11"/>
          <p:cNvSpPr txBox="1"/>
          <p:nvPr/>
        </p:nvSpPr>
        <p:spPr>
          <a:xfrm>
            <a:off x="1069848" y="2606040"/>
            <a:ext cx="4541367" cy="2377439"/>
          </a:xfrm>
          <a:prstGeom prst="rect">
            <a:avLst/>
          </a:prstGeom>
          <a:noFill/>
        </p:spPr>
        <p:txBody>
          <a:bodyPr wrap="square" anchor="t" lIns="0" rIns="0" tIns="0" bIns="0">
            <a:spAutoFit/>
          </a:bodyPr>
          <a:lstStyle/>
          <a:p>
            <a:pPr algn="l" marL="274638" indent="-274638">
              <a:lnSpc>
                <a:spcPct val="105000"/>
              </a:lnSpc>
              <a:spcBef>
                <a:spcPts val="0"/>
              </a:spcBef>
              <a:spcAft>
                <a:spcPts val="1200"/>
              </a:spcAft>
              <a:buClr>
                <a:srgbClr val="1D7A8C"/>
              </a:buClr>
              <a:buSzPct val="80000"/>
              <a:buFont typeface="Arial"/>
              <a:buChar char="▪"/>
            </a:pPr>
            <a:r>
              <a:rPr sz="2100" b="0" i="0">
                <a:solidFill>
                  <a:srgbClr val="14213D"/>
                </a:solidFill>
                <a:latin typeface="Segoe UI"/>
              </a:rPr>
              <a:t>Things you take as true / given, without directly testing them</a:t>
            </a:r>
          </a:p>
          <a:p>
            <a:pPr algn="l" marL="274638" indent="-274638">
              <a:lnSpc>
                <a:spcPct val="105000"/>
              </a:lnSpc>
              <a:spcBef>
                <a:spcPts val="0"/>
              </a:spcBef>
              <a:spcAft>
                <a:spcPts val="1200"/>
              </a:spcAft>
              <a:buClr>
                <a:srgbClr val="1D7A8C"/>
              </a:buClr>
              <a:buSzPct val="80000"/>
              <a:buFont typeface="Arial"/>
              <a:buChar char="▪"/>
            </a:pPr>
            <a:r>
              <a:rPr sz="2100" b="1" i="0">
                <a:solidFill>
                  <a:srgbClr val="1D7A8C"/>
                </a:solidFill>
                <a:latin typeface="Segoe UI"/>
              </a:rPr>
              <a:t>Example: </a:t>
            </a:r>
            <a:r>
              <a:rPr sz="2100" b="0" i="1">
                <a:solidFill>
                  <a:srgbClr val="14213D"/>
                </a:solidFill>
                <a:latin typeface="Segoe UI"/>
              </a:rPr>
              <a:t>participants will answer survey questions honestly</a:t>
            </a:r>
          </a:p>
        </p:txBody>
      </p:sp>
      <p:sp>
        <p:nvSpPr>
          <p:cNvPr id="13" name="Rounded Rectangle 12"/>
          <p:cNvSpPr/>
          <p:nvPr/>
        </p:nvSpPr>
        <p:spPr>
          <a:xfrm>
            <a:off x="6324447" y="1828800"/>
            <a:ext cx="5090007" cy="3291839"/>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324447" y="1828800"/>
            <a:ext cx="5090007" cy="566928"/>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0479" y="182880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LIMITATIONS</a:t>
            </a:r>
          </a:p>
        </p:txBody>
      </p:sp>
      <p:sp>
        <p:nvSpPr>
          <p:cNvPr id="16" name="TextBox 15"/>
          <p:cNvSpPr txBox="1"/>
          <p:nvPr/>
        </p:nvSpPr>
        <p:spPr>
          <a:xfrm>
            <a:off x="6617055" y="2606040"/>
            <a:ext cx="4541367" cy="2377439"/>
          </a:xfrm>
          <a:prstGeom prst="rect">
            <a:avLst/>
          </a:prstGeom>
          <a:noFill/>
        </p:spPr>
        <p:txBody>
          <a:bodyPr wrap="square" anchor="t" lIns="0" rIns="0" tIns="0" bIns="0">
            <a:spAutoFit/>
          </a:bodyPr>
          <a:lstStyle/>
          <a:p>
            <a:pPr algn="l" marL="274638" indent="-274638">
              <a:lnSpc>
                <a:spcPct val="105000"/>
              </a:lnSpc>
              <a:spcBef>
                <a:spcPts val="0"/>
              </a:spcBef>
              <a:spcAft>
                <a:spcPts val="1200"/>
              </a:spcAft>
              <a:buClr>
                <a:srgbClr val="F4795B"/>
              </a:buClr>
              <a:buSzPct val="80000"/>
              <a:buFont typeface="Arial"/>
              <a:buChar char="▪"/>
            </a:pPr>
            <a:r>
              <a:rPr sz="2100" b="0" i="0">
                <a:solidFill>
                  <a:srgbClr val="14213D"/>
                </a:solidFill>
                <a:latin typeface="Segoe UI"/>
              </a:rPr>
              <a:t>Constraints or weaknesses in the study's design or scope</a:t>
            </a:r>
          </a:p>
          <a:p>
            <a:pPr algn="l" marL="274638" indent="-274638">
              <a:lnSpc>
                <a:spcPct val="105000"/>
              </a:lnSpc>
              <a:spcBef>
                <a:spcPts val="0"/>
              </a:spcBef>
              <a:spcAft>
                <a:spcPts val="1200"/>
              </a:spcAft>
              <a:buClr>
                <a:srgbClr val="F4795B"/>
              </a:buClr>
              <a:buSzPct val="80000"/>
              <a:buFont typeface="Arial"/>
              <a:buChar char="▪"/>
            </a:pPr>
            <a:r>
              <a:rPr sz="2100" b="1" i="0">
                <a:solidFill>
                  <a:srgbClr val="F4795B"/>
                </a:solidFill>
                <a:latin typeface="Segoe UI"/>
              </a:rPr>
              <a:t>Example: </a:t>
            </a:r>
            <a:r>
              <a:rPr sz="2100" b="0" i="1">
                <a:solidFill>
                  <a:srgbClr val="14213D"/>
                </a:solidFill>
                <a:latin typeface="Segoe UI"/>
              </a:rPr>
              <a:t>the study only covers one barangay, so results may not generalize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8 · ASSUMPTIONS AND LIMITATIONS (COMPETENCY 16)</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800" b="1" i="0">
                <a:solidFill>
                  <a:srgbClr val="14213D"/>
                </a:solidFill>
                <a:latin typeface="Segoe UI Semibold"/>
              </a:rPr>
              <a:t>Why Naming Limitations Builds Credibility</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41</a:t>
            </a:r>
          </a:p>
        </p:txBody>
      </p:sp>
      <p:sp>
        <p:nvSpPr>
          <p:cNvPr id="9" name="Rounded Rectangle 8"/>
          <p:cNvSpPr/>
          <p:nvPr/>
        </p:nvSpPr>
        <p:spPr>
          <a:xfrm>
            <a:off x="777240" y="2011679"/>
            <a:ext cx="5090007" cy="18288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777240" y="2011679"/>
            <a:ext cx="5090007" cy="566928"/>
          </a:xfrm>
          <a:prstGeom prst="roundRect">
            <a:avLst>
              <a:gd name="adj" fmla="val 12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996695" y="2112263"/>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D1495B"/>
                </a:solidFill>
                <a:latin typeface="Segoe UI"/>
              </a:rPr>
              <a:t>✕</a:t>
            </a:r>
          </a:p>
        </p:txBody>
      </p:sp>
      <p:sp>
        <p:nvSpPr>
          <p:cNvPr id="12" name="TextBox 11"/>
          <p:cNvSpPr txBox="1"/>
          <p:nvPr/>
        </p:nvSpPr>
        <p:spPr>
          <a:xfrm>
            <a:off x="1527048" y="2011679"/>
            <a:ext cx="4157319"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HIDES ITS LIMITATIONS</a:t>
            </a:r>
          </a:p>
        </p:txBody>
      </p:sp>
      <p:sp>
        <p:nvSpPr>
          <p:cNvPr id="13" name="TextBox 12"/>
          <p:cNvSpPr txBox="1"/>
          <p:nvPr/>
        </p:nvSpPr>
        <p:spPr>
          <a:xfrm>
            <a:off x="1051560" y="2743200"/>
            <a:ext cx="4541367" cy="1051560"/>
          </a:xfrm>
          <a:prstGeom prst="rect">
            <a:avLst/>
          </a:prstGeom>
          <a:noFill/>
        </p:spPr>
        <p:txBody>
          <a:bodyPr wrap="square" anchor="ctr" lIns="0" rIns="0" tIns="0" bIns="0">
            <a:spAutoFit/>
          </a:bodyPr>
          <a:lstStyle/>
          <a:p>
            <a:pPr algn="l">
              <a:lnSpc>
                <a:spcPct val="112000"/>
              </a:lnSpc>
              <a:spcBef>
                <a:spcPts val="0"/>
              </a:spcBef>
              <a:spcAft>
                <a:spcPts val="0"/>
              </a:spcAft>
            </a:pPr>
            <a:r>
              <a:rPr sz="2100" b="0" i="0">
                <a:solidFill>
                  <a:srgbClr val="14213D"/>
                </a:solidFill>
                <a:latin typeface="Segoe UI"/>
              </a:rPr>
              <a:t>Looks either naive or dishonest to a careful reader</a:t>
            </a:r>
          </a:p>
        </p:txBody>
      </p:sp>
      <p:sp>
        <p:nvSpPr>
          <p:cNvPr id="14" name="Rounded Rectangle 13"/>
          <p:cNvSpPr/>
          <p:nvPr/>
        </p:nvSpPr>
        <p:spPr>
          <a:xfrm>
            <a:off x="6324447" y="2011679"/>
            <a:ext cx="5090007" cy="18288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324447" y="2011679"/>
            <a:ext cx="5090007" cy="566928"/>
          </a:xfrm>
          <a:prstGeom prst="roundRect">
            <a:avLst>
              <a:gd name="adj" fmla="val 12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543903" y="2112263"/>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2A9D8F"/>
                </a:solidFill>
                <a:latin typeface="Segoe UI"/>
              </a:rPr>
              <a:t>✓</a:t>
            </a:r>
          </a:p>
        </p:txBody>
      </p:sp>
      <p:sp>
        <p:nvSpPr>
          <p:cNvPr id="17" name="TextBox 16"/>
          <p:cNvSpPr txBox="1"/>
          <p:nvPr/>
        </p:nvSpPr>
        <p:spPr>
          <a:xfrm>
            <a:off x="7074255" y="2011679"/>
            <a:ext cx="4157319"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NAMES ITS LIMITATIONS</a:t>
            </a:r>
          </a:p>
        </p:txBody>
      </p:sp>
      <p:sp>
        <p:nvSpPr>
          <p:cNvPr id="18" name="TextBox 17"/>
          <p:cNvSpPr txBox="1"/>
          <p:nvPr/>
        </p:nvSpPr>
        <p:spPr>
          <a:xfrm>
            <a:off x="6598767" y="2743200"/>
            <a:ext cx="4541367" cy="1051560"/>
          </a:xfrm>
          <a:prstGeom prst="rect">
            <a:avLst/>
          </a:prstGeom>
          <a:noFill/>
        </p:spPr>
        <p:txBody>
          <a:bodyPr wrap="square" anchor="ctr" lIns="0" rIns="0" tIns="0" bIns="0">
            <a:spAutoFit/>
          </a:bodyPr>
          <a:lstStyle/>
          <a:p>
            <a:pPr algn="l">
              <a:lnSpc>
                <a:spcPct val="112000"/>
              </a:lnSpc>
              <a:spcBef>
                <a:spcPts val="0"/>
              </a:spcBef>
              <a:spcAft>
                <a:spcPts val="0"/>
              </a:spcAft>
            </a:pPr>
            <a:r>
              <a:rPr sz="2100" b="0" i="0">
                <a:solidFill>
                  <a:srgbClr val="14213D"/>
                </a:solidFill>
                <a:latin typeface="Segoe UI"/>
              </a:rPr>
              <a:t>Shows the researcher understands the boundaries of their own claims</a:t>
            </a:r>
          </a:p>
        </p:txBody>
      </p:sp>
      <p:sp>
        <p:nvSpPr>
          <p:cNvPr id="19" name="Rounded Rectangle 18"/>
          <p:cNvSpPr/>
          <p:nvPr/>
        </p:nvSpPr>
        <p:spPr>
          <a:xfrm>
            <a:off x="777240" y="4206240"/>
            <a:ext cx="10637215" cy="914400"/>
          </a:xfrm>
          <a:prstGeom prst="roundRect">
            <a:avLst>
              <a:gd name="adj" fmla="val 10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97280" y="4206240"/>
            <a:ext cx="9997135" cy="914400"/>
          </a:xfrm>
          <a:prstGeom prst="rect">
            <a:avLst/>
          </a:prstGeom>
          <a:noFill/>
        </p:spPr>
        <p:txBody>
          <a:bodyPr wrap="square" anchor="ctr" lIns="0" rIns="0" tIns="0" bIns="0">
            <a:spAutoFit/>
          </a:bodyPr>
          <a:lstStyle/>
          <a:p>
            <a:pPr algn="l">
              <a:lnSpc>
                <a:spcPct val="105000"/>
              </a:lnSpc>
              <a:spcBef>
                <a:spcPts val="0"/>
              </a:spcBef>
              <a:spcAft>
                <a:spcPts val="0"/>
              </a:spcAft>
            </a:pPr>
            <a:r>
              <a:rPr sz="2200" b="1" i="0">
                <a:solidFill>
                  <a:srgbClr val="FFFFFF"/>
                </a:solidFill>
                <a:latin typeface="Segoe UI"/>
              </a:rPr>
              <a:t>Limitations do not weaken a study — </a:t>
            </a:r>
            <a:r>
              <a:rPr sz="2200" b="1" i="0">
                <a:solidFill>
                  <a:srgbClr val="F2B705"/>
                </a:solidFill>
                <a:latin typeface="Segoe UI"/>
              </a:rPr>
              <a:t>hiding them does.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8 · ASSUMPTIONS AND LIMITATIONS (COMPETENCY 16)</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600" b="1" i="0">
                <a:solidFill>
                  <a:srgbClr val="14213D"/>
                </a:solidFill>
                <a:latin typeface="Segoe UI Semibold"/>
              </a:rPr>
              <a:t>Example — Assumptions &amp; Limitations for a Real Study</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42</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A topic</a:t>
            </a:r>
          </a:p>
        </p:txBody>
      </p:sp>
      <p:sp>
        <p:nvSpPr>
          <p:cNvPr id="11" name="Rounded Rectangle 10"/>
          <p:cNvSpPr/>
          <p:nvPr/>
        </p:nvSpPr>
        <p:spPr>
          <a:xfrm>
            <a:off x="777240" y="2194560"/>
            <a:ext cx="5090007" cy="32004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777240" y="2194560"/>
            <a:ext cx="5090007"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33271" y="219456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ASSUMPTIONS</a:t>
            </a:r>
          </a:p>
        </p:txBody>
      </p:sp>
      <p:sp>
        <p:nvSpPr>
          <p:cNvPr id="14" name="TextBox 13"/>
          <p:cNvSpPr txBox="1"/>
          <p:nvPr/>
        </p:nvSpPr>
        <p:spPr>
          <a:xfrm>
            <a:off x="1069848" y="2971800"/>
            <a:ext cx="4541367" cy="2286000"/>
          </a:xfrm>
          <a:prstGeom prst="rect">
            <a:avLst/>
          </a:prstGeom>
          <a:noFill/>
        </p:spPr>
        <p:txBody>
          <a:bodyPr wrap="square" anchor="t" lIns="0" rIns="0" tIns="0" bIns="0">
            <a:spAutoFit/>
          </a:bodyPr>
          <a:lstStyle/>
          <a:p>
            <a:pPr algn="l" marL="274638" indent="-274638">
              <a:lnSpc>
                <a:spcPct val="105000"/>
              </a:lnSpc>
              <a:spcBef>
                <a:spcPts val="0"/>
              </a:spcBef>
              <a:spcAft>
                <a:spcPts val="1200"/>
              </a:spcAft>
              <a:buClr>
                <a:srgbClr val="1D7A8C"/>
              </a:buClr>
              <a:buSzPct val="80000"/>
              <a:buFont typeface="Arial"/>
              <a:buChar char="▪"/>
            </a:pPr>
            <a:r>
              <a:rPr sz="2100" b="0" i="0">
                <a:solidFill>
                  <a:srgbClr val="14213D"/>
                </a:solidFill>
                <a:latin typeface="Segoe UI"/>
              </a:rPr>
              <a:t>the water samples collected are representative of the barangay's typical water source</a:t>
            </a:r>
          </a:p>
          <a:p>
            <a:pPr algn="l" marL="274638" indent="-274638">
              <a:lnSpc>
                <a:spcPct val="105000"/>
              </a:lnSpc>
              <a:spcBef>
                <a:spcPts val="0"/>
              </a:spcBef>
              <a:spcAft>
                <a:spcPts val="1200"/>
              </a:spcAft>
              <a:buClr>
                <a:srgbClr val="1D7A8C"/>
              </a:buClr>
              <a:buSzPct val="80000"/>
              <a:buFont typeface="Arial"/>
              <a:buChar char="▪"/>
            </a:pPr>
            <a:r>
              <a:rPr sz="2100" b="0" i="0">
                <a:solidFill>
                  <a:srgbClr val="14213D"/>
                </a:solidFill>
                <a:latin typeface="Segoe UI"/>
              </a:rPr>
              <a:t>the testing equipment used gives accurate microbial readings</a:t>
            </a:r>
          </a:p>
        </p:txBody>
      </p:sp>
      <p:sp>
        <p:nvSpPr>
          <p:cNvPr id="15" name="Rounded Rectangle 14"/>
          <p:cNvSpPr/>
          <p:nvPr/>
        </p:nvSpPr>
        <p:spPr>
          <a:xfrm>
            <a:off x="6324447" y="2194560"/>
            <a:ext cx="5090007" cy="320040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324447" y="2194560"/>
            <a:ext cx="5090007" cy="566928"/>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0479" y="2194560"/>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900" b="1" i="0">
                <a:solidFill>
                  <a:srgbClr val="FFFFFF"/>
                </a:solidFill>
                <a:latin typeface="Segoe UI Semibold"/>
              </a:rPr>
              <a:t>LIMITATIONS</a:t>
            </a:r>
          </a:p>
        </p:txBody>
      </p:sp>
      <p:sp>
        <p:nvSpPr>
          <p:cNvPr id="18" name="TextBox 17"/>
          <p:cNvSpPr txBox="1"/>
          <p:nvPr/>
        </p:nvSpPr>
        <p:spPr>
          <a:xfrm>
            <a:off x="6617055" y="2971800"/>
            <a:ext cx="4541367" cy="2286000"/>
          </a:xfrm>
          <a:prstGeom prst="rect">
            <a:avLst/>
          </a:prstGeom>
          <a:noFill/>
        </p:spPr>
        <p:txBody>
          <a:bodyPr wrap="square" anchor="t" lIns="0" rIns="0" tIns="0" bIns="0">
            <a:spAutoFit/>
          </a:bodyPr>
          <a:lstStyle/>
          <a:p>
            <a:pPr algn="l" marL="274638" indent="-274638">
              <a:lnSpc>
                <a:spcPct val="105000"/>
              </a:lnSpc>
              <a:spcBef>
                <a:spcPts val="0"/>
              </a:spcBef>
              <a:spcAft>
                <a:spcPts val="1200"/>
              </a:spcAft>
              <a:buClr>
                <a:srgbClr val="F4795B"/>
              </a:buClr>
              <a:buSzPct val="80000"/>
              <a:buFont typeface="Arial"/>
              <a:buChar char="▪"/>
            </a:pPr>
            <a:r>
              <a:rPr sz="2100" b="0" i="0">
                <a:solidFill>
                  <a:srgbClr val="14213D"/>
                </a:solidFill>
                <a:latin typeface="Segoe UI"/>
              </a:rPr>
              <a:t>the study covers only one barangay over a short testing period, so results may not apply to other coastal communities or seasons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6F9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02920" y="566928"/>
            <a:ext cx="128016" cy="822960"/>
          </a:xfrm>
          <a:prstGeom prst="roundRect">
            <a:avLst>
              <a:gd name="adj" fmla="val 50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502920"/>
            <a:ext cx="10607040" cy="292608"/>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1D7A8C"/>
                </a:solidFill>
                <a:latin typeface="Segoe UI Semibold"/>
              </a:rPr>
              <a:t>SECTION 8 · ASSUMPTIONS AND LIMITATIONS (COMPETENCY 16)</a:t>
            </a:r>
          </a:p>
        </p:txBody>
      </p:sp>
      <p:sp>
        <p:nvSpPr>
          <p:cNvPr id="5" name="TextBox 4"/>
          <p:cNvSpPr txBox="1"/>
          <p:nvPr/>
        </p:nvSpPr>
        <p:spPr>
          <a:xfrm>
            <a:off x="749808" y="777240"/>
            <a:ext cx="10698480" cy="822960"/>
          </a:xfrm>
          <a:prstGeom prst="rect">
            <a:avLst/>
          </a:prstGeom>
          <a:noFill/>
        </p:spPr>
        <p:txBody>
          <a:bodyPr wrap="square" anchor="t" lIns="0" rIns="0" tIns="0" bIns="0">
            <a:spAutoFit/>
          </a:bodyPr>
          <a:lstStyle/>
          <a:p>
            <a:pPr algn="l">
              <a:lnSpc>
                <a:spcPct val="100000"/>
              </a:lnSpc>
              <a:spcBef>
                <a:spcPts val="0"/>
              </a:spcBef>
              <a:spcAft>
                <a:spcPts val="0"/>
              </a:spcAft>
            </a:pPr>
            <a:r>
              <a:rPr sz="2600" b="1" i="0">
                <a:solidFill>
                  <a:srgbClr val="14213D"/>
                </a:solidFill>
                <a:latin typeface="Segoe UI Semibold"/>
              </a:rPr>
              <a:t>Application — Identify Assumptions and Limitations</a:t>
            </a:r>
          </a:p>
        </p:txBody>
      </p:sp>
      <p:sp>
        <p:nvSpPr>
          <p:cNvPr id="6" name="Rounded Rectangle 5"/>
          <p:cNvSpPr/>
          <p:nvPr/>
        </p:nvSpPr>
        <p:spPr>
          <a:xfrm>
            <a:off x="777240" y="1481328"/>
            <a:ext cx="685800" cy="64008"/>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8" name="Oval 7"/>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43</a:t>
            </a:r>
          </a:p>
        </p:txBody>
      </p:sp>
      <p:sp>
        <p:nvSpPr>
          <p:cNvPr id="9" name="Rounded Rectangle 8"/>
          <p:cNvSpPr/>
          <p:nvPr/>
        </p:nvSpPr>
        <p:spPr>
          <a:xfrm>
            <a:off x="777240" y="1719072"/>
            <a:ext cx="3668572" cy="310896"/>
          </a:xfrm>
          <a:prstGeom prst="roundRect">
            <a:avLst>
              <a:gd name="adj" fmla="val 50000"/>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41832" y="1719072"/>
            <a:ext cx="3485692" cy="310896"/>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115968"/>
                </a:solidFill>
                <a:latin typeface="Segoe UI Semibold"/>
              </a:rPr>
              <a:t>Instructor-Created Example · Example B topic</a:t>
            </a:r>
          </a:p>
        </p:txBody>
      </p:sp>
      <p:sp>
        <p:nvSpPr>
          <p:cNvPr id="11" name="Rounded Rectangle 10"/>
          <p:cNvSpPr/>
          <p:nvPr/>
        </p:nvSpPr>
        <p:spPr>
          <a:xfrm>
            <a:off x="777240" y="2240280"/>
            <a:ext cx="10637215" cy="1051560"/>
          </a:xfrm>
          <a:prstGeom prst="roundRect">
            <a:avLst>
              <a:gd name="adj" fmla="val 10000"/>
            </a:avLst>
          </a:prstGeom>
          <a:solidFill>
            <a:srgbClr val="14213D"/>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2240280"/>
            <a:ext cx="9997135" cy="1051560"/>
          </a:xfrm>
          <a:prstGeom prst="rect">
            <a:avLst/>
          </a:prstGeom>
          <a:noFill/>
        </p:spPr>
        <p:txBody>
          <a:bodyPr wrap="square" anchor="ctr" lIns="0" rIns="0" tIns="0" bIns="0">
            <a:spAutoFit/>
          </a:bodyPr>
          <a:lstStyle/>
          <a:p>
            <a:pPr algn="l">
              <a:lnSpc>
                <a:spcPct val="110000"/>
              </a:lnSpc>
              <a:spcBef>
                <a:spcPts val="0"/>
              </a:spcBef>
              <a:spcAft>
                <a:spcPts val="0"/>
              </a:spcAft>
            </a:pPr>
            <a:r>
              <a:rPr sz="1400" b="1" i="0">
                <a:solidFill>
                  <a:srgbClr val="F2B705"/>
                </a:solidFill>
                <a:latin typeface="Segoe UI Semibold"/>
              </a:rPr>
              <a:t>SCENARIO   </a:t>
            </a:r>
            <a:r>
              <a:rPr sz="2000" b="0" i="0">
                <a:solidFill>
                  <a:srgbClr val="FFFFFF"/>
                </a:solidFill>
                <a:latin typeface="Segoe UI"/>
              </a:rPr>
              <a:t>A study uses one year of rainfall, temperature, and mobile network mobility data from a single city to test a new dengue prediction model.</a:t>
            </a:r>
          </a:p>
        </p:txBody>
      </p:sp>
      <p:sp>
        <p:nvSpPr>
          <p:cNvPr id="13" name="Rounded Rectangle 12"/>
          <p:cNvSpPr/>
          <p:nvPr/>
        </p:nvSpPr>
        <p:spPr>
          <a:xfrm>
            <a:off x="777240" y="3520439"/>
            <a:ext cx="5090007" cy="19659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777240" y="3520439"/>
            <a:ext cx="5090007" cy="566928"/>
          </a:xfrm>
          <a:prstGeom prst="roundRect">
            <a:avLst>
              <a:gd name="adj" fmla="val 12000"/>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33271" y="3520439"/>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List ≥ 2 Assumptions</a:t>
            </a:r>
          </a:p>
        </p:txBody>
      </p:sp>
      <p:sp>
        <p:nvSpPr>
          <p:cNvPr id="16" name="Rounded Rectangle 15"/>
          <p:cNvSpPr/>
          <p:nvPr/>
        </p:nvSpPr>
        <p:spPr>
          <a:xfrm>
            <a:off x="1097280" y="4389120"/>
            <a:ext cx="4449927"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1097280" y="4892040"/>
            <a:ext cx="4449927"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324447" y="3520439"/>
            <a:ext cx="5090007" cy="1965960"/>
          </a:xfrm>
          <a:prstGeom prst="roundRect">
            <a:avLst>
              <a:gd name="adj" fmla="val 6000"/>
            </a:avLst>
          </a:prstGeom>
          <a:solidFill>
            <a:srgbClr val="FFFFFF"/>
          </a:solidFill>
          <a:ln w="12700">
            <a:solidFill>
              <a:srgbClr val="D8E1E8"/>
            </a:solid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324447" y="3520439"/>
            <a:ext cx="5090007" cy="566928"/>
          </a:xfrm>
          <a:prstGeom prst="roundRect">
            <a:avLst>
              <a:gd name="adj" fmla="val 12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0479" y="3520439"/>
            <a:ext cx="4651095" cy="566928"/>
          </a:xfrm>
          <a:prstGeom prst="rect">
            <a:avLst/>
          </a:prstGeom>
          <a:noFill/>
        </p:spPr>
        <p:txBody>
          <a:bodyPr wrap="square" anchor="ctr" lIns="0" rIns="0" tIns="0" bIns="0">
            <a:spAutoFit/>
          </a:bodyPr>
          <a:lstStyle/>
          <a:p>
            <a:pPr algn="l">
              <a:lnSpc>
                <a:spcPct val="105000"/>
              </a:lnSpc>
              <a:spcBef>
                <a:spcPts val="0"/>
              </a:spcBef>
              <a:spcAft>
                <a:spcPts val="0"/>
              </a:spcAft>
            </a:pPr>
            <a:r>
              <a:rPr sz="1700" b="1" i="0">
                <a:solidFill>
                  <a:srgbClr val="FFFFFF"/>
                </a:solidFill>
                <a:latin typeface="Segoe UI Semibold"/>
              </a:rPr>
              <a:t>List ≥ 2 Limitations</a:t>
            </a:r>
          </a:p>
        </p:txBody>
      </p:sp>
      <p:sp>
        <p:nvSpPr>
          <p:cNvPr id="21" name="Rounded Rectangle 20"/>
          <p:cNvSpPr/>
          <p:nvPr/>
        </p:nvSpPr>
        <p:spPr>
          <a:xfrm>
            <a:off x="6644487" y="4389120"/>
            <a:ext cx="4449927"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644487" y="4892040"/>
            <a:ext cx="4449927" cy="41148"/>
          </a:xfrm>
          <a:prstGeom prst="roundRect">
            <a:avLst>
              <a:gd name="adj" fmla="val 50000"/>
            </a:avLst>
          </a:prstGeom>
          <a:solidFill>
            <a:srgbClr val="D8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777240" y="5623560"/>
            <a:ext cx="10637215" cy="566928"/>
          </a:xfrm>
          <a:prstGeom prst="roundRect">
            <a:avLst>
              <a:gd name="adj" fmla="val 12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960120" y="5724144"/>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500" b="1" i="0">
                <a:solidFill>
                  <a:srgbClr val="F2B705"/>
                </a:solidFill>
                <a:latin typeface="Segoe UI"/>
              </a:rPr>
              <a:t>✎</a:t>
            </a:r>
          </a:p>
        </p:txBody>
      </p:sp>
      <p:sp>
        <p:nvSpPr>
          <p:cNvPr id="25" name="TextBox 24"/>
          <p:cNvSpPr txBox="1"/>
          <p:nvPr/>
        </p:nvSpPr>
        <p:spPr>
          <a:xfrm>
            <a:off x="1490472" y="5623560"/>
            <a:ext cx="9722815" cy="566928"/>
          </a:xfrm>
          <a:prstGeom prst="rect">
            <a:avLst/>
          </a:prstGeom>
          <a:noFill/>
        </p:spPr>
        <p:txBody>
          <a:bodyPr wrap="square" anchor="ctr" lIns="0" rIns="0" tIns="0" bIns="0">
            <a:spAutoFit/>
          </a:bodyPr>
          <a:lstStyle/>
          <a:p>
            <a:pPr algn="l">
              <a:lnSpc>
                <a:spcPct val="100000"/>
              </a:lnSpc>
              <a:spcBef>
                <a:spcPts val="0"/>
              </a:spcBef>
              <a:spcAft>
                <a:spcPts val="0"/>
              </a:spcAft>
            </a:pPr>
            <a:r>
              <a:rPr sz="1700" b="1" i="0">
                <a:solidFill>
                  <a:srgbClr val="14213D"/>
                </a:solidFill>
                <a:latin typeface="Segoe UI Semibold"/>
              </a:rPr>
              <a:t>In pairs: don't confuse a limitation (only one city) with an assumption (mobility data reflects real movement).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1371600" y="-1371600"/>
            <a:ext cx="4114800" cy="4114800"/>
          </a:xfrm>
          <a:prstGeom prst="ellipse">
            <a:avLst/>
          </a:prstGeom>
          <a:solidFill>
            <a:srgbClr val="243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777240" y="548640"/>
            <a:ext cx="128016" cy="822960"/>
          </a:xfrm>
          <a:prstGeom prst="roundRect">
            <a:avLst>
              <a:gd name="adj" fmla="val 50000"/>
            </a:avLst>
          </a:prstGeom>
          <a:solidFill>
            <a:srgbClr val="F479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51560" y="502920"/>
            <a:ext cx="10058400" cy="32004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E4F1F3"/>
                </a:solidFill>
                <a:latin typeface="Segoe UI Semibold"/>
              </a:rPr>
              <a:t>CLOSING</a:t>
            </a:r>
          </a:p>
        </p:txBody>
      </p:sp>
      <p:sp>
        <p:nvSpPr>
          <p:cNvPr id="6" name="TextBox 5"/>
          <p:cNvSpPr txBox="1"/>
          <p:nvPr/>
        </p:nvSpPr>
        <p:spPr>
          <a:xfrm>
            <a:off x="1024128" y="822960"/>
            <a:ext cx="10424160" cy="640080"/>
          </a:xfrm>
          <a:prstGeom prst="rect">
            <a:avLst/>
          </a:prstGeom>
          <a:noFill/>
        </p:spPr>
        <p:txBody>
          <a:bodyPr wrap="square" anchor="t" lIns="0" rIns="0" tIns="0" bIns="0">
            <a:spAutoFit/>
          </a:bodyPr>
          <a:lstStyle/>
          <a:p>
            <a:pPr algn="l">
              <a:lnSpc>
                <a:spcPct val="105000"/>
              </a:lnSpc>
              <a:spcBef>
                <a:spcPts val="0"/>
              </a:spcBef>
              <a:spcAft>
                <a:spcPts val="0"/>
              </a:spcAft>
            </a:pPr>
            <a:r>
              <a:rPr sz="3000" b="1" i="0">
                <a:solidFill>
                  <a:srgbClr val="FFFFFF"/>
                </a:solidFill>
                <a:latin typeface="Segoe UI Semibold"/>
              </a:rPr>
              <a:t>The Complete Research Reasoning Chain</a:t>
            </a:r>
          </a:p>
        </p:txBody>
      </p:sp>
      <p:sp>
        <p:nvSpPr>
          <p:cNvPr id="7" name="Rounded Rectangle 6"/>
          <p:cNvSpPr/>
          <p:nvPr/>
        </p:nvSpPr>
        <p:spPr>
          <a:xfrm>
            <a:off x="777240" y="1965960"/>
            <a:ext cx="2468880" cy="1143000"/>
          </a:xfrm>
          <a:prstGeom prst="roundRect">
            <a:avLst>
              <a:gd name="adj" fmla="val 12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1
</a:t>
            </a:r>
            <a:r>
              <a:rPr sz="1550" b="1" i="0">
                <a:solidFill>
                  <a:srgbClr val="FFFFFF"/>
                </a:solidFill>
                <a:latin typeface="Segoe UI Semibold"/>
              </a:rPr>
              <a:t>Sources</a:t>
            </a:r>
          </a:p>
        </p:txBody>
      </p:sp>
      <p:sp>
        <p:nvSpPr>
          <p:cNvPr id="8" name="Right Arrow 7"/>
          <p:cNvSpPr/>
          <p:nvPr/>
        </p:nvSpPr>
        <p:spPr>
          <a:xfrm>
            <a:off x="3264408" y="237744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630168" y="1965960"/>
            <a:ext cx="2468880" cy="1143000"/>
          </a:xfrm>
          <a:prstGeom prst="roundRect">
            <a:avLst>
              <a:gd name="adj" fmla="val 12000"/>
            </a:avLst>
          </a:prstGeom>
          <a:solidFill>
            <a:srgbClr val="1D7A8C"/>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2
</a:t>
            </a:r>
            <a:r>
              <a:rPr sz="1550" b="1" i="0">
                <a:solidFill>
                  <a:srgbClr val="FFFFFF"/>
                </a:solidFill>
                <a:latin typeface="Segoe UI Semibold"/>
              </a:rPr>
              <a:t>Synthesis</a:t>
            </a:r>
          </a:p>
        </p:txBody>
      </p:sp>
      <p:sp>
        <p:nvSpPr>
          <p:cNvPr id="10" name="Right Arrow 9"/>
          <p:cNvSpPr/>
          <p:nvPr/>
        </p:nvSpPr>
        <p:spPr>
          <a:xfrm>
            <a:off x="6117336" y="237744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483096" y="1965960"/>
            <a:ext cx="2468880" cy="1143000"/>
          </a:xfrm>
          <a:prstGeom prst="roundRect">
            <a:avLst>
              <a:gd name="adj" fmla="val 12000"/>
            </a:avLst>
          </a:prstGeom>
          <a:solidFill>
            <a:srgbClr val="115968"/>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3
</a:t>
            </a:r>
            <a:r>
              <a:rPr sz="1550" b="1" i="0">
                <a:solidFill>
                  <a:srgbClr val="FFFFFF"/>
                </a:solidFill>
                <a:latin typeface="Segoe UI Semibold"/>
              </a:rPr>
              <a:t>Gap</a:t>
            </a:r>
          </a:p>
        </p:txBody>
      </p:sp>
      <p:sp>
        <p:nvSpPr>
          <p:cNvPr id="12" name="Right Arrow 11"/>
          <p:cNvSpPr/>
          <p:nvPr/>
        </p:nvSpPr>
        <p:spPr>
          <a:xfrm>
            <a:off x="8970263" y="237744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9336024" y="1965960"/>
            <a:ext cx="2468880" cy="1143000"/>
          </a:xfrm>
          <a:prstGeom prst="roundRect">
            <a:avLst>
              <a:gd name="adj" fmla="val 12000"/>
            </a:avLst>
          </a:prstGeom>
          <a:solidFill>
            <a:srgbClr val="115968"/>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4
</a:t>
            </a:r>
            <a:r>
              <a:rPr sz="1550" b="1" i="0">
                <a:solidFill>
                  <a:srgbClr val="FFFFFF"/>
                </a:solidFill>
                <a:latin typeface="Segoe UI Semibold"/>
              </a:rPr>
              <a:t>Literature Review</a:t>
            </a:r>
          </a:p>
        </p:txBody>
      </p:sp>
      <p:sp>
        <p:nvSpPr>
          <p:cNvPr id="14" name="Rounded Rectangle 13"/>
          <p:cNvSpPr/>
          <p:nvPr/>
        </p:nvSpPr>
        <p:spPr>
          <a:xfrm>
            <a:off x="777240" y="3977639"/>
            <a:ext cx="2468880" cy="1143000"/>
          </a:xfrm>
          <a:prstGeom prst="roundRect">
            <a:avLst>
              <a:gd name="adj" fmla="val 12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5
</a:t>
            </a:r>
            <a:r>
              <a:rPr sz="1550" b="1" i="0">
                <a:solidFill>
                  <a:srgbClr val="FFFFFF"/>
                </a:solidFill>
                <a:latin typeface="Segoe UI Semibold"/>
              </a:rPr>
              <a:t>Problem Statement</a:t>
            </a:r>
          </a:p>
        </p:txBody>
      </p:sp>
      <p:sp>
        <p:nvSpPr>
          <p:cNvPr id="15" name="Right Arrow 14"/>
          <p:cNvSpPr/>
          <p:nvPr/>
        </p:nvSpPr>
        <p:spPr>
          <a:xfrm>
            <a:off x="3264408" y="438912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630168" y="3977639"/>
            <a:ext cx="2468880" cy="1143000"/>
          </a:xfrm>
          <a:prstGeom prst="roundRect">
            <a:avLst>
              <a:gd name="adj" fmla="val 12000"/>
            </a:avLst>
          </a:prstGeom>
          <a:solidFill>
            <a:srgbClr val="F4795B"/>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6
</a:t>
            </a:r>
            <a:r>
              <a:rPr sz="1550" b="1" i="0">
                <a:solidFill>
                  <a:srgbClr val="FFFFFF"/>
                </a:solidFill>
                <a:latin typeface="Segoe UI Semibold"/>
              </a:rPr>
              <a:t>Research Question / Hypothesis</a:t>
            </a:r>
          </a:p>
        </p:txBody>
      </p:sp>
      <p:sp>
        <p:nvSpPr>
          <p:cNvPr id="17" name="Right Arrow 16"/>
          <p:cNvSpPr/>
          <p:nvPr/>
        </p:nvSpPr>
        <p:spPr>
          <a:xfrm>
            <a:off x="6117336" y="438912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483096" y="3977639"/>
            <a:ext cx="2468880" cy="1143000"/>
          </a:xfrm>
          <a:prstGeom prst="roundRect">
            <a:avLst>
              <a:gd name="adj" fmla="val 12000"/>
            </a:avLst>
          </a:prstGeom>
          <a:solidFill>
            <a:srgbClr val="2A9D8F"/>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7
</a:t>
            </a:r>
            <a:r>
              <a:rPr sz="1550" b="1" i="0">
                <a:solidFill>
                  <a:srgbClr val="FFFFFF"/>
                </a:solidFill>
                <a:latin typeface="Segoe UI Semibold"/>
              </a:rPr>
              <a:t>CER Justification</a:t>
            </a:r>
          </a:p>
        </p:txBody>
      </p:sp>
      <p:sp>
        <p:nvSpPr>
          <p:cNvPr id="19" name="Right Arrow 18"/>
          <p:cNvSpPr/>
          <p:nvPr/>
        </p:nvSpPr>
        <p:spPr>
          <a:xfrm>
            <a:off x="8970263" y="4389120"/>
            <a:ext cx="347472" cy="310896"/>
          </a:xfrm>
          <a:prstGeom prst="rightArrow">
            <a:avLst/>
          </a:prstGeom>
          <a:solidFill>
            <a:srgbClr val="E4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336024" y="3977639"/>
            <a:ext cx="2468880" cy="1143000"/>
          </a:xfrm>
          <a:prstGeom prst="roundRect">
            <a:avLst>
              <a:gd name="adj" fmla="val 12000"/>
            </a:avLst>
          </a:prstGeom>
          <a:solidFill>
            <a:srgbClr val="F2B705"/>
          </a:solidFill>
          <a:ln>
            <a:noFill/>
          </a:ln>
          <a:effectLst>
            <a:outerShdw blurRad="127000" dist="63500" dir="5400000" rotWithShape="0">
              <a:srgbClr val="1B2A3A">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D9EEF2"/>
                </a:solidFill>
                <a:latin typeface="Segoe UI"/>
              </a:rPr>
              <a:t>8
</a:t>
            </a:r>
            <a:r>
              <a:rPr sz="1550" b="1" i="0">
                <a:solidFill>
                  <a:srgbClr val="FFFFFF"/>
                </a:solidFill>
                <a:latin typeface="Segoe UI Semibold"/>
              </a:rPr>
              <a:t>Assumptions &amp; Limitations</a:t>
            </a:r>
          </a:p>
        </p:txBody>
      </p:sp>
      <p:cxnSp>
        <p:nvCxnSpPr>
          <p:cNvPr id="21" name="Connector 20"/>
          <p:cNvCxnSpPr/>
          <p:nvPr/>
        </p:nvCxnSpPr>
        <p:spPr>
          <a:xfrm flipH="1">
            <a:off x="2011680" y="3108960"/>
            <a:ext cx="8558783" cy="868679"/>
          </a:xfrm>
          <a:prstGeom prst="line">
            <a:avLst/>
          </a:prstGeom>
          <a:ln w="31750">
            <a:solidFill>
              <a:srgbClr val="F4795B"/>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5440680"/>
            <a:ext cx="10637215" cy="822960"/>
          </a:xfrm>
          <a:prstGeom prst="rect">
            <a:avLst/>
          </a:prstGeom>
          <a:noFill/>
        </p:spPr>
        <p:txBody>
          <a:bodyPr wrap="square" anchor="t" lIns="0" rIns="0" tIns="0" bIns="0">
            <a:spAutoFit/>
          </a:bodyPr>
          <a:lstStyle/>
          <a:p>
            <a:pPr algn="ctr">
              <a:lnSpc>
                <a:spcPct val="110000"/>
              </a:lnSpc>
              <a:spcBef>
                <a:spcPts val="0"/>
              </a:spcBef>
              <a:spcAft>
                <a:spcPts val="0"/>
              </a:spcAft>
            </a:pPr>
            <a:r>
              <a:rPr sz="1800" b="0" i="1">
                <a:solidFill>
                  <a:srgbClr val="E4F1F3"/>
                </a:solidFill>
                <a:latin typeface="Segoe UI"/>
              </a:rPr>
              <a:t>One continuous argument — every stage feeds directly into the next.</a:t>
            </a:r>
          </a:p>
        </p:txBody>
      </p:sp>
      <p:sp>
        <p:nvSpPr>
          <p:cNvPr id="23" name="TextBox 22"/>
          <p:cNvSpPr txBox="1"/>
          <p:nvPr/>
        </p:nvSpPr>
        <p:spPr>
          <a:xfrm>
            <a:off x="777240" y="641908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950" b="0" i="0">
                <a:solidFill>
                  <a:srgbClr val="5B6B7B"/>
                </a:solidFill>
                <a:latin typeface="Segoe UI"/>
              </a:rPr>
              <a:t>Lecture 3  ·  Review of Literature for Identifying Research Problems</a:t>
            </a:r>
          </a:p>
        </p:txBody>
      </p:sp>
      <p:sp>
        <p:nvSpPr>
          <p:cNvPr id="24" name="Oval 23"/>
          <p:cNvSpPr/>
          <p:nvPr/>
        </p:nvSpPr>
        <p:spPr>
          <a:xfrm>
            <a:off x="11356848" y="632764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38100" bIns="38100"/>
          <a:lstStyle/>
          <a:p>
            <a:pPr algn="ctr">
              <a:lnSpc>
                <a:spcPct val="100000"/>
              </a:lnSpc>
              <a:spcAft>
                <a:spcPts val="0"/>
              </a:spcAft>
            </a:pPr>
            <a:r>
              <a:rPr sz="1200" b="1" i="0">
                <a:solidFill>
                  <a:srgbClr val="FFFFFF"/>
                </a:solidFill>
                <a:latin typeface="Segoe UI"/>
              </a:rP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