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telling students this lecture answers a very practical question: "I have an idea — now what?" Emphasize that today's lesson is the engine room connecting an initial idea to an actual, defensible research problem. Set expectations: by the end, they will be able to evaluate sources, synthesize them into a gap, and write a problem statement, research questions/hypotheses, and a justification for a quantitative or mixed methods study.</a:t>
            </a:r>
          </a:p>
          <a:p/>
          <a:p>
            <a:r>
              <a:t>Visual: a clean horizontal research workflow diagram with five labeled stages (Sources → Synthesis → Problem Statement → Research Questions/Hypotheses → Justification). This same diagram reappears (highlighted stage-by-stage) throughout the deck to orient students.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Example A: a student wants to build a solar water distiller for a coastal barangay. If they skip the literature, they might not know that similar low-cost distillers have already been tested in other Philippine coastal communities — with results, design flaws, and lessons already documented. Explain that reviewing literature is not "extra homework" — it is the mechanism by which a study earns its place as research rather than just a project. Tie this explicitly to what students learned about ethics and citation in Lecture 2: using others' work responsibly is what allows this whole process to happen with integrity.</a:t>
            </a:r>
          </a:p>
          <a:p/>
          <a:p>
            <a:r>
              <a:t>Visual: a simple cause-and-effect model — two branching paths from the same starting idea, one leading to "duplicated effort / weak contribution," the other to "informed, defensible study."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roadmap once, briefly, so students see this is one continuous chain of reasoning, not seven unrelated topics. Tell them each stage's output becomes the next stage's input — sources feed synthesis, synthesis reveals gaps, gaps become problem statements, and so on. This framing reduces cognitive load because students always know "where we are" in the chain.</a:t>
            </a:r>
          </a:p>
          <a:p/>
          <a:p>
            <a:r>
              <a:t>Visual: a numbered vertical research process flowchart with arrows connecting each stage — reused as a "you are here" locator at the start of each new section.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concrete — students need a working mental checklist before they touch real material. Note that not everything found through a search engine counts as a usable academic source; the next few slides will teach them how to tell the difference, not just what the categories are.</a:t>
            </a:r>
          </a:p>
          <a:p/>
          <a:p>
            <a:r>
              <a:t>Visual: a simple four-box category chart, one icon per source type, as a quick visual reference students can mentally return 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predict the category before revealing each answer — this creates a low-stakes retrieval moment before the harder evaluation skill in the next slide. Point out that a Facebook post can still contain useful ideas worth investigating further, but it is not itself citable as scholarly evidence.</a:t>
            </a:r>
          </a:p>
          <a:p/>
          <a:p>
            <a:r>
              <a:t>Visual: none needed beyond the table — keep this slide text-light and let the table do the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fast, usable filter — not the full professional information-literacy toolkit researchers eventually learn in college, just enough rigor to keep students from citing unreliable material. Emphasize that a source can be well-written and still fail the test (e.g., accurate but irrelevant, or relevant but from an unverifiable author).</a:t>
            </a:r>
          </a:p>
          <a:p/>
          <a:p>
            <a:r>
              <a:t>Visual: a decision tree — "Does it have a credible author? → Does it match your topic? → Can you verify its claims?" ending in "Usable" or "Not usable yet — dig deeper."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table row by row and ask students to justify each verdict in their own words before you confirm it. This rehearses the A-R-A test on a topic they will actually use later in the lesson (Example A), so the skill and the content reinforce each other.</a:t>
            </a:r>
          </a:p>
          <a:p/>
          <a:p>
            <a:r>
              <a:t>Visual: none additional — the comparison table itself is the visual.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guided-practice checkpoint — students apply the A-R-A test independently in pairs, then share out. Circulate to catch common errors, especially the tendency to treat "recent" as automatically the same as "accurate," or to assume a government report is automatically unbiased.</a:t>
            </a:r>
          </a:p>
          <a:p/>
          <a:p>
            <a:r>
              <a:t>Visual: none required; this is a discussion-based worksheet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this as the single most common trap for beginning researchers: writing what looks like a literature review but is actually just a string of one-paragraph book reports. Tell students that a synthesis should read like a conversation between sources, not a list of separate summaries.</a:t>
            </a:r>
          </a:p>
          <a:p/>
          <a:p>
            <a:r>
              <a:t>Visual: a side-by-side visual — on the left, disconnected boxes (one per source); on the right, the same boxes connected by lines into a shared theme — reinforcing "listing" versus "weaving."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both versions aloud and ask students which one would actually help a reader understand what's missing in the field. Point out that the synthesis version does something the summary cannot: it sets up a gap, which is exactly what the next few slides will teach them to find on purpose.</a:t>
            </a:r>
          </a:p>
          <a:p/>
          <a:p>
            <a:r>
              <a:t>Visual: none needed — direct text contrast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grouping by theme is what makes synthesis possible — you cannot compare sources that are scattered randomly. Use Example B again: sources might cluster into "rainfall-based models," "temperature-based models," and "combined climate models," which immediately makes it visible where overlaps and gaps sit.</a:t>
            </a:r>
          </a:p>
          <a:p/>
          <a:p>
            <a:r>
              <a:t>Visual: a concept map with three or four theme bubbles, each containing two to three small source labels — modelling the clustering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not every synthesis reveals a gap — sometimes it reveals a disagreement (issue) or an explicit call for more research (need), and all three are valid springboards for a new study. Beginning researchers often assume they must find a totally unstudied topic; reframe this as unrealistic and unnecessary — even a small, well-defined gap is enough.</a:t>
            </a:r>
          </a:p>
          <a:p/>
          <a:p>
            <a:r>
              <a:t>Visual: three-column layout with color-coded headers keeping the definitions visually distinct.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how this gap statement emerged directly from the synthesis on Slide 10 — this is the payoff moment where students see synthesis is not just an exercise, it produces the seed of a real problem statement. Ask students to predict what a research problem statement built from this gap might sound like, previewing Section 5.</a:t>
            </a:r>
          </a:p>
          <a:p/>
          <a:p>
            <a:r>
              <a:t>Visual: a short cause-and-effect model showing "synthesis finding → identified gap," visually linking back to Slide 10.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thinking tool, not a required format — some students will find it easier to spot gaps visually in a matrix than by reading notes. Point out the empty "Mobility factor" column is exactly the gap identified on the previous slide — the matrix makes gaps visible almost automatically.</a:t>
            </a:r>
          </a:p>
          <a:p/>
          <a:p>
            <a:r>
              <a:t>Visual: the matrix itself; empty cells are colour-shaded to draw the eye toward the gap.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students, in pairs, to identify which theme has the weakest coverage and phrase a one-sentence gap statement from it. This directly rehearses the skill they will need heavily in Section 5 (writing a problem statement), so treat this as a checkpoint rather than a throwaway activity.</a:t>
            </a:r>
          </a:p>
          <a:p/>
          <a:p>
            <a:r>
              <a:t>Visual: none additional — the matrix is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everything students have done so far (evaluating sources, synthesizing, finding a gap) has been preparation — this slide introduces the actual written product that packages all of that. In quantitative and mixed methods research specifically, the literature review is written before data collection and directly sets up the research questions or hypotheses that follow.</a:t>
            </a:r>
          </a:p>
          <a:p/>
          <a:p>
            <a:r>
              <a:t>Visual: none required — keep this a clean transition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five-part structure is the standard way quantitative studies organize a written literature review — it keeps the review tightly focused on the variables the study will actually investigate, rather than sprawling into loosely related topics. Point out that Topic 3 is usually the shortest section because directly relevant combined studies are often scarce — and that scarcity is often itself part of the gap.</a:t>
            </a:r>
          </a:p>
          <a:p/>
          <a:p>
            <a:r>
              <a:t>Visual: a funnel-shaped process diagram narrowing from Topic 1 and Topic 2 (broad, separate) down into Topic 3 (narrow, combined) and finally the Summary.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part slowly, showing how the outline mirrors the five-part structure exactly. This is the moment students see that "the gap" they found earlier fits naturally into the Summary section as the closing statement of the literature review.</a:t>
            </a:r>
          </a:p>
          <a:p/>
          <a:p>
            <a:r>
              <a:t>Visual: none additional — the outline itself functions as the visual scaffold.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the goal is only to help students recognize that "how much literature review, and when" is a design decision tied to which method leads, not a fixed rule. Since most SHS capstone-style studies are quantitative or quantitative-led mixed methods, reassure students the five-part structure from the previous slides will usually apply.</a:t>
            </a:r>
          </a:p>
          <a:p/>
          <a:p>
            <a:r>
              <a:t>Visual: a short decision tree with two branches labelled "Quantitative-first" and "Qualitative-first," each pointing to a different literature review depth.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use their own emerging topic (or Example B, dengue prediction, if they don't have one yet) to fill in this template. This is a natural checkpoint before moving into problem statement writing, since the Summary line they write here becomes the raw material for the next section.</a:t>
            </a:r>
          </a:p>
          <a:p/>
          <a:p>
            <a:r>
              <a:t>Visual: none needed; the template is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 gap and a problem statement are not the same thing — a gap describes what's missing in the literature, while a problem statement describes the specific issue your study will investigate. This distinction prevents students from simply copying their gap sentence and calling it a problem statement.</a:t>
            </a:r>
          </a:p>
          <a:p/>
          <a:p>
            <a:r>
              <a:t>Visual: none additional — the two-step arrow captures the transformation clearly enough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"tangible" is often the criterion beginning researchers ignore — an excellent problem statement that would require resources or access far beyond a school-based project is not usable yet, no matter how interesting it is. Encourage students to test any problem statement they draft against all five criteria, not just one or two.</a:t>
            </a:r>
          </a:p>
          <a:p/>
          <a:p>
            <a:r>
              <a:t>Visual: a checklist-style graphic (five checkmarks) that can repeat later as a self-assessment tool.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universal four-part anatomy of a problem statement — every effective research problem statement contains these four components in some form, regardless of field or format. Tell students a strong problem statement needs at least one full sentence per component — skipping any one of the four leaves the reader with an unanswered question: why does this setting matter (context)? what exactly is missing (gap)? who is affected if nothing changes (implications)? and what will this study actually do (objectives)? Note that these four components do the same job as a general "why this study matters" explanation, just broken into finer, checkable parts.</a:t>
            </a:r>
          </a:p>
          <a:p/>
          <a:p>
            <a:r>
              <a:t>Visual: a four-row reference table matching this exact structure, formatted so students can reuse it directly as a drafting template when writing their own problem statement.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this slide sentence by sentence, revealing one component at a time, so students see the paragraph accumulate piece by piece rather than appearing all at once as a finished product. Point out that the finished paragraph reads as one natural piece of academic writing — the four components are a drafting scaffold, not four visibly separate boxes that must remain labeled in the final write-up. Note how directly the Specific Problem/Gap sentence traces back to the Topic 3/Summary gap identified back in Slide 18, and how the Objectives sentence will resurface almost unchanged as the general research question in the next section.</a:t>
            </a:r>
          </a:p>
          <a:p/>
          <a:p>
            <a:r>
              <a:t>Visual: reveal the four labeled sentences in sequence (build animation), then highlight the final combined paragraph in a bordered box to show the finished, submission-ready product.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through each pitfall using a "spot what's wrong" approach before revealing the fix — this keeps students actively diagnosing rather than passively reading. Reframe each pitfall as a missing component from Slide 23's four-part structure — editing becomes a checklist task ("which of the four parts is absent?") instead of a vague stylistic judgment.</a:t>
            </a:r>
          </a:p>
          <a:p/>
          <a:p>
            <a:r>
              <a:t>Visual: none additional; the table's three-column structure is sufficient.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work in pairs to name which of the four components (Background Context, Specific Problem/Gap, Implications, Objectives/Aims) is missing from each statement, then rewrite it by adding at least one sentence for every component, following the model on Slide 24. Circulate and watch for a common second-round mistake: students patch one missing component but leave another one still absent.</a:t>
            </a:r>
          </a:p>
          <a:p/>
          <a:p>
            <a:r>
              <a:t>Visual: none required; this is a peer-editing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reminding students that a research problem alone is not researchable — it is too broad to investigate directly. Emphasize that everything covered today builds directly toward the manuscript sections they will eventually defend orally, so today's skills are rehearsal for their research defense, not just requirements to fulfill. Preview that by the end of the lecture, they will have drafted their own research questions, a CER-based justification paragraph, and a first attempt at their study's assumptions and limitations.</a:t>
            </a:r>
          </a:p>
          <a:p/>
          <a:p>
            <a:r>
              <a:t>Visual: a three-node flowchart spanning the top of the slide, used as a recurring "you are here" tracker on later section-divider slides.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scenario as the anchor for the entire Research Questions section. Ask students: "If she wrote her whole thesis around 'coral reefs are declining,' could she ever finish?" Guide them to see that a problem this size cannot be investigated as-is — it must be broken into smaller, focused, answerable pieces. This felt difficulty is exactly why research questions exist.</a:t>
            </a:r>
          </a:p>
          <a:p/>
          <a:p>
            <a:r>
              <a:t>Visual: a stylized map of Davao Gulf with a marker on the coastal study site, paired with two small icons — a coral reef and a fishing boat — to visually anchor the scenario.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operationalizes Creswell's core idea that research questions and hypotheses are the next signposts after the purpose statement — they translate the study's broad intent into precise, investigable questions. Point out that both example problems above were the size of a whole news headline, while both example questions could realistically be answered using a specific data-collection method (water quality testing, insect sampling) within a school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3–4 minutes, then cold-call two or three pairs. A strong answer might resemble: "What is the percentage of post-harvest rice loss attributable to inadequate drying facilities in [municipality]?" A weak answer to watch for: "Why do farmers lose their harvest?" — flag this now as an example of a question that is too broad and too causal-sounding, and tell students you will return to why "why" questions behave differently in Part IV.</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qualities exist because a research question performs a very specific job: it must guide what data you will collect. If a question fails any one of the three tests, a student will not know what to measure, survey, or observe. Model quickly rejecting a question like "Is climate change bad for coral reefs?" — it fails "answerable through investigation" because "bad" is a value judgment, not a measurable variable.</a:t>
            </a:r>
          </a:p>
          <a:p/>
          <a:p>
            <a:r>
              <a:t>Visual: a checklist icon set (checkmark/clock/magnifying-glass) matched to each quality, reusable later as a rubric graphic.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row as a class. The first and third are strong — specific, measurable, and clearly scoped to a site/timeframe. The second fails on all three qualities: it is vague, unbounded, and answerable by simple opinion. Use this to reinforce the diagnostic habit before moving into hypotheses.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heart of today's first major idea. Many students think "hypothesis" is a mandatory part of every research paper — correct this directly. If a student's coral reef study is quantitative ("What is the relationship between sedimentation levels and live coral cover percentage?"), it needs a hypothesis. If a classmate is doing a qualitative study ("What are the lived experiences of small-scale fisherfolk adapting to declining coral reef health in Davao Gulf?"), no hypothesis is needed or appropriate — only a central question and sub-questions.</a:t>
            </a:r>
          </a:p>
          <a:p/>
          <a:p>
            <a:r>
              <a:t>Visual: the decision-tree flowchart, colored to separate the quantitative and qualitative branches — reusable as a quick-reference poster.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 1 and Row 3 are quantitative comparisons — both need hypotheses. Row 2 is qualitative and exploratory — no hypothesis, only a central question and sub-questions. Use this to cement the pattern-recognition skill: students should learn to scan a study description for comparison/relationship language ("compare," "relationship," "effect," "increase") as the signal that a hypothesis is expected.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answers a question students almost always ask: "How many research questions do I need?" For quantitative SHS papers, the Philippine convention (seen in Practical Research 2) is a Statement of the Problem (SOP): one general objective, followed by at least three specific objectives, each pointing to a variable the study will measure. For qualitative work, Creswell recommends one or two broad central questions broken into five to seven sub-questions — enough to guide an interview without overwhelming the participant or the researcher. Stress that these are conventions, not rigid laws, but departing from them without reason will raise questions during a defense panel.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why this example works: the general objective states the overall intent in one sentence; each specific question isolates a single measurable variable or relationship; and the final question is explicitly relational, signaling that this study will need a hypothesis and an inferential statistical test. Note for students that specific objective #3, phrased as a relationship, is the one that will pair with a directional hypothesis in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this with the coral reef example: this SOP is built around a group comparison (treatment vs. control) rather than a relationship between two continuous variables. Point out that specific objective #3 signals a comparison-type hypothesis (testing a difference between groups), while the coral reef example's #3 signals a relationship-type hypothesis (testing an association between two variables). Both are equally valid — the phrasing simply depends on the design.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and functional, exactly as intended — this is a preferred, not highly required, sub-topic, and the goal is only enough vocabulary to write a well-formed hypothesis. Do not go into operationalization, levels of measurement, or scales; explicitly tell students that is coming in the methodology lecture. This scoping statement protects today's lecture from sprawling into statistics.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low-stakes drill — 2 minutes, whole-class oral answers. The purpose is purely to build fluency identifying which variable is the presumed cause (independent) and which is the presumed effect (dependent), since this fluency is what makes writing a clear, directional hypothesis possible in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this is a definition-only stop, consistent with the boundary set in the outline — do not let the discussion drift into explaining p-values or test selection, since that content is explicitly deferred. Highlight Creswell's point that most researchers ultimately report an alternative, and preferably directional, hypothesis, because a directional hypothesis communicates the researcher's specific prediction rather than merely asserting that "some difference" exists.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two minutes to draft both hypotheses individually, then have three volunteers share their H₁ aloud. A strong directional answer: "Eggplant plots treated with organic foliar fertilizer will have significantly higher yield than untreated plots." Praise directional language (higher, lower, greater, more) over vague language ("will be different").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direct adaptations of Creswell's scripting technique for descriptive and relationship-oriented quantitative questions. Scripts function like sentence frames in language learning — they reduce the cognitive load of "what do I even write" so students can focus on getting their variables and direction correct. Encourage students to keep these two scripts in their notes as their go-to templates for the rest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Explicitly connect this back to Slide 30, where a "why" question was flagged as a caution. Explain that why tends to smuggle in causal, quantitative thinking, which conflicts with qualitative research's exploratory purpose. Model quickly revising "Why do fisherfolk struggle economically?" into "How do fisherfolk describe their economic struggles?" so students see the transformation in real time.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point of the lecture: from modeling to production. Circulate actively during this workshop — the most common errors to watch for are (1) specific questions that don't map to a measurable variable, (2) qualitative questions that sneak in "why," and (3) hypotheses stated non-directionally ("there is a difference" instead of specifying which group is higher). Reserve the last two minutes for two or three students to read their general objective and first specific question aloud for whole-class feedback — this doubles as informal rehearsal for oral defense, which Part IV will build on directly.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transition explicitly as the moment students move from designing a study to defending it. Tell students that "why does this matter" is one of the first questions asked in almost every research defense, and that today's framework is the tool they will use to answer it — both in writing (Chapter 1) and out loud (their defense).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 is a familiar structure from science class (used for evidence-based argumentation in lab reports), and this slide's job is to show students it transfers directly to justifying a research problem. Stress that Reasoning is not a summary of the evidence — it is the sentence that explicitly explains why the evidence proves the claim. Most weak "Background of the Study" sections in student papers have Claim and Evidence but skip Reasoning entirely, leaving the connection for the reader to guess.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paragraph aloud slowly, pointing to each bracketed label as you go. Emphasize that the Reasoning sentence is doing real argumentative work — it is not restating the evidence, it is explaining the mechanism (reef as nursery habitat) that connects declining coral cover to a consequence the reader will find compelling (food security). This is the sentence structure students should aim to replicate.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3–4 minutes, then have two pairs share their Reasoning sentence. A strong answer links the evidence to a broader consequence: "Because pesticide resistance forces farmers into costlier and more frequent chemical applications, unresolved resistance threatens both farm profitability and long-term soil and environmental health." Use weaker answers (ones that simply restate the evidence) as a teaching moment — ask the class, "Does this sentence explain why, or does it just repeat what?"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 after students attempt it individually: sentence 1 = Claim, sentence 2 = Evidence, sentence 3 = Reasoning. This example is slightly more advanced than Slide 47 because the Reasoning sentence uses comparative logic ("without any corresponding increase in production cost") — point this out as a more sophisticated way to argue significance: showing the problem is solvable efficiently, not just that it is big.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paragraph is essentially the seed of their eventual "Background of the Study" section. Circulate and specifically probe any student whose Reasoning sentence simply repeats their Evidence — ask them directly, "Why does that fact matter?" and have them speak the answer before writing it down; this oral-to-written technique often produces a much stronger Reasoning sentence than writing alone.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activity deliberately mimics the pressure of an oral defense: being asked "so what?" cold, without the safety of reading a script. Tell students that panelists rarely accept "because it's an important issue" as an answer — they want the specific mechanism or consequence, which is exactly what the Reasoning step trains them to articulate. After the paired rounds, ask for one or two volunteers to answer "so what?" in front of the whole class, and give the class 30 seconds to identify whether the answer contained a genuine Reasoning step or only repeated Evidence.</a:t>
            </a:r>
          </a:p>
          <a:p/>
          <a:p>
            <a:r>
              <a:t>Visual: none required — a simple on-screen timer is sufficient support.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pitfalls are the most common reasons a panel pushes back during the justification portion of a defense. Walking through them explicitly gives students a self-editing checklist they can apply to their own Chapter 1 draft before submission, not just today's practice paragraph.</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emotional tone here deliberately — many students believe naming limitations makes their study look weak, and this slide exists to preempt that misconception before the formal definitions arrive. Tell them a panel is far more suspicious of a paper that claims no limitations than one that names them clearly.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clearest way to distinguish these for students: an assumption is a condition you believe is true but cannot fully verify, while a limitation is a constraint you already know exists. Assumptions are about trust in your data-gathering process; limitations are about the boundaries of what your method can achieve.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1 and 3 are assumptions (trust placed in an instrument or a respondent's honesty/memory); rows 2 and 4 are limitations (known constraints on scope or timing). After students sort these, ask: "Could row 1 become a limitation if you had reason to doubt the test kits?" — this shows students the categories depend on the researcher's actual confidence level, not a fixed rule.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section. Every professional, peer-reviewed study names its limitations — it is not an admission of failure but a sign of methodological maturity. Make the analogy explicit: a doctor who tells you the exact margin of error on a diagnostic test is more trustworthy than one who claims 100% certainty. Naming limitations is how a researcher shows control over their own claims.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both assumptions are about trusting the instrument and the sample's representativeness, while both limitations are about scope — timing and geographic coverage. This paired structure (2 assumptions, 2 limitations) is a reasonable minimum for an SHS-level paper; more may be added as the actual methodology develops.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parallel structure with the coral reef example — this consistency is intentional and something students should imitate: assumptions cluster around trust in controlled conditions or respondent honesty, while limitations cluster around generalizability and time constraints. Ask students to predict: "What limitation would appear if this experiment had also been affected by an unexpected typhoon?" — guide them toward recognizing environmental/external disruptions as a third common category of limitation.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check in step 3 is the real test of mastery — if a partner cannot distinguish an assumption from a limitation without explanation, the statement is probably miscategorized or poorly worded. Circulate and watch for the most common student error: listing a limitation ("small sample size") disguised as an assumption ("it is assumed the small sample is enough").</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exactly as scoped — its purpose is only to motivate students toward the upcoming methodology content, not to teach any methodology itself. Close by reminding students that today's three skills — writing research questions and hypotheses, justifying the problem through CER, and naming assumptions and limitations — together complete Chapter 1 of their manuscript, and that all three are exactly what a defense panel will ask them to explain and defend out loud.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closing slide as a rapid-fire oral review — call on students to define each competency in one sentence, in their own words, without looking at their notes. This final retrieval practice reinforces retention and gives one last low-stakes rehearsal of explaining these concepts aloud, mirroring the defense-style speaking they will need later.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tracing the full chain from top to bottom once more, reminding students that every stage they practiced today feeds directly into the next — this is not a checklist of separate skills but one continuous argument. Briefly note that the limitations they just identified will later shape decisions about how they actually collect and analyze data, without going into that process now.</a:t>
            </a:r>
          </a:p>
          <a:p/>
          <a:p>
            <a:r>
              <a:t>Visual: the same research process flowchart from Slide 3, now with every stage fully labeled and briefly annotated — a single reference image summarising the entire lesson.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9448495" y="-2011680"/>
            <a:ext cx="4754880" cy="4754880"/>
          </a:xfrm>
          <a:prstGeom prst="ellipse">
            <a:avLst/>
          </a:prstGeom>
          <a:solidFill>
            <a:srgbClr val="243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637215" y="640080"/>
            <a:ext cx="2011680" cy="201168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10042855" y="2880360"/>
            <a:ext cx="685800" cy="685800"/>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822960" y="914400"/>
            <a:ext cx="128016" cy="1005840"/>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1097280" y="932688"/>
            <a:ext cx="7315200" cy="365760"/>
          </a:xfrm>
          <a:prstGeom prst="rect">
            <a:avLst/>
          </a:prstGeom>
          <a:noFill/>
        </p:spPr>
        <p:txBody>
          <a:bodyPr wrap="square" anchor="t" lIns="0" rIns="0" tIns="0" bIns="0">
            <a:spAutoFit/>
          </a:bodyPr>
          <a:lstStyle/>
          <a:p>
            <a:pPr algn="l">
              <a:lnSpc>
                <a:spcPct val="105000"/>
              </a:lnSpc>
              <a:spcBef>
                <a:spcPts val="0"/>
              </a:spcBef>
              <a:spcAft>
                <a:spcPts val="0"/>
              </a:spcAft>
            </a:pPr>
            <a:r>
              <a:rPr sz="1600" b="1" i="0">
                <a:solidFill>
                  <a:srgbClr val="E4F1F3"/>
                </a:solidFill>
                <a:latin typeface="Segoe UI Semibold"/>
              </a:rPr>
              <a:t>LECTURE 3</a:t>
            </a:r>
          </a:p>
        </p:txBody>
      </p:sp>
      <p:sp>
        <p:nvSpPr>
          <p:cNvPr id="8" name="TextBox 7"/>
          <p:cNvSpPr txBox="1"/>
          <p:nvPr/>
        </p:nvSpPr>
        <p:spPr>
          <a:xfrm>
            <a:off x="1051560" y="1371600"/>
            <a:ext cx="8778240" cy="2194560"/>
          </a:xfrm>
          <a:prstGeom prst="rect">
            <a:avLst/>
          </a:prstGeom>
          <a:noFill/>
        </p:spPr>
        <p:txBody>
          <a:bodyPr wrap="square" anchor="t" lIns="0" rIns="0" tIns="0" bIns="0">
            <a:spAutoFit/>
          </a:bodyPr>
          <a:lstStyle/>
          <a:p>
            <a:pPr algn="l">
              <a:lnSpc>
                <a:spcPct val="102000"/>
              </a:lnSpc>
              <a:spcBef>
                <a:spcPts val="0"/>
              </a:spcBef>
              <a:spcAft>
                <a:spcPts val="200"/>
              </a:spcAft>
            </a:pPr>
            <a:r>
              <a:rPr sz="4600" b="1" i="0">
                <a:solidFill>
                  <a:srgbClr val="FFFFFF"/>
                </a:solidFill>
                <a:latin typeface="Segoe UI Semibold"/>
              </a:rPr>
              <a:t>Review of Literature</a:t>
            </a:r>
          </a:p>
          <a:p>
            <a:pPr algn="l">
              <a:lnSpc>
                <a:spcPct val="102000"/>
              </a:lnSpc>
              <a:spcBef>
                <a:spcPts val="0"/>
              </a:spcBef>
              <a:spcAft>
                <a:spcPts val="0"/>
              </a:spcAft>
            </a:pPr>
            <a:r>
              <a:rPr sz="4600" b="1" i="0">
                <a:solidFill>
                  <a:srgbClr val="FFFFFF"/>
                </a:solidFill>
                <a:latin typeface="Segoe UI Semibold"/>
              </a:rPr>
              <a:t>for Identifying Research Problems</a:t>
            </a:r>
          </a:p>
        </p:txBody>
      </p:sp>
      <p:sp>
        <p:nvSpPr>
          <p:cNvPr id="9" name="TextBox 8"/>
          <p:cNvSpPr txBox="1"/>
          <p:nvPr/>
        </p:nvSpPr>
        <p:spPr>
          <a:xfrm>
            <a:off x="1078992" y="3429000"/>
            <a:ext cx="8595360" cy="914400"/>
          </a:xfrm>
          <a:prstGeom prst="rect">
            <a:avLst/>
          </a:prstGeom>
          <a:noFill/>
        </p:spPr>
        <p:txBody>
          <a:bodyPr wrap="square" anchor="t" lIns="0" rIns="0" tIns="0" bIns="0">
            <a:spAutoFit/>
          </a:bodyPr>
          <a:lstStyle/>
          <a:p>
            <a:pPr algn="l">
              <a:lnSpc>
                <a:spcPct val="110000"/>
              </a:lnSpc>
              <a:spcBef>
                <a:spcPts val="0"/>
              </a:spcBef>
              <a:spcAft>
                <a:spcPts val="0"/>
              </a:spcAft>
            </a:pPr>
            <a:r>
              <a:rPr sz="2000" b="0" i="0">
                <a:solidFill>
                  <a:srgbClr val="E4F1F3"/>
                </a:solidFill>
                <a:latin typeface="Segoe UI"/>
              </a:rPr>
              <a:t>Turning what others have studied into </a:t>
            </a:r>
            <a:r>
              <a:rPr sz="2000" b="1" i="1">
                <a:solidFill>
                  <a:srgbClr val="F4795B"/>
                </a:solidFill>
                <a:latin typeface="Segoe UI"/>
              </a:rPr>
              <a:t>your</a:t>
            </a:r>
            <a:r>
              <a:rPr sz="2000" b="0" i="0">
                <a:solidFill>
                  <a:srgbClr val="E4F1F3"/>
                </a:solidFill>
                <a:latin typeface="Segoe UI"/>
              </a:rPr>
              <a:t> research problem, questions, and justification</a:t>
            </a:r>
          </a:p>
        </p:txBody>
      </p:sp>
      <p:sp>
        <p:nvSpPr>
          <p:cNvPr id="10" name="Rounded Rectangle 9"/>
          <p:cNvSpPr/>
          <p:nvPr/>
        </p:nvSpPr>
        <p:spPr>
          <a:xfrm>
            <a:off x="1097280" y="4343400"/>
            <a:ext cx="4206240" cy="457200"/>
          </a:xfrm>
          <a:prstGeom prst="roundRect">
            <a:avLst>
              <a:gd name="adj" fmla="val 4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50" b="1" i="0">
                <a:solidFill>
                  <a:srgbClr val="FFFFFF"/>
                </a:solidFill>
                <a:latin typeface="Segoe UI"/>
              </a:rPr>
              <a:t>Competencies 11–16  ·  Quantitative &amp; Mixed Methods</a:t>
            </a:r>
          </a:p>
        </p:txBody>
      </p:sp>
      <p:sp>
        <p:nvSpPr>
          <p:cNvPr id="11" name="TextBox 10"/>
          <p:cNvSpPr txBox="1"/>
          <p:nvPr/>
        </p:nvSpPr>
        <p:spPr>
          <a:xfrm>
            <a:off x="1097280" y="5074920"/>
            <a:ext cx="7315200" cy="274320"/>
          </a:xfrm>
          <a:prstGeom prst="rect">
            <a:avLst/>
          </a:prstGeom>
          <a:noFill/>
        </p:spPr>
        <p:txBody>
          <a:bodyPr wrap="square" anchor="t" lIns="0" rIns="0" tIns="0" bIns="0">
            <a:spAutoFit/>
          </a:bodyPr>
          <a:lstStyle/>
          <a:p>
            <a:pPr algn="l">
              <a:lnSpc>
                <a:spcPct val="105000"/>
              </a:lnSpc>
              <a:spcBef>
                <a:spcPts val="0"/>
              </a:spcBef>
              <a:spcAft>
                <a:spcPts val="0"/>
              </a:spcAft>
            </a:pPr>
            <a:r>
              <a:rPr sz="1100" b="1" i="0">
                <a:solidFill>
                  <a:srgbClr val="5B6B7B"/>
                </a:solidFill>
                <a:latin typeface="Segoe UI Semibold"/>
              </a:rPr>
              <a:t>THE RESEARCH WORKFLOW</a:t>
            </a:r>
          </a:p>
        </p:txBody>
      </p:sp>
      <p:sp>
        <p:nvSpPr>
          <p:cNvPr id="12" name="Chevron 11"/>
          <p:cNvSpPr/>
          <p:nvPr/>
        </p:nvSpPr>
        <p:spPr>
          <a:xfrm>
            <a:off x="1097280" y="5394960"/>
            <a:ext cx="2183587" cy="566928"/>
          </a:xfrm>
          <a:prstGeom prst="chevron">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Sources</a:t>
            </a:r>
          </a:p>
        </p:txBody>
      </p:sp>
      <p:sp>
        <p:nvSpPr>
          <p:cNvPr id="13" name="Chevron 12"/>
          <p:cNvSpPr/>
          <p:nvPr/>
        </p:nvSpPr>
        <p:spPr>
          <a:xfrm>
            <a:off x="3043123" y="5394960"/>
            <a:ext cx="2183587" cy="566928"/>
          </a:xfrm>
          <a:prstGeom prst="chevron">
            <a:avLst/>
          </a:prstGeom>
          <a:solidFill>
            <a:srgbClr val="1159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Synthesis</a:t>
            </a:r>
          </a:p>
        </p:txBody>
      </p:sp>
      <p:sp>
        <p:nvSpPr>
          <p:cNvPr id="14" name="Chevron 13"/>
          <p:cNvSpPr/>
          <p:nvPr/>
        </p:nvSpPr>
        <p:spPr>
          <a:xfrm>
            <a:off x="4988966" y="5394960"/>
            <a:ext cx="2183587" cy="566928"/>
          </a:xfrm>
          <a:prstGeom prst="chevron">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Problem</a:t>
            </a:r>
          </a:p>
        </p:txBody>
      </p:sp>
      <p:sp>
        <p:nvSpPr>
          <p:cNvPr id="15" name="Chevron 14"/>
          <p:cNvSpPr/>
          <p:nvPr/>
        </p:nvSpPr>
        <p:spPr>
          <a:xfrm>
            <a:off x="6934809" y="5394960"/>
            <a:ext cx="2183587" cy="566928"/>
          </a:xfrm>
          <a:prstGeom prst="chevron">
            <a:avLst/>
          </a:prstGeom>
          <a:solidFill>
            <a:srgbClr val="1159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Questions</a:t>
            </a:r>
          </a:p>
        </p:txBody>
      </p:sp>
      <p:sp>
        <p:nvSpPr>
          <p:cNvPr id="16" name="Chevron 15"/>
          <p:cNvSpPr/>
          <p:nvPr/>
        </p:nvSpPr>
        <p:spPr>
          <a:xfrm>
            <a:off x="8880652" y="5394960"/>
            <a:ext cx="2183587" cy="566928"/>
          </a:xfrm>
          <a:prstGeom prst="chevron">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00" b="1" i="0">
                <a:solidFill>
                  <a:srgbClr val="FFFFFF"/>
                </a:solidFill>
                <a:latin typeface="Segoe UI"/>
              </a:rPr>
              <a:t>Justification</a:t>
            </a:r>
          </a:p>
        </p:txBody>
      </p:sp>
      <p:sp>
        <p:nvSpPr>
          <p:cNvPr id="17" name="TextBox 16"/>
          <p:cNvSpPr txBox="1"/>
          <p:nvPr/>
        </p:nvSpPr>
        <p:spPr>
          <a:xfrm>
            <a:off x="1097280" y="6172200"/>
            <a:ext cx="10058400" cy="548640"/>
          </a:xfrm>
          <a:prstGeom prst="rect">
            <a:avLst/>
          </a:prstGeom>
          <a:noFill/>
        </p:spPr>
        <p:txBody>
          <a:bodyPr wrap="square" anchor="t" lIns="0" rIns="0" tIns="0" bIns="0">
            <a:spAutoFit/>
          </a:bodyPr>
          <a:lstStyle/>
          <a:p>
            <a:pPr algn="l">
              <a:lnSpc>
                <a:spcPct val="105000"/>
              </a:lnSpc>
              <a:spcBef>
                <a:spcPts val="0"/>
              </a:spcBef>
              <a:spcAft>
                <a:spcPts val="100"/>
              </a:spcAft>
            </a:pPr>
            <a:r>
              <a:rPr sz="1150" b="1" i="0">
                <a:solidFill>
                  <a:srgbClr val="F4795B"/>
                </a:solidFill>
                <a:latin typeface="Segoe UI"/>
              </a:rPr>
              <a:t>Running examples (Philippine STEM):  </a:t>
            </a:r>
            <a:r>
              <a:rPr sz="1150" b="0" i="0">
                <a:solidFill>
                  <a:srgbClr val="E4F1F3"/>
                </a:solidFill>
                <a:latin typeface="Segoe UI"/>
              </a:rPr>
              <a:t>A) low-cost solar water distiller in a Zambales coastal barangay   ·   B) dengue outbreak early-warning model for a Metro Manila city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1 · WHY LITERATURE REVIEW COMES FIRST</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Why Literature Comes Before Solutions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a:t>
            </a:r>
          </a:p>
        </p:txBody>
      </p:sp>
      <p:sp>
        <p:nvSpPr>
          <p:cNvPr id="9" name="Rounded Rectangle 8"/>
          <p:cNvSpPr/>
          <p:nvPr/>
        </p:nvSpPr>
        <p:spPr>
          <a:xfrm>
            <a:off x="777240" y="1737360"/>
            <a:ext cx="5090007" cy="35204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737360"/>
            <a:ext cx="5090007" cy="566928"/>
          </a:xfrm>
          <a:prstGeom prst="roundRect">
            <a:avLst>
              <a:gd name="adj" fmla="val 12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96695" y="1837943"/>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D1495B"/>
                </a:solidFill>
                <a:latin typeface="Segoe UI"/>
              </a:rPr>
              <a:t>✕</a:t>
            </a:r>
          </a:p>
        </p:txBody>
      </p:sp>
      <p:sp>
        <p:nvSpPr>
          <p:cNvPr id="12" name="TextBox 11"/>
          <p:cNvSpPr txBox="1"/>
          <p:nvPr/>
        </p:nvSpPr>
        <p:spPr>
          <a:xfrm>
            <a:off x="1527048" y="1737360"/>
            <a:ext cx="4157319"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WITHOUT reviewing literature</a:t>
            </a:r>
          </a:p>
        </p:txBody>
      </p:sp>
      <p:sp>
        <p:nvSpPr>
          <p:cNvPr id="13" name="TextBox 12"/>
          <p:cNvSpPr txBox="1"/>
          <p:nvPr/>
        </p:nvSpPr>
        <p:spPr>
          <a:xfrm>
            <a:off x="1069848" y="2514600"/>
            <a:ext cx="4541367" cy="2606040"/>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D1495B"/>
              </a:buClr>
              <a:buSzPct val="80000"/>
              <a:buFont typeface="Arial"/>
              <a:buChar char="▪"/>
            </a:pPr>
            <a:r>
              <a:rPr sz="2200" b="0" i="0">
                <a:solidFill>
                  <a:srgbClr val="14213D"/>
                </a:solidFill>
                <a:latin typeface="Segoe UI"/>
              </a:rPr>
              <a:t>Risk of repeating a solution that already exists</a:t>
            </a:r>
          </a:p>
          <a:p>
            <a:pPr algn="l" marL="274638" indent="-274638">
              <a:lnSpc>
                <a:spcPct val="105000"/>
              </a:lnSpc>
              <a:spcBef>
                <a:spcPts val="0"/>
              </a:spcBef>
              <a:spcAft>
                <a:spcPts val="800"/>
              </a:spcAft>
              <a:buClr>
                <a:srgbClr val="D1495B"/>
              </a:buClr>
              <a:buSzPct val="80000"/>
              <a:buFont typeface="Arial"/>
              <a:buChar char="▪"/>
            </a:pPr>
            <a:r>
              <a:rPr sz="2200" b="0" i="0">
                <a:solidFill>
                  <a:srgbClr val="14213D"/>
                </a:solidFill>
                <a:latin typeface="Segoe UI"/>
              </a:rPr>
              <a:t>Missing a known design flaw</a:t>
            </a:r>
          </a:p>
          <a:p>
            <a:pPr algn="l" marL="274638" indent="-274638">
              <a:lnSpc>
                <a:spcPct val="105000"/>
              </a:lnSpc>
              <a:spcBef>
                <a:spcPts val="0"/>
              </a:spcBef>
              <a:spcAft>
                <a:spcPts val="800"/>
              </a:spcAft>
              <a:buClr>
                <a:srgbClr val="D1495B"/>
              </a:buClr>
              <a:buSzPct val="80000"/>
              <a:buFont typeface="Arial"/>
              <a:buChar char="▪"/>
            </a:pPr>
            <a:r>
              <a:rPr sz="2200" b="0" i="0">
                <a:solidFill>
                  <a:srgbClr val="14213D"/>
                </a:solidFill>
                <a:latin typeface="Segoe UI"/>
              </a:rPr>
              <a:t>Misjudging what data is even available</a:t>
            </a:r>
          </a:p>
        </p:txBody>
      </p:sp>
      <p:sp>
        <p:nvSpPr>
          <p:cNvPr id="14" name="Rounded Rectangle 13"/>
          <p:cNvSpPr/>
          <p:nvPr/>
        </p:nvSpPr>
        <p:spPr>
          <a:xfrm>
            <a:off x="6324447" y="1737360"/>
            <a:ext cx="5090007" cy="35204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324447" y="1737360"/>
            <a:ext cx="5090007" cy="566928"/>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543903" y="1837943"/>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2A9D8F"/>
                </a:solidFill>
                <a:latin typeface="Segoe UI"/>
              </a:rPr>
              <a:t>✓</a:t>
            </a:r>
          </a:p>
        </p:txBody>
      </p:sp>
      <p:sp>
        <p:nvSpPr>
          <p:cNvPr id="17" name="TextBox 16"/>
          <p:cNvSpPr txBox="1"/>
          <p:nvPr/>
        </p:nvSpPr>
        <p:spPr>
          <a:xfrm>
            <a:off x="7074255" y="1737360"/>
            <a:ext cx="4157319"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WITH reviewing literature</a:t>
            </a:r>
          </a:p>
        </p:txBody>
      </p:sp>
      <p:sp>
        <p:nvSpPr>
          <p:cNvPr id="18" name="TextBox 17"/>
          <p:cNvSpPr txBox="1"/>
          <p:nvPr/>
        </p:nvSpPr>
        <p:spPr>
          <a:xfrm>
            <a:off x="6617055" y="2514600"/>
            <a:ext cx="4541367" cy="2606040"/>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2A9D8F"/>
              </a:buClr>
              <a:buSzPct val="80000"/>
              <a:buFont typeface="Arial"/>
              <a:buChar char="▪"/>
            </a:pPr>
            <a:r>
              <a:rPr sz="2200" b="0" i="0">
                <a:solidFill>
                  <a:srgbClr val="14213D"/>
                </a:solidFill>
                <a:latin typeface="Segoe UI"/>
              </a:rPr>
              <a:t>The study builds on, extends, or fills a real gap in existing knowledge</a:t>
            </a:r>
          </a:p>
        </p:txBody>
      </p:sp>
      <p:sp>
        <p:nvSpPr>
          <p:cNvPr id="19" name="Rounded Rectangle 18"/>
          <p:cNvSpPr/>
          <p:nvPr/>
        </p:nvSpPr>
        <p:spPr>
          <a:xfrm>
            <a:off x="777240" y="5486400"/>
            <a:ext cx="10637215" cy="713232"/>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97280" y="5486400"/>
            <a:ext cx="9997135" cy="713232"/>
          </a:xfrm>
          <a:prstGeom prst="rect">
            <a:avLst/>
          </a:prstGeom>
          <a:noFill/>
        </p:spPr>
        <p:txBody>
          <a:bodyPr wrap="square" anchor="ctr" lIns="0" rIns="0" tIns="0" bIns="0">
            <a:spAutoFit/>
          </a:bodyPr>
          <a:lstStyle/>
          <a:p>
            <a:pPr algn="l">
              <a:lnSpc>
                <a:spcPct val="102000"/>
              </a:lnSpc>
              <a:spcBef>
                <a:spcPts val="0"/>
              </a:spcBef>
              <a:spcAft>
                <a:spcPts val="0"/>
              </a:spcAft>
            </a:pPr>
            <a:r>
              <a:rPr sz="1500" b="1" i="0">
                <a:solidFill>
                  <a:srgbClr val="F2B705"/>
                </a:solidFill>
                <a:latin typeface="Segoe UI Semibold"/>
              </a:rPr>
              <a:t>KEY IDEA   </a:t>
            </a:r>
            <a:r>
              <a:rPr sz="1800" b="0" i="0">
                <a:solidFill>
                  <a:srgbClr val="FFFFFF"/>
                </a:solidFill>
                <a:latin typeface="Segoe UI"/>
              </a:rPr>
              <a:t>Research must </a:t>
            </a:r>
            <a:r>
              <a:rPr sz="1800" b="1" i="0">
                <a:solidFill>
                  <a:srgbClr val="F2B705"/>
                </a:solidFill>
                <a:latin typeface="Segoe UI"/>
              </a:rPr>
              <a:t>contribute</a:t>
            </a:r>
            <a:r>
              <a:rPr sz="1800" b="0" i="0">
                <a:solidFill>
                  <a:srgbClr val="FFFFFF"/>
                </a:solidFill>
                <a:latin typeface="Segoe UI"/>
              </a:rPr>
              <a:t> something new — not just restate an interesting topic.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1 · WHY LITERATURE REVIEW COMES FIRST</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Today's Learning Roadmap</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a:t>
            </a:r>
          </a:p>
        </p:txBody>
      </p:sp>
      <p:sp>
        <p:nvSpPr>
          <p:cNvPr id="9" name="Oval 8"/>
          <p:cNvSpPr/>
          <p:nvPr/>
        </p:nvSpPr>
        <p:spPr>
          <a:xfrm>
            <a:off x="2359152" y="1783080"/>
            <a:ext cx="457200" cy="4572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1</a:t>
            </a:r>
          </a:p>
        </p:txBody>
      </p:sp>
      <p:sp>
        <p:nvSpPr>
          <p:cNvPr id="10" name="Rounded Rectangle 9"/>
          <p:cNvSpPr/>
          <p:nvPr/>
        </p:nvSpPr>
        <p:spPr>
          <a:xfrm>
            <a:off x="3017520" y="1783080"/>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291840" y="1783080"/>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Evaluate sources</a:t>
            </a:r>
          </a:p>
        </p:txBody>
      </p:sp>
      <p:cxnSp>
        <p:nvCxnSpPr>
          <p:cNvPr id="12" name="Connector 11"/>
          <p:cNvCxnSpPr/>
          <p:nvPr/>
        </p:nvCxnSpPr>
        <p:spPr>
          <a:xfrm>
            <a:off x="2587752" y="2240280"/>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2359152" y="2359152"/>
            <a:ext cx="457200" cy="4572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2</a:t>
            </a:r>
          </a:p>
        </p:txBody>
      </p:sp>
      <p:sp>
        <p:nvSpPr>
          <p:cNvPr id="14" name="Rounded Rectangle 13"/>
          <p:cNvSpPr/>
          <p:nvPr/>
        </p:nvSpPr>
        <p:spPr>
          <a:xfrm>
            <a:off x="3017520" y="2359152"/>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91840" y="2359152"/>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Synthesize the literature</a:t>
            </a:r>
          </a:p>
        </p:txBody>
      </p:sp>
      <p:cxnSp>
        <p:nvCxnSpPr>
          <p:cNvPr id="16" name="Connector 15"/>
          <p:cNvCxnSpPr/>
          <p:nvPr/>
        </p:nvCxnSpPr>
        <p:spPr>
          <a:xfrm>
            <a:off x="2587752" y="2816352"/>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359152" y="2935224"/>
            <a:ext cx="457200" cy="457200"/>
          </a:xfrm>
          <a:prstGeom prst="ellipse">
            <a:avLst/>
          </a:prstGeom>
          <a:solidFill>
            <a:srgbClr val="1159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3</a:t>
            </a:r>
          </a:p>
        </p:txBody>
      </p:sp>
      <p:sp>
        <p:nvSpPr>
          <p:cNvPr id="18" name="Rounded Rectangle 17"/>
          <p:cNvSpPr/>
          <p:nvPr/>
        </p:nvSpPr>
        <p:spPr>
          <a:xfrm>
            <a:off x="3017520" y="2935224"/>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291840" y="2935224"/>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Write the literature review</a:t>
            </a:r>
          </a:p>
        </p:txBody>
      </p:sp>
      <p:cxnSp>
        <p:nvCxnSpPr>
          <p:cNvPr id="20" name="Connector 19"/>
          <p:cNvCxnSpPr/>
          <p:nvPr/>
        </p:nvCxnSpPr>
        <p:spPr>
          <a:xfrm>
            <a:off x="2587752" y="3392424"/>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2359152" y="3511296"/>
            <a:ext cx="457200" cy="457200"/>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4</a:t>
            </a:r>
          </a:p>
        </p:txBody>
      </p:sp>
      <p:sp>
        <p:nvSpPr>
          <p:cNvPr id="22" name="Rounded Rectangle 21"/>
          <p:cNvSpPr/>
          <p:nvPr/>
        </p:nvSpPr>
        <p:spPr>
          <a:xfrm>
            <a:off x="3017520" y="3511296"/>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91840" y="3511296"/>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Formulate the problem statement</a:t>
            </a:r>
          </a:p>
        </p:txBody>
      </p:sp>
      <p:cxnSp>
        <p:nvCxnSpPr>
          <p:cNvPr id="24" name="Connector 23"/>
          <p:cNvCxnSpPr/>
          <p:nvPr/>
        </p:nvCxnSpPr>
        <p:spPr>
          <a:xfrm>
            <a:off x="2587752" y="3968496"/>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2359152" y="4087368"/>
            <a:ext cx="457200" cy="457200"/>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5</a:t>
            </a:r>
          </a:p>
        </p:txBody>
      </p:sp>
      <p:sp>
        <p:nvSpPr>
          <p:cNvPr id="26" name="Rounded Rectangle 25"/>
          <p:cNvSpPr/>
          <p:nvPr/>
        </p:nvSpPr>
        <p:spPr>
          <a:xfrm>
            <a:off x="3017520" y="4087368"/>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91840" y="4087368"/>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Develop research questions / hypotheses</a:t>
            </a:r>
          </a:p>
        </p:txBody>
      </p:sp>
      <p:cxnSp>
        <p:nvCxnSpPr>
          <p:cNvPr id="28" name="Connector 27"/>
          <p:cNvCxnSpPr/>
          <p:nvPr/>
        </p:nvCxnSpPr>
        <p:spPr>
          <a:xfrm>
            <a:off x="2587752" y="4544568"/>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359152" y="4663440"/>
            <a:ext cx="457200" cy="457200"/>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6</a:t>
            </a:r>
          </a:p>
        </p:txBody>
      </p:sp>
      <p:sp>
        <p:nvSpPr>
          <p:cNvPr id="30" name="Rounded Rectangle 29"/>
          <p:cNvSpPr/>
          <p:nvPr/>
        </p:nvSpPr>
        <p:spPr>
          <a:xfrm>
            <a:off x="3017520" y="4663440"/>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291840" y="4663440"/>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Justify the problem (CER)</a:t>
            </a:r>
          </a:p>
        </p:txBody>
      </p:sp>
      <p:cxnSp>
        <p:nvCxnSpPr>
          <p:cNvPr id="32" name="Connector 31"/>
          <p:cNvCxnSpPr/>
          <p:nvPr/>
        </p:nvCxnSpPr>
        <p:spPr>
          <a:xfrm>
            <a:off x="2587752" y="5120640"/>
            <a:ext cx="0" cy="118872"/>
          </a:xfrm>
          <a:prstGeom prst="line">
            <a:avLst/>
          </a:prstGeom>
          <a:ln w="3175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2359152" y="5239512"/>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800" b="1" i="0">
                <a:solidFill>
                  <a:srgbClr val="FFFFFF"/>
                </a:solidFill>
                <a:latin typeface="Segoe UI"/>
              </a:rPr>
              <a:t>7</a:t>
            </a:r>
          </a:p>
        </p:txBody>
      </p:sp>
      <p:sp>
        <p:nvSpPr>
          <p:cNvPr id="34" name="Rounded Rectangle 33"/>
          <p:cNvSpPr/>
          <p:nvPr/>
        </p:nvSpPr>
        <p:spPr>
          <a:xfrm>
            <a:off x="3017520" y="5239512"/>
            <a:ext cx="7498079" cy="457200"/>
          </a:xfrm>
          <a:prstGeom prst="roundRect">
            <a:avLst>
              <a:gd name="adj" fmla="val 14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291840" y="5239512"/>
            <a:ext cx="7132319" cy="45720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14213D"/>
                </a:solidFill>
                <a:latin typeface="Segoe UI Semibold"/>
              </a:rPr>
              <a:t>State assumptions &amp; limitations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What Counts as a Source?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a:t>
            </a:r>
          </a:p>
        </p:txBody>
      </p:sp>
      <p:sp>
        <p:nvSpPr>
          <p:cNvPr id="9" name="Rounded Rectangle 8"/>
          <p:cNvSpPr/>
          <p:nvPr/>
        </p:nvSpPr>
        <p:spPr>
          <a:xfrm>
            <a:off x="777240" y="1828800"/>
            <a:ext cx="5090007" cy="17830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1069848" y="2148840"/>
            <a:ext cx="1051560" cy="1051560"/>
          </a:xfrm>
          <a:prstGeom prst="roundRect">
            <a:avLst>
              <a:gd name="adj" fmla="val 20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000" b="1" i="0">
                <a:solidFill>
                  <a:srgbClr val="FFFFFF"/>
                </a:solidFill>
                <a:latin typeface="Segoe UI"/>
              </a:rPr>
              <a:t>JA</a:t>
            </a:r>
          </a:p>
        </p:txBody>
      </p:sp>
      <p:sp>
        <p:nvSpPr>
          <p:cNvPr id="11" name="TextBox 10"/>
          <p:cNvSpPr txBox="1"/>
          <p:nvPr/>
        </p:nvSpPr>
        <p:spPr>
          <a:xfrm>
            <a:off x="2331720" y="2148840"/>
            <a:ext cx="3261207" cy="1188720"/>
          </a:xfrm>
          <a:prstGeom prst="rect">
            <a:avLst/>
          </a:prstGeom>
          <a:noFill/>
        </p:spPr>
        <p:txBody>
          <a:bodyPr wrap="square" anchor="t" lIns="0" rIns="0" tIns="0" bIns="0">
            <a:spAutoFit/>
          </a:bodyPr>
          <a:lstStyle/>
          <a:p>
            <a:pPr algn="l">
              <a:lnSpc>
                <a:spcPct val="100000"/>
              </a:lnSpc>
              <a:spcBef>
                <a:spcPts val="0"/>
              </a:spcBef>
              <a:spcAft>
                <a:spcPts val="500"/>
              </a:spcAft>
            </a:pPr>
            <a:r>
              <a:rPr sz="2100" b="1" i="0">
                <a:solidFill>
                  <a:srgbClr val="14213D"/>
                </a:solidFill>
                <a:latin typeface="Segoe UI Semibold"/>
              </a:rPr>
              <a:t>Journal articles</a:t>
            </a:r>
          </a:p>
          <a:p>
            <a:pPr algn="l">
              <a:lnSpc>
                <a:spcPct val="105000"/>
              </a:lnSpc>
              <a:spcBef>
                <a:spcPts val="0"/>
              </a:spcBef>
              <a:spcAft>
                <a:spcPts val="0"/>
              </a:spcAft>
            </a:pPr>
            <a:r>
              <a:rPr sz="1550" b="0" i="0">
                <a:solidFill>
                  <a:srgbClr val="5B6B7B"/>
                </a:solidFill>
                <a:latin typeface="Segoe UI"/>
              </a:rPr>
              <a:t>Reports of actual studies (a question/hypothesis, data, an answer)</a:t>
            </a:r>
          </a:p>
        </p:txBody>
      </p:sp>
      <p:sp>
        <p:nvSpPr>
          <p:cNvPr id="12" name="Rounded Rectangle 11"/>
          <p:cNvSpPr/>
          <p:nvPr/>
        </p:nvSpPr>
        <p:spPr>
          <a:xfrm>
            <a:off x="6324447" y="1828800"/>
            <a:ext cx="5090007" cy="17830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617055" y="2148840"/>
            <a:ext cx="1051560" cy="1051560"/>
          </a:xfrm>
          <a:prstGeom prst="roundRect">
            <a:avLst>
              <a:gd name="adj" fmla="val 20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000" b="1" i="0">
                <a:solidFill>
                  <a:srgbClr val="FFFFFF"/>
                </a:solidFill>
                <a:latin typeface="Segoe UI"/>
              </a:rPr>
              <a:t>BK</a:t>
            </a:r>
          </a:p>
        </p:txBody>
      </p:sp>
      <p:sp>
        <p:nvSpPr>
          <p:cNvPr id="14" name="TextBox 13"/>
          <p:cNvSpPr txBox="1"/>
          <p:nvPr/>
        </p:nvSpPr>
        <p:spPr>
          <a:xfrm>
            <a:off x="7878927" y="2148840"/>
            <a:ext cx="3261207" cy="1188720"/>
          </a:xfrm>
          <a:prstGeom prst="rect">
            <a:avLst/>
          </a:prstGeom>
          <a:noFill/>
        </p:spPr>
        <p:txBody>
          <a:bodyPr wrap="square" anchor="t" lIns="0" rIns="0" tIns="0" bIns="0">
            <a:spAutoFit/>
          </a:bodyPr>
          <a:lstStyle/>
          <a:p>
            <a:pPr algn="l">
              <a:lnSpc>
                <a:spcPct val="100000"/>
              </a:lnSpc>
              <a:spcBef>
                <a:spcPts val="0"/>
              </a:spcBef>
              <a:spcAft>
                <a:spcPts val="500"/>
              </a:spcAft>
            </a:pPr>
            <a:r>
              <a:rPr sz="2100" b="1" i="0">
                <a:solidFill>
                  <a:srgbClr val="14213D"/>
                </a:solidFill>
                <a:latin typeface="Segoe UI Semibold"/>
              </a:rPr>
              <a:t>Books</a:t>
            </a:r>
          </a:p>
          <a:p>
            <a:pPr algn="l">
              <a:lnSpc>
                <a:spcPct val="105000"/>
              </a:lnSpc>
              <a:spcBef>
                <a:spcPts val="0"/>
              </a:spcBef>
              <a:spcAft>
                <a:spcPts val="0"/>
              </a:spcAft>
            </a:pPr>
            <a:r>
              <a:rPr sz="1550" b="0" i="0">
                <a:solidFill>
                  <a:srgbClr val="5B6B7B"/>
                </a:solidFill>
                <a:latin typeface="Segoe UI"/>
              </a:rPr>
              <a:t>Research monographs or edited collections</a:t>
            </a:r>
          </a:p>
        </p:txBody>
      </p:sp>
      <p:sp>
        <p:nvSpPr>
          <p:cNvPr id="15" name="Rounded Rectangle 14"/>
          <p:cNvSpPr/>
          <p:nvPr/>
        </p:nvSpPr>
        <p:spPr>
          <a:xfrm>
            <a:off x="777240" y="3931920"/>
            <a:ext cx="5090007" cy="17830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1069848" y="4251959"/>
            <a:ext cx="1051560" cy="1051560"/>
          </a:xfrm>
          <a:prstGeom prst="roundRect">
            <a:avLst>
              <a:gd name="adj" fmla="val 20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000" b="1" i="0">
                <a:solidFill>
                  <a:srgbClr val="FFFFFF"/>
                </a:solidFill>
                <a:latin typeface="Segoe UI"/>
              </a:rPr>
              <a:t>GR</a:t>
            </a:r>
          </a:p>
        </p:txBody>
      </p:sp>
      <p:sp>
        <p:nvSpPr>
          <p:cNvPr id="17" name="TextBox 16"/>
          <p:cNvSpPr txBox="1"/>
          <p:nvPr/>
        </p:nvSpPr>
        <p:spPr>
          <a:xfrm>
            <a:off x="2331720" y="4251959"/>
            <a:ext cx="3261207" cy="1188720"/>
          </a:xfrm>
          <a:prstGeom prst="rect">
            <a:avLst/>
          </a:prstGeom>
          <a:noFill/>
        </p:spPr>
        <p:txBody>
          <a:bodyPr wrap="square" anchor="t" lIns="0" rIns="0" tIns="0" bIns="0">
            <a:spAutoFit/>
          </a:bodyPr>
          <a:lstStyle/>
          <a:p>
            <a:pPr algn="l">
              <a:lnSpc>
                <a:spcPct val="100000"/>
              </a:lnSpc>
              <a:spcBef>
                <a:spcPts val="0"/>
              </a:spcBef>
              <a:spcAft>
                <a:spcPts val="500"/>
              </a:spcAft>
            </a:pPr>
            <a:r>
              <a:rPr sz="2100" b="1" i="0">
                <a:solidFill>
                  <a:srgbClr val="14213D"/>
                </a:solidFill>
                <a:latin typeface="Segoe UI Semibold"/>
              </a:rPr>
              <a:t>Government / institutional reports</a:t>
            </a:r>
          </a:p>
          <a:p>
            <a:pPr algn="l">
              <a:lnSpc>
                <a:spcPct val="105000"/>
              </a:lnSpc>
              <a:spcBef>
                <a:spcPts val="0"/>
              </a:spcBef>
              <a:spcAft>
                <a:spcPts val="0"/>
              </a:spcAft>
            </a:pPr>
            <a:r>
              <a:rPr sz="1550" b="0" i="0">
                <a:solidFill>
                  <a:srgbClr val="5B6B7B"/>
                </a:solidFill>
                <a:latin typeface="Segoe UI"/>
              </a:rPr>
              <a:t>e.g., DOST, DENR, DOH, PSA</a:t>
            </a:r>
          </a:p>
        </p:txBody>
      </p:sp>
      <p:sp>
        <p:nvSpPr>
          <p:cNvPr id="18" name="Rounded Rectangle 17"/>
          <p:cNvSpPr/>
          <p:nvPr/>
        </p:nvSpPr>
        <p:spPr>
          <a:xfrm>
            <a:off x="6324447" y="3931920"/>
            <a:ext cx="5090007" cy="17830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617055" y="4251959"/>
            <a:ext cx="1051560" cy="1051560"/>
          </a:xfrm>
          <a:prstGeom prst="roundRect">
            <a:avLst>
              <a:gd name="adj" fmla="val 20000"/>
            </a:avLst>
          </a:prstGeom>
          <a:solidFill>
            <a:srgbClr val="F2B705"/>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000" b="1" i="0">
                <a:solidFill>
                  <a:srgbClr val="FFFFFF"/>
                </a:solidFill>
                <a:latin typeface="Segoe UI"/>
              </a:rPr>
              <a:t>WB</a:t>
            </a:r>
          </a:p>
        </p:txBody>
      </p:sp>
      <p:sp>
        <p:nvSpPr>
          <p:cNvPr id="20" name="TextBox 19"/>
          <p:cNvSpPr txBox="1"/>
          <p:nvPr/>
        </p:nvSpPr>
        <p:spPr>
          <a:xfrm>
            <a:off x="7878927" y="4251959"/>
            <a:ext cx="3261207" cy="1188720"/>
          </a:xfrm>
          <a:prstGeom prst="rect">
            <a:avLst/>
          </a:prstGeom>
          <a:noFill/>
        </p:spPr>
        <p:txBody>
          <a:bodyPr wrap="square" anchor="t" lIns="0" rIns="0" tIns="0" bIns="0">
            <a:spAutoFit/>
          </a:bodyPr>
          <a:lstStyle/>
          <a:p>
            <a:pPr algn="l">
              <a:lnSpc>
                <a:spcPct val="100000"/>
              </a:lnSpc>
              <a:spcBef>
                <a:spcPts val="0"/>
              </a:spcBef>
              <a:spcAft>
                <a:spcPts val="500"/>
              </a:spcAft>
            </a:pPr>
            <a:r>
              <a:rPr sz="2100" b="1" i="0">
                <a:solidFill>
                  <a:srgbClr val="14213D"/>
                </a:solidFill>
                <a:latin typeface="Segoe UI Semibold"/>
              </a:rPr>
              <a:t>Credible websites</a:t>
            </a:r>
          </a:p>
          <a:p>
            <a:pPr algn="l">
              <a:lnSpc>
                <a:spcPct val="105000"/>
              </a:lnSpc>
              <a:spcBef>
                <a:spcPts val="0"/>
              </a:spcBef>
              <a:spcAft>
                <a:spcPts val="0"/>
              </a:spcAft>
            </a:pPr>
            <a:r>
              <a:rPr sz="1550" b="0" i="0">
                <a:solidFill>
                  <a:srgbClr val="5B6B7B"/>
                </a:solidFill>
                <a:latin typeface="Segoe UI"/>
              </a:rPr>
              <a:t>From recognized organizations, not personal blogs or social media posts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Example — Sorting Real Sources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a:t>
            </a:r>
          </a:p>
        </p:txBody>
      </p:sp>
      <p:sp>
        <p:nvSpPr>
          <p:cNvPr id="9" name="Rounded Rectangle 8"/>
          <p:cNvSpPr/>
          <p:nvPr/>
        </p:nvSpPr>
        <p:spPr>
          <a:xfrm>
            <a:off x="777240" y="1719072"/>
            <a:ext cx="2220163"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037283"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a:t>
            </a:r>
          </a:p>
        </p:txBody>
      </p:sp>
      <p:graphicFrame>
        <p:nvGraphicFramePr>
          <p:cNvPr id="11" name="Table 10"/>
          <p:cNvGraphicFramePr>
            <a:graphicFrameLocks noGrp="1"/>
          </p:cNvGraphicFramePr>
          <p:nvPr/>
        </p:nvGraphicFramePr>
        <p:xfrm>
          <a:off x="777240" y="2148840"/>
          <a:ext cx="10637214" cy="3794760"/>
        </p:xfrm>
        <a:graphic>
          <a:graphicData uri="http://schemas.openxmlformats.org/drawingml/2006/table">
            <a:tbl>
              <a:tblPr>
                <a:tableStyleId>{5C22544A-7EE6-4342-B048-85BDC9FD1C3A}</a:tableStyleId>
              </a:tblPr>
              <a:tblGrid>
                <a:gridCol w="6545978"/>
                <a:gridCol w="4091236"/>
              </a:tblGrid>
              <a:tr h="502920">
                <a:tc>
                  <a:txBody>
                    <a:bodyPr wrap="square"/>
                    <a:lstStyle/>
                    <a:p>
                      <a:pPr algn="l">
                        <a:lnSpc>
                          <a:spcPct val="100000"/>
                        </a:lnSpc>
                      </a:pPr>
                      <a:r>
                        <a:rPr sz="1700" b="1">
                          <a:solidFill>
                            <a:srgbClr val="FFFFFF"/>
                          </a:solidFill>
                          <a:latin typeface="Segoe UI Semibold"/>
                        </a:rPr>
                        <a:t>Item Found</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Source Type</a:t>
                      </a:r>
                    </a:p>
                  </a:txBody>
                  <a:tcPr marL="101600" marR="101600" marT="50800" marB="50800" anchor="ctr">
                    <a:solidFill>
                      <a:srgbClr val="1D7A8C"/>
                    </a:solidFill>
                  </a:tcPr>
                </a:tc>
              </a:tr>
              <a:tr h="658368">
                <a:tc>
                  <a:txBody>
                    <a:bodyPr wrap="square"/>
                    <a:lstStyle/>
                    <a:p>
                      <a:pPr algn="l">
                        <a:lnSpc>
                          <a:spcPct val="100000"/>
                        </a:lnSpc>
                      </a:pPr>
                      <a:r>
                        <a:rPr sz="1700" b="0">
                          <a:solidFill>
                            <a:srgbClr val="14213D"/>
                          </a:solidFill>
                          <a:latin typeface="Segoe UI"/>
                        </a:rPr>
                        <a:t>DOST-published feasibility study on solar water distillation</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Government / institutional report</a:t>
                      </a:r>
                    </a:p>
                  </a:txBody>
                  <a:tcPr marL="101600" marR="101600" marT="50800" marB="50800" anchor="ctr">
                    <a:solidFill>
                      <a:srgbClr val="D9F0EC"/>
                    </a:solidFill>
                  </a:tcPr>
                </a:tc>
              </a:tr>
              <a:tr h="658368">
                <a:tc>
                  <a:txBody>
                    <a:bodyPr wrap="square"/>
                    <a:lstStyle/>
                    <a:p>
                      <a:pPr algn="l">
                        <a:lnSpc>
                          <a:spcPct val="100000"/>
                        </a:lnSpc>
                      </a:pPr>
                      <a:r>
                        <a:rPr sz="1700" b="0">
                          <a:solidFill>
                            <a:srgbClr val="14213D"/>
                          </a:solidFill>
                          <a:latin typeface="Segoe UI"/>
                        </a:rPr>
                        <a:t>Peer-reviewed journal article on membrane distillation for rural water treatment</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Journal article</a:t>
                      </a:r>
                    </a:p>
                  </a:txBody>
                  <a:tcPr marL="101600" marR="101600" marT="50800" marB="50800" anchor="ctr">
                    <a:solidFill>
                      <a:srgbClr val="D9F0EC"/>
                    </a:solidFill>
                  </a:tcPr>
                </a:tc>
              </a:tr>
              <a:tr h="658368">
                <a:tc>
                  <a:txBody>
                    <a:bodyPr wrap="square"/>
                    <a:lstStyle/>
                    <a:p>
                      <a:pPr algn="l">
                        <a:lnSpc>
                          <a:spcPct val="100000"/>
                        </a:lnSpc>
                      </a:pPr>
                      <a:r>
                        <a:rPr sz="1700" b="0">
                          <a:solidFill>
                            <a:srgbClr val="14213D"/>
                          </a:solidFill>
                          <a:latin typeface="Segoe UI"/>
                        </a:rPr>
                        <a:t>A barangay health worker's personal Facebook post about “clean water tips”</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Not an academic source</a:t>
                      </a:r>
                    </a:p>
                  </a:txBody>
                  <a:tcPr marL="101600" marR="101600" marT="50800" marB="50800" anchor="ctr">
                    <a:solidFill>
                      <a:srgbClr val="F7DEE2"/>
                    </a:solidFill>
                  </a:tcPr>
                </a:tc>
              </a:tr>
              <a:tr h="658368">
                <a:tc>
                  <a:txBody>
                    <a:bodyPr wrap="square"/>
                    <a:lstStyle/>
                    <a:p>
                      <a:pPr algn="l">
                        <a:lnSpc>
                          <a:spcPct val="100000"/>
                        </a:lnSpc>
                      </a:pPr>
                      <a:r>
                        <a:rPr sz="1700" b="0">
                          <a:solidFill>
                            <a:srgbClr val="14213D"/>
                          </a:solidFill>
                          <a:latin typeface="Segoe UI"/>
                        </a:rPr>
                        <a:t>A university thesis available through an online repository</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Academic source (student research)</a:t>
                      </a:r>
                    </a:p>
                  </a:txBody>
                  <a:tcPr marL="101600" marR="101600" marT="50800" marB="50800" anchor="ctr">
                    <a:solidFill>
                      <a:srgbClr val="E4F1F3"/>
                    </a:solidFill>
                  </a:tcPr>
                </a:tc>
              </a:tr>
              <a:tr h="658368">
                <a:tc>
                  <a:txBody>
                    <a:bodyPr wrap="square"/>
                    <a:lstStyle/>
                    <a:p>
                      <a:pPr algn="l">
                        <a:lnSpc>
                          <a:spcPct val="100000"/>
                        </a:lnSpc>
                      </a:pPr>
                      <a:r>
                        <a:rPr sz="1700" b="0">
                          <a:solidFill>
                            <a:srgbClr val="14213D"/>
                          </a:solidFill>
                          <a:latin typeface="Segoe UI"/>
                        </a:rPr>
                        <a:t>A blog post summarizing “5 easy DIY water filters”</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Not an academic source</a:t>
                      </a:r>
                    </a:p>
                  </a:txBody>
                  <a:tcPr marL="101600" marR="101600" marT="50800" marB="50800" anchor="ctr">
                    <a:solidFill>
                      <a:srgbClr val="F7DEE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The A-R-A Test for Sources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6</a:t>
            </a:r>
          </a:p>
        </p:txBody>
      </p:sp>
      <p:sp>
        <p:nvSpPr>
          <p:cNvPr id="9" name="Rounded Rectangle 8"/>
          <p:cNvSpPr/>
          <p:nvPr/>
        </p:nvSpPr>
        <p:spPr>
          <a:xfrm>
            <a:off x="777240" y="1828800"/>
            <a:ext cx="3271418" cy="26517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910029" y="2103120"/>
            <a:ext cx="1005840" cy="1005840"/>
          </a:xfrm>
          <a:prstGeom prst="ellipse">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4000" b="1" i="0">
                <a:solidFill>
                  <a:srgbClr val="FFFFFF"/>
                </a:solidFill>
                <a:latin typeface="Segoe UI"/>
              </a:rPr>
              <a:t>A</a:t>
            </a:r>
          </a:p>
        </p:txBody>
      </p:sp>
      <p:sp>
        <p:nvSpPr>
          <p:cNvPr id="11" name="TextBox 10"/>
          <p:cNvSpPr txBox="1"/>
          <p:nvPr/>
        </p:nvSpPr>
        <p:spPr>
          <a:xfrm>
            <a:off x="960120" y="3246120"/>
            <a:ext cx="2905658" cy="365760"/>
          </a:xfrm>
          <a:prstGeom prst="rect">
            <a:avLst/>
          </a:prstGeom>
          <a:noFill/>
        </p:spPr>
        <p:txBody>
          <a:bodyPr wrap="square" anchor="t" lIns="0" rIns="0" tIns="0" bIns="0">
            <a:spAutoFit/>
          </a:bodyPr>
          <a:lstStyle/>
          <a:p>
            <a:pPr algn="ctr">
              <a:lnSpc>
                <a:spcPct val="105000"/>
              </a:lnSpc>
              <a:spcBef>
                <a:spcPts val="0"/>
              </a:spcBef>
              <a:spcAft>
                <a:spcPts val="400"/>
              </a:spcAft>
            </a:pPr>
            <a:r>
              <a:rPr sz="2200" b="1" i="0">
                <a:solidFill>
                  <a:srgbClr val="14213D"/>
                </a:solidFill>
                <a:latin typeface="Segoe UI Semibold"/>
              </a:rPr>
              <a:t>Authority</a:t>
            </a:r>
          </a:p>
        </p:txBody>
      </p:sp>
      <p:sp>
        <p:nvSpPr>
          <p:cNvPr id="12" name="TextBox 11"/>
          <p:cNvSpPr txBox="1"/>
          <p:nvPr/>
        </p:nvSpPr>
        <p:spPr>
          <a:xfrm>
            <a:off x="1033271" y="3703320"/>
            <a:ext cx="2759354" cy="822960"/>
          </a:xfrm>
          <a:prstGeom prst="rect">
            <a:avLst/>
          </a:prstGeom>
          <a:noFill/>
        </p:spPr>
        <p:txBody>
          <a:bodyPr wrap="square" anchor="t" lIns="0" rIns="0" tIns="0" bIns="0">
            <a:spAutoFit/>
          </a:bodyPr>
          <a:lstStyle/>
          <a:p>
            <a:pPr algn="ctr">
              <a:lnSpc>
                <a:spcPct val="105000"/>
              </a:lnSpc>
              <a:spcBef>
                <a:spcPts val="0"/>
              </a:spcBef>
              <a:spcAft>
                <a:spcPts val="0"/>
              </a:spcAft>
            </a:pPr>
            <a:r>
              <a:rPr sz="1600" b="0" i="0">
                <a:solidFill>
                  <a:srgbClr val="5B6B7B"/>
                </a:solidFill>
                <a:latin typeface="Segoe UI"/>
              </a:rPr>
              <a:t>Who wrote it? What are their credentials or affiliation?</a:t>
            </a:r>
          </a:p>
        </p:txBody>
      </p:sp>
      <p:sp>
        <p:nvSpPr>
          <p:cNvPr id="13" name="Rounded Rectangle 12"/>
          <p:cNvSpPr/>
          <p:nvPr/>
        </p:nvSpPr>
        <p:spPr>
          <a:xfrm>
            <a:off x="4460138" y="1828800"/>
            <a:ext cx="3271418" cy="26517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92927" y="2103120"/>
            <a:ext cx="1005840" cy="1005840"/>
          </a:xfrm>
          <a:prstGeom prst="ellipse">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4000" b="1" i="0">
                <a:solidFill>
                  <a:srgbClr val="FFFFFF"/>
                </a:solidFill>
                <a:latin typeface="Segoe UI"/>
              </a:rPr>
              <a:t>R</a:t>
            </a:r>
          </a:p>
        </p:txBody>
      </p:sp>
      <p:sp>
        <p:nvSpPr>
          <p:cNvPr id="15" name="TextBox 14"/>
          <p:cNvSpPr txBox="1"/>
          <p:nvPr/>
        </p:nvSpPr>
        <p:spPr>
          <a:xfrm>
            <a:off x="4643018" y="3246120"/>
            <a:ext cx="2905658" cy="365760"/>
          </a:xfrm>
          <a:prstGeom prst="rect">
            <a:avLst/>
          </a:prstGeom>
          <a:noFill/>
        </p:spPr>
        <p:txBody>
          <a:bodyPr wrap="square" anchor="t" lIns="0" rIns="0" tIns="0" bIns="0">
            <a:spAutoFit/>
          </a:bodyPr>
          <a:lstStyle/>
          <a:p>
            <a:pPr algn="ctr">
              <a:lnSpc>
                <a:spcPct val="105000"/>
              </a:lnSpc>
              <a:spcBef>
                <a:spcPts val="0"/>
              </a:spcBef>
              <a:spcAft>
                <a:spcPts val="400"/>
              </a:spcAft>
            </a:pPr>
            <a:r>
              <a:rPr sz="2200" b="1" i="0">
                <a:solidFill>
                  <a:srgbClr val="14213D"/>
                </a:solidFill>
                <a:latin typeface="Segoe UI Semibold"/>
              </a:rPr>
              <a:t>Relevance</a:t>
            </a:r>
          </a:p>
        </p:txBody>
      </p:sp>
      <p:sp>
        <p:nvSpPr>
          <p:cNvPr id="16" name="TextBox 15"/>
          <p:cNvSpPr txBox="1"/>
          <p:nvPr/>
        </p:nvSpPr>
        <p:spPr>
          <a:xfrm>
            <a:off x="4716170" y="3703320"/>
            <a:ext cx="2759354" cy="822960"/>
          </a:xfrm>
          <a:prstGeom prst="rect">
            <a:avLst/>
          </a:prstGeom>
          <a:noFill/>
        </p:spPr>
        <p:txBody>
          <a:bodyPr wrap="square" anchor="t" lIns="0" rIns="0" tIns="0" bIns="0">
            <a:spAutoFit/>
          </a:bodyPr>
          <a:lstStyle/>
          <a:p>
            <a:pPr algn="ctr">
              <a:lnSpc>
                <a:spcPct val="105000"/>
              </a:lnSpc>
              <a:spcBef>
                <a:spcPts val="0"/>
              </a:spcBef>
              <a:spcAft>
                <a:spcPts val="0"/>
              </a:spcAft>
            </a:pPr>
            <a:r>
              <a:rPr sz="1600" b="0" i="0">
                <a:solidFill>
                  <a:srgbClr val="5B6B7B"/>
                </a:solidFill>
                <a:latin typeface="Segoe UI"/>
              </a:rPr>
              <a:t>Does it actually match your topic, population, or timeframe?</a:t>
            </a:r>
          </a:p>
        </p:txBody>
      </p:sp>
      <p:sp>
        <p:nvSpPr>
          <p:cNvPr id="17" name="Rounded Rectangle 16"/>
          <p:cNvSpPr/>
          <p:nvPr/>
        </p:nvSpPr>
        <p:spPr>
          <a:xfrm>
            <a:off x="8143036" y="1828800"/>
            <a:ext cx="3271418" cy="26517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9275825" y="2103120"/>
            <a:ext cx="1005840" cy="1005840"/>
          </a:xfrm>
          <a:prstGeom prst="ellipse">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4000" b="1" i="0">
                <a:solidFill>
                  <a:srgbClr val="FFFFFF"/>
                </a:solidFill>
                <a:latin typeface="Segoe UI"/>
              </a:rPr>
              <a:t>A</a:t>
            </a:r>
          </a:p>
        </p:txBody>
      </p:sp>
      <p:sp>
        <p:nvSpPr>
          <p:cNvPr id="19" name="TextBox 18"/>
          <p:cNvSpPr txBox="1"/>
          <p:nvPr/>
        </p:nvSpPr>
        <p:spPr>
          <a:xfrm>
            <a:off x="8325916" y="3246120"/>
            <a:ext cx="2905658" cy="365760"/>
          </a:xfrm>
          <a:prstGeom prst="rect">
            <a:avLst/>
          </a:prstGeom>
          <a:noFill/>
        </p:spPr>
        <p:txBody>
          <a:bodyPr wrap="square" anchor="t" lIns="0" rIns="0" tIns="0" bIns="0">
            <a:spAutoFit/>
          </a:bodyPr>
          <a:lstStyle/>
          <a:p>
            <a:pPr algn="ctr">
              <a:lnSpc>
                <a:spcPct val="105000"/>
              </a:lnSpc>
              <a:spcBef>
                <a:spcPts val="0"/>
              </a:spcBef>
              <a:spcAft>
                <a:spcPts val="400"/>
              </a:spcAft>
            </a:pPr>
            <a:r>
              <a:rPr sz="2200" b="1" i="0">
                <a:solidFill>
                  <a:srgbClr val="14213D"/>
                </a:solidFill>
                <a:latin typeface="Segoe UI Semibold"/>
              </a:rPr>
              <a:t>Accuracy</a:t>
            </a:r>
          </a:p>
        </p:txBody>
      </p:sp>
      <p:sp>
        <p:nvSpPr>
          <p:cNvPr id="20" name="TextBox 19"/>
          <p:cNvSpPr txBox="1"/>
          <p:nvPr/>
        </p:nvSpPr>
        <p:spPr>
          <a:xfrm>
            <a:off x="8399068" y="3703320"/>
            <a:ext cx="2759354" cy="822960"/>
          </a:xfrm>
          <a:prstGeom prst="rect">
            <a:avLst/>
          </a:prstGeom>
          <a:noFill/>
        </p:spPr>
        <p:txBody>
          <a:bodyPr wrap="square" anchor="t" lIns="0" rIns="0" tIns="0" bIns="0">
            <a:spAutoFit/>
          </a:bodyPr>
          <a:lstStyle/>
          <a:p>
            <a:pPr algn="ctr">
              <a:lnSpc>
                <a:spcPct val="105000"/>
              </a:lnSpc>
              <a:spcBef>
                <a:spcPts val="0"/>
              </a:spcBef>
              <a:spcAft>
                <a:spcPts val="0"/>
              </a:spcAft>
            </a:pPr>
            <a:r>
              <a:rPr sz="1600" b="0" i="0">
                <a:solidFill>
                  <a:srgbClr val="5B6B7B"/>
                </a:solidFill>
                <a:latin typeface="Segoe UI"/>
              </a:rPr>
              <a:t>Can the claims be checked or confirmed elsewhere?</a:t>
            </a:r>
          </a:p>
        </p:txBody>
      </p:sp>
      <p:sp>
        <p:nvSpPr>
          <p:cNvPr id="21" name="Rounded Rectangle 20"/>
          <p:cNvSpPr/>
          <p:nvPr/>
        </p:nvSpPr>
        <p:spPr>
          <a:xfrm>
            <a:off x="777240" y="4709160"/>
            <a:ext cx="10637215" cy="640080"/>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97280" y="4709160"/>
            <a:ext cx="9997135" cy="640080"/>
          </a:xfrm>
          <a:prstGeom prst="rect">
            <a:avLst/>
          </a:prstGeom>
          <a:noFill/>
        </p:spPr>
        <p:txBody>
          <a:bodyPr wrap="square" anchor="ctr" lIns="0" rIns="0" tIns="0" bIns="0">
            <a:spAutoFit/>
          </a:bodyPr>
          <a:lstStyle/>
          <a:p>
            <a:pPr algn="l">
              <a:lnSpc>
                <a:spcPct val="100000"/>
              </a:lnSpc>
              <a:spcBef>
                <a:spcPts val="0"/>
              </a:spcBef>
              <a:spcAft>
                <a:spcPts val="0"/>
              </a:spcAft>
            </a:pPr>
            <a:r>
              <a:rPr sz="1800" b="0" i="0">
                <a:solidFill>
                  <a:srgbClr val="FFFFFF"/>
                </a:solidFill>
                <a:latin typeface="Segoe UI"/>
              </a:rPr>
              <a:t>A source should pass </a:t>
            </a:r>
            <a:r>
              <a:rPr sz="1800" b="1" i="0">
                <a:solidFill>
                  <a:srgbClr val="F2B705"/>
                </a:solidFill>
                <a:latin typeface="Segoe UI"/>
              </a:rPr>
              <a:t>all three</a:t>
            </a:r>
            <a:r>
              <a:rPr sz="1800" b="0" i="0">
                <a:solidFill>
                  <a:srgbClr val="FFFFFF"/>
                </a:solidFill>
                <a:latin typeface="Segoe UI"/>
              </a:rPr>
              <a:t> — not just one — before it earns a place in your study.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Example — Applying the A-R-A Test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7</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graphicFrame>
        <p:nvGraphicFramePr>
          <p:cNvPr id="11" name="Table 10"/>
          <p:cNvGraphicFramePr>
            <a:graphicFrameLocks noGrp="1"/>
          </p:cNvGraphicFramePr>
          <p:nvPr/>
        </p:nvGraphicFramePr>
        <p:xfrm>
          <a:off x="777240" y="2194560"/>
          <a:ext cx="10637213" cy="2980944"/>
        </p:xfrm>
        <a:graphic>
          <a:graphicData uri="http://schemas.openxmlformats.org/drawingml/2006/table">
            <a:tbl>
              <a:tblPr>
                <a:tableStyleId>{5C22544A-7EE6-4342-B048-85BDC9FD1C3A}</a:tableStyleId>
              </a:tblPr>
              <a:tblGrid>
                <a:gridCol w="3039204"/>
                <a:gridCol w="1999476"/>
                <a:gridCol w="1919497"/>
                <a:gridCol w="2079455"/>
                <a:gridCol w="1599581"/>
              </a:tblGrid>
              <a:tr h="457200">
                <a:tc>
                  <a:txBody>
                    <a:bodyPr wrap="square"/>
                    <a:lstStyle/>
                    <a:p>
                      <a:pPr algn="l">
                        <a:lnSpc>
                          <a:spcPct val="100000"/>
                        </a:lnSpc>
                      </a:pPr>
                      <a:r>
                        <a:rPr sz="1500" b="1">
                          <a:solidFill>
                            <a:srgbClr val="FFFFFF"/>
                          </a:solidFill>
                          <a:latin typeface="Segoe UI Semibold"/>
                        </a:rPr>
                        <a:t>Source</a:t>
                      </a:r>
                    </a:p>
                  </a:txBody>
                  <a:tcPr marL="101600" marR="101600" marT="50800" marB="50800" anchor="ctr">
                    <a:solidFill>
                      <a:srgbClr val="1D7A8C"/>
                    </a:solidFill>
                  </a:tcPr>
                </a:tc>
                <a:tc>
                  <a:txBody>
                    <a:bodyPr wrap="square"/>
                    <a:lstStyle/>
                    <a:p>
                      <a:pPr algn="l">
                        <a:lnSpc>
                          <a:spcPct val="100000"/>
                        </a:lnSpc>
                      </a:pPr>
                      <a:r>
                        <a:rPr sz="1500" b="1">
                          <a:solidFill>
                            <a:srgbClr val="FFFFFF"/>
                          </a:solidFill>
                          <a:latin typeface="Segoe UI Semibold"/>
                        </a:rPr>
                        <a:t>Authority</a:t>
                      </a:r>
                    </a:p>
                  </a:txBody>
                  <a:tcPr marL="101600" marR="101600" marT="50800" marB="50800" anchor="ctr">
                    <a:solidFill>
                      <a:srgbClr val="1D7A8C"/>
                    </a:solidFill>
                  </a:tcPr>
                </a:tc>
                <a:tc>
                  <a:txBody>
                    <a:bodyPr wrap="square"/>
                    <a:lstStyle/>
                    <a:p>
                      <a:pPr algn="l">
                        <a:lnSpc>
                          <a:spcPct val="100000"/>
                        </a:lnSpc>
                      </a:pPr>
                      <a:r>
                        <a:rPr sz="1500" b="1">
                          <a:solidFill>
                            <a:srgbClr val="FFFFFF"/>
                          </a:solidFill>
                          <a:latin typeface="Segoe UI Semibold"/>
                        </a:rPr>
                        <a:t>Relevance</a:t>
                      </a:r>
                    </a:p>
                  </a:txBody>
                  <a:tcPr marL="101600" marR="101600" marT="50800" marB="50800" anchor="ctr">
                    <a:solidFill>
                      <a:srgbClr val="1D7A8C"/>
                    </a:solidFill>
                  </a:tcPr>
                </a:tc>
                <a:tc>
                  <a:txBody>
                    <a:bodyPr wrap="square"/>
                    <a:lstStyle/>
                    <a:p>
                      <a:pPr algn="l">
                        <a:lnSpc>
                          <a:spcPct val="100000"/>
                        </a:lnSpc>
                      </a:pPr>
                      <a:r>
                        <a:rPr sz="1500" b="1">
                          <a:solidFill>
                            <a:srgbClr val="FFFFFF"/>
                          </a:solidFill>
                          <a:latin typeface="Segoe UI Semibold"/>
                        </a:rPr>
                        <a:t>Accuracy</a:t>
                      </a:r>
                    </a:p>
                  </a:txBody>
                  <a:tcPr marL="101600" marR="101600" marT="50800" marB="50800" anchor="ctr">
                    <a:solidFill>
                      <a:srgbClr val="1D7A8C"/>
                    </a:solidFill>
                  </a:tcPr>
                </a:tc>
                <a:tc>
                  <a:txBody>
                    <a:bodyPr wrap="square"/>
                    <a:lstStyle/>
                    <a:p>
                      <a:pPr algn="l">
                        <a:lnSpc>
                          <a:spcPct val="100000"/>
                        </a:lnSpc>
                      </a:pPr>
                      <a:r>
                        <a:rPr sz="1500" b="1">
                          <a:solidFill>
                            <a:srgbClr val="FFFFFF"/>
                          </a:solidFill>
                          <a:latin typeface="Segoe UI Semibold"/>
                        </a:rPr>
                        <a:t>Verdict</a:t>
                      </a:r>
                    </a:p>
                  </a:txBody>
                  <a:tcPr marL="101600" marR="101600" marT="50800" marB="50800" anchor="ctr">
                    <a:solidFill>
                      <a:srgbClr val="1D7A8C"/>
                    </a:solidFill>
                  </a:tcPr>
                </a:tc>
              </a:tr>
              <a:tr h="841248">
                <a:tc>
                  <a:txBody>
                    <a:bodyPr wrap="square"/>
                    <a:lstStyle/>
                    <a:p>
                      <a:pPr algn="l">
                        <a:lnSpc>
                          <a:spcPct val="100000"/>
                        </a:lnSpc>
                      </a:pPr>
                      <a:r>
                        <a:rPr sz="1450" b="0">
                          <a:solidFill>
                            <a:srgbClr val="14213D"/>
                          </a:solidFill>
                          <a:latin typeface="Segoe UI"/>
                        </a:rPr>
                        <a:t>DOST-published engineering report on solar distillers</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High (government agency)</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High (same technology)</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Checkable (data included)</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USABLE</a:t>
                      </a:r>
                    </a:p>
                  </a:txBody>
                  <a:tcPr marL="101600" marR="101600" marT="50800" marB="50800" anchor="ctr">
                    <a:solidFill>
                      <a:srgbClr val="D9F0EC"/>
                    </a:solidFill>
                  </a:tcPr>
                </a:tc>
              </a:tr>
              <a:tr h="841248">
                <a:tc>
                  <a:txBody>
                    <a:bodyPr wrap="square"/>
                    <a:lstStyle/>
                    <a:p>
                      <a:pPr algn="l">
                        <a:lnSpc>
                          <a:spcPct val="100000"/>
                        </a:lnSpc>
                      </a:pPr>
                      <a:r>
                        <a:rPr sz="1450" b="0">
                          <a:solidFill>
                            <a:srgbClr val="14213D"/>
                          </a:solidFill>
                          <a:latin typeface="Segoe UI"/>
                        </a:rPr>
                        <a:t>Personal blog: “How I Built My Own Water Filter”</a:t>
                      </a:r>
                    </a:p>
                  </a:txBody>
                  <a:tcPr marL="101600" marR="101600" marT="50800" marB="50800" anchor="ctr">
                    <a:solidFill>
                      <a:srgbClr val="EEF4F7"/>
                    </a:solidFill>
                  </a:tcPr>
                </a:tc>
                <a:tc>
                  <a:txBody>
                    <a:bodyPr wrap="square"/>
                    <a:lstStyle/>
                    <a:p>
                      <a:pPr algn="l">
                        <a:lnSpc>
                          <a:spcPct val="100000"/>
                        </a:lnSpc>
                      </a:pPr>
                      <a:r>
                        <a:rPr sz="1450" b="0">
                          <a:solidFill>
                            <a:srgbClr val="14213D"/>
                          </a:solidFill>
                          <a:latin typeface="Segoe UI"/>
                        </a:rPr>
                        <a:t>Unclear author</a:t>
                      </a:r>
                    </a:p>
                  </a:txBody>
                  <a:tcPr marL="101600" marR="101600" marT="50800" marB="50800" anchor="ctr">
                    <a:solidFill>
                      <a:srgbClr val="EEF4F7"/>
                    </a:solidFill>
                  </a:tcPr>
                </a:tc>
                <a:tc>
                  <a:txBody>
                    <a:bodyPr wrap="square"/>
                    <a:lstStyle/>
                    <a:p>
                      <a:pPr algn="l">
                        <a:lnSpc>
                          <a:spcPct val="100000"/>
                        </a:lnSpc>
                      </a:pPr>
                      <a:r>
                        <a:rPr sz="1450" b="0">
                          <a:solidFill>
                            <a:srgbClr val="14213D"/>
                          </a:solidFill>
                          <a:latin typeface="Segoe UI"/>
                        </a:rPr>
                        <a:t>Partial (different method)</a:t>
                      </a:r>
                    </a:p>
                  </a:txBody>
                  <a:tcPr marL="101600" marR="101600" marT="50800" marB="50800" anchor="ctr">
                    <a:solidFill>
                      <a:srgbClr val="EEF4F7"/>
                    </a:solidFill>
                  </a:tcPr>
                </a:tc>
                <a:tc>
                  <a:txBody>
                    <a:bodyPr wrap="square"/>
                    <a:lstStyle/>
                    <a:p>
                      <a:pPr algn="l">
                        <a:lnSpc>
                          <a:spcPct val="100000"/>
                        </a:lnSpc>
                      </a:pPr>
                      <a:r>
                        <a:rPr sz="1450" b="0">
                          <a:solidFill>
                            <a:srgbClr val="14213D"/>
                          </a:solidFill>
                          <a:latin typeface="Segoe UI"/>
                        </a:rPr>
                        <a:t>Cannot verify claims</a:t>
                      </a:r>
                    </a:p>
                  </a:txBody>
                  <a:tcPr marL="101600" marR="101600" marT="50800" marB="50800" anchor="ctr">
                    <a:solidFill>
                      <a:srgbClr val="EEF4F7"/>
                    </a:solidFill>
                  </a:tcPr>
                </a:tc>
                <a:tc>
                  <a:txBody>
                    <a:bodyPr wrap="square"/>
                    <a:lstStyle/>
                    <a:p>
                      <a:pPr algn="l">
                        <a:lnSpc>
                          <a:spcPct val="100000"/>
                        </a:lnSpc>
                      </a:pPr>
                      <a:r>
                        <a:rPr sz="1450" b="0">
                          <a:solidFill>
                            <a:srgbClr val="14213D"/>
                          </a:solidFill>
                          <a:latin typeface="Segoe UI"/>
                        </a:rPr>
                        <a:t>NOT USABLE</a:t>
                      </a:r>
                    </a:p>
                  </a:txBody>
                  <a:tcPr marL="101600" marR="101600" marT="50800" marB="50800" anchor="ctr">
                    <a:solidFill>
                      <a:srgbClr val="F7DEE2"/>
                    </a:solidFill>
                  </a:tcPr>
                </a:tc>
              </a:tr>
              <a:tr h="841248">
                <a:tc>
                  <a:txBody>
                    <a:bodyPr wrap="square"/>
                    <a:lstStyle/>
                    <a:p>
                      <a:pPr algn="l">
                        <a:lnSpc>
                          <a:spcPct val="100000"/>
                        </a:lnSpc>
                      </a:pPr>
                      <a:r>
                        <a:rPr sz="1450" b="0">
                          <a:solidFill>
                            <a:srgbClr val="14213D"/>
                          </a:solidFill>
                          <a:latin typeface="Segoe UI"/>
                        </a:rPr>
                        <a:t>International journal article on solar distillation efficiency</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High (peer-reviewed)</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High</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Checkable</a:t>
                      </a:r>
                    </a:p>
                  </a:txBody>
                  <a:tcPr marL="101600" marR="101600" marT="50800" marB="50800" anchor="ctr">
                    <a:solidFill>
                      <a:srgbClr val="FFFFFF"/>
                    </a:solidFill>
                  </a:tcPr>
                </a:tc>
                <a:tc>
                  <a:txBody>
                    <a:bodyPr wrap="square"/>
                    <a:lstStyle/>
                    <a:p>
                      <a:pPr algn="l">
                        <a:lnSpc>
                          <a:spcPct val="100000"/>
                        </a:lnSpc>
                      </a:pPr>
                      <a:r>
                        <a:rPr sz="1450" b="0">
                          <a:solidFill>
                            <a:srgbClr val="14213D"/>
                          </a:solidFill>
                          <a:latin typeface="Segoe UI"/>
                        </a:rPr>
                        <a:t>USABLE</a:t>
                      </a:r>
                    </a:p>
                  </a:txBody>
                  <a:tcPr marL="101600" marR="101600" marT="50800" marB="50800" anchor="ctr">
                    <a:solidFill>
                      <a:srgbClr val="D9F0EC"/>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2 · EVALUATING SOURCES (COMPETENCY 11)</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Rate These Sources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8</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B topic</a:t>
            </a:r>
          </a:p>
        </p:txBody>
      </p:sp>
      <p:graphicFrame>
        <p:nvGraphicFramePr>
          <p:cNvPr id="11" name="Table 10"/>
          <p:cNvGraphicFramePr>
            <a:graphicFrameLocks noGrp="1"/>
          </p:cNvGraphicFramePr>
          <p:nvPr/>
        </p:nvGraphicFramePr>
        <p:xfrm>
          <a:off x="777240" y="2194560"/>
          <a:ext cx="10637214" cy="3090672"/>
        </p:xfrm>
        <a:graphic>
          <a:graphicData uri="http://schemas.openxmlformats.org/drawingml/2006/table">
            <a:tbl>
              <a:tblPr>
                <a:tableStyleId>{5C22544A-7EE6-4342-B048-85BDC9FD1C3A}</a:tableStyleId>
              </a:tblPr>
              <a:tblGrid>
                <a:gridCol w="759801"/>
                <a:gridCol w="6078408"/>
                <a:gridCol w="3799005"/>
              </a:tblGrid>
              <a:tr h="457200">
                <a:tc>
                  <a:txBody>
                    <a:bodyPr wrap="square"/>
                    <a:lstStyle/>
                    <a:p>
                      <a:pPr algn="l">
                        <a:lnSpc>
                          <a:spcPct val="100000"/>
                        </a:lnSpc>
                      </a:pPr>
                      <a:r>
                        <a:rPr sz="1600" b="1">
                          <a:solidFill>
                            <a:srgbClr val="FFFFFF"/>
                          </a:solidFill>
                          <a:latin typeface="Segoe UI Semibold"/>
                        </a:rPr>
                        <a:t>#</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Source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Your verdict (apply A-R-A)</a:t>
                      </a:r>
                    </a:p>
                  </a:txBody>
                  <a:tcPr marL="101600" marR="101600" marT="50800" marB="50800" anchor="ctr">
                    <a:solidFill>
                      <a:srgbClr val="1D7A8C"/>
                    </a:solidFill>
                  </a:tcPr>
                </a:tc>
              </a:tr>
              <a:tr h="658368">
                <a:tc>
                  <a:txBody>
                    <a:bodyPr wrap="square"/>
                    <a:lstStyle/>
                    <a:p>
                      <a:pPr algn="l">
                        <a:lnSpc>
                          <a:spcPct val="100000"/>
                        </a:lnSpc>
                      </a:pPr>
                      <a:r>
                        <a:rPr sz="1700" b="0">
                          <a:solidFill>
                            <a:srgbClr val="14213D"/>
                          </a:solidFill>
                          <a:latin typeface="Segoe UI"/>
                        </a:rPr>
                        <a:t>1</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A DOH dengue surveillance report with raw case data</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700" b="0">
                          <a:solidFill>
                            <a:srgbClr val="14213D"/>
                          </a:solidFill>
                          <a:latin typeface="Segoe UI"/>
                        </a:rPr>
                        <a:t>2</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A viral text message claiming a “miracle dengue cure”</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700" b="0">
                          <a:solidFill>
                            <a:srgbClr val="14213D"/>
                          </a:solidFill>
                          <a:latin typeface="Segoe UI"/>
                        </a:rPr>
                        <a:t>3</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A peer-reviewed study on rainfall and dengue incidence in an Asian city</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700" b="0">
                          <a:solidFill>
                            <a:srgbClr val="14213D"/>
                          </a:solidFill>
                          <a:latin typeface="Segoe UI"/>
                        </a:rPr>
                        <a:t>4</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A five-year-old news article about a local dengue outbreak</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bl>
          </a:graphicData>
        </a:graphic>
      </p:graphicFrame>
      <p:sp>
        <p:nvSpPr>
          <p:cNvPr id="12" name="Rounded Rectangle 11"/>
          <p:cNvSpPr/>
          <p:nvPr/>
        </p:nvSpPr>
        <p:spPr>
          <a:xfrm>
            <a:off x="777240" y="525780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60120" y="535838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4" name="TextBox 13"/>
          <p:cNvSpPr txBox="1"/>
          <p:nvPr/>
        </p:nvSpPr>
        <p:spPr>
          <a:xfrm>
            <a:off x="1490472" y="525780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In pairs: apply Authority – Relevance – Accuracy to each, then share 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Summarizing vs. Synthesizing</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9</a:t>
            </a:r>
          </a:p>
        </p:txBody>
      </p:sp>
      <p:graphicFrame>
        <p:nvGraphicFramePr>
          <p:cNvPr id="9" name="Table 8"/>
          <p:cNvGraphicFramePr>
            <a:graphicFrameLocks noGrp="1"/>
          </p:cNvGraphicFramePr>
          <p:nvPr/>
        </p:nvGraphicFramePr>
        <p:xfrm>
          <a:off x="777240" y="1920240"/>
          <a:ext cx="10637214" cy="3310128"/>
        </p:xfrm>
        <a:graphic>
          <a:graphicData uri="http://schemas.openxmlformats.org/drawingml/2006/table">
            <a:tbl>
              <a:tblPr>
                <a:tableStyleId>{5C22544A-7EE6-4342-B048-85BDC9FD1C3A}</a:tableStyleId>
              </a:tblPr>
              <a:tblGrid>
                <a:gridCol w="5318607"/>
                <a:gridCol w="5318607"/>
              </a:tblGrid>
              <a:tr h="566928">
                <a:tc>
                  <a:txBody>
                    <a:bodyPr wrap="square"/>
                    <a:lstStyle/>
                    <a:p>
                      <a:pPr algn="l">
                        <a:lnSpc>
                          <a:spcPct val="100000"/>
                        </a:lnSpc>
                      </a:pPr>
                      <a:r>
                        <a:rPr sz="2000" b="1">
                          <a:solidFill>
                            <a:srgbClr val="FFFFFF"/>
                          </a:solidFill>
                          <a:latin typeface="Segoe UI Semibold"/>
                        </a:rPr>
                        <a:t>Summarizing</a:t>
                      </a:r>
                    </a:p>
                  </a:txBody>
                  <a:tcPr marL="101600" marR="101600" marT="50800" marB="50800" anchor="ctr">
                    <a:solidFill>
                      <a:srgbClr val="5B6B7B"/>
                    </a:solidFill>
                  </a:tcPr>
                </a:tc>
                <a:tc>
                  <a:txBody>
                    <a:bodyPr wrap="square"/>
                    <a:lstStyle/>
                    <a:p>
                      <a:pPr algn="l">
                        <a:lnSpc>
                          <a:spcPct val="100000"/>
                        </a:lnSpc>
                      </a:pPr>
                      <a:r>
                        <a:rPr sz="2000" b="1">
                          <a:solidFill>
                            <a:srgbClr val="FFFFFF"/>
                          </a:solidFill>
                          <a:latin typeface="Segoe UI Semibold"/>
                        </a:rPr>
                        <a:t>Synthesizing</a:t>
                      </a:r>
                    </a:p>
                  </a:txBody>
                  <a:tcPr marL="101600" marR="101600" marT="50800" marB="50800" anchor="ctr">
                    <a:solidFill>
                      <a:srgbClr val="5B6B7B"/>
                    </a:solidFill>
                  </a:tcPr>
                </a:tc>
              </a:tr>
              <a:tr h="914400">
                <a:tc>
                  <a:txBody>
                    <a:bodyPr wrap="square"/>
                    <a:lstStyle/>
                    <a:p>
                      <a:pPr algn="l">
                        <a:lnSpc>
                          <a:spcPct val="100000"/>
                        </a:lnSpc>
                      </a:pPr>
                      <a:r>
                        <a:rPr sz="2000" b="0">
                          <a:solidFill>
                            <a:srgbClr val="14213D"/>
                          </a:solidFill>
                          <a:latin typeface="Segoe UI"/>
                        </a:rPr>
                        <a:t>Describes one source at a time</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Connects multiple sources by theme</a:t>
                      </a:r>
                    </a:p>
                  </a:txBody>
                  <a:tcPr marL="101600" marR="101600" marT="50800" marB="50800" anchor="ctr">
                    <a:solidFill>
                      <a:srgbClr val="FFFFFF"/>
                    </a:solidFill>
                  </a:tcPr>
                </a:tc>
              </a:tr>
              <a:tr h="914400">
                <a:tc>
                  <a:txBody>
                    <a:bodyPr wrap="square"/>
                    <a:lstStyle/>
                    <a:p>
                      <a:pPr algn="l">
                        <a:lnSpc>
                          <a:spcPct val="100000"/>
                        </a:lnSpc>
                      </a:pPr>
                      <a:r>
                        <a:rPr sz="2000" b="0">
                          <a:solidFill>
                            <a:srgbClr val="14213D"/>
                          </a:solidFill>
                          <a:latin typeface="Segoe UI"/>
                        </a:rPr>
                        <a:t>“Source A found X. Source B found Y.”</a:t>
                      </a:r>
                    </a:p>
                  </a:txBody>
                  <a:tcPr marL="101600" marR="101600" marT="50800" marB="50800" anchor="ctr">
                    <a:solidFill>
                      <a:srgbClr val="EEF4F7"/>
                    </a:solidFill>
                  </a:tcPr>
                </a:tc>
                <a:tc>
                  <a:txBody>
                    <a:bodyPr wrap="square"/>
                    <a:lstStyle/>
                    <a:p>
                      <a:pPr algn="l">
                        <a:lnSpc>
                          <a:spcPct val="100000"/>
                        </a:lnSpc>
                      </a:pPr>
                      <a:r>
                        <a:rPr sz="2000" b="0">
                          <a:solidFill>
                            <a:srgbClr val="14213D"/>
                          </a:solidFill>
                          <a:latin typeface="Segoe UI"/>
                        </a:rPr>
                        <a:t>“Sources A and B agree that X, but disagree on Y.”</a:t>
                      </a:r>
                    </a:p>
                  </a:txBody>
                  <a:tcPr marL="101600" marR="101600" marT="50800" marB="50800" anchor="ctr">
                    <a:solidFill>
                      <a:srgbClr val="EEF4F7"/>
                    </a:solidFill>
                  </a:tcPr>
                </a:tc>
              </a:tr>
              <a:tr h="914400">
                <a:tc>
                  <a:txBody>
                    <a:bodyPr wrap="square"/>
                    <a:lstStyle/>
                    <a:p>
                      <a:pPr algn="l">
                        <a:lnSpc>
                          <a:spcPct val="100000"/>
                        </a:lnSpc>
                      </a:pPr>
                      <a:r>
                        <a:rPr sz="2000" b="0">
                          <a:solidFill>
                            <a:srgbClr val="14213D"/>
                          </a:solidFill>
                          <a:latin typeface="Segoe UI"/>
                        </a:rPr>
                        <a:t>Produces a list</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Produces an argument about the state of knowledge</a:t>
                      </a:r>
                    </a:p>
                  </a:txBody>
                  <a:tcPr marL="101600" marR="101600" marT="50800" marB="50800"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Example — Summary vs. Synthesis Side by Side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10</a:t>
            </a:r>
          </a:p>
        </p:txBody>
      </p:sp>
      <p:sp>
        <p:nvSpPr>
          <p:cNvPr id="9" name="Rounded Rectangle 8"/>
          <p:cNvSpPr/>
          <p:nvPr/>
        </p:nvSpPr>
        <p:spPr>
          <a:xfrm>
            <a:off x="777240" y="1719072"/>
            <a:ext cx="4754880"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4572000"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B — three dengue-prediction studies</a:t>
            </a:r>
          </a:p>
        </p:txBody>
      </p:sp>
      <p:sp>
        <p:nvSpPr>
          <p:cNvPr id="11" name="Rounded Rectangle 10"/>
          <p:cNvSpPr/>
          <p:nvPr/>
        </p:nvSpPr>
        <p:spPr>
          <a:xfrm>
            <a:off x="777240" y="2194560"/>
            <a:ext cx="10637215" cy="155448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10637215" cy="566928"/>
          </a:xfrm>
          <a:prstGeom prst="roundRect">
            <a:avLst>
              <a:gd name="adj" fmla="val 12000"/>
            </a:avLst>
          </a:prstGeom>
          <a:solidFill>
            <a:srgbClr val="5B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194560"/>
            <a:ext cx="10198303"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Semibold"/>
              </a:rPr>
              <a:t>SUMMARY VERSION</a:t>
            </a:r>
          </a:p>
        </p:txBody>
      </p:sp>
      <p:sp>
        <p:nvSpPr>
          <p:cNvPr id="14" name="TextBox 13"/>
          <p:cNvSpPr txBox="1"/>
          <p:nvPr/>
        </p:nvSpPr>
        <p:spPr>
          <a:xfrm>
            <a:off x="1097280" y="2926080"/>
            <a:ext cx="9997135" cy="822960"/>
          </a:xfrm>
          <a:prstGeom prst="rect">
            <a:avLst/>
          </a:prstGeom>
          <a:noFill/>
        </p:spPr>
        <p:txBody>
          <a:bodyPr wrap="square" anchor="ctr" lIns="0" rIns="0" tIns="0" bIns="0">
            <a:spAutoFit/>
          </a:bodyPr>
          <a:lstStyle/>
          <a:p>
            <a:pPr algn="l">
              <a:lnSpc>
                <a:spcPct val="110000"/>
              </a:lnSpc>
              <a:spcBef>
                <a:spcPts val="0"/>
              </a:spcBef>
              <a:spcAft>
                <a:spcPts val="0"/>
              </a:spcAft>
            </a:pPr>
            <a:r>
              <a:rPr sz="2200" b="0" i="1">
                <a:solidFill>
                  <a:srgbClr val="14213D"/>
                </a:solidFill>
                <a:latin typeface="Segoe UI"/>
              </a:rPr>
              <a:t>“Study 1 used rainfall data. Study 2 used temperature data. Study 3 used both rainfall and temperature.”</a:t>
            </a:r>
          </a:p>
        </p:txBody>
      </p:sp>
      <p:sp>
        <p:nvSpPr>
          <p:cNvPr id="15" name="Rounded Rectangle 14"/>
          <p:cNvSpPr/>
          <p:nvPr/>
        </p:nvSpPr>
        <p:spPr>
          <a:xfrm>
            <a:off x="777240" y="3931920"/>
            <a:ext cx="10637215" cy="1691640"/>
          </a:xfrm>
          <a:prstGeom prst="roundRect">
            <a:avLst>
              <a:gd name="adj" fmla="val 6000"/>
            </a:avLst>
          </a:prstGeom>
          <a:solidFill>
            <a:srgbClr val="FBFDFE"/>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777240" y="3931920"/>
            <a:ext cx="10637215"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33271" y="3931920"/>
            <a:ext cx="10198303"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Semibold"/>
              </a:rPr>
              <a:t>SYNTHESIS VERSION</a:t>
            </a:r>
          </a:p>
        </p:txBody>
      </p:sp>
      <p:sp>
        <p:nvSpPr>
          <p:cNvPr id="18" name="TextBox 17"/>
          <p:cNvSpPr txBox="1"/>
          <p:nvPr/>
        </p:nvSpPr>
        <p:spPr>
          <a:xfrm>
            <a:off x="1097280" y="4663440"/>
            <a:ext cx="9997135" cy="914400"/>
          </a:xfrm>
          <a:prstGeom prst="rect">
            <a:avLst/>
          </a:prstGeom>
          <a:noFill/>
        </p:spPr>
        <p:txBody>
          <a:bodyPr wrap="square" anchor="ctr" lIns="0" rIns="0" tIns="0" bIns="0">
            <a:spAutoFit/>
          </a:bodyPr>
          <a:lstStyle/>
          <a:p>
            <a:pPr algn="l">
              <a:lnSpc>
                <a:spcPct val="110000"/>
              </a:lnSpc>
              <a:spcBef>
                <a:spcPts val="0"/>
              </a:spcBef>
              <a:spcAft>
                <a:spcPts val="0"/>
              </a:spcAft>
            </a:pPr>
            <a:r>
              <a:rPr sz="2200" b="0" i="1">
                <a:solidFill>
                  <a:srgbClr val="14213D"/>
                </a:solidFill>
                <a:latin typeface="Segoe UI"/>
              </a:rPr>
              <a:t>“Most dengue prediction studies rely on rainfall and temperature, but they consistently leave out </a:t>
            </a:r>
            <a:r>
              <a:rPr sz="2200" b="1" i="1">
                <a:solidFill>
                  <a:srgbClr val="F4795B"/>
                </a:solidFill>
                <a:latin typeface="Segoe UI"/>
              </a:rPr>
              <a:t>human mobility patterns</a:t>
            </a:r>
            <a:r>
              <a:rPr sz="2200" b="0" i="1">
                <a:solidFill>
                  <a:srgbClr val="14213D"/>
                </a:solidFill>
                <a:latin typeface="Segoe UI"/>
              </a:rPr>
              <a:t> — a factor increasingly seen as relevant in outbreak spread.”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Grouping Sources by Theme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11</a:t>
            </a:r>
          </a:p>
        </p:txBody>
      </p:sp>
      <p:sp>
        <p:nvSpPr>
          <p:cNvPr id="9" name="TextBox 8"/>
          <p:cNvSpPr txBox="1"/>
          <p:nvPr/>
        </p:nvSpPr>
        <p:spPr>
          <a:xfrm>
            <a:off x="822960" y="1965960"/>
            <a:ext cx="5120640" cy="4389120"/>
          </a:xfrm>
          <a:prstGeom prst="rect">
            <a:avLst/>
          </a:prstGeom>
          <a:noFill/>
        </p:spPr>
        <p:txBody>
          <a:bodyPr wrap="square" anchor="t" lIns="0" rIns="0" tIns="0" bIns="0">
            <a:spAutoFit/>
          </a:bodyPr>
          <a:lstStyle/>
          <a:p>
            <a:pPr algn="l" marL="274638" indent="-274638">
              <a:lnSpc>
                <a:spcPct val="105000"/>
              </a:lnSpc>
              <a:spcBef>
                <a:spcPts val="0"/>
              </a:spcBef>
              <a:spcAft>
                <a:spcPts val="1800"/>
              </a:spcAft>
              <a:buClr>
                <a:srgbClr val="1D7A8C"/>
              </a:buClr>
              <a:buSzPct val="80000"/>
              <a:buFont typeface="Arial"/>
              <a:buChar char="▪"/>
            </a:pPr>
            <a:r>
              <a:rPr sz="2100" b="1" i="0">
                <a:solidFill>
                  <a:srgbClr val="1D7A8C"/>
                </a:solidFill>
                <a:latin typeface="Segoe UI"/>
              </a:rPr>
              <a:t>Step 1  </a:t>
            </a:r>
            <a:r>
              <a:rPr sz="2100" b="0" i="0">
                <a:solidFill>
                  <a:srgbClr val="14213D"/>
                </a:solidFill>
                <a:latin typeface="Segoe UI"/>
              </a:rPr>
              <a:t>Read across all your gathered sources</a:t>
            </a:r>
          </a:p>
          <a:p>
            <a:pPr algn="l" marL="274638" indent="-274638">
              <a:lnSpc>
                <a:spcPct val="105000"/>
              </a:lnSpc>
              <a:spcBef>
                <a:spcPts val="0"/>
              </a:spcBef>
              <a:spcAft>
                <a:spcPts val="1800"/>
              </a:spcAft>
              <a:buClr>
                <a:srgbClr val="1D7A8C"/>
              </a:buClr>
              <a:buSzPct val="80000"/>
              <a:buFont typeface="Arial"/>
              <a:buChar char="▪"/>
            </a:pPr>
            <a:r>
              <a:rPr sz="2100" b="1" i="0">
                <a:solidFill>
                  <a:srgbClr val="1D7A8C"/>
                </a:solidFill>
                <a:latin typeface="Segoe UI"/>
              </a:rPr>
              <a:t>Step 2  </a:t>
            </a:r>
            <a:r>
              <a:rPr sz="2100" b="0" i="0">
                <a:solidFill>
                  <a:srgbClr val="14213D"/>
                </a:solidFill>
                <a:latin typeface="Segoe UI"/>
              </a:rPr>
              <a:t>Identify shared variables, populations, or ideas</a:t>
            </a:r>
          </a:p>
          <a:p>
            <a:pPr algn="l" marL="274638" indent="-274638">
              <a:lnSpc>
                <a:spcPct val="105000"/>
              </a:lnSpc>
              <a:spcBef>
                <a:spcPts val="0"/>
              </a:spcBef>
              <a:spcAft>
                <a:spcPts val="1800"/>
              </a:spcAft>
              <a:buClr>
                <a:srgbClr val="1D7A8C"/>
              </a:buClr>
              <a:buSzPct val="80000"/>
              <a:buFont typeface="Arial"/>
              <a:buChar char="▪"/>
            </a:pPr>
            <a:r>
              <a:rPr sz="2100" b="1" i="0">
                <a:solidFill>
                  <a:srgbClr val="1D7A8C"/>
                </a:solidFill>
                <a:latin typeface="Segoe UI"/>
              </a:rPr>
              <a:t>Step 3  </a:t>
            </a:r>
            <a:r>
              <a:rPr sz="2100" b="0" i="0">
                <a:solidFill>
                  <a:srgbClr val="14213D"/>
                </a:solidFill>
                <a:latin typeface="Segoe UI"/>
              </a:rPr>
              <a:t>Cluster sources under those shared themes (not by author or date)</a:t>
            </a:r>
          </a:p>
        </p:txBody>
      </p:sp>
      <p:sp>
        <p:nvSpPr>
          <p:cNvPr id="10" name="Rounded Rectangle 9"/>
          <p:cNvSpPr/>
          <p:nvPr/>
        </p:nvSpPr>
        <p:spPr>
          <a:xfrm>
            <a:off x="7772400" y="2697480"/>
            <a:ext cx="1554480" cy="914400"/>
          </a:xfrm>
          <a:prstGeom prst="roundRect">
            <a:avLst>
              <a:gd name="adj" fmla="val 2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Gathered
sources</a:t>
            </a:r>
          </a:p>
        </p:txBody>
      </p:sp>
      <p:cxnSp>
        <p:nvCxnSpPr>
          <p:cNvPr id="11" name="Connector 10"/>
          <p:cNvCxnSpPr/>
          <p:nvPr/>
        </p:nvCxnSpPr>
        <p:spPr>
          <a:xfrm flipH="1" flipV="1">
            <a:off x="7772400" y="1389888"/>
            <a:ext cx="777240" cy="1764792"/>
          </a:xfrm>
          <a:prstGeom prst="line">
            <a:avLst/>
          </a:prstGeom>
          <a:ln w="25400">
            <a:solidFill>
              <a:srgbClr val="D8E1E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549640" y="2624328"/>
            <a:ext cx="1737360" cy="530352"/>
          </a:xfrm>
          <a:prstGeom prst="line">
            <a:avLst/>
          </a:prstGeom>
          <a:ln w="25400">
            <a:solidFill>
              <a:srgbClr val="D8E1E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7772400" y="3154680"/>
            <a:ext cx="777240" cy="1618488"/>
          </a:xfrm>
          <a:prstGeom prst="line">
            <a:avLst/>
          </a:prstGeom>
          <a:ln w="25400">
            <a:solidFill>
              <a:srgbClr val="D8E1E8"/>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995159" y="1005840"/>
            <a:ext cx="1737360" cy="777240"/>
          </a:xfrm>
          <a:prstGeom prst="roundRect">
            <a:avLst>
              <a:gd name="adj" fmla="val 20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50" b="1" i="0">
                <a:solidFill>
                  <a:srgbClr val="FFFFFF"/>
                </a:solidFill>
                <a:latin typeface="Segoe UI"/>
              </a:rPr>
              <a:t>Rainfall-based
models</a:t>
            </a:r>
          </a:p>
        </p:txBody>
      </p:sp>
      <p:sp>
        <p:nvSpPr>
          <p:cNvPr id="15" name="Rounded Rectangle 14"/>
          <p:cNvSpPr/>
          <p:nvPr/>
        </p:nvSpPr>
        <p:spPr>
          <a:xfrm>
            <a:off x="9509760" y="2240280"/>
            <a:ext cx="1737360" cy="777240"/>
          </a:xfrm>
          <a:prstGeom prst="roundRect">
            <a:avLst>
              <a:gd name="adj" fmla="val 20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50" b="1" i="0">
                <a:solidFill>
                  <a:srgbClr val="FFFFFF"/>
                </a:solidFill>
                <a:latin typeface="Segoe UI"/>
              </a:rPr>
              <a:t>Temperature-based
models</a:t>
            </a:r>
          </a:p>
        </p:txBody>
      </p:sp>
      <p:sp>
        <p:nvSpPr>
          <p:cNvPr id="16" name="Rounded Rectangle 15"/>
          <p:cNvSpPr/>
          <p:nvPr/>
        </p:nvSpPr>
        <p:spPr>
          <a:xfrm>
            <a:off x="6995159" y="4389120"/>
            <a:ext cx="1737360" cy="777240"/>
          </a:xfrm>
          <a:prstGeom prst="roundRect">
            <a:avLst>
              <a:gd name="adj" fmla="val 20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350" b="1" i="0">
                <a:solidFill>
                  <a:srgbClr val="FFFFFF"/>
                </a:solidFill>
                <a:latin typeface="Segoe UI"/>
              </a:rPr>
              <a:t>Combined climate
models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Spotting Gaps, Issues, and Needs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12</a:t>
            </a:r>
          </a:p>
        </p:txBody>
      </p:sp>
      <p:sp>
        <p:nvSpPr>
          <p:cNvPr id="9" name="Rounded Rectangle 8"/>
          <p:cNvSpPr/>
          <p:nvPr/>
        </p:nvSpPr>
        <p:spPr>
          <a:xfrm>
            <a:off x="777240" y="1965960"/>
            <a:ext cx="3271418" cy="31089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965960"/>
            <a:ext cx="3271418" cy="640080"/>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1965960"/>
            <a:ext cx="2832506" cy="64008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FFFFFF"/>
                </a:solidFill>
                <a:latin typeface="Segoe UI Semibold"/>
              </a:rPr>
              <a:t>GAP</a:t>
            </a:r>
          </a:p>
        </p:txBody>
      </p:sp>
      <p:sp>
        <p:nvSpPr>
          <p:cNvPr id="12" name="TextBox 11"/>
          <p:cNvSpPr txBox="1"/>
          <p:nvPr/>
        </p:nvSpPr>
        <p:spPr>
          <a:xfrm>
            <a:off x="1051560" y="2834639"/>
            <a:ext cx="2722778" cy="2011680"/>
          </a:xfrm>
          <a:prstGeom prst="rect">
            <a:avLst/>
          </a:prstGeom>
          <a:noFill/>
        </p:spPr>
        <p:txBody>
          <a:bodyPr wrap="square" anchor="t" lIns="0" rIns="0" tIns="0" bIns="0">
            <a:spAutoFit/>
          </a:bodyPr>
          <a:lstStyle/>
          <a:p>
            <a:pPr algn="l">
              <a:lnSpc>
                <a:spcPct val="115000"/>
              </a:lnSpc>
              <a:spcBef>
                <a:spcPts val="0"/>
              </a:spcBef>
              <a:spcAft>
                <a:spcPts val="0"/>
              </a:spcAft>
            </a:pPr>
            <a:r>
              <a:rPr sz="2200" b="0" i="0">
                <a:solidFill>
                  <a:srgbClr val="14213D"/>
                </a:solidFill>
                <a:latin typeface="Segoe UI"/>
              </a:rPr>
              <a:t>Something the literature has not studied yet</a:t>
            </a:r>
          </a:p>
        </p:txBody>
      </p:sp>
      <p:sp>
        <p:nvSpPr>
          <p:cNvPr id="13" name="Rounded Rectangle 12"/>
          <p:cNvSpPr/>
          <p:nvPr/>
        </p:nvSpPr>
        <p:spPr>
          <a:xfrm>
            <a:off x="4460138" y="1965960"/>
            <a:ext cx="3271418" cy="31089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4460138" y="1965960"/>
            <a:ext cx="3271418" cy="640080"/>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16170" y="1965960"/>
            <a:ext cx="2832506" cy="64008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FFFFFF"/>
                </a:solidFill>
                <a:latin typeface="Segoe UI Semibold"/>
              </a:rPr>
              <a:t>ISSUE</a:t>
            </a:r>
          </a:p>
        </p:txBody>
      </p:sp>
      <p:sp>
        <p:nvSpPr>
          <p:cNvPr id="16" name="TextBox 15"/>
          <p:cNvSpPr txBox="1"/>
          <p:nvPr/>
        </p:nvSpPr>
        <p:spPr>
          <a:xfrm>
            <a:off x="4734458" y="2834639"/>
            <a:ext cx="2722778" cy="2011680"/>
          </a:xfrm>
          <a:prstGeom prst="rect">
            <a:avLst/>
          </a:prstGeom>
          <a:noFill/>
        </p:spPr>
        <p:txBody>
          <a:bodyPr wrap="square" anchor="t" lIns="0" rIns="0" tIns="0" bIns="0">
            <a:spAutoFit/>
          </a:bodyPr>
          <a:lstStyle/>
          <a:p>
            <a:pPr algn="l">
              <a:lnSpc>
                <a:spcPct val="115000"/>
              </a:lnSpc>
              <a:spcBef>
                <a:spcPts val="0"/>
              </a:spcBef>
              <a:spcAft>
                <a:spcPts val="0"/>
              </a:spcAft>
            </a:pPr>
            <a:r>
              <a:rPr sz="2200" b="0" i="0">
                <a:solidFill>
                  <a:srgbClr val="14213D"/>
                </a:solidFill>
                <a:latin typeface="Segoe UI"/>
              </a:rPr>
              <a:t>Something the literature disagrees or is inconsistent about</a:t>
            </a:r>
          </a:p>
        </p:txBody>
      </p:sp>
      <p:sp>
        <p:nvSpPr>
          <p:cNvPr id="17" name="Rounded Rectangle 16"/>
          <p:cNvSpPr/>
          <p:nvPr/>
        </p:nvSpPr>
        <p:spPr>
          <a:xfrm>
            <a:off x="8143036" y="1965960"/>
            <a:ext cx="3271418" cy="31089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8143036" y="1965960"/>
            <a:ext cx="3271418" cy="640080"/>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99068" y="1965960"/>
            <a:ext cx="2832506" cy="640080"/>
          </a:xfrm>
          <a:prstGeom prst="rect">
            <a:avLst/>
          </a:prstGeom>
          <a:noFill/>
        </p:spPr>
        <p:txBody>
          <a:bodyPr wrap="square" anchor="ctr" lIns="0" rIns="0" tIns="0" bIns="0">
            <a:spAutoFit/>
          </a:bodyPr>
          <a:lstStyle/>
          <a:p>
            <a:pPr algn="l">
              <a:lnSpc>
                <a:spcPct val="105000"/>
              </a:lnSpc>
              <a:spcBef>
                <a:spcPts val="0"/>
              </a:spcBef>
              <a:spcAft>
                <a:spcPts val="0"/>
              </a:spcAft>
            </a:pPr>
            <a:r>
              <a:rPr sz="2000" b="1" i="0">
                <a:solidFill>
                  <a:srgbClr val="FFFFFF"/>
                </a:solidFill>
                <a:latin typeface="Segoe UI Semibold"/>
              </a:rPr>
              <a:t>NEED</a:t>
            </a:r>
          </a:p>
        </p:txBody>
      </p:sp>
      <p:sp>
        <p:nvSpPr>
          <p:cNvPr id="20" name="TextBox 19"/>
          <p:cNvSpPr txBox="1"/>
          <p:nvPr/>
        </p:nvSpPr>
        <p:spPr>
          <a:xfrm>
            <a:off x="8417356" y="2834639"/>
            <a:ext cx="2722778" cy="2011680"/>
          </a:xfrm>
          <a:prstGeom prst="rect">
            <a:avLst/>
          </a:prstGeom>
          <a:noFill/>
        </p:spPr>
        <p:txBody>
          <a:bodyPr wrap="square" anchor="t" lIns="0" rIns="0" tIns="0" bIns="0">
            <a:spAutoFit/>
          </a:bodyPr>
          <a:lstStyle/>
          <a:p>
            <a:pPr algn="l">
              <a:lnSpc>
                <a:spcPct val="115000"/>
              </a:lnSpc>
              <a:spcBef>
                <a:spcPts val="0"/>
              </a:spcBef>
              <a:spcAft>
                <a:spcPts val="0"/>
              </a:spcAft>
            </a:pPr>
            <a:r>
              <a:rPr sz="2200" b="0" i="0">
                <a:solidFill>
                  <a:srgbClr val="14213D"/>
                </a:solidFill>
                <a:latin typeface="Segoe UI"/>
              </a:rPr>
              <a:t>Something the literature explicitly calls for but has not yet addressed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Example — Finding the Real Gap</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13</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B topic</a:t>
            </a:r>
          </a:p>
        </p:txBody>
      </p:sp>
      <p:sp>
        <p:nvSpPr>
          <p:cNvPr id="11" name="TextBox 10"/>
          <p:cNvSpPr txBox="1"/>
          <p:nvPr/>
        </p:nvSpPr>
        <p:spPr>
          <a:xfrm>
            <a:off x="822960" y="224028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1D7A8C"/>
              </a:buClr>
              <a:buSzPct val="80000"/>
              <a:buFont typeface="Arial"/>
              <a:buChar char="▪"/>
            </a:pPr>
            <a:r>
              <a:rPr sz="2300" b="0" i="0">
                <a:solidFill>
                  <a:srgbClr val="14213D"/>
                </a:solidFill>
                <a:latin typeface="Segoe UI"/>
              </a:rPr>
              <a:t>Most Philippine dengue early-warning studies use rainfall and temperature data</a:t>
            </a:r>
          </a:p>
          <a:p>
            <a:pPr algn="l" marL="274638" indent="-274638">
              <a:lnSpc>
                <a:spcPct val="105000"/>
              </a:lnSpc>
              <a:spcBef>
                <a:spcPts val="0"/>
              </a:spcBef>
              <a:spcAft>
                <a:spcPts val="1200"/>
              </a:spcAft>
              <a:buClr>
                <a:srgbClr val="1D7A8C"/>
              </a:buClr>
              <a:buSzPct val="80000"/>
              <a:buFont typeface="Arial"/>
              <a:buChar char="▪"/>
            </a:pPr>
            <a:r>
              <a:rPr sz="2300" b="0" i="0">
                <a:solidFill>
                  <a:srgbClr val="14213D"/>
                </a:solidFill>
                <a:latin typeface="Segoe UI"/>
              </a:rPr>
              <a:t>Few studies incorporate community-level human mobility patterns, even though outbreaks often follow people's movement, not just weather</a:t>
            </a:r>
          </a:p>
        </p:txBody>
      </p:sp>
      <p:sp>
        <p:nvSpPr>
          <p:cNvPr id="12" name="Rounded Rectangle 11"/>
          <p:cNvSpPr/>
          <p:nvPr/>
        </p:nvSpPr>
        <p:spPr>
          <a:xfrm>
            <a:off x="777240" y="3886200"/>
            <a:ext cx="10637215" cy="1051560"/>
          </a:xfrm>
          <a:prstGeom prst="roundRect">
            <a:avLst>
              <a:gd name="adj" fmla="val 8000"/>
            </a:avLst>
          </a:prstGeom>
          <a:solidFill>
            <a:srgbClr val="FCE4DD"/>
          </a:solidFill>
          <a:ln w="12700">
            <a:solidFill>
              <a:srgbClr val="F479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886200"/>
            <a:ext cx="9997135" cy="1051560"/>
          </a:xfrm>
          <a:prstGeom prst="rect">
            <a:avLst/>
          </a:prstGeom>
          <a:noFill/>
        </p:spPr>
        <p:txBody>
          <a:bodyPr wrap="square" anchor="ctr" lIns="0" rIns="0" tIns="0" bIns="0">
            <a:spAutoFit/>
          </a:bodyPr>
          <a:lstStyle/>
          <a:p>
            <a:pPr algn="l">
              <a:lnSpc>
                <a:spcPct val="110000"/>
              </a:lnSpc>
              <a:spcBef>
                <a:spcPts val="0"/>
              </a:spcBef>
              <a:spcAft>
                <a:spcPts val="0"/>
              </a:spcAft>
            </a:pPr>
            <a:r>
              <a:rPr sz="1500" b="1" i="0">
                <a:solidFill>
                  <a:srgbClr val="F4795B"/>
                </a:solidFill>
                <a:latin typeface="Segoe UI Semibold"/>
              </a:rPr>
              <a:t>IDENTIFIED GAP   </a:t>
            </a:r>
            <a:r>
              <a:rPr sz="2300" b="0" i="0">
                <a:solidFill>
                  <a:srgbClr val="14213D"/>
                </a:solidFill>
                <a:latin typeface="Segoe UI"/>
              </a:rPr>
              <a:t>The role of </a:t>
            </a:r>
            <a:r>
              <a:rPr sz="2300" b="1" i="0">
                <a:solidFill>
                  <a:srgbClr val="F4795B"/>
                </a:solidFill>
                <a:latin typeface="Segoe UI"/>
              </a:rPr>
              <a:t>human mobility</a:t>
            </a:r>
            <a:r>
              <a:rPr sz="2300" b="0" i="0">
                <a:solidFill>
                  <a:srgbClr val="14213D"/>
                </a:solidFill>
                <a:latin typeface="Segoe UI"/>
              </a:rPr>
              <a:t> in dengue prediction models remains underexplored.</a:t>
            </a:r>
          </a:p>
        </p:txBody>
      </p:sp>
      <p:sp>
        <p:nvSpPr>
          <p:cNvPr id="14" name="Rounded Rectangle 13"/>
          <p:cNvSpPr/>
          <p:nvPr/>
        </p:nvSpPr>
        <p:spPr>
          <a:xfrm>
            <a:off x="2926080" y="5166360"/>
            <a:ext cx="2743200" cy="502920"/>
          </a:xfrm>
          <a:prstGeom prst="roundRect">
            <a:avLst>
              <a:gd name="adj" fmla="val 2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Synthesis finding</a:t>
            </a:r>
          </a:p>
        </p:txBody>
      </p:sp>
      <p:sp>
        <p:nvSpPr>
          <p:cNvPr id="15" name="Right Arrow 14"/>
          <p:cNvSpPr/>
          <p:nvPr/>
        </p:nvSpPr>
        <p:spPr>
          <a:xfrm>
            <a:off x="5760720" y="5266944"/>
            <a:ext cx="502920" cy="292608"/>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263640" y="5166360"/>
            <a:ext cx="2743200" cy="502920"/>
          </a:xfrm>
          <a:prstGeom prst="roundRect">
            <a:avLst>
              <a:gd name="adj" fmla="val 2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Identified gap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The Synthesis Matrix Tool</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14</a:t>
            </a:r>
          </a:p>
        </p:txBody>
      </p:sp>
      <p:sp>
        <p:nvSpPr>
          <p:cNvPr id="9" name="TextBox 8"/>
          <p:cNvSpPr txBox="1"/>
          <p:nvPr/>
        </p:nvSpPr>
        <p:spPr>
          <a:xfrm>
            <a:off x="822960" y="178308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1D7A8C"/>
              </a:buClr>
              <a:buSzPct val="80000"/>
              <a:buFont typeface="Arial"/>
              <a:buChar char="▪"/>
            </a:pPr>
            <a:r>
              <a:rPr sz="2000" b="0" i="0">
                <a:solidFill>
                  <a:srgbClr val="14213D"/>
                </a:solidFill>
                <a:latin typeface="Segoe UI"/>
              </a:rPr>
              <a:t>A </a:t>
            </a:r>
            <a:r>
              <a:rPr sz="2000" b="1" i="0">
                <a:solidFill>
                  <a:srgbClr val="1D7A8C"/>
                </a:solidFill>
                <a:latin typeface="Segoe UI"/>
              </a:rPr>
              <a:t>synthesis matrix</a:t>
            </a:r>
            <a:r>
              <a:rPr sz="2000" b="0" i="0">
                <a:solidFill>
                  <a:srgbClr val="14213D"/>
                </a:solidFill>
                <a:latin typeface="Segoe UI"/>
              </a:rPr>
              <a:t> is a table where each row is a source and each column is a theme</a:t>
            </a:r>
          </a:p>
          <a:p>
            <a:pPr algn="l" marL="274638" indent="-274638">
              <a:lnSpc>
                <a:spcPct val="105000"/>
              </a:lnSpc>
              <a:spcBef>
                <a:spcPts val="0"/>
              </a:spcBef>
              <a:spcAft>
                <a:spcPts val="800"/>
              </a:spcAft>
              <a:buClr>
                <a:srgbClr val="1D7A8C"/>
              </a:buClr>
              <a:buSzPct val="80000"/>
              <a:buFont typeface="Arial"/>
              <a:buChar char="▪"/>
            </a:pPr>
            <a:r>
              <a:rPr sz="2000" b="0" i="0">
                <a:solidFill>
                  <a:srgbClr val="14213D"/>
                </a:solidFill>
                <a:latin typeface="Segoe UI"/>
              </a:rPr>
              <a:t>Filling in the cells shows which sources cover which themes — and which themes are thin or missing</a:t>
            </a:r>
          </a:p>
        </p:txBody>
      </p:sp>
      <p:graphicFrame>
        <p:nvGraphicFramePr>
          <p:cNvPr id="10" name="Table 9"/>
          <p:cNvGraphicFramePr>
            <a:graphicFrameLocks noGrp="1"/>
          </p:cNvGraphicFramePr>
          <p:nvPr/>
        </p:nvGraphicFramePr>
        <p:xfrm>
          <a:off x="777240" y="3200400"/>
          <a:ext cx="10637213" cy="2249424"/>
        </p:xfrm>
        <a:graphic>
          <a:graphicData uri="http://schemas.openxmlformats.org/drawingml/2006/table">
            <a:tbl>
              <a:tblPr>
                <a:tableStyleId>{5C22544A-7EE6-4342-B048-85BDC9FD1C3A}</a:tableStyleId>
              </a:tblPr>
              <a:tblGrid>
                <a:gridCol w="2263237"/>
                <a:gridCol w="2715884"/>
                <a:gridCol w="2942208"/>
                <a:gridCol w="2715884"/>
              </a:tblGrid>
              <a:tr h="548640">
                <a:tc>
                  <a:txBody>
                    <a:bodyPr wrap="square"/>
                    <a:lstStyle/>
                    <a:p>
                      <a:pPr algn="l">
                        <a:lnSpc>
                          <a:spcPct val="100000"/>
                        </a:lnSpc>
                      </a:pPr>
                      <a:r>
                        <a:rPr sz="1700" b="1">
                          <a:solidFill>
                            <a:srgbClr val="FFFFFF"/>
                          </a:solidFill>
                          <a:latin typeface="Segoe UI Semibold"/>
                        </a:rPr>
                        <a:t>Source</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Rainfall factor</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Temperature factor</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Mobility factor</a:t>
                      </a:r>
                    </a:p>
                  </a:txBody>
                  <a:tcPr marL="101600" marR="101600" marT="50800" marB="50800" anchor="ctr">
                    <a:solidFill>
                      <a:srgbClr val="1D7A8C"/>
                    </a:solidFill>
                  </a:tcPr>
                </a:tc>
              </a:tr>
              <a:tr h="566928">
                <a:tc>
                  <a:txBody>
                    <a:bodyPr wrap="square"/>
                    <a:lstStyle/>
                    <a:p>
                      <a:pPr algn="l">
                        <a:lnSpc>
                          <a:spcPct val="100000"/>
                        </a:lnSpc>
                      </a:pPr>
                      <a:r>
                        <a:rPr sz="2000" b="0">
                          <a:solidFill>
                            <a:srgbClr val="14213D"/>
                          </a:solidFill>
                          <a:latin typeface="Segoe UI"/>
                        </a:rPr>
                        <a:t>Study 1</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FCF0CC"/>
                    </a:solidFill>
                  </a:tcPr>
                </a:tc>
              </a:tr>
              <a:tr h="566928">
                <a:tc>
                  <a:txBody>
                    <a:bodyPr wrap="square"/>
                    <a:lstStyle/>
                    <a:p>
                      <a:pPr algn="l">
                        <a:lnSpc>
                          <a:spcPct val="100000"/>
                        </a:lnSpc>
                      </a:pPr>
                      <a:r>
                        <a:rPr sz="2000" b="0">
                          <a:solidFill>
                            <a:srgbClr val="14213D"/>
                          </a:solidFill>
                          <a:latin typeface="Segoe UI"/>
                        </a:rPr>
                        <a:t>Study 2</a:t>
                      </a:r>
                    </a:p>
                  </a:txBody>
                  <a:tcPr marL="101600" marR="101600" marT="50800" marB="50800" anchor="ctr">
                    <a:solidFill>
                      <a:srgbClr val="EEF4F7"/>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EEF4F7"/>
                    </a:solidFill>
                  </a:tcPr>
                </a:tc>
                <a:tc>
                  <a:txBody>
                    <a:bodyPr wrap="square"/>
                    <a:lstStyle/>
                    <a:p>
                      <a:pPr algn="l">
                        <a:lnSpc>
                          <a:spcPct val="100000"/>
                        </a:lnSpc>
                      </a:pPr>
                      <a:r>
                        <a:rPr sz="2000" b="0">
                          <a:solidFill>
                            <a:srgbClr val="14213D"/>
                          </a:solidFill>
                          <a:latin typeface="Segoe UI"/>
                        </a:rPr>
                        <a:t>✓</a:t>
                      </a:r>
                    </a:p>
                  </a:txBody>
                  <a:tcPr marL="101600" marR="101600" marT="50800" marB="50800" anchor="ctr">
                    <a:solidFill>
                      <a:srgbClr val="EEF4F7"/>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FCF0CC"/>
                    </a:solidFill>
                  </a:tcPr>
                </a:tc>
              </a:tr>
              <a:tr h="566928">
                <a:tc>
                  <a:txBody>
                    <a:bodyPr wrap="square"/>
                    <a:lstStyle/>
                    <a:p>
                      <a:pPr algn="l">
                        <a:lnSpc>
                          <a:spcPct val="100000"/>
                        </a:lnSpc>
                      </a:pPr>
                      <a:r>
                        <a:rPr sz="2000" b="0">
                          <a:solidFill>
                            <a:srgbClr val="14213D"/>
                          </a:solidFill>
                          <a:latin typeface="Segoe UI"/>
                        </a:rPr>
                        <a:t>Study 3</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a:t>
                      </a:r>
                    </a:p>
                  </a:txBody>
                  <a:tcPr marL="101600" marR="101600" marT="50800" marB="50800" anchor="ctr">
                    <a:solidFill>
                      <a:srgbClr val="FFFFFF"/>
                    </a:solidFill>
                  </a:tcPr>
                </a:tc>
                <a:tc>
                  <a:txBody>
                    <a:bodyPr wrap="square"/>
                    <a:lstStyle/>
                    <a:p>
                      <a:pPr algn="l">
                        <a:lnSpc>
                          <a:spcPct val="100000"/>
                        </a:lnSpc>
                      </a:pPr>
                      <a:r>
                        <a:rPr sz="2000" b="0">
                          <a:solidFill>
                            <a:srgbClr val="14213D"/>
                          </a:solidFill>
                          <a:latin typeface="Segoe UI"/>
                        </a:rPr>
                        <a:t/>
                      </a:r>
                    </a:p>
                  </a:txBody>
                  <a:tcPr marL="101600" marR="101600" marT="50800" marB="50800" anchor="ctr">
                    <a:solidFill>
                      <a:srgbClr val="FCF0CC"/>
                    </a:solidFill>
                  </a:tcPr>
                </a:tc>
              </a:tr>
            </a:tbl>
          </a:graphicData>
        </a:graphic>
      </p:graphicFrame>
      <p:sp>
        <p:nvSpPr>
          <p:cNvPr id="11" name="TextBox 10"/>
          <p:cNvSpPr txBox="1"/>
          <p:nvPr/>
        </p:nvSpPr>
        <p:spPr>
          <a:xfrm>
            <a:off x="777240" y="5440679"/>
            <a:ext cx="10637215" cy="365760"/>
          </a:xfrm>
          <a:prstGeom prst="rect">
            <a:avLst/>
          </a:prstGeom>
          <a:noFill/>
        </p:spPr>
        <p:txBody>
          <a:bodyPr wrap="square" anchor="t" lIns="0" rIns="0" tIns="0" bIns="0">
            <a:spAutoFit/>
          </a:bodyPr>
          <a:lstStyle/>
          <a:p>
            <a:pPr algn="l">
              <a:lnSpc>
                <a:spcPct val="105000"/>
              </a:lnSpc>
              <a:spcBef>
                <a:spcPts val="0"/>
              </a:spcBef>
              <a:spcAft>
                <a:spcPts val="0"/>
              </a:spcAft>
            </a:pPr>
            <a:r>
              <a:rPr sz="1500" b="0" i="0">
                <a:solidFill>
                  <a:srgbClr val="5B6B7B"/>
                </a:solidFill>
                <a:latin typeface="Segoe UI"/>
              </a:rPr>
              <a:t>The empty </a:t>
            </a:r>
            <a:r>
              <a:rPr sz="1500" b="1" i="0">
                <a:solidFill>
                  <a:srgbClr val="F2B705"/>
                </a:solidFill>
                <a:latin typeface="Segoe UI"/>
              </a:rPr>
              <a:t>Mobility factor</a:t>
            </a:r>
            <a:r>
              <a:rPr sz="1500" b="0" i="0">
                <a:solidFill>
                  <a:srgbClr val="5B6B7B"/>
                </a:solidFill>
                <a:latin typeface="Segoe UI"/>
              </a:rPr>
              <a:t> column is exactly the gap — the matrix makes gaps visible almost automatically.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3 · SYNTHESIZING THE LITERATURE (COMPETENCY 12)</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Application — Build a Mini Synthesis Matrix</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15</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graphicFrame>
        <p:nvGraphicFramePr>
          <p:cNvPr id="11" name="Table 10"/>
          <p:cNvGraphicFramePr>
            <a:graphicFrameLocks noGrp="1"/>
          </p:cNvGraphicFramePr>
          <p:nvPr/>
        </p:nvGraphicFramePr>
        <p:xfrm>
          <a:off x="777240" y="2194560"/>
          <a:ext cx="10637212" cy="2468880"/>
        </p:xfrm>
        <a:graphic>
          <a:graphicData uri="http://schemas.openxmlformats.org/drawingml/2006/table">
            <a:tbl>
              <a:tblPr>
                <a:tableStyleId>{5C22544A-7EE6-4342-B048-85BDC9FD1C3A}</a:tableStyleId>
              </a:tblPr>
              <a:tblGrid>
                <a:gridCol w="3425543"/>
                <a:gridCol w="2163501"/>
                <a:gridCol w="2524084"/>
                <a:gridCol w="2524084"/>
              </a:tblGrid>
              <a:tr h="548640">
                <a:tc>
                  <a:txBody>
                    <a:bodyPr wrap="square"/>
                    <a:lstStyle/>
                    <a:p>
                      <a:pPr algn="l">
                        <a:lnSpc>
                          <a:spcPct val="100000"/>
                        </a:lnSpc>
                      </a:pPr>
                      <a:r>
                        <a:rPr sz="1600" b="1">
                          <a:solidFill>
                            <a:srgbClr val="FFFFFF"/>
                          </a:solidFill>
                          <a:latin typeface="Segoe UI Semibold"/>
                        </a:rPr>
                        <a:t>Source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Distiller design</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Water safety testing</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Community adoption</a:t>
                      </a:r>
                    </a:p>
                  </a:txBody>
                  <a:tcPr marL="101600" marR="101600" marT="50800" marB="50800" anchor="ctr">
                    <a:solidFill>
                      <a:srgbClr val="1D7A8C"/>
                    </a:solidFill>
                  </a:tcPr>
                </a:tc>
              </a:tr>
              <a:tr h="640080">
                <a:tc>
                  <a:txBody>
                    <a:bodyPr wrap="square"/>
                    <a:lstStyle/>
                    <a:p>
                      <a:pPr algn="l">
                        <a:lnSpc>
                          <a:spcPct val="100000"/>
                        </a:lnSpc>
                      </a:pPr>
                      <a:r>
                        <a:rPr sz="1800" b="0">
                          <a:solidFill>
                            <a:srgbClr val="14213D"/>
                          </a:solidFill>
                          <a:latin typeface="Segoe UI"/>
                        </a:rPr>
                        <a:t>Source 1: engineering report</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FFFFFF"/>
                    </a:solidFill>
                  </a:tcPr>
                </a:tc>
              </a:tr>
              <a:tr h="640080">
                <a:tc>
                  <a:txBody>
                    <a:bodyPr wrap="square"/>
                    <a:lstStyle/>
                    <a:p>
                      <a:pPr algn="l">
                        <a:lnSpc>
                          <a:spcPct val="100000"/>
                        </a:lnSpc>
                      </a:pPr>
                      <a:r>
                        <a:rPr sz="1800" b="0">
                          <a:solidFill>
                            <a:srgbClr val="14213D"/>
                          </a:solidFill>
                          <a:latin typeface="Segoe UI"/>
                        </a:rPr>
                        <a:t>Source 2: WHO water safety guideline</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a:t>
                      </a:r>
                    </a:p>
                  </a:txBody>
                  <a:tcPr marL="101600" marR="101600" marT="50800" marB="50800" anchor="ctr">
                    <a:solidFill>
                      <a:srgbClr val="EEF4F7"/>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EEF4F7"/>
                    </a:solidFill>
                  </a:tcPr>
                </a:tc>
              </a:tr>
              <a:tr h="640080">
                <a:tc>
                  <a:txBody>
                    <a:bodyPr wrap="square"/>
                    <a:lstStyle/>
                    <a:p>
                      <a:pPr algn="l">
                        <a:lnSpc>
                          <a:spcPct val="100000"/>
                        </a:lnSpc>
                      </a:pPr>
                      <a:r>
                        <a:rPr sz="1800" b="0">
                          <a:solidFill>
                            <a:srgbClr val="14213D"/>
                          </a:solidFill>
                          <a:latin typeface="Segoe UI"/>
                        </a:rPr>
                        <a:t>Source 3: rural adoption case study</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
                      </a:r>
                    </a:p>
                  </a:txBody>
                  <a:tcPr marL="101600" marR="101600" marT="50800" marB="50800" anchor="ctr">
                    <a:solidFill>
                      <a:srgbClr val="FFFFFF"/>
                    </a:solidFill>
                  </a:tcPr>
                </a:tc>
                <a:tc>
                  <a:txBody>
                    <a:bodyPr wrap="square"/>
                    <a:lstStyle/>
                    <a:p>
                      <a:pPr algn="l">
                        <a:lnSpc>
                          <a:spcPct val="100000"/>
                        </a:lnSpc>
                      </a:pPr>
                      <a:r>
                        <a:rPr sz="1800" b="0">
                          <a:solidFill>
                            <a:srgbClr val="14213D"/>
                          </a:solidFill>
                          <a:latin typeface="Segoe UI"/>
                        </a:rPr>
                        <a:t>✓</a:t>
                      </a:r>
                    </a:p>
                  </a:txBody>
                  <a:tcPr marL="101600" marR="101600" marT="50800" marB="50800" anchor="ctr">
                    <a:solidFill>
                      <a:srgbClr val="FFFFFF"/>
                    </a:solidFill>
                  </a:tcPr>
                </a:tc>
              </a:tr>
            </a:tbl>
          </a:graphicData>
        </a:graphic>
      </p:graphicFrame>
      <p:sp>
        <p:nvSpPr>
          <p:cNvPr id="12" name="Rounded Rectangle 11"/>
          <p:cNvSpPr/>
          <p:nvPr/>
        </p:nvSpPr>
        <p:spPr>
          <a:xfrm>
            <a:off x="777240" y="4983479"/>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60120" y="508406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4" name="TextBox 13"/>
          <p:cNvSpPr txBox="1"/>
          <p:nvPr/>
        </p:nvSpPr>
        <p:spPr>
          <a:xfrm>
            <a:off x="1490472" y="4983479"/>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In pairs: which theme has the weakest coverage? Phrase a one-sentence gap statement from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What a Literature Review Actually Does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16</a:t>
            </a:r>
          </a:p>
        </p:txBody>
      </p:sp>
      <p:sp>
        <p:nvSpPr>
          <p:cNvPr id="9" name="Rounded Rectangle 8"/>
          <p:cNvSpPr/>
          <p:nvPr/>
        </p:nvSpPr>
        <p:spPr>
          <a:xfrm>
            <a:off x="1463040" y="2194560"/>
            <a:ext cx="9265615" cy="749808"/>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691640" y="2368296"/>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1</a:t>
            </a:r>
          </a:p>
        </p:txBody>
      </p:sp>
      <p:sp>
        <p:nvSpPr>
          <p:cNvPr id="11" name="TextBox 10"/>
          <p:cNvSpPr txBox="1"/>
          <p:nvPr/>
        </p:nvSpPr>
        <p:spPr>
          <a:xfrm>
            <a:off x="2331720" y="2194560"/>
            <a:ext cx="8259775" cy="749808"/>
          </a:xfrm>
          <a:prstGeom prst="rect">
            <a:avLst/>
          </a:prstGeom>
          <a:noFill/>
        </p:spPr>
        <p:txBody>
          <a:bodyPr wrap="square" anchor="ctr" lIns="0" rIns="0" tIns="0" bIns="0">
            <a:spAutoFit/>
          </a:bodyPr>
          <a:lstStyle/>
          <a:p>
            <a:pPr algn="l">
              <a:lnSpc>
                <a:spcPct val="100000"/>
              </a:lnSpc>
              <a:spcBef>
                <a:spcPts val="0"/>
              </a:spcBef>
              <a:spcAft>
                <a:spcPts val="0"/>
              </a:spcAft>
            </a:pPr>
            <a:r>
              <a:rPr sz="2200" b="0" i="0">
                <a:solidFill>
                  <a:srgbClr val="14213D"/>
                </a:solidFill>
                <a:latin typeface="Segoe UI"/>
              </a:rPr>
              <a:t>Shares what related studies have already found</a:t>
            </a:r>
          </a:p>
        </p:txBody>
      </p:sp>
      <p:sp>
        <p:nvSpPr>
          <p:cNvPr id="12" name="Rounded Rectangle 11"/>
          <p:cNvSpPr/>
          <p:nvPr/>
        </p:nvSpPr>
        <p:spPr>
          <a:xfrm>
            <a:off x="1463040" y="3127248"/>
            <a:ext cx="9265615" cy="749808"/>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691640" y="3300984"/>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2</a:t>
            </a:r>
          </a:p>
        </p:txBody>
      </p:sp>
      <p:sp>
        <p:nvSpPr>
          <p:cNvPr id="14" name="TextBox 13"/>
          <p:cNvSpPr txBox="1"/>
          <p:nvPr/>
        </p:nvSpPr>
        <p:spPr>
          <a:xfrm>
            <a:off x="2331720" y="3127248"/>
            <a:ext cx="8259775" cy="749808"/>
          </a:xfrm>
          <a:prstGeom prst="rect">
            <a:avLst/>
          </a:prstGeom>
          <a:noFill/>
        </p:spPr>
        <p:txBody>
          <a:bodyPr wrap="square" anchor="ctr" lIns="0" rIns="0" tIns="0" bIns="0">
            <a:spAutoFit/>
          </a:bodyPr>
          <a:lstStyle/>
          <a:p>
            <a:pPr algn="l">
              <a:lnSpc>
                <a:spcPct val="100000"/>
              </a:lnSpc>
              <a:spcBef>
                <a:spcPts val="0"/>
              </a:spcBef>
              <a:spcAft>
                <a:spcPts val="0"/>
              </a:spcAft>
            </a:pPr>
            <a:r>
              <a:rPr sz="2200" b="0" i="0">
                <a:solidFill>
                  <a:srgbClr val="14213D"/>
                </a:solidFill>
                <a:latin typeface="Segoe UI"/>
              </a:rPr>
              <a:t>Connects your study to the larger, ongoing conversation in the field</a:t>
            </a:r>
          </a:p>
        </p:txBody>
      </p:sp>
      <p:sp>
        <p:nvSpPr>
          <p:cNvPr id="15" name="Rounded Rectangle 14"/>
          <p:cNvSpPr/>
          <p:nvPr/>
        </p:nvSpPr>
        <p:spPr>
          <a:xfrm>
            <a:off x="1463040" y="4059935"/>
            <a:ext cx="9265615" cy="749808"/>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1691640" y="4233672"/>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3</a:t>
            </a:r>
          </a:p>
        </p:txBody>
      </p:sp>
      <p:sp>
        <p:nvSpPr>
          <p:cNvPr id="17" name="TextBox 16"/>
          <p:cNvSpPr txBox="1"/>
          <p:nvPr/>
        </p:nvSpPr>
        <p:spPr>
          <a:xfrm>
            <a:off x="2331720" y="4059935"/>
            <a:ext cx="8259775" cy="749808"/>
          </a:xfrm>
          <a:prstGeom prst="rect">
            <a:avLst/>
          </a:prstGeom>
          <a:noFill/>
        </p:spPr>
        <p:txBody>
          <a:bodyPr wrap="square" anchor="ctr" lIns="0" rIns="0" tIns="0" bIns="0">
            <a:spAutoFit/>
          </a:bodyPr>
          <a:lstStyle/>
          <a:p>
            <a:pPr algn="l">
              <a:lnSpc>
                <a:spcPct val="100000"/>
              </a:lnSpc>
              <a:spcBef>
                <a:spcPts val="0"/>
              </a:spcBef>
              <a:spcAft>
                <a:spcPts val="0"/>
              </a:spcAft>
            </a:pPr>
            <a:r>
              <a:rPr sz="2200" b="0" i="0">
                <a:solidFill>
                  <a:srgbClr val="14213D"/>
                </a:solidFill>
                <a:latin typeface="Segoe UI"/>
              </a:rPr>
              <a:t>Provides a framework for judging the importance of your study</a:t>
            </a:r>
          </a:p>
        </p:txBody>
      </p:sp>
      <p:sp>
        <p:nvSpPr>
          <p:cNvPr id="18" name="Rounded Rectangle 17"/>
          <p:cNvSpPr/>
          <p:nvPr/>
        </p:nvSpPr>
        <p:spPr>
          <a:xfrm>
            <a:off x="1463040" y="4992623"/>
            <a:ext cx="9265615" cy="749808"/>
          </a:xfrm>
          <a:prstGeom prst="roundRect">
            <a:avLst>
              <a:gd name="adj" fmla="val 12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1691640" y="5166359"/>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4</a:t>
            </a:r>
          </a:p>
        </p:txBody>
      </p:sp>
      <p:sp>
        <p:nvSpPr>
          <p:cNvPr id="20" name="TextBox 19"/>
          <p:cNvSpPr txBox="1"/>
          <p:nvPr/>
        </p:nvSpPr>
        <p:spPr>
          <a:xfrm>
            <a:off x="2331720" y="4992623"/>
            <a:ext cx="8259775" cy="749808"/>
          </a:xfrm>
          <a:prstGeom prst="rect">
            <a:avLst/>
          </a:prstGeom>
          <a:noFill/>
        </p:spPr>
        <p:txBody>
          <a:bodyPr wrap="square" anchor="ctr" lIns="0" rIns="0" tIns="0" bIns="0">
            <a:spAutoFit/>
          </a:bodyPr>
          <a:lstStyle/>
          <a:p>
            <a:pPr algn="l">
              <a:lnSpc>
                <a:spcPct val="100000"/>
              </a:lnSpc>
              <a:spcBef>
                <a:spcPts val="0"/>
              </a:spcBef>
              <a:spcAft>
                <a:spcPts val="0"/>
              </a:spcAft>
            </a:pPr>
            <a:r>
              <a:rPr sz="2200" b="0" i="0">
                <a:solidFill>
                  <a:srgbClr val="14213D"/>
                </a:solidFill>
                <a:latin typeface="Segoe UI"/>
              </a:rPr>
              <a:t>Gives a benchmark for later comparing your own results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The Quantitative Literature Review Structure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17</a:t>
            </a:r>
          </a:p>
        </p:txBody>
      </p:sp>
      <p:sp>
        <p:nvSpPr>
          <p:cNvPr id="9" name="Rounded Rectangle 8"/>
          <p:cNvSpPr/>
          <p:nvPr/>
        </p:nvSpPr>
        <p:spPr>
          <a:xfrm>
            <a:off x="1706727" y="1847088"/>
            <a:ext cx="8778240" cy="713232"/>
          </a:xfrm>
          <a:prstGeom prst="roundRect">
            <a:avLst>
              <a:gd name="adj" fmla="val 14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1  Introduction  </a:t>
            </a:r>
            <a:r>
              <a:rPr sz="1500" b="0" i="0">
                <a:solidFill>
                  <a:srgbClr val="EAF6F8"/>
                </a:solidFill>
                <a:latin typeface="Segoe UI"/>
              </a:rPr>
              <a:t>previews the sections to come</a:t>
            </a:r>
          </a:p>
        </p:txBody>
      </p:sp>
      <p:sp>
        <p:nvSpPr>
          <p:cNvPr id="10" name="Rounded Rectangle 9"/>
          <p:cNvSpPr/>
          <p:nvPr/>
        </p:nvSpPr>
        <p:spPr>
          <a:xfrm>
            <a:off x="2255367" y="2688336"/>
            <a:ext cx="7680960" cy="713232"/>
          </a:xfrm>
          <a:prstGeom prst="roundRect">
            <a:avLst>
              <a:gd name="adj" fmla="val 14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2  Topic 1  </a:t>
            </a:r>
            <a:r>
              <a:rPr sz="1500" b="0" i="0">
                <a:solidFill>
                  <a:srgbClr val="EAF6F8"/>
                </a:solidFill>
                <a:latin typeface="Segoe UI"/>
              </a:rPr>
              <a:t>literature on the independent variable</a:t>
            </a:r>
          </a:p>
        </p:txBody>
      </p:sp>
      <p:sp>
        <p:nvSpPr>
          <p:cNvPr id="11" name="Rounded Rectangle 10"/>
          <p:cNvSpPr/>
          <p:nvPr/>
        </p:nvSpPr>
        <p:spPr>
          <a:xfrm>
            <a:off x="2804007" y="3529584"/>
            <a:ext cx="6583680" cy="713232"/>
          </a:xfrm>
          <a:prstGeom prst="roundRect">
            <a:avLst>
              <a:gd name="adj" fmla="val 14000"/>
            </a:avLst>
          </a:prstGeom>
          <a:solidFill>
            <a:srgbClr val="115968"/>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3  Topic 2  </a:t>
            </a:r>
            <a:r>
              <a:rPr sz="1500" b="0" i="0">
                <a:solidFill>
                  <a:srgbClr val="EAF6F8"/>
                </a:solidFill>
                <a:latin typeface="Segoe UI"/>
              </a:rPr>
              <a:t>literature on the dependent variable</a:t>
            </a:r>
          </a:p>
        </p:txBody>
      </p:sp>
      <p:sp>
        <p:nvSpPr>
          <p:cNvPr id="12" name="Rounded Rectangle 11"/>
          <p:cNvSpPr/>
          <p:nvPr/>
        </p:nvSpPr>
        <p:spPr>
          <a:xfrm>
            <a:off x="3352647" y="4370832"/>
            <a:ext cx="5486400" cy="713232"/>
          </a:xfrm>
          <a:prstGeom prst="roundRect">
            <a:avLst>
              <a:gd name="adj" fmla="val 14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4  Topic 3  </a:t>
            </a:r>
            <a:r>
              <a:rPr sz="1500" b="0" i="0">
                <a:solidFill>
                  <a:srgbClr val="EAF6F8"/>
                </a:solidFill>
                <a:latin typeface="Segoe UI"/>
              </a:rPr>
              <a:t>studies that connect both variables together</a:t>
            </a:r>
          </a:p>
        </p:txBody>
      </p:sp>
      <p:sp>
        <p:nvSpPr>
          <p:cNvPr id="13" name="Rounded Rectangle 12"/>
          <p:cNvSpPr/>
          <p:nvPr/>
        </p:nvSpPr>
        <p:spPr>
          <a:xfrm>
            <a:off x="2072487" y="5212080"/>
            <a:ext cx="8046720" cy="713232"/>
          </a:xfrm>
          <a:prstGeom prst="roundRect">
            <a:avLst>
              <a:gd name="adj" fmla="val 14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800" b="1" i="0">
                <a:solidFill>
                  <a:srgbClr val="FFFFFF"/>
                </a:solidFill>
                <a:latin typeface="Segoe UI Semibold"/>
              </a:rPr>
              <a:t>5  Summary  </a:t>
            </a:r>
            <a:r>
              <a:rPr sz="1500" b="0" i="0">
                <a:solidFill>
                  <a:srgbClr val="EAF6F8"/>
                </a:solidFill>
                <a:latin typeface="Segoe UI"/>
              </a:rPr>
              <a:t>key themes · why more research is needed · how the study fills the need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Example — Applying the Five-Part Structure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18</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sp>
        <p:nvSpPr>
          <p:cNvPr id="11" name="Rounded Rectangle 10"/>
          <p:cNvSpPr/>
          <p:nvPr/>
        </p:nvSpPr>
        <p:spPr>
          <a:xfrm>
            <a:off x="777240" y="2194560"/>
            <a:ext cx="109728" cy="566928"/>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560" y="2194560"/>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1D7A8C"/>
                </a:solidFill>
                <a:latin typeface="Segoe UI Semibold"/>
              </a:rPr>
              <a:t>Introduction:  </a:t>
            </a:r>
            <a:r>
              <a:rPr sz="1850" b="0" i="0">
                <a:solidFill>
                  <a:srgbClr val="14213D"/>
                </a:solidFill>
                <a:latin typeface="Segoe UI"/>
              </a:rPr>
              <a:t>This review covers solar water distillation design, microbial water safety, and studies linking the two</a:t>
            </a:r>
          </a:p>
        </p:txBody>
      </p:sp>
      <p:sp>
        <p:nvSpPr>
          <p:cNvPr id="13" name="Rounded Rectangle 12"/>
          <p:cNvSpPr/>
          <p:nvPr/>
        </p:nvSpPr>
        <p:spPr>
          <a:xfrm>
            <a:off x="777240" y="2944368"/>
            <a:ext cx="109728" cy="566928"/>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51560" y="2944368"/>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1D7A8C"/>
                </a:solidFill>
                <a:latin typeface="Segoe UI Semibold"/>
              </a:rPr>
              <a:t>Topic 1 (independent variable):  </a:t>
            </a:r>
            <a:r>
              <a:rPr sz="1850" b="0" i="0">
                <a:solidFill>
                  <a:srgbClr val="14213D"/>
                </a:solidFill>
                <a:latin typeface="Segoe UI"/>
              </a:rPr>
              <a:t>literature on solar water distiller designs and efficiency</a:t>
            </a:r>
          </a:p>
        </p:txBody>
      </p:sp>
      <p:sp>
        <p:nvSpPr>
          <p:cNvPr id="15" name="Rounded Rectangle 14"/>
          <p:cNvSpPr/>
          <p:nvPr/>
        </p:nvSpPr>
        <p:spPr>
          <a:xfrm>
            <a:off x="777240" y="3694176"/>
            <a:ext cx="109728" cy="566928"/>
          </a:xfrm>
          <a:prstGeom prst="roundRect">
            <a:avLst>
              <a:gd name="adj" fmla="val 50000"/>
            </a:avLst>
          </a:prstGeom>
          <a:solidFill>
            <a:srgbClr val="1159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051560" y="3694176"/>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115968"/>
                </a:solidFill>
                <a:latin typeface="Segoe UI Semibold"/>
              </a:rPr>
              <a:t>Topic 2 (dependent variable):  </a:t>
            </a:r>
            <a:r>
              <a:rPr sz="1850" b="0" i="0">
                <a:solidFill>
                  <a:srgbClr val="14213D"/>
                </a:solidFill>
                <a:latin typeface="Segoe UI"/>
              </a:rPr>
              <a:t>literature on microbial contamination levels and water safety standards</a:t>
            </a:r>
          </a:p>
        </p:txBody>
      </p:sp>
      <p:sp>
        <p:nvSpPr>
          <p:cNvPr id="17" name="Rounded Rectangle 16"/>
          <p:cNvSpPr/>
          <p:nvPr/>
        </p:nvSpPr>
        <p:spPr>
          <a:xfrm>
            <a:off x="777240" y="4443984"/>
            <a:ext cx="109728" cy="56692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51560" y="4443984"/>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F4795B"/>
                </a:solidFill>
                <a:latin typeface="Segoe UI Semibold"/>
              </a:rPr>
              <a:t>Topic 3 (linking studies):  </a:t>
            </a:r>
            <a:r>
              <a:rPr sz="1850" b="0" i="0">
                <a:solidFill>
                  <a:srgbClr val="14213D"/>
                </a:solidFill>
                <a:latin typeface="Segoe UI"/>
              </a:rPr>
              <a:t>the few existing studies testing distillation's direct effect on microbial safety</a:t>
            </a:r>
          </a:p>
        </p:txBody>
      </p:sp>
      <p:sp>
        <p:nvSpPr>
          <p:cNvPr id="19" name="Rounded Rectangle 18"/>
          <p:cNvSpPr/>
          <p:nvPr/>
        </p:nvSpPr>
        <p:spPr>
          <a:xfrm>
            <a:off x="777240" y="5193792"/>
            <a:ext cx="109728" cy="566928"/>
          </a:xfrm>
          <a:prstGeom prst="roundRect">
            <a:avLst>
              <a:gd name="adj" fmla="val 5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051560" y="5193792"/>
            <a:ext cx="10271455" cy="640080"/>
          </a:xfrm>
          <a:prstGeom prst="rect">
            <a:avLst/>
          </a:prstGeom>
          <a:noFill/>
        </p:spPr>
        <p:txBody>
          <a:bodyPr wrap="square" anchor="ctr" lIns="0" rIns="0" tIns="0" bIns="0">
            <a:spAutoFit/>
          </a:bodyPr>
          <a:lstStyle/>
          <a:p>
            <a:pPr algn="l">
              <a:lnSpc>
                <a:spcPct val="102000"/>
              </a:lnSpc>
              <a:spcBef>
                <a:spcPts val="0"/>
              </a:spcBef>
              <a:spcAft>
                <a:spcPts val="0"/>
              </a:spcAft>
            </a:pPr>
            <a:r>
              <a:rPr sz="1850" b="1" i="0">
                <a:solidFill>
                  <a:srgbClr val="14213D"/>
                </a:solidFill>
                <a:latin typeface="Segoe UI Semibold"/>
              </a:rPr>
              <a:t>Summary:  </a:t>
            </a:r>
            <a:r>
              <a:rPr sz="1850" b="0" i="0">
                <a:solidFill>
                  <a:srgbClr val="14213D"/>
                </a:solidFill>
                <a:latin typeface="Segoe UI"/>
              </a:rPr>
              <a:t>most studies test distillation efficiency or water safety separately, rarely together in a Philippine coastal barangay setting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Literature Review in a Mixed Methods Study</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19</a:t>
            </a:r>
          </a:p>
        </p:txBody>
      </p:sp>
      <p:sp>
        <p:nvSpPr>
          <p:cNvPr id="9" name="Rounded Rectangle 8"/>
          <p:cNvSpPr/>
          <p:nvPr/>
        </p:nvSpPr>
        <p:spPr>
          <a:xfrm>
            <a:off x="4175607" y="1874519"/>
            <a:ext cx="3840480" cy="640080"/>
          </a:xfrm>
          <a:prstGeom prst="roundRect">
            <a:avLst>
              <a:gd name="adj" fmla="val 12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Which phase leads the study's design?</a:t>
            </a:r>
          </a:p>
        </p:txBody>
      </p:sp>
      <p:cxnSp>
        <p:nvCxnSpPr>
          <p:cNvPr id="10" name="Connector 9"/>
          <p:cNvCxnSpPr/>
          <p:nvPr/>
        </p:nvCxnSpPr>
        <p:spPr>
          <a:xfrm flipH="1">
            <a:off x="3566160" y="2514600"/>
            <a:ext cx="2529687" cy="914400"/>
          </a:xfrm>
          <a:prstGeom prst="line">
            <a:avLst/>
          </a:prstGeom>
          <a:ln w="31750">
            <a:solidFill>
              <a:srgbClr val="1D7A8C"/>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847" y="2514600"/>
            <a:ext cx="2590953" cy="914400"/>
          </a:xfrm>
          <a:prstGeom prst="line">
            <a:avLst/>
          </a:prstGeom>
          <a:ln w="31750">
            <a:solidFill>
              <a:srgbClr val="F4795B"/>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94560" y="3429000"/>
            <a:ext cx="2743200"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50591" y="3429000"/>
            <a:ext cx="2304288"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Quantitative-first</a:t>
            </a:r>
          </a:p>
        </p:txBody>
      </p:sp>
      <p:sp>
        <p:nvSpPr>
          <p:cNvPr id="14" name="Rounded Rectangle 13"/>
          <p:cNvSpPr/>
          <p:nvPr/>
        </p:nvSpPr>
        <p:spPr>
          <a:xfrm>
            <a:off x="2194560" y="3995928"/>
            <a:ext cx="2743200" cy="16916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50591" y="3995928"/>
            <a:ext cx="2231136" cy="1691640"/>
          </a:xfrm>
          <a:prstGeom prst="rect">
            <a:avLst/>
          </a:prstGeom>
          <a:noFill/>
        </p:spPr>
        <p:txBody>
          <a:bodyPr wrap="square" anchor="ctr" lIns="0" rIns="0" tIns="0" bIns="0">
            <a:spAutoFit/>
          </a:bodyPr>
          <a:lstStyle/>
          <a:p>
            <a:pPr algn="l">
              <a:lnSpc>
                <a:spcPct val="112000"/>
              </a:lnSpc>
              <a:spcBef>
                <a:spcPts val="0"/>
              </a:spcBef>
              <a:spcAft>
                <a:spcPts val="0"/>
              </a:spcAft>
            </a:pPr>
            <a:r>
              <a:rPr sz="1800" b="0" i="0">
                <a:solidFill>
                  <a:srgbClr val="14213D"/>
                </a:solidFill>
                <a:latin typeface="Segoe UI"/>
              </a:rPr>
              <a:t>Include a fuller literature review upfront, similar to the five-part structure</a:t>
            </a:r>
          </a:p>
        </p:txBody>
      </p:sp>
      <p:sp>
        <p:nvSpPr>
          <p:cNvPr id="16" name="Rounded Rectangle 15"/>
          <p:cNvSpPr/>
          <p:nvPr/>
        </p:nvSpPr>
        <p:spPr>
          <a:xfrm>
            <a:off x="7315200" y="3429000"/>
            <a:ext cx="2743200"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571231" y="3429000"/>
            <a:ext cx="2304288"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Qualitative-first</a:t>
            </a:r>
          </a:p>
        </p:txBody>
      </p:sp>
      <p:sp>
        <p:nvSpPr>
          <p:cNvPr id="18" name="Rounded Rectangle 17"/>
          <p:cNvSpPr/>
          <p:nvPr/>
        </p:nvSpPr>
        <p:spPr>
          <a:xfrm>
            <a:off x="7315200" y="3995928"/>
            <a:ext cx="2743200" cy="169164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571231" y="3995928"/>
            <a:ext cx="2231136" cy="1691640"/>
          </a:xfrm>
          <a:prstGeom prst="rect">
            <a:avLst/>
          </a:prstGeom>
          <a:noFill/>
        </p:spPr>
        <p:txBody>
          <a:bodyPr wrap="square" anchor="ctr" lIns="0" rIns="0" tIns="0" bIns="0">
            <a:spAutoFit/>
          </a:bodyPr>
          <a:lstStyle/>
          <a:p>
            <a:pPr algn="l">
              <a:lnSpc>
                <a:spcPct val="112000"/>
              </a:lnSpc>
              <a:spcBef>
                <a:spcPts val="0"/>
              </a:spcBef>
              <a:spcAft>
                <a:spcPts val="0"/>
              </a:spcAft>
            </a:pPr>
            <a:r>
              <a:rPr sz="1800" b="0" i="0">
                <a:solidFill>
                  <a:srgbClr val="14213D"/>
                </a:solidFill>
                <a:latin typeface="Segoe UI"/>
              </a:rPr>
              <a:t>Include less literature upfront; more may be added later as findings emerge</a:t>
            </a:r>
          </a:p>
        </p:txBody>
      </p:sp>
      <p:sp>
        <p:nvSpPr>
          <p:cNvPr id="20" name="Rounded Rectangle 19"/>
          <p:cNvSpPr/>
          <p:nvPr/>
        </p:nvSpPr>
        <p:spPr>
          <a:xfrm>
            <a:off x="777240" y="5715000"/>
            <a:ext cx="10637215" cy="566928"/>
          </a:xfrm>
          <a:prstGeom prst="roundRect">
            <a:avLst>
              <a:gd name="adj" fmla="val 1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97280" y="5715000"/>
            <a:ext cx="999713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24344F"/>
                </a:solidFill>
                <a:latin typeface="Segoe UI"/>
              </a:rPr>
              <a:t>The choice depends on which phase leads the study's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4 · WRITING THE LITERATURE REVIEW</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Application — Outline Your Own Review</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20</a:t>
            </a:r>
          </a:p>
        </p:txBody>
      </p:sp>
      <p:sp>
        <p:nvSpPr>
          <p:cNvPr id="9" name="Rounded Rectangle 8"/>
          <p:cNvSpPr/>
          <p:nvPr/>
        </p:nvSpPr>
        <p:spPr>
          <a:xfrm>
            <a:off x="777240" y="1719072"/>
            <a:ext cx="1495958"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1313078"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Activity template</a:t>
            </a:r>
          </a:p>
        </p:txBody>
      </p:sp>
      <p:sp>
        <p:nvSpPr>
          <p:cNvPr id="11" name="Rounded Rectangle 10"/>
          <p:cNvSpPr/>
          <p:nvPr/>
        </p:nvSpPr>
        <p:spPr>
          <a:xfrm>
            <a:off x="777240" y="2194560"/>
            <a:ext cx="10637215" cy="393192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43000" y="2514600"/>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Introduction:</a:t>
            </a:r>
          </a:p>
        </p:txBody>
      </p:sp>
      <p:sp>
        <p:nvSpPr>
          <p:cNvPr id="13" name="Rounded Rectangle 12"/>
          <p:cNvSpPr/>
          <p:nvPr/>
        </p:nvSpPr>
        <p:spPr>
          <a:xfrm>
            <a:off x="1143000" y="2934126"/>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143000" y="3191256"/>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Topic 1 (independent variable):</a:t>
            </a:r>
          </a:p>
        </p:txBody>
      </p:sp>
      <p:sp>
        <p:nvSpPr>
          <p:cNvPr id="15" name="Rounded Rectangle 14"/>
          <p:cNvSpPr/>
          <p:nvPr/>
        </p:nvSpPr>
        <p:spPr>
          <a:xfrm>
            <a:off x="1143000" y="3610782"/>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143000" y="3867912"/>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Topic 2 (dependent variable):</a:t>
            </a:r>
          </a:p>
        </p:txBody>
      </p:sp>
      <p:sp>
        <p:nvSpPr>
          <p:cNvPr id="17" name="Rounded Rectangle 16"/>
          <p:cNvSpPr/>
          <p:nvPr/>
        </p:nvSpPr>
        <p:spPr>
          <a:xfrm>
            <a:off x="1143000" y="4287438"/>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43000" y="4544568"/>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Topic 3 (linking studies):</a:t>
            </a:r>
          </a:p>
        </p:txBody>
      </p:sp>
      <p:sp>
        <p:nvSpPr>
          <p:cNvPr id="19" name="Rounded Rectangle 18"/>
          <p:cNvSpPr/>
          <p:nvPr/>
        </p:nvSpPr>
        <p:spPr>
          <a:xfrm>
            <a:off x="1143000" y="4964094"/>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143000" y="5221224"/>
            <a:ext cx="9905695" cy="338328"/>
          </a:xfrm>
          <a:prstGeom prst="rect">
            <a:avLst/>
          </a:prstGeom>
          <a:noFill/>
        </p:spPr>
        <p:txBody>
          <a:bodyPr wrap="square" anchor="t" lIns="0" rIns="0" tIns="0" bIns="0">
            <a:spAutoFit/>
          </a:bodyPr>
          <a:lstStyle/>
          <a:p>
            <a:pPr algn="l">
              <a:lnSpc>
                <a:spcPct val="105000"/>
              </a:lnSpc>
              <a:spcBef>
                <a:spcPts val="0"/>
              </a:spcBef>
              <a:spcAft>
                <a:spcPts val="0"/>
              </a:spcAft>
            </a:pPr>
            <a:r>
              <a:rPr sz="2200" b="1" i="0">
                <a:solidFill>
                  <a:srgbClr val="14213D"/>
                </a:solidFill>
                <a:latin typeface="Segoe UI Semibold"/>
              </a:rPr>
              <a:t>Summary / gap statement:</a:t>
            </a:r>
          </a:p>
        </p:txBody>
      </p:sp>
      <p:sp>
        <p:nvSpPr>
          <p:cNvPr id="21" name="Rounded Rectangle 20"/>
          <p:cNvSpPr/>
          <p:nvPr/>
        </p:nvSpPr>
        <p:spPr>
          <a:xfrm>
            <a:off x="1143000" y="5640750"/>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From Gap to Problem Statement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21</a:t>
            </a:r>
          </a:p>
        </p:txBody>
      </p:sp>
      <p:sp>
        <p:nvSpPr>
          <p:cNvPr id="9" name="Rounded Rectangle 8"/>
          <p:cNvSpPr/>
          <p:nvPr/>
        </p:nvSpPr>
        <p:spPr>
          <a:xfrm>
            <a:off x="777240" y="2514600"/>
            <a:ext cx="4663440" cy="210312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2514600"/>
            <a:ext cx="4663440"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2514600"/>
            <a:ext cx="4224527"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Semibold"/>
              </a:rPr>
              <a:t>STEP 1 · YOU HAVE A GAP</a:t>
            </a:r>
          </a:p>
        </p:txBody>
      </p:sp>
      <p:sp>
        <p:nvSpPr>
          <p:cNvPr id="12" name="TextBox 11"/>
          <p:cNvSpPr txBox="1"/>
          <p:nvPr/>
        </p:nvSpPr>
        <p:spPr>
          <a:xfrm>
            <a:off x="1051560" y="3246120"/>
            <a:ext cx="4114800" cy="1280160"/>
          </a:xfrm>
          <a:prstGeom prst="rect">
            <a:avLst/>
          </a:prstGeom>
          <a:noFill/>
        </p:spPr>
        <p:txBody>
          <a:bodyPr wrap="square" anchor="ctr" lIns="0" rIns="0" tIns="0" bIns="0">
            <a:spAutoFit/>
          </a:bodyPr>
          <a:lstStyle/>
          <a:p>
            <a:pPr algn="l">
              <a:lnSpc>
                <a:spcPct val="112000"/>
              </a:lnSpc>
              <a:spcBef>
                <a:spcPts val="0"/>
              </a:spcBef>
              <a:spcAft>
                <a:spcPts val="0"/>
              </a:spcAft>
            </a:pPr>
            <a:r>
              <a:rPr sz="2200" b="0" i="1">
                <a:solidFill>
                  <a:srgbClr val="14213D"/>
                </a:solidFill>
                <a:latin typeface="Segoe UI"/>
              </a:rPr>
              <a:t>“Human mobility is underused in dengue prediction models.”</a:t>
            </a:r>
          </a:p>
        </p:txBody>
      </p:sp>
      <p:sp>
        <p:nvSpPr>
          <p:cNvPr id="13" name="Right Arrow 12"/>
          <p:cNvSpPr/>
          <p:nvPr/>
        </p:nvSpPr>
        <p:spPr>
          <a:xfrm>
            <a:off x="5623560" y="3337560"/>
            <a:ext cx="914400" cy="457200"/>
          </a:xfrm>
          <a:prstGeom prst="rightArrow">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0" y="2514600"/>
            <a:ext cx="4663440" cy="210312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0" y="2514600"/>
            <a:ext cx="4663440"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022592" y="2514600"/>
            <a:ext cx="4224527"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Semibold"/>
              </a:rPr>
              <a:t>STEP 2 · PROBLEM STATEMENT</a:t>
            </a:r>
          </a:p>
        </p:txBody>
      </p:sp>
      <p:sp>
        <p:nvSpPr>
          <p:cNvPr id="17" name="TextBox 16"/>
          <p:cNvSpPr txBox="1"/>
          <p:nvPr/>
        </p:nvSpPr>
        <p:spPr>
          <a:xfrm>
            <a:off x="7040880" y="3246120"/>
            <a:ext cx="4114800" cy="1280160"/>
          </a:xfrm>
          <a:prstGeom prst="rect">
            <a:avLst/>
          </a:prstGeom>
          <a:noFill/>
        </p:spPr>
        <p:txBody>
          <a:bodyPr wrap="square" anchor="ctr" lIns="0" rIns="0" tIns="0" bIns="0">
            <a:spAutoFit/>
          </a:bodyPr>
          <a:lstStyle/>
          <a:p>
            <a:pPr algn="l">
              <a:lnSpc>
                <a:spcPct val="112000"/>
              </a:lnSpc>
              <a:spcBef>
                <a:spcPts val="0"/>
              </a:spcBef>
              <a:spcAft>
                <a:spcPts val="0"/>
              </a:spcAft>
            </a:pPr>
            <a:r>
              <a:rPr sz="2200" b="0" i="0">
                <a:solidFill>
                  <a:srgbClr val="14213D"/>
                </a:solidFill>
                <a:latin typeface="Segoe UI"/>
              </a:rPr>
              <a:t>A focused, researchable claim about what is missing and why it matters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Characteristics of a Researchable Problem</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22</a:t>
            </a:r>
          </a:p>
        </p:txBody>
      </p:sp>
      <p:sp>
        <p:nvSpPr>
          <p:cNvPr id="9" name="Oval 8"/>
          <p:cNvSpPr/>
          <p:nvPr/>
        </p:nvSpPr>
        <p:spPr>
          <a:xfrm>
            <a:off x="1280160" y="2057400"/>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0" name="TextBox 9"/>
          <p:cNvSpPr txBox="1"/>
          <p:nvPr/>
        </p:nvSpPr>
        <p:spPr>
          <a:xfrm>
            <a:off x="1847088" y="200253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Addresses a real </a:t>
            </a:r>
            <a:r>
              <a:rPr sz="2300" b="1" i="0">
                <a:solidFill>
                  <a:srgbClr val="14213D"/>
                </a:solidFill>
                <a:latin typeface="Segoe UI"/>
              </a:rPr>
              <a:t>knowledge gap</a:t>
            </a:r>
          </a:p>
        </p:txBody>
      </p:sp>
      <p:sp>
        <p:nvSpPr>
          <p:cNvPr id="11" name="Oval 10"/>
          <p:cNvSpPr/>
          <p:nvPr/>
        </p:nvSpPr>
        <p:spPr>
          <a:xfrm>
            <a:off x="1280160" y="2880360"/>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2" name="TextBox 11"/>
          <p:cNvSpPr txBox="1"/>
          <p:nvPr/>
        </p:nvSpPr>
        <p:spPr>
          <a:xfrm>
            <a:off x="1847088" y="282549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Is </a:t>
            </a:r>
            <a:r>
              <a:rPr sz="2300" b="1" i="0">
                <a:solidFill>
                  <a:srgbClr val="14213D"/>
                </a:solidFill>
                <a:latin typeface="Segoe UI"/>
              </a:rPr>
              <a:t>current and relevant</a:t>
            </a:r>
            <a:r>
              <a:rPr sz="2300" b="0" i="0">
                <a:solidFill>
                  <a:srgbClr val="14213D"/>
                </a:solidFill>
                <a:latin typeface="Segoe UI"/>
              </a:rPr>
              <a:t>, not outdated</a:t>
            </a:r>
          </a:p>
        </p:txBody>
      </p:sp>
      <p:sp>
        <p:nvSpPr>
          <p:cNvPr id="13" name="Oval 12"/>
          <p:cNvSpPr/>
          <p:nvPr/>
        </p:nvSpPr>
        <p:spPr>
          <a:xfrm>
            <a:off x="1280160" y="3703320"/>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4" name="TextBox 13"/>
          <p:cNvSpPr txBox="1"/>
          <p:nvPr/>
        </p:nvSpPr>
        <p:spPr>
          <a:xfrm>
            <a:off x="1847088" y="364845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Is </a:t>
            </a:r>
            <a:r>
              <a:rPr sz="2300" b="1" i="0">
                <a:solidFill>
                  <a:srgbClr val="14213D"/>
                </a:solidFill>
                <a:latin typeface="Segoe UI"/>
              </a:rPr>
              <a:t>based on facts and evidence</a:t>
            </a:r>
            <a:r>
              <a:rPr sz="2300" b="0" i="0">
                <a:solidFill>
                  <a:srgbClr val="14213D"/>
                </a:solidFill>
                <a:latin typeface="Segoe UI"/>
              </a:rPr>
              <a:t>, not assumptions or hypothetical situations</a:t>
            </a:r>
          </a:p>
        </p:txBody>
      </p:sp>
      <p:sp>
        <p:nvSpPr>
          <p:cNvPr id="15" name="Oval 14"/>
          <p:cNvSpPr/>
          <p:nvPr/>
        </p:nvSpPr>
        <p:spPr>
          <a:xfrm>
            <a:off x="1280160" y="4526279"/>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6" name="TextBox 15"/>
          <p:cNvSpPr txBox="1"/>
          <p:nvPr/>
        </p:nvSpPr>
        <p:spPr>
          <a:xfrm>
            <a:off x="1847088" y="447141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Is </a:t>
            </a:r>
            <a:r>
              <a:rPr sz="2300" b="1" i="0">
                <a:solidFill>
                  <a:srgbClr val="14213D"/>
                </a:solidFill>
                <a:latin typeface="Segoe UI"/>
              </a:rPr>
              <a:t>tangible</a:t>
            </a:r>
            <a:r>
              <a:rPr sz="2300" b="0" i="0">
                <a:solidFill>
                  <a:srgbClr val="14213D"/>
                </a:solidFill>
                <a:latin typeface="Segoe UI"/>
              </a:rPr>
              <a:t> — realistic given the time, budget, and skills available</a:t>
            </a:r>
          </a:p>
        </p:txBody>
      </p:sp>
      <p:sp>
        <p:nvSpPr>
          <p:cNvPr id="17" name="Oval 16"/>
          <p:cNvSpPr/>
          <p:nvPr/>
        </p:nvSpPr>
        <p:spPr>
          <a:xfrm>
            <a:off x="1280160" y="5349240"/>
            <a:ext cx="384048" cy="384048"/>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a:t>
            </a:r>
          </a:p>
        </p:txBody>
      </p:sp>
      <p:sp>
        <p:nvSpPr>
          <p:cNvPr id="18" name="TextBox 17"/>
          <p:cNvSpPr txBox="1"/>
          <p:nvPr/>
        </p:nvSpPr>
        <p:spPr>
          <a:xfrm>
            <a:off x="1847088" y="5294376"/>
            <a:ext cx="9064447" cy="658368"/>
          </a:xfrm>
          <a:prstGeom prst="rect">
            <a:avLst/>
          </a:prstGeom>
          <a:noFill/>
        </p:spPr>
        <p:txBody>
          <a:bodyPr wrap="square" anchor="ctr" lIns="0" rIns="0" tIns="0" bIns="0">
            <a:spAutoFit/>
          </a:bodyPr>
          <a:lstStyle/>
          <a:p>
            <a:pPr algn="l">
              <a:lnSpc>
                <a:spcPct val="100000"/>
              </a:lnSpc>
              <a:spcBef>
                <a:spcPts val="0"/>
              </a:spcBef>
              <a:spcAft>
                <a:spcPts val="0"/>
              </a:spcAft>
            </a:pPr>
            <a:r>
              <a:rPr sz="2300" b="0" i="0">
                <a:solidFill>
                  <a:srgbClr val="14213D"/>
                </a:solidFill>
                <a:latin typeface="Segoe UI"/>
              </a:rPr>
              <a:t>Naturally </a:t>
            </a:r>
            <a:r>
              <a:rPr sz="2300" b="1" i="0">
                <a:solidFill>
                  <a:srgbClr val="14213D"/>
                </a:solidFill>
                <a:latin typeface="Segoe UI"/>
              </a:rPr>
              <a:t>generates further research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14213D"/>
                </a:solidFill>
                <a:latin typeface="Segoe UI Semibold"/>
              </a:rPr>
              <a:t>The Four Components of a Problem Statement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23</a:t>
            </a:r>
          </a:p>
        </p:txBody>
      </p:sp>
      <p:sp>
        <p:nvSpPr>
          <p:cNvPr id="9" name="TextBox 8"/>
          <p:cNvSpPr txBox="1"/>
          <p:nvPr/>
        </p:nvSpPr>
        <p:spPr>
          <a:xfrm>
            <a:off x="777240" y="1691639"/>
            <a:ext cx="10637215" cy="292608"/>
          </a:xfrm>
          <a:prstGeom prst="rect">
            <a:avLst/>
          </a:prstGeom>
          <a:noFill/>
        </p:spPr>
        <p:txBody>
          <a:bodyPr wrap="square" anchor="t" lIns="0" rIns="0" tIns="0" bIns="0">
            <a:spAutoFit/>
          </a:bodyPr>
          <a:lstStyle/>
          <a:p>
            <a:pPr algn="l">
              <a:lnSpc>
                <a:spcPct val="105000"/>
              </a:lnSpc>
              <a:spcBef>
                <a:spcPts val="0"/>
              </a:spcBef>
              <a:spcAft>
                <a:spcPts val="0"/>
              </a:spcAft>
            </a:pPr>
            <a:r>
              <a:rPr sz="1400" b="0" i="1">
                <a:solidFill>
                  <a:srgbClr val="5B6B7B"/>
                </a:solidFill>
                <a:latin typeface="Segoe UI"/>
              </a:rPr>
              <a:t>A strong statement needs at least one full sentence per component.</a:t>
            </a:r>
          </a:p>
        </p:txBody>
      </p:sp>
      <p:graphicFrame>
        <p:nvGraphicFramePr>
          <p:cNvPr id="10" name="Table 9"/>
          <p:cNvGraphicFramePr>
            <a:graphicFrameLocks noGrp="1"/>
          </p:cNvGraphicFramePr>
          <p:nvPr/>
        </p:nvGraphicFramePr>
        <p:xfrm>
          <a:off x="777240" y="2084831"/>
          <a:ext cx="10637213" cy="3794760"/>
        </p:xfrm>
        <a:graphic>
          <a:graphicData uri="http://schemas.openxmlformats.org/drawingml/2006/table">
            <a:tbl>
              <a:tblPr>
                <a:tableStyleId>{5C22544A-7EE6-4342-B048-85BDC9FD1C3A}</a:tableStyleId>
              </a:tblPr>
              <a:tblGrid>
                <a:gridCol w="2626472"/>
                <a:gridCol w="3939709"/>
                <a:gridCol w="4071032"/>
              </a:tblGrid>
              <a:tr h="502920">
                <a:tc>
                  <a:txBody>
                    <a:bodyPr wrap="square"/>
                    <a:lstStyle/>
                    <a:p>
                      <a:pPr algn="l">
                        <a:lnSpc>
                          <a:spcPct val="100000"/>
                        </a:lnSpc>
                      </a:pPr>
                      <a:r>
                        <a:rPr sz="1600" b="1">
                          <a:solidFill>
                            <a:srgbClr val="FFFFFF"/>
                          </a:solidFill>
                          <a:latin typeface="Segoe UI Semibold"/>
                        </a:rPr>
                        <a:t>Component</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Purpose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Key Question It Answers</a:t>
                      </a:r>
                    </a:p>
                  </a:txBody>
                  <a:tcPr marL="101600" marR="101600" marT="50800" marB="50800" anchor="ctr">
                    <a:solidFill>
                      <a:srgbClr val="1D7A8C"/>
                    </a:solidFill>
                  </a:tcPr>
                </a:tc>
              </a:tr>
              <a:tr h="822960">
                <a:tc>
                  <a:txBody>
                    <a:bodyPr wrap="square"/>
                    <a:lstStyle/>
                    <a:p>
                      <a:pPr algn="l">
                        <a:lnSpc>
                          <a:spcPct val="100000"/>
                        </a:lnSpc>
                      </a:pPr>
                      <a:r>
                        <a:rPr sz="1500" b="0">
                          <a:solidFill>
                            <a:srgbClr val="14213D"/>
                          </a:solidFill>
                          <a:latin typeface="Segoe UI"/>
                        </a:rPr>
                        <a:t>Background context</a:t>
                      </a:r>
                    </a:p>
                  </a:txBody>
                  <a:tcPr marL="101600" marR="101600" marT="50800" marB="50800" anchor="ctr">
                    <a:solidFill>
                      <a:srgbClr val="E4F1F3"/>
                    </a:solidFill>
                  </a:tcPr>
                </a:tc>
                <a:tc>
                  <a:txBody>
                    <a:bodyPr wrap="square"/>
                    <a:lstStyle/>
                    <a:p>
                      <a:pPr algn="l">
                        <a:lnSpc>
                          <a:spcPct val="100000"/>
                        </a:lnSpc>
                      </a:pPr>
                      <a:r>
                        <a:rPr sz="1500" b="0">
                          <a:solidFill>
                            <a:srgbClr val="14213D"/>
                          </a:solidFill>
                          <a:latin typeface="Segoe UI"/>
                        </a:rPr>
                        <a:t>Establishes the broader setting in which the problem exists</a:t>
                      </a:r>
                    </a:p>
                  </a:txBody>
                  <a:tcPr marL="101600" marR="101600" marT="50800" marB="50800" anchor="ctr">
                    <a:solidFill>
                      <a:srgbClr val="FFFFFF"/>
                    </a:solidFill>
                  </a:tcPr>
                </a:tc>
                <a:tc>
                  <a:txBody>
                    <a:bodyPr wrap="square"/>
                    <a:lstStyle/>
                    <a:p>
                      <a:pPr algn="l">
                        <a:lnSpc>
                          <a:spcPct val="100000"/>
                        </a:lnSpc>
                      </a:pPr>
                      <a:r>
                        <a:rPr sz="1500" b="0">
                          <a:solidFill>
                            <a:srgbClr val="14213D"/>
                          </a:solidFill>
                          <a:latin typeface="Segoe UI"/>
                        </a:rPr>
                        <a:t>What does the reader need to know to understand why this matters?</a:t>
                      </a:r>
                    </a:p>
                  </a:txBody>
                  <a:tcPr marL="101600" marR="101600" marT="50800" marB="50800" anchor="ctr">
                    <a:solidFill>
                      <a:srgbClr val="FFFFFF"/>
                    </a:solidFill>
                  </a:tcPr>
                </a:tc>
              </a:tr>
              <a:tr h="822960">
                <a:tc>
                  <a:txBody>
                    <a:bodyPr wrap="square"/>
                    <a:lstStyle/>
                    <a:p>
                      <a:pPr algn="l">
                        <a:lnSpc>
                          <a:spcPct val="100000"/>
                        </a:lnSpc>
                      </a:pPr>
                      <a:r>
                        <a:rPr sz="1500" b="0">
                          <a:solidFill>
                            <a:srgbClr val="14213D"/>
                          </a:solidFill>
                          <a:latin typeface="Segoe UI"/>
                        </a:rPr>
                        <a:t>Specific problem or gap</a:t>
                      </a:r>
                    </a:p>
                  </a:txBody>
                  <a:tcPr marL="101600" marR="101600" marT="50800" marB="50800" anchor="ctr">
                    <a:solidFill>
                      <a:srgbClr val="FCE4DD"/>
                    </a:solidFill>
                  </a:tcPr>
                </a:tc>
                <a:tc>
                  <a:txBody>
                    <a:bodyPr wrap="square"/>
                    <a:lstStyle/>
                    <a:p>
                      <a:pPr algn="l">
                        <a:lnSpc>
                          <a:spcPct val="100000"/>
                        </a:lnSpc>
                      </a:pPr>
                      <a:r>
                        <a:rPr sz="1500" b="0">
                          <a:solidFill>
                            <a:srgbClr val="14213D"/>
                          </a:solidFill>
                          <a:latin typeface="Segoe UI"/>
                        </a:rPr>
                        <a:t>Names the precise issue, contradiction, or knowledge gap the study addresses</a:t>
                      </a:r>
                    </a:p>
                  </a:txBody>
                  <a:tcPr marL="101600" marR="101600" marT="50800" marB="50800" anchor="ctr">
                    <a:solidFill>
                      <a:srgbClr val="EEF4F7"/>
                    </a:solidFill>
                  </a:tcPr>
                </a:tc>
                <a:tc>
                  <a:txBody>
                    <a:bodyPr wrap="square"/>
                    <a:lstStyle/>
                    <a:p>
                      <a:pPr algn="l">
                        <a:lnSpc>
                          <a:spcPct val="100000"/>
                        </a:lnSpc>
                      </a:pPr>
                      <a:r>
                        <a:rPr sz="1500" b="0">
                          <a:solidFill>
                            <a:srgbClr val="14213D"/>
                          </a:solidFill>
                          <a:latin typeface="Segoe UI"/>
                        </a:rPr>
                        <a:t>What exactly is wrong, missing, or unresolved?</a:t>
                      </a:r>
                    </a:p>
                  </a:txBody>
                  <a:tcPr marL="101600" marR="101600" marT="50800" marB="50800" anchor="ctr">
                    <a:solidFill>
                      <a:srgbClr val="EEF4F7"/>
                    </a:solidFill>
                  </a:tcPr>
                </a:tc>
              </a:tr>
              <a:tr h="822960">
                <a:tc>
                  <a:txBody>
                    <a:bodyPr wrap="square"/>
                    <a:lstStyle/>
                    <a:p>
                      <a:pPr algn="l">
                        <a:lnSpc>
                          <a:spcPct val="100000"/>
                        </a:lnSpc>
                      </a:pPr>
                      <a:r>
                        <a:rPr sz="1500" b="0">
                          <a:solidFill>
                            <a:srgbClr val="14213D"/>
                          </a:solidFill>
                          <a:latin typeface="Segoe UI"/>
                        </a:rPr>
                        <a:t>Implications</a:t>
                      </a:r>
                    </a:p>
                  </a:txBody>
                  <a:tcPr marL="101600" marR="101600" marT="50800" marB="50800" anchor="ctr">
                    <a:solidFill>
                      <a:srgbClr val="FCF0CC"/>
                    </a:solidFill>
                  </a:tcPr>
                </a:tc>
                <a:tc>
                  <a:txBody>
                    <a:bodyPr wrap="square"/>
                    <a:lstStyle/>
                    <a:p>
                      <a:pPr algn="l">
                        <a:lnSpc>
                          <a:spcPct val="100000"/>
                        </a:lnSpc>
                      </a:pPr>
                      <a:r>
                        <a:rPr sz="1500" b="0">
                          <a:solidFill>
                            <a:srgbClr val="14213D"/>
                          </a:solidFill>
                          <a:latin typeface="Segoe UI"/>
                        </a:rPr>
                        <a:t>Explains the consequences of leaving the problem unresolved</a:t>
                      </a:r>
                    </a:p>
                  </a:txBody>
                  <a:tcPr marL="101600" marR="101600" marT="50800" marB="50800" anchor="ctr">
                    <a:solidFill>
                      <a:srgbClr val="FFFFFF"/>
                    </a:solidFill>
                  </a:tcPr>
                </a:tc>
                <a:tc>
                  <a:txBody>
                    <a:bodyPr wrap="square"/>
                    <a:lstStyle/>
                    <a:p>
                      <a:pPr algn="l">
                        <a:lnSpc>
                          <a:spcPct val="100000"/>
                        </a:lnSpc>
                      </a:pPr>
                      <a:r>
                        <a:rPr sz="1500" b="0">
                          <a:solidFill>
                            <a:srgbClr val="14213D"/>
                          </a:solidFill>
                          <a:latin typeface="Segoe UI"/>
                        </a:rPr>
                        <a:t>Who is affected, and what are the costs of inaction?</a:t>
                      </a:r>
                    </a:p>
                  </a:txBody>
                  <a:tcPr marL="101600" marR="101600" marT="50800" marB="50800" anchor="ctr">
                    <a:solidFill>
                      <a:srgbClr val="FFFFFF"/>
                    </a:solidFill>
                  </a:tcPr>
                </a:tc>
              </a:tr>
              <a:tr h="822960">
                <a:tc>
                  <a:txBody>
                    <a:bodyPr wrap="square"/>
                    <a:lstStyle/>
                    <a:p>
                      <a:pPr algn="l">
                        <a:lnSpc>
                          <a:spcPct val="100000"/>
                        </a:lnSpc>
                      </a:pPr>
                      <a:r>
                        <a:rPr sz="1500" b="0">
                          <a:solidFill>
                            <a:srgbClr val="14213D"/>
                          </a:solidFill>
                          <a:latin typeface="Segoe UI"/>
                        </a:rPr>
                        <a:t>Objectives or aims</a:t>
                      </a:r>
                    </a:p>
                  </a:txBody>
                  <a:tcPr marL="101600" marR="101600" marT="50800" marB="50800" anchor="ctr">
                    <a:solidFill>
                      <a:srgbClr val="D9F0EC"/>
                    </a:solidFill>
                  </a:tcPr>
                </a:tc>
                <a:tc>
                  <a:txBody>
                    <a:bodyPr wrap="square"/>
                    <a:lstStyle/>
                    <a:p>
                      <a:pPr algn="l">
                        <a:lnSpc>
                          <a:spcPct val="100000"/>
                        </a:lnSpc>
                      </a:pPr>
                      <a:r>
                        <a:rPr sz="1500" b="0">
                          <a:solidFill>
                            <a:srgbClr val="14213D"/>
                          </a:solidFill>
                          <a:latin typeface="Segoe UI"/>
                        </a:rPr>
                        <a:t>States what the study will do in response to the gap</a:t>
                      </a:r>
                    </a:p>
                  </a:txBody>
                  <a:tcPr marL="101600" marR="101600" marT="50800" marB="50800" anchor="ctr">
                    <a:solidFill>
                      <a:srgbClr val="EEF4F7"/>
                    </a:solidFill>
                  </a:tcPr>
                </a:tc>
                <a:tc>
                  <a:txBody>
                    <a:bodyPr wrap="square"/>
                    <a:lstStyle/>
                    <a:p>
                      <a:pPr algn="l">
                        <a:lnSpc>
                          <a:spcPct val="100000"/>
                        </a:lnSpc>
                      </a:pPr>
                      <a:r>
                        <a:rPr sz="1500" b="0">
                          <a:solidFill>
                            <a:srgbClr val="14213D"/>
                          </a:solidFill>
                          <a:latin typeface="Segoe UI"/>
                        </a:rPr>
                        <a:t>What will this research investigate or accomplish?</a:t>
                      </a:r>
                    </a:p>
                  </a:txBody>
                  <a:tcPr marL="101600" marR="101600" marT="50800" marB="50800" anchor="ctr">
                    <a:solidFill>
                      <a:srgbClr val="EEF4F7"/>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14213D"/>
                </a:solidFill>
                <a:latin typeface="Segoe UI Semibold"/>
              </a:rPr>
              <a:t>Example — One Sentence per Component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24</a:t>
            </a:r>
          </a:p>
        </p:txBody>
      </p:sp>
      <p:sp>
        <p:nvSpPr>
          <p:cNvPr id="9" name="Rounded Rectangle 8"/>
          <p:cNvSpPr/>
          <p:nvPr/>
        </p:nvSpPr>
        <p:spPr>
          <a:xfrm>
            <a:off x="777240" y="1719072"/>
            <a:ext cx="366857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485692"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Example A topic</a:t>
            </a:r>
          </a:p>
        </p:txBody>
      </p:sp>
      <p:sp>
        <p:nvSpPr>
          <p:cNvPr id="11" name="Rounded Rectangle 10"/>
          <p:cNvSpPr/>
          <p:nvPr/>
        </p:nvSpPr>
        <p:spPr>
          <a:xfrm>
            <a:off x="777240" y="2194560"/>
            <a:ext cx="5090007" cy="3950208"/>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5090007" cy="566928"/>
          </a:xfrm>
          <a:prstGeom prst="roundRect">
            <a:avLst>
              <a:gd name="adj" fmla="val 12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FFFFF"/>
                </a:solidFill>
                <a:latin typeface="Segoe UI Semibold"/>
              </a:rPr>
              <a:t>BUILD: ONE SENTENCE PER COMPONENT</a:t>
            </a:r>
          </a:p>
        </p:txBody>
      </p:sp>
      <p:sp>
        <p:nvSpPr>
          <p:cNvPr id="14" name="TextBox 13"/>
          <p:cNvSpPr txBox="1"/>
          <p:nvPr/>
        </p:nvSpPr>
        <p:spPr>
          <a:xfrm>
            <a:off x="1033271" y="2852928"/>
            <a:ext cx="4577943" cy="3172968"/>
          </a:xfrm>
          <a:prstGeom prst="rect">
            <a:avLst/>
          </a:prstGeom>
          <a:noFill/>
        </p:spPr>
        <p:txBody>
          <a:bodyPr wrap="square" anchor="t" lIns="0" rIns="0" tIns="0" bIns="0">
            <a:spAutoFit/>
          </a:bodyPr>
          <a:lstStyle/>
          <a:p>
            <a:pPr algn="l">
              <a:lnSpc>
                <a:spcPct val="103000"/>
              </a:lnSpc>
              <a:spcBef>
                <a:spcPts val="0"/>
              </a:spcBef>
              <a:spcAft>
                <a:spcPts val="500"/>
              </a:spcAft>
            </a:pPr>
            <a:r>
              <a:rPr sz="1300" b="1" i="0">
                <a:solidFill>
                  <a:srgbClr val="1D7A8C"/>
                </a:solidFill>
                <a:latin typeface="Segoe UI Semibold"/>
              </a:rPr>
              <a:t>Background context: </a:t>
            </a:r>
            <a:r>
              <a:rPr sz="1300" b="0" i="0">
                <a:solidFill>
                  <a:srgbClr val="14213D"/>
                </a:solidFill>
                <a:latin typeface="Segoe UI"/>
              </a:rPr>
              <a:t>Many coastal barangays in the Philippines depend on shallow wells and rainwater catchments that are vulnerable to microbial contamination, and low-cost solar water distillers have been promoted as an accessible treatment option.</a:t>
            </a:r>
          </a:p>
          <a:p>
            <a:pPr algn="l">
              <a:lnSpc>
                <a:spcPct val="103000"/>
              </a:lnSpc>
              <a:spcBef>
                <a:spcPts val="0"/>
              </a:spcBef>
              <a:spcAft>
                <a:spcPts val="500"/>
              </a:spcAft>
            </a:pPr>
            <a:r>
              <a:rPr sz="1300" b="1" i="0">
                <a:solidFill>
                  <a:srgbClr val="F4795B"/>
                </a:solidFill>
                <a:latin typeface="Segoe UI Semibold"/>
              </a:rPr>
              <a:t>Specific problem or gap: </a:t>
            </a:r>
            <a:r>
              <a:rPr sz="1300" b="0" i="0">
                <a:solidFill>
                  <a:srgbClr val="14213D"/>
                </a:solidFill>
                <a:latin typeface="Segoe UI"/>
              </a:rPr>
              <a:t>However, existing studies evaluate either the distiller's efficiency or general water safety standards separately, with very few directly measuring the distiller's actual effect on microbial contamination in a real barangay setting.</a:t>
            </a:r>
          </a:p>
          <a:p>
            <a:pPr algn="l">
              <a:lnSpc>
                <a:spcPct val="103000"/>
              </a:lnSpc>
              <a:spcBef>
                <a:spcPts val="0"/>
              </a:spcBef>
              <a:spcAft>
                <a:spcPts val="500"/>
              </a:spcAft>
            </a:pPr>
            <a:r>
              <a:rPr sz="1300" b="1" i="0">
                <a:solidFill>
                  <a:srgbClr val="C0870A"/>
                </a:solidFill>
                <a:latin typeface="Segoe UI Semibold"/>
              </a:rPr>
              <a:t>Implications: </a:t>
            </a:r>
            <a:r>
              <a:rPr sz="1300" b="0" i="0">
                <a:solidFill>
                  <a:srgbClr val="14213D"/>
                </a:solidFill>
                <a:latin typeface="Segoe UI"/>
              </a:rPr>
              <a:t>Without this evidence, communities and local health workers risk relying on a technology whose real protective effect on drinking water safety remains unverified, which could expose residents to preventable waterborne illness.</a:t>
            </a:r>
          </a:p>
          <a:p>
            <a:pPr algn="l">
              <a:lnSpc>
                <a:spcPct val="103000"/>
              </a:lnSpc>
              <a:spcBef>
                <a:spcPts val="0"/>
              </a:spcBef>
              <a:spcAft>
                <a:spcPts val="500"/>
              </a:spcAft>
            </a:pPr>
            <a:r>
              <a:rPr sz="1300" b="1" i="0">
                <a:solidFill>
                  <a:srgbClr val="2A9D8F"/>
                </a:solidFill>
                <a:latin typeface="Segoe UI Semibold"/>
              </a:rPr>
              <a:t>Objectives or aims: </a:t>
            </a:r>
            <a:r>
              <a:rPr sz="1300" b="0" i="0">
                <a:solidFill>
                  <a:srgbClr val="14213D"/>
                </a:solidFill>
                <a:latin typeface="Segoe UI"/>
              </a:rPr>
              <a:t>This study, therefore, aims to determine the effect of a low-cost solar water distiller on the microbial safety of drinking water in a coastal barangay in Zambales.</a:t>
            </a:r>
          </a:p>
        </p:txBody>
      </p:sp>
      <p:sp>
        <p:nvSpPr>
          <p:cNvPr id="15" name="Rounded Rectangle 14"/>
          <p:cNvSpPr/>
          <p:nvPr/>
        </p:nvSpPr>
        <p:spPr>
          <a:xfrm>
            <a:off x="6324447" y="2194560"/>
            <a:ext cx="5090007" cy="3950208"/>
          </a:xfrm>
          <a:prstGeom prst="roundRect">
            <a:avLst>
              <a:gd name="adj" fmla="val 6000"/>
            </a:avLst>
          </a:prstGeom>
          <a:solidFill>
            <a:srgbClr val="FBFDFE"/>
          </a:solidFill>
          <a:ln w="12700">
            <a:solidFill>
              <a:srgbClr val="2A9D8F"/>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324447" y="2194560"/>
            <a:ext cx="5090007" cy="566928"/>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0479"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450" b="1" i="0">
                <a:solidFill>
                  <a:srgbClr val="FFFFFF"/>
                </a:solidFill>
                <a:latin typeface="Segoe UI Semibold"/>
              </a:rPr>
              <a:t>FINISHED PROBLEM STATEMENT</a:t>
            </a:r>
          </a:p>
        </p:txBody>
      </p:sp>
      <p:sp>
        <p:nvSpPr>
          <p:cNvPr id="18" name="TextBox 17"/>
          <p:cNvSpPr txBox="1"/>
          <p:nvPr/>
        </p:nvSpPr>
        <p:spPr>
          <a:xfrm>
            <a:off x="6580479" y="2852928"/>
            <a:ext cx="4577943" cy="3172968"/>
          </a:xfrm>
          <a:prstGeom prst="rect">
            <a:avLst/>
          </a:prstGeom>
          <a:noFill/>
        </p:spPr>
        <p:txBody>
          <a:bodyPr wrap="square" anchor="t" lIns="0" rIns="0" tIns="0" bIns="0">
            <a:spAutoFit/>
          </a:bodyPr>
          <a:lstStyle/>
          <a:p>
            <a:pPr algn="l">
              <a:lnSpc>
                <a:spcPct val="116000"/>
              </a:lnSpc>
              <a:spcBef>
                <a:spcPts val="0"/>
              </a:spcBef>
              <a:spcAft>
                <a:spcPts val="600"/>
              </a:spcAft>
            </a:pPr>
            <a:r>
              <a:rPr sz="1300" b="0" i="1">
                <a:solidFill>
                  <a:srgbClr val="14213D"/>
                </a:solidFill>
                <a:latin typeface="Segoe UI"/>
              </a:rPr>
              <a:t>“Many coastal barangays in the Philippines depend on shallow wells and rainwater catchments that are vulnerable to microbial contamination, and low-cost solar water distillers have been promoted as an accessible treatment option. However, existing studies evaluate either the distiller's efficiency or general water safety standards separately, with very few directly measuring the distiller's actual effect on microbial contamination in a real barangay setting. Without this evidence, communities and local health workers risk relying on a technology whose real protective effect on drinking water safety remains unverified, which could expose residents to preventable waterborne illness. This study, therefore, aims to determine the effect of a low-cost solar water distiller on the microbial safety of drinking water in a coastal barangay in Zambales.”</a:t>
            </a:r>
          </a:p>
          <a:p>
            <a:pPr algn="l">
              <a:lnSpc>
                <a:spcPct val="100000"/>
              </a:lnSpc>
              <a:spcBef>
                <a:spcPts val="0"/>
              </a:spcBef>
              <a:spcAft>
                <a:spcPts val="0"/>
              </a:spcAft>
            </a:pPr>
            <a:r>
              <a:rPr sz="1150" b="0" i="1">
                <a:solidFill>
                  <a:srgbClr val="5B6B7B"/>
                </a:solidFill>
                <a:latin typeface="Segoe UI"/>
              </a:rPr>
              <a:t>The four components read as one natural paragraph — a drafting scaffold, not labeled boxes.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Common Pitfalls in Problem Statements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25</a:t>
            </a:r>
          </a:p>
        </p:txBody>
      </p:sp>
      <p:graphicFrame>
        <p:nvGraphicFramePr>
          <p:cNvPr id="9" name="Table 8"/>
          <p:cNvGraphicFramePr>
            <a:graphicFrameLocks noGrp="1"/>
          </p:cNvGraphicFramePr>
          <p:nvPr/>
        </p:nvGraphicFramePr>
        <p:xfrm>
          <a:off x="777240" y="1965960"/>
          <a:ext cx="10637214" cy="3822192"/>
        </p:xfrm>
        <a:graphic>
          <a:graphicData uri="http://schemas.openxmlformats.org/drawingml/2006/table">
            <a:tbl>
              <a:tblPr>
                <a:tableStyleId>{5C22544A-7EE6-4342-B048-85BDC9FD1C3A}</a:tableStyleId>
              </a:tblPr>
              <a:tblGrid>
                <a:gridCol w="3934312"/>
                <a:gridCol w="2768590"/>
                <a:gridCol w="3934312"/>
              </a:tblGrid>
              <a:tr h="530352">
                <a:tc>
                  <a:txBody>
                    <a:bodyPr wrap="square"/>
                    <a:lstStyle/>
                    <a:p>
                      <a:pPr algn="l">
                        <a:lnSpc>
                          <a:spcPct val="100000"/>
                        </a:lnSpc>
                      </a:pPr>
                      <a:r>
                        <a:rPr sz="1700" b="1">
                          <a:solidFill>
                            <a:srgbClr val="FFFFFF"/>
                          </a:solidFill>
                          <a:latin typeface="Segoe UI Semibold"/>
                        </a:rPr>
                        <a:t>Pitfall</a:t>
                      </a:r>
                    </a:p>
                  </a:txBody>
                  <a:tcPr marL="101600" marR="101600" marT="50800" marB="50800" anchor="ctr">
                    <a:solidFill>
                      <a:srgbClr val="D1495B"/>
                    </a:solidFill>
                  </a:tcPr>
                </a:tc>
                <a:tc>
                  <a:txBody>
                    <a:bodyPr wrap="square"/>
                    <a:lstStyle/>
                    <a:p>
                      <a:pPr algn="l">
                        <a:lnSpc>
                          <a:spcPct val="100000"/>
                        </a:lnSpc>
                      </a:pPr>
                      <a:r>
                        <a:rPr sz="1700" b="1">
                          <a:solidFill>
                            <a:srgbClr val="FFFFFF"/>
                          </a:solidFill>
                          <a:latin typeface="Segoe UI Semibold"/>
                        </a:rPr>
                        <a:t>Missing Component</a:t>
                      </a:r>
                    </a:p>
                  </a:txBody>
                  <a:tcPr marL="101600" marR="101600" marT="50800" marB="50800" anchor="ctr">
                    <a:solidFill>
                      <a:srgbClr val="D1495B"/>
                    </a:solidFill>
                  </a:tcPr>
                </a:tc>
                <a:tc>
                  <a:txBody>
                    <a:bodyPr wrap="square"/>
                    <a:lstStyle/>
                    <a:p>
                      <a:pPr algn="l">
                        <a:lnSpc>
                          <a:spcPct val="100000"/>
                        </a:lnSpc>
                      </a:pPr>
                      <a:r>
                        <a:rPr sz="1700" b="1">
                          <a:solidFill>
                            <a:srgbClr val="FFFFFF"/>
                          </a:solidFill>
                          <a:latin typeface="Segoe UI Semibold"/>
                        </a:rPr>
                        <a:t>Fix</a:t>
                      </a:r>
                    </a:p>
                  </a:txBody>
                  <a:tcPr marL="101600" marR="101600" marT="50800" marB="50800" anchor="ctr">
                    <a:solidFill>
                      <a:srgbClr val="D1495B"/>
                    </a:solidFill>
                  </a:tcPr>
                </a:tc>
              </a:tr>
              <a:tr h="822960">
                <a:tc>
                  <a:txBody>
                    <a:bodyPr wrap="square"/>
                    <a:lstStyle/>
                    <a:p>
                      <a:pPr algn="l">
                        <a:lnSpc>
                          <a:spcPct val="100000"/>
                        </a:lnSpc>
                      </a:pPr>
                      <a:r>
                        <a:rPr sz="1550" b="0">
                          <a:solidFill>
                            <a:srgbClr val="14213D"/>
                          </a:solidFill>
                          <a:latin typeface="Segoe UI"/>
                        </a:rPr>
                        <a:t>Too broad: “Water pollution is a big problem.”</a:t>
                      </a:r>
                    </a:p>
                  </a:txBody>
                  <a:tcPr marL="101600" marR="101600" marT="50800" marB="50800" anchor="ctr">
                    <a:solidFill>
                      <a:srgbClr val="FFFFFF"/>
                    </a:solidFill>
                  </a:tcPr>
                </a:tc>
                <a:tc>
                  <a:txBody>
                    <a:bodyPr wrap="square"/>
                    <a:lstStyle/>
                    <a:p>
                      <a:pPr algn="l">
                        <a:lnSpc>
                          <a:spcPct val="100000"/>
                        </a:lnSpc>
                      </a:pPr>
                      <a:r>
                        <a:rPr sz="1550" b="0">
                          <a:solidFill>
                            <a:srgbClr val="14213D"/>
                          </a:solidFill>
                          <a:latin typeface="Segoe UI"/>
                        </a:rPr>
                        <a:t>Specific problem or gap</a:t>
                      </a:r>
                    </a:p>
                  </a:txBody>
                  <a:tcPr marL="101600" marR="101600" marT="50800" marB="50800" anchor="ctr">
                    <a:solidFill>
                      <a:srgbClr val="F7DEE2"/>
                    </a:solidFill>
                  </a:tcPr>
                </a:tc>
                <a:tc>
                  <a:txBody>
                    <a:bodyPr wrap="square"/>
                    <a:lstStyle/>
                    <a:p>
                      <a:pPr algn="l">
                        <a:lnSpc>
                          <a:spcPct val="100000"/>
                        </a:lnSpc>
                      </a:pPr>
                      <a:r>
                        <a:rPr sz="1550" b="0">
                          <a:solidFill>
                            <a:srgbClr val="14213D"/>
                          </a:solidFill>
                          <a:latin typeface="Segoe UI"/>
                        </a:rPr>
                        <a:t>Narrow to a specific variable, population, or setting</a:t>
                      </a:r>
                    </a:p>
                  </a:txBody>
                  <a:tcPr marL="101600" marR="101600" marT="50800" marB="50800" anchor="ctr">
                    <a:solidFill>
                      <a:srgbClr val="FFFFFF"/>
                    </a:solidFill>
                  </a:tcPr>
                </a:tc>
              </a:tr>
              <a:tr h="822960">
                <a:tc>
                  <a:txBody>
                    <a:bodyPr wrap="square"/>
                    <a:lstStyle/>
                    <a:p>
                      <a:pPr algn="l">
                        <a:lnSpc>
                          <a:spcPct val="100000"/>
                        </a:lnSpc>
                      </a:pPr>
                      <a:r>
                        <a:rPr sz="1550" b="0">
                          <a:solidFill>
                            <a:srgbClr val="14213D"/>
                          </a:solidFill>
                          <a:latin typeface="Segoe UI"/>
                        </a:rPr>
                        <a:t>Too vague: “Something should be done about dengue.”</a:t>
                      </a:r>
                    </a:p>
                  </a:txBody>
                  <a:tcPr marL="101600" marR="101600" marT="50800" marB="50800" anchor="ctr">
                    <a:solidFill>
                      <a:srgbClr val="EEF4F7"/>
                    </a:solidFill>
                  </a:tcPr>
                </a:tc>
                <a:tc>
                  <a:txBody>
                    <a:bodyPr wrap="square"/>
                    <a:lstStyle/>
                    <a:p>
                      <a:pPr algn="l">
                        <a:lnSpc>
                          <a:spcPct val="100000"/>
                        </a:lnSpc>
                      </a:pPr>
                      <a:r>
                        <a:rPr sz="1550" b="0">
                          <a:solidFill>
                            <a:srgbClr val="14213D"/>
                          </a:solidFill>
                          <a:latin typeface="Segoe UI"/>
                        </a:rPr>
                        <a:t>Objectives or aims</a:t>
                      </a:r>
                    </a:p>
                  </a:txBody>
                  <a:tcPr marL="101600" marR="101600" marT="50800" marB="50800" anchor="ctr">
                    <a:solidFill>
                      <a:srgbClr val="F7DEE2"/>
                    </a:solidFill>
                  </a:tcPr>
                </a:tc>
                <a:tc>
                  <a:txBody>
                    <a:bodyPr wrap="square"/>
                    <a:lstStyle/>
                    <a:p>
                      <a:pPr algn="l">
                        <a:lnSpc>
                          <a:spcPct val="100000"/>
                        </a:lnSpc>
                      </a:pPr>
                      <a:r>
                        <a:rPr sz="1550" b="0">
                          <a:solidFill>
                            <a:srgbClr val="14213D"/>
                          </a:solidFill>
                          <a:latin typeface="Segoe UI"/>
                        </a:rPr>
                        <a:t>State exactly what the study will investigate or accomplish</a:t>
                      </a:r>
                    </a:p>
                  </a:txBody>
                  <a:tcPr marL="101600" marR="101600" marT="50800" marB="50800" anchor="ctr">
                    <a:solidFill>
                      <a:srgbClr val="EEF4F7"/>
                    </a:solidFill>
                  </a:tcPr>
                </a:tc>
              </a:tr>
              <a:tr h="822960">
                <a:tc>
                  <a:txBody>
                    <a:bodyPr wrap="square"/>
                    <a:lstStyle/>
                    <a:p>
                      <a:pPr algn="l">
                        <a:lnSpc>
                          <a:spcPct val="100000"/>
                        </a:lnSpc>
                      </a:pPr>
                      <a:r>
                        <a:rPr sz="1550" b="0">
                          <a:solidFill>
                            <a:srgbClr val="14213D"/>
                          </a:solidFill>
                          <a:latin typeface="Segoe UI"/>
                        </a:rPr>
                        <a:t>Merely descriptive: “Many barangays use rainwater.”</a:t>
                      </a:r>
                    </a:p>
                  </a:txBody>
                  <a:tcPr marL="101600" marR="101600" marT="50800" marB="50800" anchor="ctr">
                    <a:solidFill>
                      <a:srgbClr val="FFFFFF"/>
                    </a:solidFill>
                  </a:tcPr>
                </a:tc>
                <a:tc>
                  <a:txBody>
                    <a:bodyPr wrap="square"/>
                    <a:lstStyle/>
                    <a:p>
                      <a:pPr algn="l">
                        <a:lnSpc>
                          <a:spcPct val="100000"/>
                        </a:lnSpc>
                      </a:pPr>
                      <a:r>
                        <a:rPr sz="1550" b="0">
                          <a:solidFill>
                            <a:srgbClr val="14213D"/>
                          </a:solidFill>
                          <a:latin typeface="Segoe UI"/>
                        </a:rPr>
                        <a:t>Implications</a:t>
                      </a:r>
                    </a:p>
                  </a:txBody>
                  <a:tcPr marL="101600" marR="101600" marT="50800" marB="50800" anchor="ctr">
                    <a:solidFill>
                      <a:srgbClr val="F7DEE2"/>
                    </a:solidFill>
                  </a:tcPr>
                </a:tc>
                <a:tc>
                  <a:txBody>
                    <a:bodyPr wrap="square"/>
                    <a:lstStyle/>
                    <a:p>
                      <a:pPr algn="l">
                        <a:lnSpc>
                          <a:spcPct val="100000"/>
                        </a:lnSpc>
                      </a:pPr>
                      <a:r>
                        <a:rPr sz="1550" b="0">
                          <a:solidFill>
                            <a:srgbClr val="14213D"/>
                          </a:solidFill>
                          <a:latin typeface="Segoe UI"/>
                        </a:rPr>
                        <a:t>Add why this is an unresolved issue worth studying</a:t>
                      </a:r>
                    </a:p>
                  </a:txBody>
                  <a:tcPr marL="101600" marR="101600" marT="50800" marB="50800" anchor="ctr">
                    <a:solidFill>
                      <a:srgbClr val="FFFFFF"/>
                    </a:solidFill>
                  </a:tcPr>
                </a:tc>
              </a:tr>
              <a:tr h="822960">
                <a:tc>
                  <a:txBody>
                    <a:bodyPr wrap="square"/>
                    <a:lstStyle/>
                    <a:p>
                      <a:pPr algn="l">
                        <a:lnSpc>
                          <a:spcPct val="100000"/>
                        </a:lnSpc>
                      </a:pPr>
                      <a:r>
                        <a:rPr sz="1550" b="0">
                          <a:solidFill>
                            <a:srgbClr val="14213D"/>
                          </a:solidFill>
                          <a:latin typeface="Segoe UI"/>
                        </a:rPr>
                        <a:t>Unanswerable: “Is clean water important?”</a:t>
                      </a:r>
                    </a:p>
                  </a:txBody>
                  <a:tcPr marL="101600" marR="101600" marT="50800" marB="50800" anchor="ctr">
                    <a:solidFill>
                      <a:srgbClr val="EEF4F7"/>
                    </a:solidFill>
                  </a:tcPr>
                </a:tc>
                <a:tc>
                  <a:txBody>
                    <a:bodyPr wrap="square"/>
                    <a:lstStyle/>
                    <a:p>
                      <a:pPr algn="l">
                        <a:lnSpc>
                          <a:spcPct val="100000"/>
                        </a:lnSpc>
                      </a:pPr>
                      <a:r>
                        <a:rPr sz="1550" b="0">
                          <a:solidFill>
                            <a:srgbClr val="14213D"/>
                          </a:solidFill>
                          <a:latin typeface="Segoe UI"/>
                        </a:rPr>
                        <a:t>Specific problem or gap</a:t>
                      </a:r>
                    </a:p>
                  </a:txBody>
                  <a:tcPr marL="101600" marR="101600" marT="50800" marB="50800" anchor="ctr">
                    <a:solidFill>
                      <a:srgbClr val="F7DEE2"/>
                    </a:solidFill>
                  </a:tcPr>
                </a:tc>
                <a:tc>
                  <a:txBody>
                    <a:bodyPr wrap="square"/>
                    <a:lstStyle/>
                    <a:p>
                      <a:pPr algn="l">
                        <a:lnSpc>
                          <a:spcPct val="100000"/>
                        </a:lnSpc>
                      </a:pPr>
                      <a:r>
                        <a:rPr sz="1550" b="0">
                          <a:solidFill>
                            <a:srgbClr val="14213D"/>
                          </a:solidFill>
                          <a:latin typeface="Segoe UI"/>
                        </a:rPr>
                        <a:t>Rephrase around something investigable with data</a:t>
                      </a:r>
                    </a:p>
                  </a:txBody>
                  <a:tcPr marL="101600" marR="101600" marT="50800" marB="50800" anchor="ctr">
                    <a:solidFill>
                      <a:srgbClr val="EEF4F7"/>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5 · FORMULATING THE PROBLEM STATEMENT (COMPETENCY 13)</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Diagnose and Fix</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26</a:t>
            </a:r>
          </a:p>
        </p:txBody>
      </p:sp>
      <p:sp>
        <p:nvSpPr>
          <p:cNvPr id="9" name="Rounded Rectangle 8"/>
          <p:cNvSpPr/>
          <p:nvPr/>
        </p:nvSpPr>
        <p:spPr>
          <a:xfrm>
            <a:off x="777240" y="1719072"/>
            <a:ext cx="2220163"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037283"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a:t>
            </a:r>
          </a:p>
        </p:txBody>
      </p:sp>
      <p:sp>
        <p:nvSpPr>
          <p:cNvPr id="11" name="Rounded Rectangle 10"/>
          <p:cNvSpPr/>
          <p:nvPr/>
        </p:nvSpPr>
        <p:spPr>
          <a:xfrm>
            <a:off x="777240" y="2240280"/>
            <a:ext cx="10637215" cy="868680"/>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05840" y="2478024"/>
            <a:ext cx="402336" cy="40233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1</a:t>
            </a:r>
          </a:p>
        </p:txBody>
      </p:sp>
      <p:sp>
        <p:nvSpPr>
          <p:cNvPr id="13" name="TextBox 12"/>
          <p:cNvSpPr txBox="1"/>
          <p:nvPr/>
        </p:nvSpPr>
        <p:spPr>
          <a:xfrm>
            <a:off x="1600200" y="2240280"/>
            <a:ext cx="9539935" cy="868680"/>
          </a:xfrm>
          <a:prstGeom prst="rect">
            <a:avLst/>
          </a:prstGeom>
          <a:noFill/>
        </p:spPr>
        <p:txBody>
          <a:bodyPr wrap="square" anchor="ctr" lIns="0" rIns="0" tIns="0" bIns="0">
            <a:spAutoFit/>
          </a:bodyPr>
          <a:lstStyle/>
          <a:p>
            <a:pPr algn="l">
              <a:lnSpc>
                <a:spcPct val="100000"/>
              </a:lnSpc>
              <a:spcBef>
                <a:spcPts val="0"/>
              </a:spcBef>
              <a:spcAft>
                <a:spcPts val="0"/>
              </a:spcAft>
            </a:pPr>
            <a:r>
              <a:rPr sz="2200" b="0" i="1">
                <a:solidFill>
                  <a:srgbClr val="14213D"/>
                </a:solidFill>
                <a:latin typeface="Segoe UI"/>
              </a:rPr>
              <a:t>“Renewable energy is important for the Philippines.”</a:t>
            </a:r>
          </a:p>
        </p:txBody>
      </p:sp>
      <p:sp>
        <p:nvSpPr>
          <p:cNvPr id="14" name="Rounded Rectangle 13"/>
          <p:cNvSpPr/>
          <p:nvPr/>
        </p:nvSpPr>
        <p:spPr>
          <a:xfrm>
            <a:off x="777240" y="3264408"/>
            <a:ext cx="10637215" cy="868680"/>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05840" y="3502152"/>
            <a:ext cx="402336" cy="40233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2</a:t>
            </a:r>
          </a:p>
        </p:txBody>
      </p:sp>
      <p:sp>
        <p:nvSpPr>
          <p:cNvPr id="16" name="TextBox 15"/>
          <p:cNvSpPr txBox="1"/>
          <p:nvPr/>
        </p:nvSpPr>
        <p:spPr>
          <a:xfrm>
            <a:off x="1600200" y="3264408"/>
            <a:ext cx="9539935" cy="868680"/>
          </a:xfrm>
          <a:prstGeom prst="rect">
            <a:avLst/>
          </a:prstGeom>
          <a:noFill/>
        </p:spPr>
        <p:txBody>
          <a:bodyPr wrap="square" anchor="ctr" lIns="0" rIns="0" tIns="0" bIns="0">
            <a:spAutoFit/>
          </a:bodyPr>
          <a:lstStyle/>
          <a:p>
            <a:pPr algn="l">
              <a:lnSpc>
                <a:spcPct val="100000"/>
              </a:lnSpc>
              <a:spcBef>
                <a:spcPts val="0"/>
              </a:spcBef>
              <a:spcAft>
                <a:spcPts val="0"/>
              </a:spcAft>
            </a:pPr>
            <a:r>
              <a:rPr sz="2200" b="0" i="1">
                <a:solidFill>
                  <a:srgbClr val="14213D"/>
                </a:solidFill>
                <a:latin typeface="Segoe UI"/>
              </a:rPr>
              <a:t>“This study is about students and their phones.”</a:t>
            </a:r>
          </a:p>
        </p:txBody>
      </p:sp>
      <p:sp>
        <p:nvSpPr>
          <p:cNvPr id="17" name="Rounded Rectangle 16"/>
          <p:cNvSpPr/>
          <p:nvPr/>
        </p:nvSpPr>
        <p:spPr>
          <a:xfrm>
            <a:off x="777240" y="4288536"/>
            <a:ext cx="10637215" cy="868680"/>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05840" y="4526280"/>
            <a:ext cx="402336" cy="40233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3</a:t>
            </a:r>
          </a:p>
        </p:txBody>
      </p:sp>
      <p:sp>
        <p:nvSpPr>
          <p:cNvPr id="19" name="TextBox 18"/>
          <p:cNvSpPr txBox="1"/>
          <p:nvPr/>
        </p:nvSpPr>
        <p:spPr>
          <a:xfrm>
            <a:off x="1600200" y="4288536"/>
            <a:ext cx="9539935" cy="868680"/>
          </a:xfrm>
          <a:prstGeom prst="rect">
            <a:avLst/>
          </a:prstGeom>
          <a:noFill/>
        </p:spPr>
        <p:txBody>
          <a:bodyPr wrap="square" anchor="ctr" lIns="0" rIns="0" tIns="0" bIns="0">
            <a:spAutoFit/>
          </a:bodyPr>
          <a:lstStyle/>
          <a:p>
            <a:pPr algn="l">
              <a:lnSpc>
                <a:spcPct val="100000"/>
              </a:lnSpc>
              <a:spcBef>
                <a:spcPts val="0"/>
              </a:spcBef>
              <a:spcAft>
                <a:spcPts val="0"/>
              </a:spcAft>
            </a:pPr>
            <a:r>
              <a:rPr sz="2200" b="0" i="1">
                <a:solidFill>
                  <a:srgbClr val="14213D"/>
                </a:solidFill>
                <a:latin typeface="Segoe UI"/>
              </a:rPr>
              <a:t>“Flooding happens in many cities during the rainy season.”</a:t>
            </a:r>
          </a:p>
        </p:txBody>
      </p:sp>
      <p:sp>
        <p:nvSpPr>
          <p:cNvPr id="20" name="Rounded Rectangle 19"/>
          <p:cNvSpPr/>
          <p:nvPr/>
        </p:nvSpPr>
        <p:spPr>
          <a:xfrm>
            <a:off x="777240" y="5294376"/>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960120" y="5394960"/>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22" name="TextBox 21"/>
          <p:cNvSpPr txBox="1"/>
          <p:nvPr/>
        </p:nvSpPr>
        <p:spPr>
          <a:xfrm>
            <a:off x="1490472" y="5294376"/>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In pairs: name the missing component, then rewrite with one sentence per component (Slide 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Today's Journey — Problem to Proof</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27</a:t>
            </a:r>
          </a:p>
        </p:txBody>
      </p:sp>
      <p:sp>
        <p:nvSpPr>
          <p:cNvPr id="9" name="Rounded Rectangle 8"/>
          <p:cNvSpPr/>
          <p:nvPr/>
        </p:nvSpPr>
        <p:spPr>
          <a:xfrm>
            <a:off x="777240" y="1847088"/>
            <a:ext cx="2286000" cy="868680"/>
          </a:xfrm>
          <a:prstGeom prst="roundRect">
            <a:avLst>
              <a:gd name="adj" fmla="val 16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Research Problem</a:t>
            </a:r>
          </a:p>
        </p:txBody>
      </p:sp>
      <p:sp>
        <p:nvSpPr>
          <p:cNvPr id="10" name="Right Arrow 9"/>
          <p:cNvSpPr/>
          <p:nvPr/>
        </p:nvSpPr>
        <p:spPr>
          <a:xfrm>
            <a:off x="3099816"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3566160" y="1847088"/>
            <a:ext cx="2286000" cy="868680"/>
          </a:xfrm>
          <a:prstGeom prst="roundRect">
            <a:avLst>
              <a:gd name="adj" fmla="val 16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Research Questions &amp; Hypotheses</a:t>
            </a:r>
          </a:p>
        </p:txBody>
      </p:sp>
      <p:sp>
        <p:nvSpPr>
          <p:cNvPr id="12" name="Right Arrow 11"/>
          <p:cNvSpPr/>
          <p:nvPr/>
        </p:nvSpPr>
        <p:spPr>
          <a:xfrm>
            <a:off x="5888736"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355079" y="1847088"/>
            <a:ext cx="2286000" cy="868680"/>
          </a:xfrm>
          <a:prstGeom prst="roundRect">
            <a:avLst>
              <a:gd name="adj" fmla="val 16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Justifying the Problem (CER)</a:t>
            </a:r>
          </a:p>
        </p:txBody>
      </p:sp>
      <p:sp>
        <p:nvSpPr>
          <p:cNvPr id="14" name="Right Arrow 13"/>
          <p:cNvSpPr/>
          <p:nvPr/>
        </p:nvSpPr>
        <p:spPr>
          <a:xfrm>
            <a:off x="8677655"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9144000" y="1847088"/>
            <a:ext cx="2286000" cy="868680"/>
          </a:xfrm>
          <a:prstGeom prst="roundRect">
            <a:avLst>
              <a:gd name="adj" fmla="val 16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Assumptions &amp; Limitations</a:t>
            </a:r>
          </a:p>
        </p:txBody>
      </p:sp>
      <p:sp>
        <p:nvSpPr>
          <p:cNvPr id="16" name="TextBox 15"/>
          <p:cNvSpPr txBox="1"/>
          <p:nvPr/>
        </p:nvSpPr>
        <p:spPr>
          <a:xfrm>
            <a:off x="822960" y="3063239"/>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1400"/>
              </a:spcAft>
              <a:buClr>
                <a:srgbClr val="1D7A8C"/>
              </a:buClr>
              <a:buSzPct val="80000"/>
              <a:buFont typeface="Arial"/>
              <a:buChar char="▪"/>
            </a:pPr>
            <a:r>
              <a:rPr sz="2400" b="0" i="0">
                <a:solidFill>
                  <a:srgbClr val="14213D"/>
                </a:solidFill>
                <a:latin typeface="Segoe UI"/>
              </a:rPr>
              <a:t>Today we complete the </a:t>
            </a:r>
            <a:r>
              <a:rPr sz="2400" b="1" i="0">
                <a:solidFill>
                  <a:srgbClr val="1D7A8C"/>
                </a:solidFill>
                <a:latin typeface="Segoe UI"/>
              </a:rPr>
              <a:t>backbone of Chapter 1</a:t>
            </a:r>
            <a:r>
              <a:rPr sz="2400" b="0" i="0">
                <a:solidFill>
                  <a:srgbClr val="14213D"/>
                </a:solidFill>
                <a:latin typeface="Segoe UI"/>
              </a:rPr>
              <a:t> of your research paper.</a:t>
            </a:r>
          </a:p>
          <a:p>
            <a:pPr algn="l" marL="274638" indent="-274638">
              <a:lnSpc>
                <a:spcPct val="105000"/>
              </a:lnSpc>
              <a:spcBef>
                <a:spcPts val="0"/>
              </a:spcBef>
              <a:spcAft>
                <a:spcPts val="1400"/>
              </a:spcAft>
              <a:buClr>
                <a:srgbClr val="1D7A8C"/>
              </a:buClr>
              <a:buSzPct val="80000"/>
              <a:buFont typeface="Arial"/>
              <a:buChar char="▪"/>
            </a:pPr>
            <a:r>
              <a:rPr sz="2400" b="0" i="0">
                <a:solidFill>
                  <a:srgbClr val="14213D"/>
                </a:solidFill>
                <a:latin typeface="Segoe UI"/>
              </a:rPr>
              <a:t>You already have a research </a:t>
            </a:r>
            <a:r>
              <a:rPr sz="2400" b="1" i="0">
                <a:solidFill>
                  <a:srgbClr val="F4795B"/>
                </a:solidFill>
                <a:latin typeface="Segoe UI"/>
              </a:rPr>
              <a:t>problem</a:t>
            </a:r>
            <a:r>
              <a:rPr sz="2400" b="0" i="0">
                <a:solidFill>
                  <a:srgbClr val="14213D"/>
                </a:solidFill>
                <a:latin typeface="Segoe UI"/>
              </a:rPr>
              <a:t>. Today you learn to (1) turn it into answerable questions, (2) defend why it matters, and (3) be honest about what your study can and cannot claim.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 Reef in Trouble — Setting the Scene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28</a:t>
            </a:r>
          </a:p>
        </p:txBody>
      </p:sp>
      <p:sp>
        <p:nvSpPr>
          <p:cNvPr id="9" name="Rounded Rectangle 8"/>
          <p:cNvSpPr/>
          <p:nvPr/>
        </p:nvSpPr>
        <p:spPr>
          <a:xfrm>
            <a:off x="777240" y="1719072"/>
            <a:ext cx="4151375"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968495"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Davao Gulf coral reef</a:t>
            </a:r>
          </a:p>
        </p:txBody>
      </p:sp>
      <p:sp>
        <p:nvSpPr>
          <p:cNvPr id="11" name="Rounded Rectangle 10"/>
          <p:cNvSpPr/>
          <p:nvPr/>
        </p:nvSpPr>
        <p:spPr>
          <a:xfrm>
            <a:off x="777240" y="2148840"/>
            <a:ext cx="10637215" cy="2148840"/>
          </a:xfrm>
          <a:prstGeom prst="roundRect">
            <a:avLst>
              <a:gd name="adj" fmla="val 8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48840"/>
            <a:ext cx="118872" cy="2148840"/>
          </a:xfrm>
          <a:prstGeom prst="roundRect">
            <a:avLst>
              <a:gd name="adj" fmla="val 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161288" y="2313432"/>
            <a:ext cx="9997135" cy="1819656"/>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F2B705"/>
                </a:solidFill>
                <a:latin typeface="Segoe UI Semibold"/>
              </a:rPr>
              <a:t>THE SCENARIO</a:t>
            </a:r>
          </a:p>
          <a:p>
            <a:pPr algn="l">
              <a:lnSpc>
                <a:spcPct val="116000"/>
              </a:lnSpc>
              <a:spcBef>
                <a:spcPts val="0"/>
              </a:spcBef>
              <a:spcAft>
                <a:spcPts val="0"/>
              </a:spcAft>
            </a:pPr>
            <a:r>
              <a:rPr sz="1800" b="0" i="1">
                <a:solidFill>
                  <a:srgbClr val="FFFFFF"/>
                </a:solidFill>
                <a:latin typeface="Segoe UI"/>
              </a:rPr>
              <a:t>A marine biology student in Davao City notices that coral cover near the Pujada Bay area of the Davao Gulf has visibly declined over the past decade. Fisherfolk report smaller catches. News articles mention “coral bleaching” and “sedimentation from coastal development.” She wants to study this — but where does she even start asking questions?</a:t>
            </a:r>
          </a:p>
        </p:txBody>
      </p:sp>
      <p:sp>
        <p:nvSpPr>
          <p:cNvPr id="14" name="TextBox 13"/>
          <p:cNvSpPr txBox="1"/>
          <p:nvPr/>
        </p:nvSpPr>
        <p:spPr>
          <a:xfrm>
            <a:off x="822960" y="4526279"/>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800"/>
              </a:spcAft>
              <a:buClr>
                <a:srgbClr val="1D7A8C"/>
              </a:buClr>
              <a:buSzPct val="80000"/>
              <a:buFont typeface="Arial"/>
              <a:buChar char="▪"/>
            </a:pPr>
            <a:r>
              <a:rPr sz="2100" b="0" i="0">
                <a:solidFill>
                  <a:srgbClr val="14213D"/>
                </a:solidFill>
                <a:latin typeface="Segoe UI"/>
              </a:rPr>
              <a:t>This is a </a:t>
            </a:r>
            <a:r>
              <a:rPr sz="2100" b="1" i="0">
                <a:solidFill>
                  <a:srgbClr val="F4795B"/>
                </a:solidFill>
                <a:latin typeface="Segoe UI"/>
              </a:rPr>
              <a:t>research problem</a:t>
            </a:r>
            <a:r>
              <a:rPr sz="2100" b="0" i="0">
                <a:solidFill>
                  <a:srgbClr val="14213D"/>
                </a:solidFill>
                <a:latin typeface="Segoe UI"/>
              </a:rPr>
              <a:t>: real, broad, and not yet answerable through investigation.</a:t>
            </a:r>
          </a:p>
          <a:p>
            <a:pPr algn="l" marL="274638" indent="-274638">
              <a:lnSpc>
                <a:spcPct val="105000"/>
              </a:lnSpc>
              <a:spcBef>
                <a:spcPts val="0"/>
              </a:spcBef>
              <a:spcAft>
                <a:spcPts val="800"/>
              </a:spcAft>
              <a:buClr>
                <a:srgbClr val="1D7A8C"/>
              </a:buClr>
              <a:buSzPct val="80000"/>
              <a:buFont typeface="Arial"/>
              <a:buChar char="▪"/>
            </a:pPr>
            <a:r>
              <a:rPr sz="2100" b="1" i="0">
                <a:solidFill>
                  <a:srgbClr val="1D7A8C"/>
                </a:solidFill>
                <a:latin typeface="Segoe UI"/>
              </a:rPr>
              <a:t>Instructor-Created Example</a:t>
            </a:r>
            <a:r>
              <a:rPr sz="2100" b="0" i="0">
                <a:solidFill>
                  <a:srgbClr val="14213D"/>
                </a:solidFill>
                <a:latin typeface="Segoe UI"/>
              </a:rPr>
              <a:t> (grounded in publicly documented Davao Gulf coral reef conditions).</a:t>
            </a:r>
          </a:p>
        </p:txBody>
      </p:sp>
      <p:sp>
        <p:nvSpPr>
          <p:cNvPr id="15" name="Rounded Rectangle 14"/>
          <p:cNvSpPr/>
          <p:nvPr/>
        </p:nvSpPr>
        <p:spPr>
          <a:xfrm>
            <a:off x="822960" y="5715000"/>
            <a:ext cx="5120640" cy="502920"/>
          </a:xfrm>
          <a:prstGeom prst="roundRect">
            <a:avLst>
              <a:gd name="adj" fmla="val 2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Coral reef — nursery habitat</a:t>
            </a:r>
          </a:p>
        </p:txBody>
      </p:sp>
      <p:sp>
        <p:nvSpPr>
          <p:cNvPr id="16" name="Rounded Rectangle 15"/>
          <p:cNvSpPr/>
          <p:nvPr/>
        </p:nvSpPr>
        <p:spPr>
          <a:xfrm>
            <a:off x="6309360" y="5715000"/>
            <a:ext cx="5120640" cy="502920"/>
          </a:xfrm>
          <a:prstGeom prst="roundRect">
            <a:avLst>
              <a:gd name="adj" fmla="val 20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FFFFF"/>
                </a:solidFill>
                <a:latin typeface="Segoe UI"/>
              </a:rPr>
              <a:t>Fisherfolk — livelihood at stake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Why a Problem Alone Is Not Enough</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29</a:t>
            </a:r>
          </a:p>
        </p:txBody>
      </p:sp>
      <p:graphicFrame>
        <p:nvGraphicFramePr>
          <p:cNvPr id="9" name="Table 8"/>
          <p:cNvGraphicFramePr>
            <a:graphicFrameLocks noGrp="1"/>
          </p:cNvGraphicFramePr>
          <p:nvPr/>
        </p:nvGraphicFramePr>
        <p:xfrm>
          <a:off x="777240" y="1920240"/>
          <a:ext cx="10637214" cy="2651760"/>
        </p:xfrm>
        <a:graphic>
          <a:graphicData uri="http://schemas.openxmlformats.org/drawingml/2006/table">
            <a:tbl>
              <a:tblPr>
                <a:tableStyleId>{5C22544A-7EE6-4342-B048-85BDC9FD1C3A}</a:tableStyleId>
              </a:tblPr>
              <a:tblGrid>
                <a:gridCol w="4947541"/>
                <a:gridCol w="5689673"/>
              </a:tblGrid>
              <a:tr h="548640">
                <a:tc>
                  <a:txBody>
                    <a:bodyPr wrap="square"/>
                    <a:lstStyle/>
                    <a:p>
                      <a:pPr algn="l">
                        <a:lnSpc>
                          <a:spcPct val="100000"/>
                        </a:lnSpc>
                      </a:pPr>
                      <a:r>
                        <a:rPr sz="1800" b="1">
                          <a:solidFill>
                            <a:srgbClr val="FFFFFF"/>
                          </a:solidFill>
                          <a:latin typeface="Segoe UI Semibold"/>
                        </a:rPr>
                        <a:t>Research Problem (broad)</a:t>
                      </a:r>
                    </a:p>
                  </a:txBody>
                  <a:tcPr marL="101600" marR="101600" marT="50800" marB="50800" anchor="ctr">
                    <a:solidFill>
                      <a:srgbClr val="14213D"/>
                    </a:solidFill>
                  </a:tcPr>
                </a:tc>
                <a:tc>
                  <a:txBody>
                    <a:bodyPr wrap="square"/>
                    <a:lstStyle/>
                    <a:p>
                      <a:pPr algn="l">
                        <a:lnSpc>
                          <a:spcPct val="100000"/>
                        </a:lnSpc>
                      </a:pPr>
                      <a:r>
                        <a:rPr sz="1800" b="1">
                          <a:solidFill>
                            <a:srgbClr val="FFFFFF"/>
                          </a:solidFill>
                          <a:latin typeface="Segoe UI Semibold"/>
                        </a:rPr>
                        <a:t>Research Question (focused)</a:t>
                      </a:r>
                    </a:p>
                  </a:txBody>
                  <a:tcPr marL="101600" marR="101600" marT="50800" marB="50800" anchor="ctr">
                    <a:solidFill>
                      <a:srgbClr val="14213D"/>
                    </a:solidFill>
                  </a:tcPr>
                </a:tc>
              </a:tr>
              <a:tr h="1051560">
                <a:tc>
                  <a:txBody>
                    <a:bodyPr wrap="square"/>
                    <a:lstStyle/>
                    <a:p>
                      <a:pPr algn="l">
                        <a:lnSpc>
                          <a:spcPct val="100000"/>
                        </a:lnSpc>
                      </a:pPr>
                      <a:r>
                        <a:rPr sz="1700" b="0">
                          <a:solidFill>
                            <a:srgbClr val="14213D"/>
                          </a:solidFill>
                          <a:latin typeface="Segoe UI"/>
                        </a:rPr>
                        <a:t>“Coral reefs in Davao Gulf are declining.”</a:t>
                      </a:r>
                    </a:p>
                  </a:txBody>
                  <a:tcPr marL="101600" marR="101600" marT="50800" marB="50800" anchor="ctr">
                    <a:solidFill>
                      <a:srgbClr val="FCF0CC"/>
                    </a:solidFill>
                  </a:tcPr>
                </a:tc>
                <a:tc>
                  <a:txBody>
                    <a:bodyPr wrap="square"/>
                    <a:lstStyle/>
                    <a:p>
                      <a:pPr algn="l">
                        <a:lnSpc>
                          <a:spcPct val="100000"/>
                        </a:lnSpc>
                      </a:pPr>
                      <a:r>
                        <a:rPr sz="1700" b="0">
                          <a:solidFill>
                            <a:srgbClr val="14213D"/>
                          </a:solidFill>
                          <a:latin typeface="Segoe UI"/>
                        </a:rPr>
                        <a:t>“What is the percentage of live coral cover at three reef sites in Davao Gulf?”</a:t>
                      </a:r>
                    </a:p>
                  </a:txBody>
                  <a:tcPr marL="101600" marR="101600" marT="50800" marB="50800" anchor="ctr">
                    <a:solidFill>
                      <a:srgbClr val="D9F0EC"/>
                    </a:solidFill>
                  </a:tcPr>
                </a:tc>
              </a:tr>
              <a:tr h="1051560">
                <a:tc>
                  <a:txBody>
                    <a:bodyPr wrap="square"/>
                    <a:lstStyle/>
                    <a:p>
                      <a:pPr algn="l">
                        <a:lnSpc>
                          <a:spcPct val="100000"/>
                        </a:lnSpc>
                      </a:pPr>
                      <a:r>
                        <a:rPr sz="1700" b="0">
                          <a:solidFill>
                            <a:srgbClr val="14213D"/>
                          </a:solidFill>
                          <a:latin typeface="Segoe UI"/>
                        </a:rPr>
                        <a:t>“Farmers are struggling with pests.”</a:t>
                      </a:r>
                    </a:p>
                  </a:txBody>
                  <a:tcPr marL="101600" marR="101600" marT="50800" marB="50800" anchor="ctr">
                    <a:solidFill>
                      <a:srgbClr val="FCF0CC"/>
                    </a:solidFill>
                  </a:tcPr>
                </a:tc>
                <a:tc>
                  <a:txBody>
                    <a:bodyPr wrap="square"/>
                    <a:lstStyle/>
                    <a:p>
                      <a:pPr algn="l">
                        <a:lnSpc>
                          <a:spcPct val="100000"/>
                        </a:lnSpc>
                      </a:pPr>
                      <a:r>
                        <a:rPr sz="1700" b="0">
                          <a:solidFill>
                            <a:srgbClr val="14213D"/>
                          </a:solidFill>
                          <a:latin typeface="Segoe UI"/>
                        </a:rPr>
                        <a:t>“What is the level of pesticide resistance among fall armyworm populations in a selected corn-growing municipality?”</a:t>
                      </a:r>
                    </a:p>
                  </a:txBody>
                  <a:tcPr marL="101600" marR="101600" marT="50800" marB="50800" anchor="ctr">
                    <a:solidFill>
                      <a:srgbClr val="D9F0EC"/>
                    </a:solidFill>
                  </a:tcPr>
                </a:tc>
              </a:tr>
            </a:tbl>
          </a:graphicData>
        </a:graphic>
      </p:graphicFrame>
      <p:sp>
        <p:nvSpPr>
          <p:cNvPr id="10" name="TextBox 9"/>
          <p:cNvSpPr txBox="1"/>
          <p:nvPr/>
        </p:nvSpPr>
        <p:spPr>
          <a:xfrm>
            <a:off x="822960" y="480060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700"/>
              </a:spcAft>
              <a:buClr>
                <a:srgbClr val="1D7A8C"/>
              </a:buClr>
              <a:buSzPct val="80000"/>
              <a:buFont typeface="Arial"/>
              <a:buChar char="▪"/>
            </a:pPr>
            <a:r>
              <a:rPr sz="2000" b="0" i="0">
                <a:solidFill>
                  <a:srgbClr val="14213D"/>
                </a:solidFill>
                <a:latin typeface="Segoe UI"/>
              </a:rPr>
              <a:t>A </a:t>
            </a:r>
            <a:r>
              <a:rPr sz="2000" b="1" i="0">
                <a:solidFill>
                  <a:srgbClr val="1D7A8C"/>
                </a:solidFill>
                <a:latin typeface="Segoe UI"/>
              </a:rPr>
              <a:t>research question </a:t>
            </a:r>
            <a:r>
              <a:rPr sz="2000" b="0" i="1">
                <a:solidFill>
                  <a:srgbClr val="14213D"/>
                </a:solidFill>
                <a:latin typeface="Segoe UI"/>
              </a:rPr>
              <a:t>narrows</a:t>
            </a:r>
            <a:r>
              <a:rPr sz="2000" b="0" i="0">
                <a:solidFill>
                  <a:srgbClr val="14213D"/>
                </a:solidFill>
                <a:latin typeface="Segoe UI"/>
              </a:rPr>
              <a:t> the problem into something specific, focused, and answerable through data collection.</a:t>
            </a:r>
          </a:p>
          <a:p>
            <a:pPr algn="l" marL="274638" indent="-274638">
              <a:lnSpc>
                <a:spcPct val="105000"/>
              </a:lnSpc>
              <a:spcBef>
                <a:spcPts val="0"/>
              </a:spcBef>
              <a:spcAft>
                <a:spcPts val="700"/>
              </a:spcAft>
              <a:buClr>
                <a:srgbClr val="1D7A8C"/>
              </a:buClr>
              <a:buSzPct val="80000"/>
              <a:buFont typeface="Arial"/>
              <a:buChar char="▪"/>
            </a:pPr>
            <a:r>
              <a:rPr sz="2000" b="0" i="0">
                <a:solidFill>
                  <a:srgbClr val="14213D"/>
                </a:solidFill>
                <a:latin typeface="Segoe UI"/>
              </a:rPr>
              <a:t>This is the first job of Competency 14: narrowing a problem statement into one or more research questions.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Narrow Your Own Problem</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30</a:t>
            </a:r>
          </a:p>
        </p:txBody>
      </p:sp>
      <p:sp>
        <p:nvSpPr>
          <p:cNvPr id="9" name="Rounded Rectangle 8"/>
          <p:cNvSpPr/>
          <p:nvPr/>
        </p:nvSpPr>
        <p:spPr>
          <a:xfrm>
            <a:off x="777240" y="1719072"/>
            <a:ext cx="4553712"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4370831"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 · Think–Pair–Share</a:t>
            </a:r>
          </a:p>
        </p:txBody>
      </p:sp>
      <p:sp>
        <p:nvSpPr>
          <p:cNvPr id="11" name="Rounded Rectangle 10"/>
          <p:cNvSpPr/>
          <p:nvPr/>
        </p:nvSpPr>
        <p:spPr>
          <a:xfrm>
            <a:off x="777240" y="2194560"/>
            <a:ext cx="10637215" cy="1051560"/>
          </a:xfrm>
          <a:prstGeom prst="roundRect">
            <a:avLst>
              <a:gd name="adj" fmla="val 8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118872" cy="1051560"/>
          </a:xfrm>
          <a:prstGeom prst="roundRect">
            <a:avLst>
              <a:gd name="adj" fmla="val 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161288" y="2359152"/>
            <a:ext cx="9997135" cy="722375"/>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F2B705"/>
                </a:solidFill>
                <a:latin typeface="Segoe UI Semibold"/>
              </a:rPr>
              <a:t>GIVEN BROAD PROBLEM</a:t>
            </a:r>
          </a:p>
          <a:p>
            <a:pPr algn="l">
              <a:lnSpc>
                <a:spcPct val="116000"/>
              </a:lnSpc>
              <a:spcBef>
                <a:spcPts val="0"/>
              </a:spcBef>
              <a:spcAft>
                <a:spcPts val="0"/>
              </a:spcAft>
            </a:pPr>
            <a:r>
              <a:rPr sz="2200" b="0" i="1">
                <a:solidFill>
                  <a:srgbClr val="FFFFFF"/>
                </a:solidFill>
                <a:latin typeface="Segoe UI"/>
              </a:rPr>
              <a:t>Post-harvest losses among small rice farmers in Mindanao are high.</a:t>
            </a:r>
          </a:p>
        </p:txBody>
      </p:sp>
      <p:sp>
        <p:nvSpPr>
          <p:cNvPr id="14" name="TextBox 13"/>
          <p:cNvSpPr txBox="1"/>
          <p:nvPr/>
        </p:nvSpPr>
        <p:spPr>
          <a:xfrm>
            <a:off x="822960" y="3520439"/>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1D7A8C"/>
              </a:buClr>
              <a:buSzPct val="80000"/>
              <a:buFont typeface="Arial"/>
              <a:buChar char="▪"/>
            </a:pPr>
            <a:r>
              <a:rPr sz="2300" b="0" i="0">
                <a:solidFill>
                  <a:srgbClr val="14213D"/>
                </a:solidFill>
                <a:latin typeface="Segoe UI"/>
              </a:rPr>
              <a:t>In pairs, narrow this into </a:t>
            </a:r>
            <a:r>
              <a:rPr sz="2300" b="1" i="0">
                <a:solidFill>
                  <a:srgbClr val="1D7A8C"/>
                </a:solidFill>
                <a:latin typeface="Segoe UI"/>
              </a:rPr>
              <a:t>one specific, focused research question</a:t>
            </a:r>
            <a:r>
              <a:rPr sz="2300" b="0" i="0">
                <a:solidFill>
                  <a:srgbClr val="14213D"/>
                </a:solidFill>
                <a:latin typeface="Segoe UI"/>
              </a:rPr>
              <a:t>.</a:t>
            </a:r>
          </a:p>
          <a:p>
            <a:pPr algn="l" marL="274638" indent="-274638">
              <a:lnSpc>
                <a:spcPct val="105000"/>
              </a:lnSpc>
              <a:spcBef>
                <a:spcPts val="0"/>
              </a:spcBef>
              <a:spcAft>
                <a:spcPts val="1200"/>
              </a:spcAft>
              <a:buClr>
                <a:srgbClr val="1D7A8C"/>
              </a:buClr>
              <a:buSzPct val="80000"/>
              <a:buFont typeface="Arial"/>
              <a:buChar char="▪"/>
            </a:pPr>
            <a:r>
              <a:rPr sz="2300" b="0" i="0">
                <a:solidFill>
                  <a:srgbClr val="14213D"/>
                </a:solidFill>
                <a:latin typeface="Segoe UI"/>
              </a:rPr>
              <a:t>Test it against this checklist: Is it </a:t>
            </a:r>
            <a:r>
              <a:rPr sz="2300" b="0" i="1">
                <a:solidFill>
                  <a:srgbClr val="14213D"/>
                </a:solidFill>
                <a:latin typeface="Segoe UI"/>
              </a:rPr>
              <a:t>clear</a:t>
            </a:r>
            <a:r>
              <a:rPr sz="2300" b="0" i="0">
                <a:solidFill>
                  <a:srgbClr val="14213D"/>
                </a:solidFill>
                <a:latin typeface="Segoe UI"/>
              </a:rPr>
              <a:t>? Is it </a:t>
            </a:r>
            <a:r>
              <a:rPr sz="2300" b="0" i="1">
                <a:solidFill>
                  <a:srgbClr val="14213D"/>
                </a:solidFill>
                <a:latin typeface="Segoe UI"/>
              </a:rPr>
              <a:t>specific</a:t>
            </a:r>
            <a:r>
              <a:rPr sz="2300" b="0" i="0">
                <a:solidFill>
                  <a:srgbClr val="14213D"/>
                </a:solidFill>
                <a:latin typeface="Segoe UI"/>
              </a:rPr>
              <a:t>? Can it be </a:t>
            </a:r>
            <a:r>
              <a:rPr sz="2300" b="0" i="1">
                <a:solidFill>
                  <a:srgbClr val="14213D"/>
                </a:solidFill>
                <a:latin typeface="Segoe UI"/>
              </a:rPr>
              <a:t>answered through investigation</a:t>
            </a:r>
            <a:r>
              <a:rPr sz="2300" b="0" i="0">
                <a:solidFill>
                  <a:srgbClr val="14213D"/>
                </a:solidFill>
                <a:latin typeface="Segoe UI"/>
              </a:rPr>
              <a:t> (not opinion)?</a:t>
            </a:r>
          </a:p>
        </p:txBody>
      </p:sp>
      <p:sp>
        <p:nvSpPr>
          <p:cNvPr id="15" name="Rounded Rectangle 14"/>
          <p:cNvSpPr/>
          <p:nvPr/>
        </p:nvSpPr>
        <p:spPr>
          <a:xfrm>
            <a:off x="777240" y="534924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960120" y="544982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7" name="TextBox 16"/>
          <p:cNvSpPr txBox="1"/>
          <p:nvPr/>
        </p:nvSpPr>
        <p:spPr>
          <a:xfrm>
            <a:off x="1490472" y="534924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3–4 minutes, then two or three pairs share 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Three Qualities of a Good Research Question</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31</a:t>
            </a:r>
          </a:p>
        </p:txBody>
      </p:sp>
      <p:sp>
        <p:nvSpPr>
          <p:cNvPr id="9" name="Rounded Rectangle 8"/>
          <p:cNvSpPr/>
          <p:nvPr/>
        </p:nvSpPr>
        <p:spPr>
          <a:xfrm>
            <a:off x="777240" y="2011679"/>
            <a:ext cx="3271418" cy="28803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1910029" y="2331720"/>
            <a:ext cx="1005840" cy="1005840"/>
          </a:xfrm>
          <a:prstGeom prst="ellipse">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400" b="1" i="0">
                <a:solidFill>
                  <a:srgbClr val="FFFFFF"/>
                </a:solidFill>
                <a:latin typeface="Segoe UI"/>
              </a:rPr>
              <a:t>C</a:t>
            </a:r>
          </a:p>
        </p:txBody>
      </p:sp>
      <p:sp>
        <p:nvSpPr>
          <p:cNvPr id="11" name="TextBox 10"/>
          <p:cNvSpPr txBox="1"/>
          <p:nvPr/>
        </p:nvSpPr>
        <p:spPr>
          <a:xfrm>
            <a:off x="960120" y="3474720"/>
            <a:ext cx="2905658" cy="411480"/>
          </a:xfrm>
          <a:prstGeom prst="rect">
            <a:avLst/>
          </a:prstGeom>
          <a:noFill/>
        </p:spPr>
        <p:txBody>
          <a:bodyPr wrap="square" anchor="t" lIns="0" rIns="0" tIns="0" bIns="0">
            <a:spAutoFit/>
          </a:bodyPr>
          <a:lstStyle/>
          <a:p>
            <a:pPr algn="ctr">
              <a:lnSpc>
                <a:spcPct val="105000"/>
              </a:lnSpc>
              <a:spcBef>
                <a:spcPts val="0"/>
              </a:spcBef>
              <a:spcAft>
                <a:spcPts val="400"/>
              </a:spcAft>
            </a:pPr>
            <a:r>
              <a:rPr sz="2300" b="1" i="0">
                <a:solidFill>
                  <a:srgbClr val="14213D"/>
                </a:solidFill>
                <a:latin typeface="Segoe UI Semibold"/>
              </a:rPr>
              <a:t>Clear</a:t>
            </a:r>
          </a:p>
        </p:txBody>
      </p:sp>
      <p:sp>
        <p:nvSpPr>
          <p:cNvPr id="12" name="TextBox 11"/>
          <p:cNvSpPr txBox="1"/>
          <p:nvPr/>
        </p:nvSpPr>
        <p:spPr>
          <a:xfrm>
            <a:off x="1051560" y="3931920"/>
            <a:ext cx="2722778" cy="914400"/>
          </a:xfrm>
          <a:prstGeom prst="rect">
            <a:avLst/>
          </a:prstGeom>
          <a:noFill/>
        </p:spPr>
        <p:txBody>
          <a:bodyPr wrap="square" anchor="t" lIns="0" rIns="0" tIns="0" bIns="0">
            <a:spAutoFit/>
          </a:bodyPr>
          <a:lstStyle/>
          <a:p>
            <a:pPr algn="ctr">
              <a:lnSpc>
                <a:spcPct val="108000"/>
              </a:lnSpc>
              <a:spcBef>
                <a:spcPts val="0"/>
              </a:spcBef>
              <a:spcAft>
                <a:spcPts val="0"/>
              </a:spcAft>
            </a:pPr>
            <a:r>
              <a:rPr sz="1600" b="0" i="0">
                <a:solidFill>
                  <a:srgbClr val="5B6B7B"/>
                </a:solidFill>
                <a:latin typeface="Segoe UI"/>
              </a:rPr>
              <a:t>anyone reading it understands exactly what is being asked, without further explanation</a:t>
            </a:r>
          </a:p>
        </p:txBody>
      </p:sp>
      <p:sp>
        <p:nvSpPr>
          <p:cNvPr id="13" name="Rounded Rectangle 12"/>
          <p:cNvSpPr/>
          <p:nvPr/>
        </p:nvSpPr>
        <p:spPr>
          <a:xfrm>
            <a:off x="4460138" y="2011679"/>
            <a:ext cx="3271418" cy="28803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92927" y="2331720"/>
            <a:ext cx="1005840" cy="1005840"/>
          </a:xfrm>
          <a:prstGeom prst="ellipse">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400" b="1" i="0">
                <a:solidFill>
                  <a:srgbClr val="FFFFFF"/>
                </a:solidFill>
                <a:latin typeface="Segoe UI"/>
              </a:rPr>
              <a:t>F</a:t>
            </a:r>
          </a:p>
        </p:txBody>
      </p:sp>
      <p:sp>
        <p:nvSpPr>
          <p:cNvPr id="15" name="TextBox 14"/>
          <p:cNvSpPr txBox="1"/>
          <p:nvPr/>
        </p:nvSpPr>
        <p:spPr>
          <a:xfrm>
            <a:off x="4643018" y="3474720"/>
            <a:ext cx="2905658" cy="411480"/>
          </a:xfrm>
          <a:prstGeom prst="rect">
            <a:avLst/>
          </a:prstGeom>
          <a:noFill/>
        </p:spPr>
        <p:txBody>
          <a:bodyPr wrap="square" anchor="t" lIns="0" rIns="0" tIns="0" bIns="0">
            <a:spAutoFit/>
          </a:bodyPr>
          <a:lstStyle/>
          <a:p>
            <a:pPr algn="ctr">
              <a:lnSpc>
                <a:spcPct val="105000"/>
              </a:lnSpc>
              <a:spcBef>
                <a:spcPts val="0"/>
              </a:spcBef>
              <a:spcAft>
                <a:spcPts val="400"/>
              </a:spcAft>
            </a:pPr>
            <a:r>
              <a:rPr sz="2300" b="1" i="0">
                <a:solidFill>
                  <a:srgbClr val="14213D"/>
                </a:solidFill>
                <a:latin typeface="Segoe UI Semibold"/>
              </a:rPr>
              <a:t>Focused</a:t>
            </a:r>
          </a:p>
        </p:txBody>
      </p:sp>
      <p:sp>
        <p:nvSpPr>
          <p:cNvPr id="16" name="TextBox 15"/>
          <p:cNvSpPr txBox="1"/>
          <p:nvPr/>
        </p:nvSpPr>
        <p:spPr>
          <a:xfrm>
            <a:off x="4734458" y="3931920"/>
            <a:ext cx="2722778" cy="914400"/>
          </a:xfrm>
          <a:prstGeom prst="rect">
            <a:avLst/>
          </a:prstGeom>
          <a:noFill/>
        </p:spPr>
        <p:txBody>
          <a:bodyPr wrap="square" anchor="t" lIns="0" rIns="0" tIns="0" bIns="0">
            <a:spAutoFit/>
          </a:bodyPr>
          <a:lstStyle/>
          <a:p>
            <a:pPr algn="ctr">
              <a:lnSpc>
                <a:spcPct val="108000"/>
              </a:lnSpc>
              <a:spcBef>
                <a:spcPts val="0"/>
              </a:spcBef>
              <a:spcAft>
                <a:spcPts val="0"/>
              </a:spcAft>
            </a:pPr>
            <a:r>
              <a:rPr sz="1600" b="0" i="0">
                <a:solidFill>
                  <a:srgbClr val="5B6B7B"/>
                </a:solidFill>
                <a:latin typeface="Segoe UI"/>
              </a:rPr>
              <a:t>narrow enough to be thoroughly answered within your study's timeframe and resources</a:t>
            </a:r>
          </a:p>
        </p:txBody>
      </p:sp>
      <p:sp>
        <p:nvSpPr>
          <p:cNvPr id="17" name="Rounded Rectangle 16"/>
          <p:cNvSpPr/>
          <p:nvPr/>
        </p:nvSpPr>
        <p:spPr>
          <a:xfrm>
            <a:off x="8143036" y="2011679"/>
            <a:ext cx="3271418" cy="28803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9275825" y="2331720"/>
            <a:ext cx="1005840" cy="1005840"/>
          </a:xfrm>
          <a:prstGeom prst="ellipse">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3400" b="1" i="0">
                <a:solidFill>
                  <a:srgbClr val="FFFFFF"/>
                </a:solidFill>
                <a:latin typeface="Segoe UI"/>
              </a:rPr>
              <a:t>A</a:t>
            </a:r>
          </a:p>
        </p:txBody>
      </p:sp>
      <p:sp>
        <p:nvSpPr>
          <p:cNvPr id="19" name="TextBox 18"/>
          <p:cNvSpPr txBox="1"/>
          <p:nvPr/>
        </p:nvSpPr>
        <p:spPr>
          <a:xfrm>
            <a:off x="8325916" y="3474720"/>
            <a:ext cx="2905658" cy="411480"/>
          </a:xfrm>
          <a:prstGeom prst="rect">
            <a:avLst/>
          </a:prstGeom>
          <a:noFill/>
        </p:spPr>
        <p:txBody>
          <a:bodyPr wrap="square" anchor="t" lIns="0" rIns="0" tIns="0" bIns="0">
            <a:spAutoFit/>
          </a:bodyPr>
          <a:lstStyle/>
          <a:p>
            <a:pPr algn="ctr">
              <a:lnSpc>
                <a:spcPct val="105000"/>
              </a:lnSpc>
              <a:spcBef>
                <a:spcPts val="0"/>
              </a:spcBef>
              <a:spcAft>
                <a:spcPts val="400"/>
              </a:spcAft>
            </a:pPr>
            <a:r>
              <a:rPr sz="2300" b="1" i="0">
                <a:solidFill>
                  <a:srgbClr val="14213D"/>
                </a:solidFill>
                <a:latin typeface="Segoe UI Semibold"/>
              </a:rPr>
              <a:t>Answerable</a:t>
            </a:r>
          </a:p>
        </p:txBody>
      </p:sp>
      <p:sp>
        <p:nvSpPr>
          <p:cNvPr id="20" name="TextBox 19"/>
          <p:cNvSpPr txBox="1"/>
          <p:nvPr/>
        </p:nvSpPr>
        <p:spPr>
          <a:xfrm>
            <a:off x="8417356" y="3931920"/>
            <a:ext cx="2722778" cy="914400"/>
          </a:xfrm>
          <a:prstGeom prst="rect">
            <a:avLst/>
          </a:prstGeom>
          <a:noFill/>
        </p:spPr>
        <p:txBody>
          <a:bodyPr wrap="square" anchor="t" lIns="0" rIns="0" tIns="0" bIns="0">
            <a:spAutoFit/>
          </a:bodyPr>
          <a:lstStyle/>
          <a:p>
            <a:pPr algn="ctr">
              <a:lnSpc>
                <a:spcPct val="108000"/>
              </a:lnSpc>
              <a:spcBef>
                <a:spcPts val="0"/>
              </a:spcBef>
              <a:spcAft>
                <a:spcPts val="0"/>
              </a:spcAft>
            </a:pPr>
            <a:r>
              <a:rPr sz="1600" b="0" i="0">
                <a:solidFill>
                  <a:srgbClr val="5B6B7B"/>
                </a:solidFill>
                <a:latin typeface="Segoe UI"/>
              </a:rPr>
              <a:t>resolved through data (measurement, observation, interview), not through opinion or debate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Application — Diagnose the Research Question</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32</a:t>
            </a:r>
          </a:p>
        </p:txBody>
      </p:sp>
      <p:sp>
        <p:nvSpPr>
          <p:cNvPr id="9" name="Rounded Rectangle 8"/>
          <p:cNvSpPr/>
          <p:nvPr/>
        </p:nvSpPr>
        <p:spPr>
          <a:xfrm>
            <a:off x="777240" y="1719072"/>
            <a:ext cx="3024835"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841955"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a:t>
            </a:r>
          </a:p>
        </p:txBody>
      </p:sp>
      <p:graphicFrame>
        <p:nvGraphicFramePr>
          <p:cNvPr id="11" name="Table 10"/>
          <p:cNvGraphicFramePr>
            <a:graphicFrameLocks noGrp="1"/>
          </p:cNvGraphicFramePr>
          <p:nvPr/>
        </p:nvGraphicFramePr>
        <p:xfrm>
          <a:off x="777240" y="2194560"/>
          <a:ext cx="10637214" cy="2971800"/>
        </p:xfrm>
        <a:graphic>
          <a:graphicData uri="http://schemas.openxmlformats.org/drawingml/2006/table">
            <a:tbl>
              <a:tblPr>
                <a:tableStyleId>{5C22544A-7EE6-4342-B048-85BDC9FD1C3A}</a:tableStyleId>
              </a:tblPr>
              <a:tblGrid>
                <a:gridCol w="8380836"/>
                <a:gridCol w="2256378"/>
              </a:tblGrid>
              <a:tr h="502920">
                <a:tc>
                  <a:txBody>
                    <a:bodyPr wrap="square"/>
                    <a:lstStyle/>
                    <a:p>
                      <a:pPr algn="l">
                        <a:lnSpc>
                          <a:spcPct val="100000"/>
                        </a:lnSpc>
                      </a:pPr>
                      <a:r>
                        <a:rPr sz="1700" b="1">
                          <a:solidFill>
                            <a:srgbClr val="FFFFFF"/>
                          </a:solidFill>
                          <a:latin typeface="Segoe UI Semibold"/>
                        </a:rPr>
                        <a:t>Question</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Verdict</a:t>
                      </a:r>
                    </a:p>
                  </a:txBody>
                  <a:tcPr marL="101600" marR="101600" marT="50800" marB="50800" anchor="ctr">
                    <a:solidFill>
                      <a:srgbClr val="1D7A8C"/>
                    </a:solidFill>
                  </a:tcPr>
                </a:tc>
              </a:tr>
              <a:tr h="822960">
                <a:tc>
                  <a:txBody>
                    <a:bodyPr wrap="square"/>
                    <a:lstStyle/>
                    <a:p>
                      <a:pPr algn="l">
                        <a:lnSpc>
                          <a:spcPct val="100000"/>
                        </a:lnSpc>
                      </a:pPr>
                      <a:r>
                        <a:rPr sz="1700" b="0">
                          <a:solidFill>
                            <a:srgbClr val="14213D"/>
                          </a:solidFill>
                          <a:latin typeface="Segoe UI"/>
                        </a:rPr>
                        <a:t>“What is the coral bleaching severity index of three reef sites in Davao Gulf during the dry season?”</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discuss</a:t>
                      </a:r>
                    </a:p>
                  </a:txBody>
                  <a:tcPr marL="101600" marR="101600" marT="50800" marB="50800" anchor="ctr">
                    <a:solidFill>
                      <a:srgbClr val="FCF0CC"/>
                    </a:solidFill>
                  </a:tcPr>
                </a:tc>
              </a:tr>
              <a:tr h="822960">
                <a:tc>
                  <a:txBody>
                    <a:bodyPr wrap="square"/>
                    <a:lstStyle/>
                    <a:p>
                      <a:pPr algn="l">
                        <a:lnSpc>
                          <a:spcPct val="100000"/>
                        </a:lnSpc>
                      </a:pPr>
                      <a:r>
                        <a:rPr sz="1700" b="0">
                          <a:solidFill>
                            <a:srgbClr val="14213D"/>
                          </a:solidFill>
                          <a:latin typeface="Segoe UI"/>
                        </a:rPr>
                        <a:t>“Are corals important?”</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discuss</a:t>
                      </a:r>
                    </a:p>
                  </a:txBody>
                  <a:tcPr marL="101600" marR="101600" marT="50800" marB="50800" anchor="ctr">
                    <a:solidFill>
                      <a:srgbClr val="FCF0CC"/>
                    </a:solidFill>
                  </a:tcPr>
                </a:tc>
              </a:tr>
              <a:tr h="822960">
                <a:tc>
                  <a:txBody>
                    <a:bodyPr wrap="square"/>
                    <a:lstStyle/>
                    <a:p>
                      <a:pPr algn="l">
                        <a:lnSpc>
                          <a:spcPct val="100000"/>
                        </a:lnSpc>
                      </a:pPr>
                      <a:r>
                        <a:rPr sz="1700" b="0">
                          <a:solidFill>
                            <a:srgbClr val="14213D"/>
                          </a:solidFill>
                          <a:latin typeface="Segoe UI"/>
                        </a:rPr>
                        <a:t>“What is the relationship between soil nitrogen levels and corn yield in a selected Davao del Norte farm?”</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discuss</a:t>
                      </a:r>
                    </a:p>
                  </a:txBody>
                  <a:tcPr marL="101600" marR="101600" marT="50800" marB="50800" anchor="ctr">
                    <a:solidFill>
                      <a:srgbClr val="FCF0CC"/>
                    </a:solidFill>
                  </a:tcPr>
                </a:tc>
              </a:tr>
            </a:tbl>
          </a:graphicData>
        </a:graphic>
      </p:graphicFrame>
      <p:sp>
        <p:nvSpPr>
          <p:cNvPr id="12" name="Rounded Rectangle 11"/>
          <p:cNvSpPr/>
          <p:nvPr/>
        </p:nvSpPr>
        <p:spPr>
          <a:xfrm>
            <a:off x="777240" y="525780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60120" y="535838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4" name="TextBox 13"/>
          <p:cNvSpPr txBox="1"/>
          <p:nvPr/>
        </p:nvSpPr>
        <p:spPr>
          <a:xfrm>
            <a:off x="1490472" y="525780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Sort each as ✓ Strong or ✗ Needs Revision — and say why.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When Does a Study Need a Hypothesis?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33</a:t>
            </a:r>
          </a:p>
        </p:txBody>
      </p:sp>
      <p:sp>
        <p:nvSpPr>
          <p:cNvPr id="9" name="Rounded Rectangle 8"/>
          <p:cNvSpPr/>
          <p:nvPr/>
        </p:nvSpPr>
        <p:spPr>
          <a:xfrm>
            <a:off x="2804007" y="1828800"/>
            <a:ext cx="6583680" cy="868680"/>
          </a:xfrm>
          <a:prstGeom prst="roundRect">
            <a:avLst>
              <a:gd name="adj" fmla="val 10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986887" y="1828800"/>
            <a:ext cx="6217920" cy="868680"/>
          </a:xfrm>
          <a:prstGeom prst="rect">
            <a:avLst/>
          </a:prstGeom>
          <a:noFill/>
        </p:spPr>
        <p:txBody>
          <a:bodyPr wrap="square" anchor="ctr" lIns="0" rIns="0" tIns="0" bIns="0">
            <a:spAutoFit/>
          </a:bodyPr>
          <a:lstStyle/>
          <a:p>
            <a:pPr algn="ctr">
              <a:lnSpc>
                <a:spcPct val="105000"/>
              </a:lnSpc>
              <a:spcBef>
                <a:spcPts val="0"/>
              </a:spcBef>
              <a:spcAft>
                <a:spcPts val="0"/>
              </a:spcAft>
            </a:pPr>
            <a:r>
              <a:rPr sz="1600" b="0" i="0">
                <a:solidFill>
                  <a:srgbClr val="FFFFFF"/>
                </a:solidFill>
                <a:latin typeface="Segoe UI"/>
              </a:rPr>
              <a:t>Does your study test a </a:t>
            </a:r>
            <a:r>
              <a:rPr sz="1600" b="1" i="0">
                <a:solidFill>
                  <a:srgbClr val="F2B705"/>
                </a:solidFill>
                <a:latin typeface="Segoe UI"/>
              </a:rPr>
              <a:t>predicted relationship or difference</a:t>
            </a:r>
            <a:r>
              <a:rPr sz="1600" b="0" i="0">
                <a:solidFill>
                  <a:srgbClr val="FFFFFF"/>
                </a:solidFill>
                <a:latin typeface="Segoe UI"/>
              </a:rPr>
              <a:t> between variables using statistics?</a:t>
            </a:r>
          </a:p>
        </p:txBody>
      </p:sp>
      <p:cxnSp>
        <p:nvCxnSpPr>
          <p:cNvPr id="11" name="Connector 10"/>
          <p:cNvCxnSpPr/>
          <p:nvPr/>
        </p:nvCxnSpPr>
        <p:spPr>
          <a:xfrm flipH="1">
            <a:off x="3383280" y="2697480"/>
            <a:ext cx="1340967" cy="594359"/>
          </a:xfrm>
          <a:prstGeom prst="line">
            <a:avLst/>
          </a:prstGeom>
          <a:ln w="31750">
            <a:solidFill>
              <a:srgbClr val="1D7A8C"/>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67447" y="2697480"/>
            <a:ext cx="1310793" cy="594359"/>
          </a:xfrm>
          <a:prstGeom prst="line">
            <a:avLst/>
          </a:prstGeom>
          <a:ln w="31750">
            <a:solidFill>
              <a:srgbClr val="F4795B"/>
            </a:solidFill>
          </a:ln>
          <a:effectLst/>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626967" y="2816352"/>
            <a:ext cx="640080" cy="384048"/>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YES</a:t>
            </a:r>
          </a:p>
        </p:txBody>
      </p:sp>
      <p:sp>
        <p:nvSpPr>
          <p:cNvPr id="14" name="Oval 13"/>
          <p:cNvSpPr/>
          <p:nvPr/>
        </p:nvSpPr>
        <p:spPr>
          <a:xfrm>
            <a:off x="7924647" y="2816352"/>
            <a:ext cx="640080" cy="384048"/>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NO</a:t>
            </a:r>
          </a:p>
        </p:txBody>
      </p:sp>
      <p:sp>
        <p:nvSpPr>
          <p:cNvPr id="15" name="Rounded Rectangle 14"/>
          <p:cNvSpPr/>
          <p:nvPr/>
        </p:nvSpPr>
        <p:spPr>
          <a:xfrm>
            <a:off x="1920240" y="3291839"/>
            <a:ext cx="2926080" cy="566928"/>
          </a:xfrm>
          <a:prstGeom prst="roundRect">
            <a:avLst>
              <a:gd name="adj" fmla="val 14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600" b="1" i="0">
                <a:solidFill>
                  <a:srgbClr val="FFFFFF"/>
                </a:solidFill>
                <a:latin typeface="Segoe UI"/>
              </a:rPr>
              <a:t>Quantitative study</a:t>
            </a:r>
          </a:p>
        </p:txBody>
      </p:sp>
      <p:sp>
        <p:nvSpPr>
          <p:cNvPr id="16" name="Down Arrow 15"/>
          <p:cNvSpPr/>
          <p:nvPr/>
        </p:nvSpPr>
        <p:spPr>
          <a:xfrm>
            <a:off x="3227832" y="3913631"/>
            <a:ext cx="310896" cy="219456"/>
          </a:xfrm>
          <a:prstGeom prst="down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1920240" y="4187952"/>
            <a:ext cx="2926080" cy="731520"/>
          </a:xfrm>
          <a:prstGeom prst="roundRect">
            <a:avLst>
              <a:gd name="adj" fmla="val 12000"/>
            </a:avLst>
          </a:prstGeom>
          <a:solidFill>
            <a:srgbClr val="FFFFFF"/>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50" b="1" i="0">
                <a:solidFill>
                  <a:srgbClr val="14213D"/>
                </a:solidFill>
                <a:latin typeface="Segoe UI"/>
              </a:rPr>
              <a:t>Write a HYPOTHESIS</a:t>
            </a:r>
          </a:p>
        </p:txBody>
      </p:sp>
      <p:sp>
        <p:nvSpPr>
          <p:cNvPr id="18" name="Rounded Rectangle 17"/>
          <p:cNvSpPr/>
          <p:nvPr/>
        </p:nvSpPr>
        <p:spPr>
          <a:xfrm>
            <a:off x="7315200" y="3291839"/>
            <a:ext cx="2926080" cy="566928"/>
          </a:xfrm>
          <a:prstGeom prst="roundRect">
            <a:avLst>
              <a:gd name="adj" fmla="val 14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600" b="1" i="0">
                <a:solidFill>
                  <a:srgbClr val="FFFFFF"/>
                </a:solidFill>
                <a:latin typeface="Segoe UI"/>
              </a:rPr>
              <a:t>Qualitative study</a:t>
            </a:r>
          </a:p>
        </p:txBody>
      </p:sp>
      <p:sp>
        <p:nvSpPr>
          <p:cNvPr id="19" name="Down Arrow 18"/>
          <p:cNvSpPr/>
          <p:nvPr/>
        </p:nvSpPr>
        <p:spPr>
          <a:xfrm>
            <a:off x="8622792" y="3913631"/>
            <a:ext cx="310896" cy="219456"/>
          </a:xfrm>
          <a:prstGeom prst="down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7315200" y="4187952"/>
            <a:ext cx="2926080" cy="731520"/>
          </a:xfrm>
          <a:prstGeom prst="roundRect">
            <a:avLst>
              <a:gd name="adj" fmla="val 12000"/>
            </a:avLst>
          </a:prstGeom>
          <a:solidFill>
            <a:srgbClr val="FFFFFF"/>
          </a:solidFill>
          <a:ln w="12700">
            <a:solidFill>
              <a:srgbClr val="F4795B"/>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50" b="1" i="0">
                <a:solidFill>
                  <a:srgbClr val="14213D"/>
                </a:solidFill>
                <a:latin typeface="Segoe UI"/>
              </a:rPr>
              <a:t>Use RESEARCH QUESTIONS only (no hypothesis)</a:t>
            </a:r>
          </a:p>
        </p:txBody>
      </p:sp>
      <p:sp>
        <p:nvSpPr>
          <p:cNvPr id="21" name="TextBox 20"/>
          <p:cNvSpPr txBox="1"/>
          <p:nvPr/>
        </p:nvSpPr>
        <p:spPr>
          <a:xfrm>
            <a:off x="822960" y="516636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600"/>
              </a:spcAft>
              <a:buClr>
                <a:srgbClr val="1D7A8C"/>
              </a:buClr>
              <a:buSzPct val="80000"/>
              <a:buFont typeface="Arial"/>
              <a:buChar char="▪"/>
            </a:pPr>
            <a:r>
              <a:rPr sz="1800" b="0" i="0">
                <a:solidFill>
                  <a:srgbClr val="14213D"/>
                </a:solidFill>
                <a:latin typeface="Segoe UI"/>
              </a:rPr>
              <a:t>A </a:t>
            </a:r>
            <a:r>
              <a:rPr sz="1800" b="1" i="1">
                <a:solidFill>
                  <a:srgbClr val="1D7A8C"/>
                </a:solidFill>
                <a:latin typeface="Segoe UI"/>
              </a:rPr>
              <a:t>hypothesis</a:t>
            </a:r>
            <a:r>
              <a:rPr sz="1800" b="0" i="0">
                <a:solidFill>
                  <a:srgbClr val="14213D"/>
                </a:solidFill>
                <a:latin typeface="Segoe UI"/>
              </a:rPr>
              <a:t> is a researcher's predicted answer to a research question, later tested with statistics.</a:t>
            </a:r>
          </a:p>
          <a:p>
            <a:pPr algn="l" marL="274638" indent="-274638">
              <a:lnSpc>
                <a:spcPct val="105000"/>
              </a:lnSpc>
              <a:spcBef>
                <a:spcPts val="0"/>
              </a:spcBef>
              <a:spcAft>
                <a:spcPts val="600"/>
              </a:spcAft>
              <a:buClr>
                <a:srgbClr val="1D7A8C"/>
              </a:buClr>
              <a:buSzPct val="80000"/>
              <a:buFont typeface="Arial"/>
              <a:buChar char="▪"/>
            </a:pPr>
            <a:r>
              <a:rPr sz="1800" b="1" i="1">
                <a:solidFill>
                  <a:srgbClr val="F4795B"/>
                </a:solidFill>
                <a:latin typeface="Segoe UI"/>
              </a:rPr>
              <a:t>Qualitative</a:t>
            </a:r>
            <a:r>
              <a:rPr sz="1800" b="0" i="0">
                <a:solidFill>
                  <a:srgbClr val="14213D"/>
                </a:solidFill>
                <a:latin typeface="Segoe UI"/>
              </a:rPr>
              <a:t> research uses questions only — the researcher deliberately avoids predicting a direction, since the goal is to explore meaning, not test a prediction.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Hypothesis or Not?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34</a:t>
            </a:r>
          </a:p>
        </p:txBody>
      </p:sp>
      <p:sp>
        <p:nvSpPr>
          <p:cNvPr id="9" name="Rounded Rectangle 8"/>
          <p:cNvSpPr/>
          <p:nvPr/>
        </p:nvSpPr>
        <p:spPr>
          <a:xfrm>
            <a:off x="777240" y="1719072"/>
            <a:ext cx="3024835"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841955"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a:t>
            </a:r>
          </a:p>
        </p:txBody>
      </p:sp>
      <p:graphicFrame>
        <p:nvGraphicFramePr>
          <p:cNvPr id="11" name="Table 10"/>
          <p:cNvGraphicFramePr>
            <a:graphicFrameLocks noGrp="1"/>
          </p:cNvGraphicFramePr>
          <p:nvPr/>
        </p:nvGraphicFramePr>
        <p:xfrm>
          <a:off x="777240" y="2194560"/>
          <a:ext cx="10637214" cy="2834640"/>
        </p:xfrm>
        <a:graphic>
          <a:graphicData uri="http://schemas.openxmlformats.org/drawingml/2006/table">
            <a:tbl>
              <a:tblPr>
                <a:tableStyleId>{5C22544A-7EE6-4342-B048-85BDC9FD1C3A}</a:tableStyleId>
              </a:tblPr>
              <a:tblGrid>
                <a:gridCol w="7736156"/>
                <a:gridCol w="2901058"/>
              </a:tblGrid>
              <a:tr h="502920">
                <a:tc>
                  <a:txBody>
                    <a:bodyPr wrap="square"/>
                    <a:lstStyle/>
                    <a:p>
                      <a:pPr algn="l">
                        <a:lnSpc>
                          <a:spcPct val="100000"/>
                        </a:lnSpc>
                      </a:pPr>
                      <a:r>
                        <a:rPr sz="1700" b="1">
                          <a:solidFill>
                            <a:srgbClr val="FFFFFF"/>
                          </a:solidFill>
                          <a:latin typeface="Segoe UI Semibold"/>
                        </a:rPr>
                        <a:t>Study Description</a:t>
                      </a:r>
                    </a:p>
                  </a:txBody>
                  <a:tcPr marL="101600" marR="101600" marT="50800" marB="50800" anchor="ctr">
                    <a:solidFill>
                      <a:srgbClr val="1D7A8C"/>
                    </a:solidFill>
                  </a:tcPr>
                </a:tc>
                <a:tc>
                  <a:txBody>
                    <a:bodyPr wrap="square"/>
                    <a:lstStyle/>
                    <a:p>
                      <a:pPr algn="l">
                        <a:lnSpc>
                          <a:spcPct val="100000"/>
                        </a:lnSpc>
                      </a:pPr>
                      <a:r>
                        <a:rPr sz="1700" b="1">
                          <a:solidFill>
                            <a:srgbClr val="FFFFFF"/>
                          </a:solidFill>
                          <a:latin typeface="Segoe UI Semibold"/>
                        </a:rPr>
                        <a:t>Needs a Hypothesis?</a:t>
                      </a:r>
                    </a:p>
                  </a:txBody>
                  <a:tcPr marL="101600" marR="101600" marT="50800" marB="50800" anchor="ctr">
                    <a:solidFill>
                      <a:srgbClr val="1D7A8C"/>
                    </a:solidFill>
                  </a:tcPr>
                </a:tc>
              </a:tr>
              <a:tr h="777240">
                <a:tc>
                  <a:txBody>
                    <a:bodyPr wrap="square"/>
                    <a:lstStyle/>
                    <a:p>
                      <a:pPr algn="l">
                        <a:lnSpc>
                          <a:spcPct val="100000"/>
                        </a:lnSpc>
                      </a:pPr>
                      <a:r>
                        <a:rPr sz="1700" b="0">
                          <a:solidFill>
                            <a:srgbClr val="14213D"/>
                          </a:solidFill>
                          <a:latin typeface="Segoe UI"/>
                        </a:rPr>
                        <a:t>Comparing average water turbidity between two reef sites using measured data</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  /  ✗</a:t>
                      </a:r>
                    </a:p>
                  </a:txBody>
                  <a:tcPr marL="101600" marR="101600" marT="50800" marB="50800" anchor="ctr">
                    <a:solidFill>
                      <a:srgbClr val="E4F1F3"/>
                    </a:solidFill>
                  </a:tcPr>
                </a:tc>
              </a:tr>
              <a:tr h="777240">
                <a:tc>
                  <a:txBody>
                    <a:bodyPr wrap="square"/>
                    <a:lstStyle/>
                    <a:p>
                      <a:pPr algn="l">
                        <a:lnSpc>
                          <a:spcPct val="100000"/>
                        </a:lnSpc>
                      </a:pPr>
                      <a:r>
                        <a:rPr sz="1700" b="0">
                          <a:solidFill>
                            <a:srgbClr val="14213D"/>
                          </a:solidFill>
                          <a:latin typeface="Segoe UI"/>
                        </a:rPr>
                        <a:t>Exploring how fisherfolk describe changes in their livelihood over 10 years through interviews</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  /  ✗</a:t>
                      </a:r>
                    </a:p>
                  </a:txBody>
                  <a:tcPr marL="101600" marR="101600" marT="50800" marB="50800" anchor="ctr">
                    <a:solidFill>
                      <a:srgbClr val="E4F1F3"/>
                    </a:solidFill>
                  </a:tcPr>
                </a:tc>
              </a:tr>
              <a:tr h="777240">
                <a:tc>
                  <a:txBody>
                    <a:bodyPr wrap="square"/>
                    <a:lstStyle/>
                    <a:p>
                      <a:pPr algn="l">
                        <a:lnSpc>
                          <a:spcPct val="100000"/>
                        </a:lnSpc>
                      </a:pPr>
                      <a:r>
                        <a:rPr sz="1700" b="0">
                          <a:solidFill>
                            <a:srgbClr val="14213D"/>
                          </a:solidFill>
                          <a:latin typeface="Segoe UI"/>
                        </a:rPr>
                        <a:t>Testing whether a new organic fertilizer increases mung bean yield compared to a control group</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  /  ✗</a:t>
                      </a:r>
                    </a:p>
                  </a:txBody>
                  <a:tcPr marL="101600" marR="101600" marT="50800" marB="50800" anchor="ctr">
                    <a:solidFill>
                      <a:srgbClr val="E4F1F3"/>
                    </a:solidFill>
                  </a:tcPr>
                </a:tc>
              </a:tr>
            </a:tbl>
          </a:graphicData>
        </a:graphic>
      </p:graphicFrame>
      <p:sp>
        <p:nvSpPr>
          <p:cNvPr id="12" name="Rounded Rectangle 11"/>
          <p:cNvSpPr/>
          <p:nvPr/>
        </p:nvSpPr>
        <p:spPr>
          <a:xfrm>
            <a:off x="777240" y="516636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60120" y="526694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4" name="TextBox 13"/>
          <p:cNvSpPr txBox="1"/>
          <p:nvPr/>
        </p:nvSpPr>
        <p:spPr>
          <a:xfrm>
            <a:off x="1490472" y="516636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Scan for comparison / relationship words (“compare, relationship, effect, increase”).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How Many Questions Should You Have?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35</a:t>
            </a:r>
          </a:p>
        </p:txBody>
      </p:sp>
      <p:graphicFrame>
        <p:nvGraphicFramePr>
          <p:cNvPr id="9" name="Table 8"/>
          <p:cNvGraphicFramePr>
            <a:graphicFrameLocks noGrp="1"/>
          </p:cNvGraphicFramePr>
          <p:nvPr/>
        </p:nvGraphicFramePr>
        <p:xfrm>
          <a:off x="777240" y="1920240"/>
          <a:ext cx="10637214" cy="3657600"/>
        </p:xfrm>
        <a:graphic>
          <a:graphicData uri="http://schemas.openxmlformats.org/drawingml/2006/table">
            <a:tbl>
              <a:tblPr>
                <a:tableStyleId>{5C22544A-7EE6-4342-B048-85BDC9FD1C3A}</a:tableStyleId>
              </a:tblPr>
              <a:tblGrid>
                <a:gridCol w="2393373"/>
                <a:gridCol w="4254886"/>
                <a:gridCol w="3988955"/>
              </a:tblGrid>
              <a:tr h="502920">
                <a:tc>
                  <a:txBody>
                    <a:bodyPr wrap="square"/>
                    <a:lstStyle/>
                    <a:p>
                      <a:pPr algn="l">
                        <a:lnSpc>
                          <a:spcPct val="100000"/>
                        </a:lnSpc>
                      </a:pPr>
                      <a:r>
                        <a:rPr sz="1600" b="1">
                          <a:solidFill>
                            <a:srgbClr val="FFFFFF"/>
                          </a:solidFill>
                          <a:latin typeface="Segoe UI Semibold"/>
                        </a:rPr>
                        <a:t>Research Type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Structure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Typical Count</a:t>
                      </a:r>
                    </a:p>
                  </a:txBody>
                  <a:tcPr marL="101600" marR="101600" marT="50800" marB="50800" anchor="ctr">
                    <a:solidFill>
                      <a:srgbClr val="1D7A8C"/>
                    </a:solidFill>
                  </a:tcPr>
                </a:tc>
              </a:tr>
              <a:tr h="1051560">
                <a:tc>
                  <a:txBody>
                    <a:bodyPr wrap="square"/>
                    <a:lstStyle/>
                    <a:p>
                      <a:pPr algn="l">
                        <a:lnSpc>
                          <a:spcPct val="100000"/>
                        </a:lnSpc>
                      </a:pPr>
                      <a:r>
                        <a:rPr sz="1550" b="0">
                          <a:solidFill>
                            <a:srgbClr val="14213D"/>
                          </a:solidFill>
                          <a:latin typeface="Segoe UI"/>
                        </a:rPr>
                        <a:t>Quantitative (SOP format)</a:t>
                      </a:r>
                    </a:p>
                  </a:txBody>
                  <a:tcPr marL="101600" marR="101600" marT="50800" marB="50800" anchor="ctr">
                    <a:solidFill>
                      <a:srgbClr val="E4F1F3"/>
                    </a:solidFill>
                  </a:tcPr>
                </a:tc>
                <a:tc>
                  <a:txBody>
                    <a:bodyPr wrap="square"/>
                    <a:lstStyle/>
                    <a:p>
                      <a:pPr algn="l">
                        <a:lnSpc>
                          <a:spcPct val="100000"/>
                        </a:lnSpc>
                      </a:pPr>
                      <a:r>
                        <a:rPr sz="1550" b="0">
                          <a:solidFill>
                            <a:srgbClr val="14213D"/>
                          </a:solidFill>
                          <a:latin typeface="Segoe UI"/>
                        </a:rPr>
                        <a:t>1 general objective + several specific sub-questions</a:t>
                      </a:r>
                    </a:p>
                  </a:txBody>
                  <a:tcPr marL="101600" marR="101600" marT="50800" marB="50800" anchor="ctr">
                    <a:solidFill>
                      <a:srgbClr val="FFFFFF"/>
                    </a:solidFill>
                  </a:tcPr>
                </a:tc>
                <a:tc>
                  <a:txBody>
                    <a:bodyPr wrap="square"/>
                    <a:lstStyle/>
                    <a:p>
                      <a:pPr algn="l">
                        <a:lnSpc>
                          <a:spcPct val="100000"/>
                        </a:lnSpc>
                      </a:pPr>
                      <a:r>
                        <a:rPr sz="1550" b="0">
                          <a:solidFill>
                            <a:srgbClr val="14213D"/>
                          </a:solidFill>
                          <a:latin typeface="Segoe UI"/>
                        </a:rPr>
                        <a:t>At least 3 specific sub-questions, each tied to a measurable variable</a:t>
                      </a:r>
                    </a:p>
                  </a:txBody>
                  <a:tcPr marL="101600" marR="101600" marT="50800" marB="50800" anchor="ctr">
                    <a:solidFill>
                      <a:srgbClr val="FFFFFF"/>
                    </a:solidFill>
                  </a:tcPr>
                </a:tc>
              </a:tr>
              <a:tr h="1051560">
                <a:tc>
                  <a:txBody>
                    <a:bodyPr wrap="square"/>
                    <a:lstStyle/>
                    <a:p>
                      <a:pPr algn="l">
                        <a:lnSpc>
                          <a:spcPct val="100000"/>
                        </a:lnSpc>
                      </a:pPr>
                      <a:r>
                        <a:rPr sz="1550" b="0">
                          <a:solidFill>
                            <a:srgbClr val="14213D"/>
                          </a:solidFill>
                          <a:latin typeface="Segoe UI"/>
                        </a:rPr>
                        <a:t>Qualitative</a:t>
                      </a:r>
                    </a:p>
                  </a:txBody>
                  <a:tcPr marL="101600" marR="101600" marT="50800" marB="50800" anchor="ctr">
                    <a:solidFill>
                      <a:srgbClr val="FCE4DD"/>
                    </a:solidFill>
                  </a:tcPr>
                </a:tc>
                <a:tc>
                  <a:txBody>
                    <a:bodyPr wrap="square"/>
                    <a:lstStyle/>
                    <a:p>
                      <a:pPr algn="l">
                        <a:lnSpc>
                          <a:spcPct val="100000"/>
                        </a:lnSpc>
                      </a:pPr>
                      <a:r>
                        <a:rPr sz="1550" b="0">
                          <a:solidFill>
                            <a:srgbClr val="14213D"/>
                          </a:solidFill>
                          <a:latin typeface="Segoe UI"/>
                        </a:rPr>
                        <a:t>1–2 central questions + narrower sub-questions</a:t>
                      </a:r>
                    </a:p>
                  </a:txBody>
                  <a:tcPr marL="101600" marR="101600" marT="50800" marB="50800" anchor="ctr">
                    <a:solidFill>
                      <a:srgbClr val="EEF4F7"/>
                    </a:solidFill>
                  </a:tcPr>
                </a:tc>
                <a:tc>
                  <a:txBody>
                    <a:bodyPr wrap="square"/>
                    <a:lstStyle/>
                    <a:p>
                      <a:pPr algn="l">
                        <a:lnSpc>
                          <a:spcPct val="100000"/>
                        </a:lnSpc>
                      </a:pPr>
                      <a:r>
                        <a:rPr sz="1550" b="0">
                          <a:solidFill>
                            <a:srgbClr val="14213D"/>
                          </a:solidFill>
                          <a:latin typeface="Segoe UI"/>
                        </a:rPr>
                        <a:t>5–7 sub-questions per central question (Creswell; capped near a dozen total per Miles &amp; Huberman)</a:t>
                      </a:r>
                    </a:p>
                  </a:txBody>
                  <a:tcPr marL="101600" marR="101600" marT="50800" marB="50800" anchor="ctr">
                    <a:solidFill>
                      <a:srgbClr val="EEF4F7"/>
                    </a:solidFill>
                  </a:tcPr>
                </a:tc>
              </a:tr>
              <a:tr h="1051560">
                <a:tc>
                  <a:txBody>
                    <a:bodyPr wrap="square"/>
                    <a:lstStyle/>
                    <a:p>
                      <a:pPr algn="l">
                        <a:lnSpc>
                          <a:spcPct val="100000"/>
                        </a:lnSpc>
                      </a:pPr>
                      <a:r>
                        <a:rPr sz="1550" b="0">
                          <a:solidFill>
                            <a:srgbClr val="14213D"/>
                          </a:solidFill>
                          <a:latin typeface="Segoe UI"/>
                        </a:rPr>
                        <a:t>Mixed Methods</a:t>
                      </a:r>
                    </a:p>
                  </a:txBody>
                  <a:tcPr marL="101600" marR="101600" marT="50800" marB="50800" anchor="ctr">
                    <a:solidFill>
                      <a:srgbClr val="D9F0EC"/>
                    </a:solidFill>
                  </a:tcPr>
                </a:tc>
                <a:tc>
                  <a:txBody>
                    <a:bodyPr wrap="square"/>
                    <a:lstStyle/>
                    <a:p>
                      <a:pPr algn="l">
                        <a:lnSpc>
                          <a:spcPct val="100000"/>
                        </a:lnSpc>
                      </a:pPr>
                      <a:r>
                        <a:rPr sz="1550" b="0">
                          <a:solidFill>
                            <a:srgbClr val="14213D"/>
                          </a:solidFill>
                          <a:latin typeface="Segoe UI"/>
                        </a:rPr>
                        <a:t>Separate quantitative + qualitative questions, plus one question about integrating both datasets</a:t>
                      </a:r>
                    </a:p>
                  </a:txBody>
                  <a:tcPr marL="101600" marR="101600" marT="50800" marB="50800" anchor="ctr">
                    <a:solidFill>
                      <a:srgbClr val="FFFFFF"/>
                    </a:solidFill>
                  </a:tcPr>
                </a:tc>
                <a:tc>
                  <a:txBody>
                    <a:bodyPr wrap="square"/>
                    <a:lstStyle/>
                    <a:p>
                      <a:pPr algn="l">
                        <a:lnSpc>
                          <a:spcPct val="100000"/>
                        </a:lnSpc>
                      </a:pPr>
                      <a:r>
                        <a:rPr sz="1550" b="0">
                          <a:solidFill>
                            <a:srgbClr val="14213D"/>
                          </a:solidFill>
                          <a:latin typeface="Segoe UI"/>
                        </a:rPr>
                        <a:t>1 quantitative set + 1 qualitative set + 1 mixed methods question</a:t>
                      </a:r>
                    </a:p>
                  </a:txBody>
                  <a:tcPr marL="101600" marR="101600" marT="50800" marB="50800" anchor="ctr">
                    <a:solidFill>
                      <a:srgbClr val="FFFFF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Worked Example — A Full SOP (Coral Reef)</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36</a:t>
            </a:r>
          </a:p>
        </p:txBody>
      </p:sp>
      <p:sp>
        <p:nvSpPr>
          <p:cNvPr id="9" name="Rounded Rectangle 8"/>
          <p:cNvSpPr/>
          <p:nvPr/>
        </p:nvSpPr>
        <p:spPr>
          <a:xfrm>
            <a:off x="777240" y="1719072"/>
            <a:ext cx="4473244"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4290364"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 · Philippine SHS SOP format</a:t>
            </a:r>
          </a:p>
        </p:txBody>
      </p:sp>
      <p:sp>
        <p:nvSpPr>
          <p:cNvPr id="11" name="Rounded Rectangle 10"/>
          <p:cNvSpPr/>
          <p:nvPr/>
        </p:nvSpPr>
        <p:spPr>
          <a:xfrm>
            <a:off x="777240" y="2194560"/>
            <a:ext cx="10637215" cy="1051560"/>
          </a:xfrm>
          <a:prstGeom prst="roundRect">
            <a:avLst>
              <a:gd name="adj" fmla="val 8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97280" y="2194560"/>
            <a:ext cx="9997135" cy="1051560"/>
          </a:xfrm>
          <a:prstGeom prst="rect">
            <a:avLst/>
          </a:prstGeom>
          <a:noFill/>
        </p:spPr>
        <p:txBody>
          <a:bodyPr wrap="square" anchor="ctr" lIns="0" rIns="0" tIns="0" bIns="0">
            <a:spAutoFit/>
          </a:bodyPr>
          <a:lstStyle/>
          <a:p>
            <a:pPr algn="l">
              <a:lnSpc>
                <a:spcPct val="102000"/>
              </a:lnSpc>
              <a:spcBef>
                <a:spcPts val="0"/>
              </a:spcBef>
              <a:spcAft>
                <a:spcPts val="400"/>
              </a:spcAft>
            </a:pPr>
            <a:r>
              <a:rPr sz="1300" b="1" i="0">
                <a:solidFill>
                  <a:srgbClr val="F2B705"/>
                </a:solidFill>
                <a:latin typeface="Segoe UI Semibold"/>
              </a:rPr>
              <a:t>GENERAL OBJECTIVE</a:t>
            </a:r>
          </a:p>
          <a:p>
            <a:pPr algn="l">
              <a:lnSpc>
                <a:spcPct val="108000"/>
              </a:lnSpc>
              <a:spcBef>
                <a:spcPts val="0"/>
              </a:spcBef>
              <a:spcAft>
                <a:spcPts val="0"/>
              </a:spcAft>
            </a:pPr>
            <a:r>
              <a:rPr sz="1700" b="0" i="0">
                <a:solidFill>
                  <a:srgbClr val="FFFFFF"/>
                </a:solidFill>
                <a:latin typeface="Segoe UI"/>
              </a:rPr>
              <a:t>This study aims to assess the </a:t>
            </a:r>
            <a:r>
              <a:rPr sz="1700" b="1" i="0">
                <a:solidFill>
                  <a:srgbClr val="9FE3D6"/>
                </a:solidFill>
                <a:latin typeface="Segoe UI"/>
              </a:rPr>
              <a:t>coral reef health</a:t>
            </a:r>
            <a:r>
              <a:rPr sz="1700" b="0" i="0">
                <a:solidFill>
                  <a:srgbClr val="FFFFFF"/>
                </a:solidFill>
                <a:latin typeface="Segoe UI"/>
              </a:rPr>
              <a:t> and its relationship to </a:t>
            </a:r>
            <a:r>
              <a:rPr sz="1700" b="1" i="0">
                <a:solidFill>
                  <a:srgbClr val="9FE3D6"/>
                </a:solidFill>
                <a:latin typeface="Segoe UI"/>
              </a:rPr>
              <a:t>coastal sedimentation levels</a:t>
            </a:r>
            <a:r>
              <a:rPr sz="1700" b="0" i="0">
                <a:solidFill>
                  <a:srgbClr val="FFFFFF"/>
                </a:solidFill>
                <a:latin typeface="Segoe UI"/>
              </a:rPr>
              <a:t> in a selected barangay along Davao Gulf.</a:t>
            </a:r>
          </a:p>
        </p:txBody>
      </p:sp>
      <p:sp>
        <p:nvSpPr>
          <p:cNvPr id="13" name="TextBox 12"/>
          <p:cNvSpPr txBox="1"/>
          <p:nvPr/>
        </p:nvSpPr>
        <p:spPr>
          <a:xfrm>
            <a:off x="822960" y="3429000"/>
            <a:ext cx="10454335" cy="320040"/>
          </a:xfrm>
          <a:prstGeom prst="rect">
            <a:avLst/>
          </a:prstGeom>
          <a:noFill/>
        </p:spPr>
        <p:txBody>
          <a:bodyPr wrap="square" anchor="t" lIns="0" rIns="0" tIns="0" bIns="0">
            <a:spAutoFit/>
          </a:bodyPr>
          <a:lstStyle/>
          <a:p>
            <a:pPr algn="l">
              <a:lnSpc>
                <a:spcPct val="105000"/>
              </a:lnSpc>
              <a:spcBef>
                <a:spcPts val="0"/>
              </a:spcBef>
              <a:spcAft>
                <a:spcPts val="0"/>
              </a:spcAft>
            </a:pPr>
            <a:r>
              <a:rPr sz="1600" b="1" i="1">
                <a:solidFill>
                  <a:srgbClr val="5B6B7B"/>
                </a:solidFill>
                <a:latin typeface="Segoe UI"/>
              </a:rPr>
              <a:t>Specifically, it seeks to answer:</a:t>
            </a:r>
          </a:p>
        </p:txBody>
      </p:sp>
      <p:sp>
        <p:nvSpPr>
          <p:cNvPr id="14" name="Oval 13"/>
          <p:cNvSpPr/>
          <p:nvPr/>
        </p:nvSpPr>
        <p:spPr>
          <a:xfrm>
            <a:off x="914400" y="3886200"/>
            <a:ext cx="420624" cy="420624"/>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1</a:t>
            </a:r>
          </a:p>
        </p:txBody>
      </p:sp>
      <p:sp>
        <p:nvSpPr>
          <p:cNvPr id="15" name="TextBox 14"/>
          <p:cNvSpPr txBox="1"/>
          <p:nvPr/>
        </p:nvSpPr>
        <p:spPr>
          <a:xfrm>
            <a:off x="1508760" y="3840480"/>
            <a:ext cx="9814255" cy="548640"/>
          </a:xfrm>
          <a:prstGeom prst="rect">
            <a:avLst/>
          </a:prstGeom>
          <a:noFill/>
        </p:spPr>
        <p:txBody>
          <a:bodyPr wrap="square" anchor="ctr" lIns="0" rIns="0" tIns="0" bIns="0">
            <a:spAutoFit/>
          </a:bodyPr>
          <a:lstStyle/>
          <a:p>
            <a:pPr algn="l">
              <a:lnSpc>
                <a:spcPct val="102000"/>
              </a:lnSpc>
              <a:spcBef>
                <a:spcPts val="0"/>
              </a:spcBef>
              <a:spcAft>
                <a:spcPts val="0"/>
              </a:spcAft>
            </a:pPr>
            <a:r>
              <a:rPr sz="1900" b="0" i="0">
                <a:solidFill>
                  <a:srgbClr val="14213D"/>
                </a:solidFill>
                <a:latin typeface="Segoe UI"/>
              </a:rPr>
              <a:t>What is the percent live coral cover of the selected reef site?</a:t>
            </a:r>
          </a:p>
        </p:txBody>
      </p:sp>
      <p:sp>
        <p:nvSpPr>
          <p:cNvPr id="16" name="Oval 15"/>
          <p:cNvSpPr/>
          <p:nvPr/>
        </p:nvSpPr>
        <p:spPr>
          <a:xfrm>
            <a:off x="914400" y="4507992"/>
            <a:ext cx="420624" cy="420624"/>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2</a:t>
            </a:r>
          </a:p>
        </p:txBody>
      </p:sp>
      <p:sp>
        <p:nvSpPr>
          <p:cNvPr id="17" name="TextBox 16"/>
          <p:cNvSpPr txBox="1"/>
          <p:nvPr/>
        </p:nvSpPr>
        <p:spPr>
          <a:xfrm>
            <a:off x="1508760" y="4462272"/>
            <a:ext cx="9814255" cy="548640"/>
          </a:xfrm>
          <a:prstGeom prst="rect">
            <a:avLst/>
          </a:prstGeom>
          <a:noFill/>
        </p:spPr>
        <p:txBody>
          <a:bodyPr wrap="square" anchor="ctr" lIns="0" rIns="0" tIns="0" bIns="0">
            <a:spAutoFit/>
          </a:bodyPr>
          <a:lstStyle/>
          <a:p>
            <a:pPr algn="l">
              <a:lnSpc>
                <a:spcPct val="102000"/>
              </a:lnSpc>
              <a:spcBef>
                <a:spcPts val="0"/>
              </a:spcBef>
              <a:spcAft>
                <a:spcPts val="0"/>
              </a:spcAft>
            </a:pPr>
            <a:r>
              <a:rPr sz="1900" b="0" i="0">
                <a:solidFill>
                  <a:srgbClr val="14213D"/>
                </a:solidFill>
                <a:latin typeface="Segoe UI"/>
              </a:rPr>
              <a:t>What is the turbidity level (a measure of sedimentation) of the surrounding water?</a:t>
            </a:r>
          </a:p>
        </p:txBody>
      </p:sp>
      <p:sp>
        <p:nvSpPr>
          <p:cNvPr id="18" name="Oval 17"/>
          <p:cNvSpPr/>
          <p:nvPr/>
        </p:nvSpPr>
        <p:spPr>
          <a:xfrm>
            <a:off x="914400" y="5129783"/>
            <a:ext cx="420624" cy="420624"/>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3</a:t>
            </a:r>
          </a:p>
        </p:txBody>
      </p:sp>
      <p:sp>
        <p:nvSpPr>
          <p:cNvPr id="19" name="TextBox 18"/>
          <p:cNvSpPr txBox="1"/>
          <p:nvPr/>
        </p:nvSpPr>
        <p:spPr>
          <a:xfrm>
            <a:off x="1508760" y="5084064"/>
            <a:ext cx="9814255" cy="548640"/>
          </a:xfrm>
          <a:prstGeom prst="rect">
            <a:avLst/>
          </a:prstGeom>
          <a:noFill/>
        </p:spPr>
        <p:txBody>
          <a:bodyPr wrap="square" anchor="ctr" lIns="0" rIns="0" tIns="0" bIns="0">
            <a:spAutoFit/>
          </a:bodyPr>
          <a:lstStyle/>
          <a:p>
            <a:pPr algn="l">
              <a:lnSpc>
                <a:spcPct val="102000"/>
              </a:lnSpc>
              <a:spcBef>
                <a:spcPts val="0"/>
              </a:spcBef>
              <a:spcAft>
                <a:spcPts val="0"/>
              </a:spcAft>
            </a:pPr>
            <a:r>
              <a:rPr sz="1900" b="0" i="0">
                <a:solidFill>
                  <a:srgbClr val="14213D"/>
                </a:solidFill>
                <a:latin typeface="Segoe UI"/>
              </a:rPr>
              <a:t>Is there a significant relationship between turbidity level and percent live coral cover?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Worked Example — A Full SOP (Agriculture)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37</a:t>
            </a:r>
          </a:p>
        </p:txBody>
      </p:sp>
      <p:sp>
        <p:nvSpPr>
          <p:cNvPr id="9" name="Rounded Rectangle 8"/>
          <p:cNvSpPr/>
          <p:nvPr/>
        </p:nvSpPr>
        <p:spPr>
          <a:xfrm>
            <a:off x="777240" y="1719072"/>
            <a:ext cx="2220163"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037283"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a:t>
            </a:r>
          </a:p>
        </p:txBody>
      </p:sp>
      <p:sp>
        <p:nvSpPr>
          <p:cNvPr id="11" name="Rounded Rectangle 10"/>
          <p:cNvSpPr/>
          <p:nvPr/>
        </p:nvSpPr>
        <p:spPr>
          <a:xfrm>
            <a:off x="777240" y="2194560"/>
            <a:ext cx="10637215" cy="1051560"/>
          </a:xfrm>
          <a:prstGeom prst="roundRect">
            <a:avLst>
              <a:gd name="adj" fmla="val 8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97280" y="2194560"/>
            <a:ext cx="9997135" cy="1051560"/>
          </a:xfrm>
          <a:prstGeom prst="rect">
            <a:avLst/>
          </a:prstGeom>
          <a:noFill/>
        </p:spPr>
        <p:txBody>
          <a:bodyPr wrap="square" anchor="ctr" lIns="0" rIns="0" tIns="0" bIns="0">
            <a:spAutoFit/>
          </a:bodyPr>
          <a:lstStyle/>
          <a:p>
            <a:pPr algn="l">
              <a:lnSpc>
                <a:spcPct val="102000"/>
              </a:lnSpc>
              <a:spcBef>
                <a:spcPts val="0"/>
              </a:spcBef>
              <a:spcAft>
                <a:spcPts val="400"/>
              </a:spcAft>
            </a:pPr>
            <a:r>
              <a:rPr sz="1300" b="1" i="0">
                <a:solidFill>
                  <a:srgbClr val="F2B705"/>
                </a:solidFill>
                <a:latin typeface="Segoe UI Semibold"/>
              </a:rPr>
              <a:t>GENERAL OBJECTIVE</a:t>
            </a:r>
          </a:p>
          <a:p>
            <a:pPr algn="l">
              <a:lnSpc>
                <a:spcPct val="108000"/>
              </a:lnSpc>
              <a:spcBef>
                <a:spcPts val="0"/>
              </a:spcBef>
              <a:spcAft>
                <a:spcPts val="0"/>
              </a:spcAft>
            </a:pPr>
            <a:r>
              <a:rPr sz="1700" b="0" i="0">
                <a:solidFill>
                  <a:srgbClr val="FFFFFF"/>
                </a:solidFill>
                <a:latin typeface="Segoe UI"/>
              </a:rPr>
              <a:t>This study aims to determine the </a:t>
            </a:r>
            <a:r>
              <a:rPr sz="1700" b="1" i="0">
                <a:solidFill>
                  <a:srgbClr val="9FE3D6"/>
                </a:solidFill>
                <a:latin typeface="Segoe UI"/>
              </a:rPr>
              <a:t>effect of organic foliar fertilizer application</a:t>
            </a:r>
            <a:r>
              <a:rPr sz="1700" b="0" i="0">
                <a:solidFill>
                  <a:srgbClr val="FFFFFF"/>
                </a:solidFill>
                <a:latin typeface="Segoe UI"/>
              </a:rPr>
              <a:t> on the </a:t>
            </a:r>
            <a:r>
              <a:rPr sz="1700" b="1" i="0">
                <a:solidFill>
                  <a:srgbClr val="9FE3D6"/>
                </a:solidFill>
                <a:latin typeface="Segoe UI"/>
              </a:rPr>
              <a:t>yield of eggplant (Solanum melongena)</a:t>
            </a:r>
            <a:r>
              <a:rPr sz="1700" b="0" i="0">
                <a:solidFill>
                  <a:srgbClr val="FFFFFF"/>
                </a:solidFill>
                <a:latin typeface="Segoe UI"/>
              </a:rPr>
              <a:t> in a selected farm in Davao del Sur.</a:t>
            </a:r>
          </a:p>
        </p:txBody>
      </p:sp>
      <p:sp>
        <p:nvSpPr>
          <p:cNvPr id="13" name="TextBox 12"/>
          <p:cNvSpPr txBox="1"/>
          <p:nvPr/>
        </p:nvSpPr>
        <p:spPr>
          <a:xfrm>
            <a:off x="822960" y="3429000"/>
            <a:ext cx="10454335" cy="320040"/>
          </a:xfrm>
          <a:prstGeom prst="rect">
            <a:avLst/>
          </a:prstGeom>
          <a:noFill/>
        </p:spPr>
        <p:txBody>
          <a:bodyPr wrap="square" anchor="t" lIns="0" rIns="0" tIns="0" bIns="0">
            <a:spAutoFit/>
          </a:bodyPr>
          <a:lstStyle/>
          <a:p>
            <a:pPr algn="l">
              <a:lnSpc>
                <a:spcPct val="105000"/>
              </a:lnSpc>
              <a:spcBef>
                <a:spcPts val="0"/>
              </a:spcBef>
              <a:spcAft>
                <a:spcPts val="0"/>
              </a:spcAft>
            </a:pPr>
            <a:r>
              <a:rPr sz="1600" b="1" i="1">
                <a:solidFill>
                  <a:srgbClr val="5B6B7B"/>
                </a:solidFill>
                <a:latin typeface="Segoe UI"/>
              </a:rPr>
              <a:t>Specifically, it seeks to answer:</a:t>
            </a:r>
          </a:p>
        </p:txBody>
      </p:sp>
      <p:sp>
        <p:nvSpPr>
          <p:cNvPr id="14" name="Oval 13"/>
          <p:cNvSpPr/>
          <p:nvPr/>
        </p:nvSpPr>
        <p:spPr>
          <a:xfrm>
            <a:off x="914400" y="3886200"/>
            <a:ext cx="420624" cy="420624"/>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1</a:t>
            </a:r>
          </a:p>
        </p:txBody>
      </p:sp>
      <p:sp>
        <p:nvSpPr>
          <p:cNvPr id="15" name="TextBox 14"/>
          <p:cNvSpPr txBox="1"/>
          <p:nvPr/>
        </p:nvSpPr>
        <p:spPr>
          <a:xfrm>
            <a:off x="1508760" y="3840480"/>
            <a:ext cx="9814255" cy="548640"/>
          </a:xfrm>
          <a:prstGeom prst="rect">
            <a:avLst/>
          </a:prstGeom>
          <a:noFill/>
        </p:spPr>
        <p:txBody>
          <a:bodyPr wrap="square" anchor="ctr" lIns="0" rIns="0" tIns="0" bIns="0">
            <a:spAutoFit/>
          </a:bodyPr>
          <a:lstStyle/>
          <a:p>
            <a:pPr algn="l">
              <a:lnSpc>
                <a:spcPct val="102000"/>
              </a:lnSpc>
              <a:spcBef>
                <a:spcPts val="0"/>
              </a:spcBef>
              <a:spcAft>
                <a:spcPts val="0"/>
              </a:spcAft>
            </a:pPr>
            <a:r>
              <a:rPr sz="1900" b="0" i="0">
                <a:solidFill>
                  <a:srgbClr val="14213D"/>
                </a:solidFill>
                <a:latin typeface="Segoe UI"/>
              </a:rPr>
              <a:t>What is the average yield (kg per plot) of eggplant grown with organic foliar fertilizer?</a:t>
            </a:r>
          </a:p>
        </p:txBody>
      </p:sp>
      <p:sp>
        <p:nvSpPr>
          <p:cNvPr id="16" name="Oval 15"/>
          <p:cNvSpPr/>
          <p:nvPr/>
        </p:nvSpPr>
        <p:spPr>
          <a:xfrm>
            <a:off x="914400" y="4507992"/>
            <a:ext cx="420624" cy="420624"/>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2</a:t>
            </a:r>
          </a:p>
        </p:txBody>
      </p:sp>
      <p:sp>
        <p:nvSpPr>
          <p:cNvPr id="17" name="TextBox 16"/>
          <p:cNvSpPr txBox="1"/>
          <p:nvPr/>
        </p:nvSpPr>
        <p:spPr>
          <a:xfrm>
            <a:off x="1508760" y="4462272"/>
            <a:ext cx="9814255" cy="548640"/>
          </a:xfrm>
          <a:prstGeom prst="rect">
            <a:avLst/>
          </a:prstGeom>
          <a:noFill/>
        </p:spPr>
        <p:txBody>
          <a:bodyPr wrap="square" anchor="ctr" lIns="0" rIns="0" tIns="0" bIns="0">
            <a:spAutoFit/>
          </a:bodyPr>
          <a:lstStyle/>
          <a:p>
            <a:pPr algn="l">
              <a:lnSpc>
                <a:spcPct val="102000"/>
              </a:lnSpc>
              <a:spcBef>
                <a:spcPts val="0"/>
              </a:spcBef>
              <a:spcAft>
                <a:spcPts val="0"/>
              </a:spcAft>
            </a:pPr>
            <a:r>
              <a:rPr sz="1900" b="0" i="0">
                <a:solidFill>
                  <a:srgbClr val="14213D"/>
                </a:solidFill>
                <a:latin typeface="Segoe UI"/>
              </a:rPr>
              <a:t>What is the average yield of eggplant grown without organic foliar fertilizer (control)?</a:t>
            </a:r>
          </a:p>
        </p:txBody>
      </p:sp>
      <p:sp>
        <p:nvSpPr>
          <p:cNvPr id="18" name="Oval 17"/>
          <p:cNvSpPr/>
          <p:nvPr/>
        </p:nvSpPr>
        <p:spPr>
          <a:xfrm>
            <a:off x="914400" y="5129783"/>
            <a:ext cx="420624" cy="420624"/>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3</a:t>
            </a:r>
          </a:p>
        </p:txBody>
      </p:sp>
      <p:sp>
        <p:nvSpPr>
          <p:cNvPr id="19" name="TextBox 18"/>
          <p:cNvSpPr txBox="1"/>
          <p:nvPr/>
        </p:nvSpPr>
        <p:spPr>
          <a:xfrm>
            <a:off x="1508760" y="5084064"/>
            <a:ext cx="9814255" cy="548640"/>
          </a:xfrm>
          <a:prstGeom prst="rect">
            <a:avLst/>
          </a:prstGeom>
          <a:noFill/>
        </p:spPr>
        <p:txBody>
          <a:bodyPr wrap="square" anchor="ctr" lIns="0" rIns="0" tIns="0" bIns="0">
            <a:spAutoFit/>
          </a:bodyPr>
          <a:lstStyle/>
          <a:p>
            <a:pPr algn="l">
              <a:lnSpc>
                <a:spcPct val="102000"/>
              </a:lnSpc>
              <a:spcBef>
                <a:spcPts val="0"/>
              </a:spcBef>
              <a:spcAft>
                <a:spcPts val="0"/>
              </a:spcAft>
            </a:pPr>
            <a:r>
              <a:rPr sz="1900" b="0" i="0">
                <a:solidFill>
                  <a:srgbClr val="14213D"/>
                </a:solidFill>
                <a:latin typeface="Segoe UI"/>
              </a:rPr>
              <a:t>Is there a significant difference in yield between the two groups?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 Light Touch on Variables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38</a:t>
            </a:r>
          </a:p>
        </p:txBody>
      </p:sp>
      <p:sp>
        <p:nvSpPr>
          <p:cNvPr id="9" name="Rounded Rectangle 8"/>
          <p:cNvSpPr/>
          <p:nvPr/>
        </p:nvSpPr>
        <p:spPr>
          <a:xfrm>
            <a:off x="1371600" y="2103120"/>
            <a:ext cx="3931920" cy="1188720"/>
          </a:xfrm>
          <a:prstGeom prst="roundRect">
            <a:avLst>
              <a:gd name="adj" fmla="val 10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600" b="1" i="0">
                <a:solidFill>
                  <a:srgbClr val="FFFFFF"/>
                </a:solidFill>
                <a:latin typeface="Segoe UI"/>
              </a:rPr>
              <a:t>INDEPENDENT VARIABLE
</a:t>
            </a:r>
            <a:r>
              <a:rPr sz="1400" b="0" i="0">
                <a:solidFill>
                  <a:srgbClr val="EAF6F8"/>
                </a:solidFill>
                <a:latin typeface="Segoe UI"/>
              </a:rPr>
              <a:t>predictor / cause</a:t>
            </a:r>
          </a:p>
        </p:txBody>
      </p:sp>
      <p:sp>
        <p:nvSpPr>
          <p:cNvPr id="10" name="Right Arrow 9"/>
          <p:cNvSpPr/>
          <p:nvPr/>
        </p:nvSpPr>
        <p:spPr>
          <a:xfrm>
            <a:off x="5486400" y="2468879"/>
            <a:ext cx="1188720" cy="45720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858000" y="2103120"/>
            <a:ext cx="3931920" cy="1188720"/>
          </a:xfrm>
          <a:prstGeom prst="roundRect">
            <a:avLst>
              <a:gd name="adj" fmla="val 10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600" b="1" i="0">
                <a:solidFill>
                  <a:srgbClr val="FFFFFF"/>
                </a:solidFill>
                <a:latin typeface="Segoe UI"/>
              </a:rPr>
              <a:t>DEPENDENT VARIABLE
</a:t>
            </a:r>
            <a:r>
              <a:rPr sz="1400" b="0" i="0">
                <a:solidFill>
                  <a:srgbClr val="E6F5F2"/>
                </a:solidFill>
                <a:latin typeface="Segoe UI"/>
              </a:rPr>
              <a:t>outcome / effect</a:t>
            </a:r>
          </a:p>
        </p:txBody>
      </p:sp>
      <p:sp>
        <p:nvSpPr>
          <p:cNvPr id="12" name="TextBox 11"/>
          <p:cNvSpPr txBox="1"/>
          <p:nvPr/>
        </p:nvSpPr>
        <p:spPr>
          <a:xfrm>
            <a:off x="822960" y="3611879"/>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900"/>
              </a:spcAft>
              <a:buClr>
                <a:srgbClr val="1D7A8C"/>
              </a:buClr>
              <a:buSzPct val="80000"/>
              <a:buFont typeface="Arial"/>
              <a:buChar char="▪"/>
            </a:pPr>
            <a:r>
              <a:rPr sz="2000" b="1" i="0">
                <a:solidFill>
                  <a:srgbClr val="1D7A8C"/>
                </a:solidFill>
                <a:latin typeface="Segoe UI"/>
              </a:rPr>
              <a:t>Coral reef: </a:t>
            </a:r>
            <a:r>
              <a:rPr sz="2000" b="0" i="1">
                <a:solidFill>
                  <a:srgbClr val="14213D"/>
                </a:solidFill>
                <a:latin typeface="Segoe UI"/>
              </a:rPr>
              <a:t>sedimentation / turbidity level</a:t>
            </a:r>
            <a:r>
              <a:rPr sz="2000" b="0" i="0">
                <a:solidFill>
                  <a:srgbClr val="14213D"/>
                </a:solidFill>
                <a:latin typeface="Segoe UI"/>
              </a:rPr>
              <a:t> (independent) → </a:t>
            </a:r>
            <a:r>
              <a:rPr sz="2000" b="0" i="1">
                <a:solidFill>
                  <a:srgbClr val="14213D"/>
                </a:solidFill>
                <a:latin typeface="Segoe UI"/>
              </a:rPr>
              <a:t>live coral cover</a:t>
            </a:r>
            <a:r>
              <a:rPr sz="2000" b="0" i="0">
                <a:solidFill>
                  <a:srgbClr val="14213D"/>
                </a:solidFill>
                <a:latin typeface="Segoe UI"/>
              </a:rPr>
              <a:t> (dependent)</a:t>
            </a:r>
          </a:p>
          <a:p>
            <a:pPr algn="l" marL="274638" indent="-274638">
              <a:lnSpc>
                <a:spcPct val="105000"/>
              </a:lnSpc>
              <a:spcBef>
                <a:spcPts val="0"/>
              </a:spcBef>
              <a:spcAft>
                <a:spcPts val="900"/>
              </a:spcAft>
              <a:buClr>
                <a:srgbClr val="1D7A8C"/>
              </a:buClr>
              <a:buSzPct val="80000"/>
              <a:buFont typeface="Arial"/>
              <a:buChar char="▪"/>
            </a:pPr>
            <a:r>
              <a:rPr sz="2000" b="1" i="0">
                <a:solidFill>
                  <a:srgbClr val="1D7A8C"/>
                </a:solidFill>
                <a:latin typeface="Segoe UI"/>
              </a:rPr>
              <a:t>Agriculture: </a:t>
            </a:r>
            <a:r>
              <a:rPr sz="2000" b="0" i="1">
                <a:solidFill>
                  <a:srgbClr val="14213D"/>
                </a:solidFill>
                <a:latin typeface="Segoe UI"/>
              </a:rPr>
              <a:t>fertilizer application</a:t>
            </a:r>
            <a:r>
              <a:rPr sz="2000" b="0" i="0">
                <a:solidFill>
                  <a:srgbClr val="14213D"/>
                </a:solidFill>
                <a:latin typeface="Segoe UI"/>
              </a:rPr>
              <a:t> (independent) → </a:t>
            </a:r>
            <a:r>
              <a:rPr sz="2000" b="0" i="1">
                <a:solidFill>
                  <a:srgbClr val="14213D"/>
                </a:solidFill>
                <a:latin typeface="Segoe UI"/>
              </a:rPr>
              <a:t>eggplant yield</a:t>
            </a:r>
            <a:r>
              <a:rPr sz="2000" b="0" i="0">
                <a:solidFill>
                  <a:srgbClr val="14213D"/>
                </a:solidFill>
                <a:latin typeface="Segoe UI"/>
              </a:rPr>
              <a:t> (dependent)</a:t>
            </a:r>
          </a:p>
          <a:p>
            <a:pPr algn="l" marL="274638" indent="-274638">
              <a:lnSpc>
                <a:spcPct val="105000"/>
              </a:lnSpc>
              <a:spcBef>
                <a:spcPts val="0"/>
              </a:spcBef>
              <a:spcAft>
                <a:spcPts val="900"/>
              </a:spcAft>
              <a:buClr>
                <a:srgbClr val="1D7A8C"/>
              </a:buClr>
              <a:buSzPct val="80000"/>
              <a:buFont typeface="Arial"/>
              <a:buChar char="▪"/>
            </a:pPr>
            <a:r>
              <a:rPr sz="2000" b="0" i="0">
                <a:solidFill>
                  <a:srgbClr val="14213D"/>
                </a:solidFill>
                <a:latin typeface="Segoe UI"/>
              </a:rPr>
              <a:t>We name variables here </a:t>
            </a:r>
            <a:r>
              <a:rPr sz="2000" b="1" i="0">
                <a:solidFill>
                  <a:srgbClr val="14213D"/>
                </a:solidFill>
                <a:latin typeface="Segoe UI"/>
              </a:rPr>
              <a:t>only so you can phrase a hypothesis correctly</a:t>
            </a:r>
            <a:r>
              <a:rPr sz="2000" b="0" i="0">
                <a:solidFill>
                  <a:srgbClr val="14213D"/>
                </a:solidFill>
                <a:latin typeface="Segoe UI"/>
              </a:rPr>
              <a:t> — not to master variable measurement, which belongs to your methodology lecture.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Label the Variables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39</a:t>
            </a:r>
          </a:p>
        </p:txBody>
      </p:sp>
      <p:sp>
        <p:nvSpPr>
          <p:cNvPr id="9" name="Rounded Rectangle 8"/>
          <p:cNvSpPr/>
          <p:nvPr/>
        </p:nvSpPr>
        <p:spPr>
          <a:xfrm>
            <a:off x="777240" y="1719072"/>
            <a:ext cx="3024835"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841955"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a:t>
            </a:r>
          </a:p>
        </p:txBody>
      </p:sp>
      <p:graphicFrame>
        <p:nvGraphicFramePr>
          <p:cNvPr id="11" name="Table 10"/>
          <p:cNvGraphicFramePr>
            <a:graphicFrameLocks noGrp="1"/>
          </p:cNvGraphicFramePr>
          <p:nvPr/>
        </p:nvGraphicFramePr>
        <p:xfrm>
          <a:off x="777240" y="2194560"/>
          <a:ext cx="10637214" cy="2377440"/>
        </p:xfrm>
        <a:graphic>
          <a:graphicData uri="http://schemas.openxmlformats.org/drawingml/2006/table">
            <a:tbl>
              <a:tblPr>
                <a:tableStyleId>{5C22544A-7EE6-4342-B048-85BDC9FD1C3A}</a:tableStyleId>
              </a:tblPr>
              <a:tblGrid>
                <a:gridCol w="4786746"/>
                <a:gridCol w="2925234"/>
                <a:gridCol w="2925234"/>
              </a:tblGrid>
              <a:tr h="548640">
                <a:tc>
                  <a:txBody>
                    <a:bodyPr wrap="square"/>
                    <a:lstStyle/>
                    <a:p>
                      <a:pPr algn="l">
                        <a:lnSpc>
                          <a:spcPct val="100000"/>
                        </a:lnSpc>
                      </a:pPr>
                      <a:r>
                        <a:rPr sz="1600" b="1">
                          <a:solidFill>
                            <a:srgbClr val="FFFFFF"/>
                          </a:solidFill>
                          <a:latin typeface="Segoe UI Semibold"/>
                        </a:rPr>
                        <a:t>Study</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Independent Variable</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Dependent Variable</a:t>
                      </a:r>
                    </a:p>
                  </a:txBody>
                  <a:tcPr marL="101600" marR="101600" marT="50800" marB="50800" anchor="ctr">
                    <a:solidFill>
                      <a:srgbClr val="1D7A8C"/>
                    </a:solidFill>
                  </a:tcPr>
                </a:tc>
              </a:tr>
              <a:tr h="914400">
                <a:tc>
                  <a:txBody>
                    <a:bodyPr wrap="square"/>
                    <a:lstStyle/>
                    <a:p>
                      <a:pPr algn="l">
                        <a:lnSpc>
                          <a:spcPct val="100000"/>
                        </a:lnSpc>
                      </a:pPr>
                      <a:r>
                        <a:rPr sz="1700" b="0">
                          <a:solidFill>
                            <a:srgbClr val="14213D"/>
                          </a:solidFill>
                          <a:latin typeface="Segoe UI"/>
                        </a:rPr>
                        <a:t>“Effect of shade netting on seedling survival rate”</a:t>
                      </a:r>
                    </a:p>
                  </a:txBody>
                  <a:tcPr marL="101600" marR="101600" marT="50800" marB="50800" anchor="ctr">
                    <a:solidFill>
                      <a:srgbClr val="FFFFFF"/>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r h="914400">
                <a:tc>
                  <a:txBody>
                    <a:bodyPr wrap="square"/>
                    <a:lstStyle/>
                    <a:p>
                      <a:pPr algn="l">
                        <a:lnSpc>
                          <a:spcPct val="100000"/>
                        </a:lnSpc>
                      </a:pPr>
                      <a:r>
                        <a:rPr sz="1700" b="0">
                          <a:solidFill>
                            <a:srgbClr val="14213D"/>
                          </a:solidFill>
                          <a:latin typeface="Segoe UI"/>
                        </a:rPr>
                        <a:t>“Relationship between water temperature and coral bleaching extent”</a:t>
                      </a:r>
                    </a:p>
                  </a:txBody>
                  <a:tcPr marL="101600" marR="101600" marT="50800" marB="50800" anchor="ctr">
                    <a:solidFill>
                      <a:srgbClr val="EEF4F7"/>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c>
                  <a:txBody>
                    <a:bodyPr wrap="square"/>
                    <a:lstStyle/>
                    <a:p>
                      <a:pPr algn="l">
                        <a:lnSpc>
                          <a:spcPct val="100000"/>
                        </a:lnSpc>
                      </a:pPr>
                      <a:r>
                        <a:rPr sz="1700" b="0">
                          <a:solidFill>
                            <a:srgbClr val="14213D"/>
                          </a:solidFill>
                          <a:latin typeface="Segoe UI"/>
                        </a:rPr>
                        <a:t/>
                      </a:r>
                    </a:p>
                  </a:txBody>
                  <a:tcPr marL="101600" marR="101600" marT="50800" marB="50800" anchor="ctr">
                    <a:solidFill>
                      <a:srgbClr val="FCF0CC"/>
                    </a:solidFill>
                  </a:tcPr>
                </a:tc>
              </a:tr>
            </a:tbl>
          </a:graphicData>
        </a:graphic>
      </p:graphicFrame>
      <p:sp>
        <p:nvSpPr>
          <p:cNvPr id="12" name="Rounded Rectangle 11"/>
          <p:cNvSpPr/>
          <p:nvPr/>
        </p:nvSpPr>
        <p:spPr>
          <a:xfrm>
            <a:off x="777240" y="480060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960120" y="490118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4" name="TextBox 13"/>
          <p:cNvSpPr txBox="1"/>
          <p:nvPr/>
        </p:nvSpPr>
        <p:spPr>
          <a:xfrm>
            <a:off x="1490472" y="480060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Quick 2-minute oral drill — which variable is the presumed cause, which the effect?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Null vs. Alternative Hypothesis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40</a:t>
            </a:r>
          </a:p>
        </p:txBody>
      </p:sp>
      <p:sp>
        <p:nvSpPr>
          <p:cNvPr id="9" name="Rounded Rectangle 8"/>
          <p:cNvSpPr/>
          <p:nvPr/>
        </p:nvSpPr>
        <p:spPr>
          <a:xfrm>
            <a:off x="777240" y="1783080"/>
            <a:ext cx="5090007" cy="2834639"/>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783080"/>
            <a:ext cx="5090007" cy="566928"/>
          </a:xfrm>
          <a:prstGeom prst="roundRect">
            <a:avLst>
              <a:gd name="adj" fmla="val 12000"/>
            </a:avLst>
          </a:prstGeom>
          <a:solidFill>
            <a:srgbClr val="5B6B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178308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NULL HYPOTHESIS  (H₀)</a:t>
            </a:r>
          </a:p>
        </p:txBody>
      </p:sp>
      <p:sp>
        <p:nvSpPr>
          <p:cNvPr id="12" name="TextBox 11"/>
          <p:cNvSpPr txBox="1"/>
          <p:nvPr/>
        </p:nvSpPr>
        <p:spPr>
          <a:xfrm>
            <a:off x="1069848" y="2560320"/>
            <a:ext cx="4541367" cy="1920239"/>
          </a:xfrm>
          <a:prstGeom prst="rect">
            <a:avLst/>
          </a:prstGeom>
          <a:noFill/>
        </p:spPr>
        <p:txBody>
          <a:bodyPr wrap="square" anchor="t" lIns="0" rIns="0" tIns="0" bIns="0">
            <a:spAutoFit/>
          </a:bodyPr>
          <a:lstStyle/>
          <a:p>
            <a:pPr algn="l" marL="274638" indent="-274638">
              <a:lnSpc>
                <a:spcPct val="105000"/>
              </a:lnSpc>
              <a:spcBef>
                <a:spcPts val="0"/>
              </a:spcBef>
              <a:spcAft>
                <a:spcPts val="1000"/>
              </a:spcAft>
              <a:buClr>
                <a:srgbClr val="5B6B7B"/>
              </a:buClr>
              <a:buSzPct val="80000"/>
              <a:buFont typeface="Arial"/>
              <a:buChar char="▪"/>
            </a:pPr>
            <a:r>
              <a:rPr sz="1900" b="0" i="0">
                <a:solidFill>
                  <a:srgbClr val="14213D"/>
                </a:solidFill>
                <a:latin typeface="Segoe UI"/>
              </a:rPr>
              <a:t>States there is no significant relationship or difference.</a:t>
            </a:r>
          </a:p>
          <a:p>
            <a:pPr algn="l" marL="274638" indent="-274638">
              <a:lnSpc>
                <a:spcPct val="105000"/>
              </a:lnSpc>
              <a:spcBef>
                <a:spcPts val="0"/>
              </a:spcBef>
              <a:spcAft>
                <a:spcPts val="1000"/>
              </a:spcAft>
              <a:buClr>
                <a:srgbClr val="5B6B7B"/>
              </a:buClr>
              <a:buSzPct val="80000"/>
              <a:buFont typeface="Arial"/>
              <a:buChar char="▪"/>
            </a:pPr>
            <a:r>
              <a:rPr sz="1900" b="1" i="0">
                <a:solidFill>
                  <a:srgbClr val="5B6B7B"/>
                </a:solidFill>
                <a:latin typeface="Segoe UI"/>
              </a:rPr>
              <a:t>Example: </a:t>
            </a:r>
            <a:r>
              <a:rPr sz="1900" b="0" i="1">
                <a:solidFill>
                  <a:srgbClr val="14213D"/>
                </a:solidFill>
                <a:latin typeface="Segoe UI"/>
              </a:rPr>
              <a:t>“There is no significant relationship between turbidity and live coral cover.”</a:t>
            </a:r>
          </a:p>
        </p:txBody>
      </p:sp>
      <p:sp>
        <p:nvSpPr>
          <p:cNvPr id="13" name="Rounded Rectangle 12"/>
          <p:cNvSpPr/>
          <p:nvPr/>
        </p:nvSpPr>
        <p:spPr>
          <a:xfrm>
            <a:off x="6324447" y="1783080"/>
            <a:ext cx="5090007" cy="2834639"/>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324447" y="1783080"/>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0479" y="178308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ALTERNATIVE HYPOTHESIS  (H₁)</a:t>
            </a:r>
          </a:p>
        </p:txBody>
      </p:sp>
      <p:sp>
        <p:nvSpPr>
          <p:cNvPr id="16" name="TextBox 15"/>
          <p:cNvSpPr txBox="1"/>
          <p:nvPr/>
        </p:nvSpPr>
        <p:spPr>
          <a:xfrm>
            <a:off x="6617055" y="2560320"/>
            <a:ext cx="4541367" cy="1920239"/>
          </a:xfrm>
          <a:prstGeom prst="rect">
            <a:avLst/>
          </a:prstGeom>
          <a:noFill/>
        </p:spPr>
        <p:txBody>
          <a:bodyPr wrap="square" anchor="t" lIns="0" rIns="0" tIns="0" bIns="0">
            <a:spAutoFit/>
          </a:bodyPr>
          <a:lstStyle/>
          <a:p>
            <a:pPr algn="l" marL="274638" indent="-274638">
              <a:lnSpc>
                <a:spcPct val="105000"/>
              </a:lnSpc>
              <a:spcBef>
                <a:spcPts val="0"/>
              </a:spcBef>
              <a:spcAft>
                <a:spcPts val="1000"/>
              </a:spcAft>
              <a:buClr>
                <a:srgbClr val="1D7A8C"/>
              </a:buClr>
              <a:buSzPct val="80000"/>
              <a:buFont typeface="Arial"/>
              <a:buChar char="▪"/>
            </a:pPr>
            <a:r>
              <a:rPr sz="1900" b="0" i="0">
                <a:solidFill>
                  <a:srgbClr val="14213D"/>
                </a:solidFill>
                <a:latin typeface="Segoe UI"/>
              </a:rPr>
              <a:t>States there is a significant relationship or difference — often stated directionally.</a:t>
            </a:r>
          </a:p>
          <a:p>
            <a:pPr algn="l" marL="274638" indent="-274638">
              <a:lnSpc>
                <a:spcPct val="105000"/>
              </a:lnSpc>
              <a:spcBef>
                <a:spcPts val="0"/>
              </a:spcBef>
              <a:spcAft>
                <a:spcPts val="1000"/>
              </a:spcAft>
              <a:buClr>
                <a:srgbClr val="1D7A8C"/>
              </a:buClr>
              <a:buSzPct val="80000"/>
              <a:buFont typeface="Arial"/>
              <a:buChar char="▪"/>
            </a:pPr>
            <a:r>
              <a:rPr sz="1900" b="1" i="0">
                <a:solidFill>
                  <a:srgbClr val="1D7A8C"/>
                </a:solidFill>
                <a:latin typeface="Segoe UI"/>
              </a:rPr>
              <a:t>Example: </a:t>
            </a:r>
            <a:r>
              <a:rPr sz="1900" b="0" i="1">
                <a:solidFill>
                  <a:srgbClr val="14213D"/>
                </a:solidFill>
                <a:latin typeface="Segoe UI"/>
              </a:rPr>
              <a:t>“There is a significant negative relationship between turbidity and live coral cover — the higher the turbidity, the lower the coral cover.”</a:t>
            </a:r>
          </a:p>
        </p:txBody>
      </p:sp>
      <p:sp>
        <p:nvSpPr>
          <p:cNvPr id="17" name="Rounded Rectangle 16"/>
          <p:cNvSpPr/>
          <p:nvPr/>
        </p:nvSpPr>
        <p:spPr>
          <a:xfrm>
            <a:off x="777240" y="4846320"/>
            <a:ext cx="10637215" cy="640080"/>
          </a:xfrm>
          <a:prstGeom prst="roundRect">
            <a:avLst>
              <a:gd name="adj" fmla="val 10000"/>
            </a:avLst>
          </a:prstGeom>
          <a:solidFill>
            <a:srgbClr val="FCF0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97280" y="4846320"/>
            <a:ext cx="9997135" cy="640080"/>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a:rPr>
              <a:t>We define these terms today. </a:t>
            </a:r>
            <a:r>
              <a:rPr sz="1700" b="0" i="0">
                <a:solidFill>
                  <a:srgbClr val="24344F"/>
                </a:solidFill>
                <a:latin typeface="Segoe UI"/>
              </a:rPr>
              <a:t>Testing them with p-values and significance levels is deferred to your statistics lecture.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Application — Write H₀ and H₁ (Agriculture)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41</a:t>
            </a:r>
          </a:p>
        </p:txBody>
      </p:sp>
      <p:sp>
        <p:nvSpPr>
          <p:cNvPr id="9" name="Rounded Rectangle 8"/>
          <p:cNvSpPr/>
          <p:nvPr/>
        </p:nvSpPr>
        <p:spPr>
          <a:xfrm>
            <a:off x="777240" y="1719072"/>
            <a:ext cx="3024835"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841955"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a:t>
            </a:r>
          </a:p>
        </p:txBody>
      </p:sp>
      <p:sp>
        <p:nvSpPr>
          <p:cNvPr id="11" name="Rounded Rectangle 10"/>
          <p:cNvSpPr/>
          <p:nvPr/>
        </p:nvSpPr>
        <p:spPr>
          <a:xfrm>
            <a:off x="777240" y="2194560"/>
            <a:ext cx="10637215" cy="914400"/>
          </a:xfrm>
          <a:prstGeom prst="roundRect">
            <a:avLst>
              <a:gd name="adj" fmla="val 8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118872" cy="914400"/>
          </a:xfrm>
          <a:prstGeom prst="roundRect">
            <a:avLst>
              <a:gd name="adj" fmla="val 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161288" y="2359152"/>
            <a:ext cx="9997135" cy="585216"/>
          </a:xfrm>
          <a:prstGeom prst="rect">
            <a:avLst/>
          </a:prstGeom>
          <a:noFill/>
        </p:spPr>
        <p:txBody>
          <a:bodyPr wrap="square" anchor="ctr" lIns="0" rIns="0" tIns="0" bIns="0">
            <a:spAutoFit/>
          </a:bodyPr>
          <a:lstStyle/>
          <a:p>
            <a:pPr algn="l">
              <a:lnSpc>
                <a:spcPct val="116000"/>
              </a:lnSpc>
              <a:spcBef>
                <a:spcPts val="0"/>
              </a:spcBef>
              <a:spcAft>
                <a:spcPts val="0"/>
              </a:spcAft>
            </a:pPr>
            <a:r>
              <a:rPr sz="1700" b="0" i="1">
                <a:solidFill>
                  <a:srgbClr val="FFFFFF"/>
                </a:solidFill>
                <a:latin typeface="Segoe UI"/>
              </a:rPr>
              <a:t>Given specific objective #3 from the Agriculture SOP (Slide 37): “Is there a significant difference in yield between the two groups?”</a:t>
            </a:r>
          </a:p>
        </p:txBody>
      </p:sp>
      <p:sp>
        <p:nvSpPr>
          <p:cNvPr id="14" name="Rounded Rectangle 13"/>
          <p:cNvSpPr/>
          <p:nvPr/>
        </p:nvSpPr>
        <p:spPr>
          <a:xfrm>
            <a:off x="777240" y="3337560"/>
            <a:ext cx="10637215" cy="21945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43000" y="3657600"/>
            <a:ext cx="9905695" cy="411479"/>
          </a:xfrm>
          <a:prstGeom prst="rect">
            <a:avLst/>
          </a:prstGeom>
          <a:noFill/>
        </p:spPr>
        <p:txBody>
          <a:bodyPr wrap="square" anchor="t" lIns="0" rIns="0" tIns="0" bIns="0">
            <a:spAutoFit/>
          </a:bodyPr>
          <a:lstStyle/>
          <a:p>
            <a:pPr algn="l">
              <a:lnSpc>
                <a:spcPct val="105000"/>
              </a:lnSpc>
              <a:spcBef>
                <a:spcPts val="0"/>
              </a:spcBef>
              <a:spcAft>
                <a:spcPts val="0"/>
              </a:spcAft>
            </a:pPr>
            <a:r>
              <a:rPr sz="2100" b="1" i="0">
                <a:solidFill>
                  <a:srgbClr val="14213D"/>
                </a:solidFill>
                <a:latin typeface="Segoe UI Semibold"/>
              </a:rPr>
              <a:t>H₀  (null):</a:t>
            </a:r>
          </a:p>
        </p:txBody>
      </p:sp>
      <p:sp>
        <p:nvSpPr>
          <p:cNvPr id="16" name="Rounded Rectangle 15"/>
          <p:cNvSpPr/>
          <p:nvPr/>
        </p:nvSpPr>
        <p:spPr>
          <a:xfrm>
            <a:off x="1143000" y="4167835"/>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143000" y="4480560"/>
            <a:ext cx="9905695" cy="411479"/>
          </a:xfrm>
          <a:prstGeom prst="rect">
            <a:avLst/>
          </a:prstGeom>
          <a:noFill/>
        </p:spPr>
        <p:txBody>
          <a:bodyPr wrap="square" anchor="t" lIns="0" rIns="0" tIns="0" bIns="0">
            <a:spAutoFit/>
          </a:bodyPr>
          <a:lstStyle/>
          <a:p>
            <a:pPr algn="l">
              <a:lnSpc>
                <a:spcPct val="105000"/>
              </a:lnSpc>
              <a:spcBef>
                <a:spcPts val="0"/>
              </a:spcBef>
              <a:spcAft>
                <a:spcPts val="0"/>
              </a:spcAft>
            </a:pPr>
            <a:r>
              <a:rPr sz="2100" b="1" i="0">
                <a:solidFill>
                  <a:srgbClr val="14213D"/>
                </a:solidFill>
                <a:latin typeface="Segoe UI Semibold"/>
              </a:rPr>
              <a:t>H₁  (alternative — make it directional: which group yields more, and why?):</a:t>
            </a:r>
          </a:p>
        </p:txBody>
      </p:sp>
      <p:sp>
        <p:nvSpPr>
          <p:cNvPr id="18" name="Rounded Rectangle 17"/>
          <p:cNvSpPr/>
          <p:nvPr/>
        </p:nvSpPr>
        <p:spPr>
          <a:xfrm>
            <a:off x="1143000" y="4990795"/>
            <a:ext cx="9905695"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Scripts for Writing Quantitative Questions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42</a:t>
            </a:r>
          </a:p>
        </p:txBody>
      </p:sp>
      <p:sp>
        <p:nvSpPr>
          <p:cNvPr id="9" name="Rounded Rectangle 8"/>
          <p:cNvSpPr/>
          <p:nvPr/>
        </p:nvSpPr>
        <p:spPr>
          <a:xfrm>
            <a:off x="777240" y="1965960"/>
            <a:ext cx="10637215" cy="1051560"/>
          </a:xfrm>
          <a:prstGeom prst="roundRect">
            <a:avLst>
              <a:gd name="adj" fmla="val 6000"/>
            </a:avLst>
          </a:prstGeom>
          <a:solidFill>
            <a:srgbClr val="FBFDFE"/>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965960"/>
            <a:ext cx="10637215" cy="457200"/>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1965960"/>
            <a:ext cx="10198303" cy="45720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FFFFFF"/>
                </a:solidFill>
                <a:latin typeface="Segoe UI Semibold"/>
              </a:rPr>
              <a:t>DESCRIPTIVE SCRIPT</a:t>
            </a:r>
          </a:p>
        </p:txBody>
      </p:sp>
      <p:sp>
        <p:nvSpPr>
          <p:cNvPr id="12" name="TextBox 11"/>
          <p:cNvSpPr txBox="1"/>
          <p:nvPr/>
        </p:nvSpPr>
        <p:spPr>
          <a:xfrm>
            <a:off x="1097280" y="2487168"/>
            <a:ext cx="9997135" cy="502920"/>
          </a:xfrm>
          <a:prstGeom prst="rect">
            <a:avLst/>
          </a:prstGeom>
          <a:noFill/>
        </p:spPr>
        <p:txBody>
          <a:bodyPr wrap="square" anchor="ctr" lIns="0" rIns="0" tIns="0" bIns="0">
            <a:spAutoFit/>
          </a:bodyPr>
          <a:lstStyle/>
          <a:p>
            <a:pPr algn="l">
              <a:lnSpc>
                <a:spcPct val="105000"/>
              </a:lnSpc>
              <a:spcBef>
                <a:spcPts val="0"/>
              </a:spcBef>
              <a:spcAft>
                <a:spcPts val="0"/>
              </a:spcAft>
            </a:pPr>
            <a:r>
              <a:rPr sz="1800" b="0" i="1">
                <a:solidFill>
                  <a:srgbClr val="14213D"/>
                </a:solidFill>
                <a:latin typeface="Segoe UI"/>
              </a:rPr>
              <a:t>“What is the [level / frequency / percentage] of ______ (variable) among ______ (participants / site)?”</a:t>
            </a:r>
          </a:p>
        </p:txBody>
      </p:sp>
      <p:sp>
        <p:nvSpPr>
          <p:cNvPr id="13" name="Rounded Rectangle 12"/>
          <p:cNvSpPr/>
          <p:nvPr/>
        </p:nvSpPr>
        <p:spPr>
          <a:xfrm>
            <a:off x="777240" y="3154680"/>
            <a:ext cx="10637215" cy="1188720"/>
          </a:xfrm>
          <a:prstGeom prst="roundRect">
            <a:avLst>
              <a:gd name="adj" fmla="val 6000"/>
            </a:avLst>
          </a:prstGeom>
          <a:solidFill>
            <a:srgbClr val="FBFDFE"/>
          </a:solidFill>
          <a:ln w="12700">
            <a:solidFill>
              <a:srgbClr val="F4795B"/>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777240" y="3154680"/>
            <a:ext cx="10637215" cy="457200"/>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33271" y="3154680"/>
            <a:ext cx="10198303" cy="45720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FFFFFF"/>
                </a:solidFill>
                <a:latin typeface="Segoe UI Semibold"/>
              </a:rPr>
              <a:t>RELATIONSHIP / DIRECTIONAL SCRIPT</a:t>
            </a:r>
          </a:p>
        </p:txBody>
      </p:sp>
      <p:sp>
        <p:nvSpPr>
          <p:cNvPr id="16" name="TextBox 15"/>
          <p:cNvSpPr txBox="1"/>
          <p:nvPr/>
        </p:nvSpPr>
        <p:spPr>
          <a:xfrm>
            <a:off x="1097280" y="3675887"/>
            <a:ext cx="9997135" cy="640080"/>
          </a:xfrm>
          <a:prstGeom prst="rect">
            <a:avLst/>
          </a:prstGeom>
          <a:noFill/>
        </p:spPr>
        <p:txBody>
          <a:bodyPr wrap="square" anchor="ctr" lIns="0" rIns="0" tIns="0" bIns="0">
            <a:spAutoFit/>
          </a:bodyPr>
          <a:lstStyle/>
          <a:p>
            <a:pPr algn="l">
              <a:lnSpc>
                <a:spcPct val="105000"/>
              </a:lnSpc>
              <a:spcBef>
                <a:spcPts val="0"/>
              </a:spcBef>
              <a:spcAft>
                <a:spcPts val="0"/>
              </a:spcAft>
            </a:pPr>
            <a:r>
              <a:rPr sz="1800" b="0" i="1">
                <a:solidFill>
                  <a:srgbClr val="14213D"/>
                </a:solidFill>
                <a:latin typeface="Segoe UI"/>
              </a:rPr>
              <a:t>“It is predicted that there will be a relationship between ______ (predictor) and ______ (outcome), such that ______ (direction of the effect).”</a:t>
            </a:r>
          </a:p>
        </p:txBody>
      </p:sp>
      <p:sp>
        <p:nvSpPr>
          <p:cNvPr id="17" name="Rounded Rectangle 16"/>
          <p:cNvSpPr/>
          <p:nvPr/>
        </p:nvSpPr>
        <p:spPr>
          <a:xfrm>
            <a:off x="777240" y="4526279"/>
            <a:ext cx="10637215" cy="960120"/>
          </a:xfrm>
          <a:prstGeom prst="roundRect">
            <a:avLst>
              <a:gd name="adj" fmla="val 8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97280" y="4526279"/>
            <a:ext cx="9997135" cy="960120"/>
          </a:xfrm>
          <a:prstGeom prst="rect">
            <a:avLst/>
          </a:prstGeom>
          <a:noFill/>
        </p:spPr>
        <p:txBody>
          <a:bodyPr wrap="square" anchor="ctr" lIns="0" rIns="0" tIns="0" bIns="0">
            <a:spAutoFit/>
          </a:bodyPr>
          <a:lstStyle/>
          <a:p>
            <a:pPr algn="l">
              <a:lnSpc>
                <a:spcPct val="100000"/>
              </a:lnSpc>
              <a:spcBef>
                <a:spcPts val="0"/>
              </a:spcBef>
              <a:spcAft>
                <a:spcPts val="300"/>
              </a:spcAft>
            </a:pPr>
            <a:r>
              <a:rPr sz="1250" b="1" i="0">
                <a:solidFill>
                  <a:srgbClr val="F2B705"/>
                </a:solidFill>
                <a:latin typeface="Segoe UI Semibold"/>
              </a:rPr>
              <a:t>APPLIED — CORAL REEF</a:t>
            </a:r>
          </a:p>
          <a:p>
            <a:pPr algn="l">
              <a:lnSpc>
                <a:spcPct val="105000"/>
              </a:lnSpc>
              <a:spcBef>
                <a:spcPts val="0"/>
              </a:spcBef>
              <a:spcAft>
                <a:spcPts val="0"/>
              </a:spcAft>
            </a:pPr>
            <a:r>
              <a:rPr sz="1650" b="0" i="1">
                <a:solidFill>
                  <a:srgbClr val="FFFFFF"/>
                </a:solidFill>
                <a:latin typeface="Segoe UI"/>
              </a:rPr>
              <a:t>“It is predicted that there will be a relationship between turbidity level and live coral cover, such that higher turbidity is associated with lower coral cover.”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Scripts for Writing Qualitative Questions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43</a:t>
            </a:r>
          </a:p>
        </p:txBody>
      </p:sp>
      <p:sp>
        <p:nvSpPr>
          <p:cNvPr id="9" name="Rounded Rectangle 8"/>
          <p:cNvSpPr/>
          <p:nvPr/>
        </p:nvSpPr>
        <p:spPr>
          <a:xfrm>
            <a:off x="777240" y="2011679"/>
            <a:ext cx="10637215" cy="1097280"/>
          </a:xfrm>
          <a:prstGeom prst="roundRect">
            <a:avLst>
              <a:gd name="adj" fmla="val 6000"/>
            </a:avLst>
          </a:prstGeom>
          <a:solidFill>
            <a:srgbClr val="FBFDFE"/>
          </a:solidFill>
          <a:ln w="12700">
            <a:solidFill>
              <a:srgbClr val="F4795B"/>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2011679"/>
            <a:ext cx="10637215" cy="457200"/>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2011679"/>
            <a:ext cx="10198303" cy="45720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FFFFFF"/>
                </a:solidFill>
                <a:latin typeface="Segoe UI Semibold"/>
              </a:rPr>
              <a:t>CENTRAL QUESTION SCRIPT</a:t>
            </a:r>
          </a:p>
        </p:txBody>
      </p:sp>
      <p:sp>
        <p:nvSpPr>
          <p:cNvPr id="12" name="TextBox 11"/>
          <p:cNvSpPr txBox="1"/>
          <p:nvPr/>
        </p:nvSpPr>
        <p:spPr>
          <a:xfrm>
            <a:off x="1097280" y="2542032"/>
            <a:ext cx="9997135" cy="548640"/>
          </a:xfrm>
          <a:prstGeom prst="rect">
            <a:avLst/>
          </a:prstGeom>
          <a:noFill/>
        </p:spPr>
        <p:txBody>
          <a:bodyPr wrap="square" anchor="ctr" lIns="0" rIns="0" tIns="0" bIns="0">
            <a:spAutoFit/>
          </a:bodyPr>
          <a:lstStyle/>
          <a:p>
            <a:pPr algn="l">
              <a:lnSpc>
                <a:spcPct val="105000"/>
              </a:lnSpc>
              <a:spcBef>
                <a:spcPts val="0"/>
              </a:spcBef>
              <a:spcAft>
                <a:spcPts val="0"/>
              </a:spcAft>
            </a:pPr>
            <a:r>
              <a:rPr sz="1800" b="0" i="1">
                <a:solidFill>
                  <a:srgbClr val="14213D"/>
                </a:solidFill>
                <a:latin typeface="Segoe UI"/>
              </a:rPr>
              <a:t>“______ (How or What) is the ______ (central phenomenon) for ______ (participants) at ______ (research site)?”</a:t>
            </a:r>
          </a:p>
        </p:txBody>
      </p:sp>
      <p:sp>
        <p:nvSpPr>
          <p:cNvPr id="13" name="Rounded Rectangle 12"/>
          <p:cNvSpPr/>
          <p:nvPr/>
        </p:nvSpPr>
        <p:spPr>
          <a:xfrm>
            <a:off x="777240" y="3246120"/>
            <a:ext cx="10637215" cy="1005840"/>
          </a:xfrm>
          <a:prstGeom prst="roundRect">
            <a:avLst>
              <a:gd name="adj" fmla="val 8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097280" y="3246120"/>
            <a:ext cx="9997135" cy="1005840"/>
          </a:xfrm>
          <a:prstGeom prst="rect">
            <a:avLst/>
          </a:prstGeom>
          <a:noFill/>
        </p:spPr>
        <p:txBody>
          <a:bodyPr wrap="square" anchor="ctr" lIns="0" rIns="0" tIns="0" bIns="0">
            <a:spAutoFit/>
          </a:bodyPr>
          <a:lstStyle/>
          <a:p>
            <a:pPr algn="l">
              <a:lnSpc>
                <a:spcPct val="100000"/>
              </a:lnSpc>
              <a:spcBef>
                <a:spcPts val="0"/>
              </a:spcBef>
              <a:spcAft>
                <a:spcPts val="300"/>
              </a:spcAft>
            </a:pPr>
            <a:r>
              <a:rPr sz="1250" b="1" i="0">
                <a:solidFill>
                  <a:srgbClr val="F2B705"/>
                </a:solidFill>
                <a:latin typeface="Segoe UI Semibold"/>
              </a:rPr>
              <a:t>APPLIED — INSTRUCTOR-CREATED EXAMPLE</a:t>
            </a:r>
          </a:p>
          <a:p>
            <a:pPr algn="l">
              <a:lnSpc>
                <a:spcPct val="106000"/>
              </a:lnSpc>
              <a:spcBef>
                <a:spcPts val="0"/>
              </a:spcBef>
              <a:spcAft>
                <a:spcPts val="0"/>
              </a:spcAft>
            </a:pPr>
            <a:r>
              <a:rPr sz="1650" b="0" i="1">
                <a:solidFill>
                  <a:srgbClr val="FFFFFF"/>
                </a:solidFill>
                <a:latin typeface="Segoe UI"/>
              </a:rPr>
              <a:t>“How do small-scale fisherfolk in a selected Davao Gulf coastal barangay describe changes in their livelihood amid declining coral reef health?”</a:t>
            </a:r>
          </a:p>
        </p:txBody>
      </p:sp>
      <p:sp>
        <p:nvSpPr>
          <p:cNvPr id="15" name="TextBox 14"/>
          <p:cNvSpPr txBox="1"/>
          <p:nvPr/>
        </p:nvSpPr>
        <p:spPr>
          <a:xfrm>
            <a:off x="822960" y="443484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600"/>
              </a:spcAft>
              <a:buClr>
                <a:srgbClr val="1D7A8C"/>
              </a:buClr>
              <a:buSzPct val="80000"/>
              <a:buFont typeface="Arial"/>
              <a:buChar char="▪"/>
            </a:pPr>
            <a:r>
              <a:rPr sz="1800" b="0" i="0">
                <a:solidFill>
                  <a:srgbClr val="14213D"/>
                </a:solidFill>
                <a:latin typeface="Segoe UI"/>
              </a:rPr>
              <a:t>Two habits to flag: qualitative questions open with </a:t>
            </a:r>
            <a:r>
              <a:rPr sz="1800" b="1" i="1">
                <a:solidFill>
                  <a:srgbClr val="F4795B"/>
                </a:solidFill>
                <a:latin typeface="Segoe UI"/>
              </a:rPr>
              <a:t>how</a:t>
            </a:r>
            <a:r>
              <a:rPr sz="1800" b="0" i="0">
                <a:solidFill>
                  <a:srgbClr val="14213D"/>
                </a:solidFill>
                <a:latin typeface="Segoe UI"/>
              </a:rPr>
              <a:t> or </a:t>
            </a:r>
            <a:r>
              <a:rPr sz="1800" b="1" i="1">
                <a:solidFill>
                  <a:srgbClr val="F4795B"/>
                </a:solidFill>
                <a:latin typeface="Segoe UI"/>
              </a:rPr>
              <a:t>what</a:t>
            </a:r>
            <a:r>
              <a:rPr sz="1800" b="0" i="0">
                <a:solidFill>
                  <a:srgbClr val="14213D"/>
                </a:solidFill>
                <a:latin typeface="Segoe UI"/>
              </a:rPr>
              <a:t> (not </a:t>
            </a:r>
            <a:r>
              <a:rPr sz="1800" b="1" i="1">
                <a:solidFill>
                  <a:srgbClr val="D1495B"/>
                </a:solidFill>
                <a:latin typeface="Segoe UI"/>
              </a:rPr>
              <a:t>why</a:t>
            </a:r>
            <a:r>
              <a:rPr sz="1800" b="0" i="0">
                <a:solidFill>
                  <a:srgbClr val="14213D"/>
                </a:solidFill>
                <a:latin typeface="Segoe UI"/>
              </a:rPr>
              <a:t>, which implies cause-and-effect), and they focus on a </a:t>
            </a:r>
            <a:r>
              <a:rPr sz="1800" b="1" i="0">
                <a:solidFill>
                  <a:srgbClr val="14213D"/>
                </a:solidFill>
                <a:latin typeface="Segoe UI"/>
              </a:rPr>
              <a:t>single central phenomenon</a:t>
            </a:r>
            <a:r>
              <a:rPr sz="1800" b="0" i="0">
                <a:solidFill>
                  <a:srgbClr val="14213D"/>
                </a:solidFill>
                <a:latin typeface="Segoe UI"/>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6 · RESEARCH QUESTIONS &amp; HYPOTHESES (COMPETENCY 14)</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Workshop — Draft Your Own SOP</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44</a:t>
            </a:r>
          </a:p>
        </p:txBody>
      </p:sp>
      <p:sp>
        <p:nvSpPr>
          <p:cNvPr id="9" name="Rounded Rectangle 8"/>
          <p:cNvSpPr/>
          <p:nvPr/>
        </p:nvSpPr>
        <p:spPr>
          <a:xfrm>
            <a:off x="777240" y="1719072"/>
            <a:ext cx="4312310"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4129430"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 · 10–15 minutes</a:t>
            </a:r>
          </a:p>
        </p:txBody>
      </p:sp>
      <p:sp>
        <p:nvSpPr>
          <p:cNvPr id="11" name="Rounded Rectangle 10"/>
          <p:cNvSpPr/>
          <p:nvPr/>
        </p:nvSpPr>
        <p:spPr>
          <a:xfrm>
            <a:off x="777240" y="2240280"/>
            <a:ext cx="10637215" cy="74980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05840" y="2414016"/>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1</a:t>
            </a:r>
          </a:p>
        </p:txBody>
      </p:sp>
      <p:sp>
        <p:nvSpPr>
          <p:cNvPr id="13" name="TextBox 12"/>
          <p:cNvSpPr txBox="1"/>
          <p:nvPr/>
        </p:nvSpPr>
        <p:spPr>
          <a:xfrm>
            <a:off x="1572768" y="2240280"/>
            <a:ext cx="9585655" cy="749808"/>
          </a:xfrm>
          <a:prstGeom prst="rect">
            <a:avLst/>
          </a:prstGeom>
          <a:noFill/>
        </p:spPr>
        <p:txBody>
          <a:bodyPr wrap="square" anchor="ctr" lIns="0" rIns="0" tIns="0" bIns="0">
            <a:spAutoFit/>
          </a:bodyPr>
          <a:lstStyle/>
          <a:p>
            <a:pPr algn="l">
              <a:lnSpc>
                <a:spcPct val="102000"/>
              </a:lnSpc>
              <a:spcBef>
                <a:spcPts val="0"/>
              </a:spcBef>
              <a:spcAft>
                <a:spcPts val="0"/>
              </a:spcAft>
            </a:pPr>
            <a:r>
              <a:rPr sz="1800" b="0" i="0">
                <a:solidFill>
                  <a:srgbClr val="14213D"/>
                </a:solidFill>
                <a:latin typeface="Segoe UI"/>
              </a:rPr>
              <a:t>Write your </a:t>
            </a:r>
            <a:r>
              <a:rPr sz="1800" b="1" i="0">
                <a:solidFill>
                  <a:srgbClr val="1D7A8C"/>
                </a:solidFill>
                <a:latin typeface="Segoe UI"/>
              </a:rPr>
              <a:t>general objective</a:t>
            </a:r>
            <a:r>
              <a:rPr sz="1800" b="0" i="0">
                <a:solidFill>
                  <a:srgbClr val="14213D"/>
                </a:solidFill>
                <a:latin typeface="Segoe UI"/>
              </a:rPr>
              <a:t> (1 sentence).</a:t>
            </a:r>
          </a:p>
        </p:txBody>
      </p:sp>
      <p:sp>
        <p:nvSpPr>
          <p:cNvPr id="14" name="Rounded Rectangle 13"/>
          <p:cNvSpPr/>
          <p:nvPr/>
        </p:nvSpPr>
        <p:spPr>
          <a:xfrm>
            <a:off x="777240" y="3099816"/>
            <a:ext cx="10637215" cy="74980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05840" y="3273552"/>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2</a:t>
            </a:r>
          </a:p>
        </p:txBody>
      </p:sp>
      <p:sp>
        <p:nvSpPr>
          <p:cNvPr id="16" name="TextBox 15"/>
          <p:cNvSpPr txBox="1"/>
          <p:nvPr/>
        </p:nvSpPr>
        <p:spPr>
          <a:xfrm>
            <a:off x="1572768" y="3099816"/>
            <a:ext cx="9585655" cy="749808"/>
          </a:xfrm>
          <a:prstGeom prst="rect">
            <a:avLst/>
          </a:prstGeom>
          <a:noFill/>
        </p:spPr>
        <p:txBody>
          <a:bodyPr wrap="square" anchor="ctr" lIns="0" rIns="0" tIns="0" bIns="0">
            <a:spAutoFit/>
          </a:bodyPr>
          <a:lstStyle/>
          <a:p>
            <a:pPr algn="l">
              <a:lnSpc>
                <a:spcPct val="102000"/>
              </a:lnSpc>
              <a:spcBef>
                <a:spcPts val="0"/>
              </a:spcBef>
              <a:spcAft>
                <a:spcPts val="0"/>
              </a:spcAft>
            </a:pPr>
            <a:r>
              <a:rPr sz="1800" b="0" i="0">
                <a:solidFill>
                  <a:srgbClr val="14213D"/>
                </a:solidFill>
                <a:latin typeface="Segoe UI"/>
              </a:rPr>
              <a:t>Write </a:t>
            </a:r>
            <a:r>
              <a:rPr sz="1800" b="1" i="0">
                <a:solidFill>
                  <a:srgbClr val="1D7A8C"/>
                </a:solidFill>
                <a:latin typeface="Segoe UI"/>
              </a:rPr>
              <a:t>at least 3 specific research questions</a:t>
            </a:r>
            <a:r>
              <a:rPr sz="1800" b="0" i="0">
                <a:solidFill>
                  <a:srgbClr val="14213D"/>
                </a:solidFill>
                <a:latin typeface="Segoe UI"/>
              </a:rPr>
              <a:t> (quantitative) or 1 central question + 5–7 sub-questions (qualitative).</a:t>
            </a:r>
          </a:p>
        </p:txBody>
      </p:sp>
      <p:sp>
        <p:nvSpPr>
          <p:cNvPr id="17" name="Rounded Rectangle 16"/>
          <p:cNvSpPr/>
          <p:nvPr/>
        </p:nvSpPr>
        <p:spPr>
          <a:xfrm>
            <a:off x="777240" y="3959352"/>
            <a:ext cx="10637215" cy="74980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05840" y="4133088"/>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3</a:t>
            </a:r>
          </a:p>
        </p:txBody>
      </p:sp>
      <p:sp>
        <p:nvSpPr>
          <p:cNvPr id="19" name="TextBox 18"/>
          <p:cNvSpPr txBox="1"/>
          <p:nvPr/>
        </p:nvSpPr>
        <p:spPr>
          <a:xfrm>
            <a:off x="1572768" y="3959352"/>
            <a:ext cx="9585655" cy="749808"/>
          </a:xfrm>
          <a:prstGeom prst="rect">
            <a:avLst/>
          </a:prstGeom>
          <a:noFill/>
        </p:spPr>
        <p:txBody>
          <a:bodyPr wrap="square" anchor="ctr" lIns="0" rIns="0" tIns="0" bIns="0">
            <a:spAutoFit/>
          </a:bodyPr>
          <a:lstStyle/>
          <a:p>
            <a:pPr algn="l">
              <a:lnSpc>
                <a:spcPct val="102000"/>
              </a:lnSpc>
              <a:spcBef>
                <a:spcPts val="0"/>
              </a:spcBef>
              <a:spcAft>
                <a:spcPts val="0"/>
              </a:spcAft>
            </a:pPr>
            <a:r>
              <a:rPr sz="1800" b="0" i="0">
                <a:solidFill>
                  <a:srgbClr val="14213D"/>
                </a:solidFill>
                <a:latin typeface="Segoe UI"/>
              </a:rPr>
              <a:t>If quantitative and relational/comparative, draft your </a:t>
            </a:r>
            <a:r>
              <a:rPr sz="1800" b="1" i="0">
                <a:solidFill>
                  <a:srgbClr val="F4795B"/>
                </a:solidFill>
                <a:latin typeface="Segoe UI"/>
              </a:rPr>
              <a:t>H₀ and directional H₁</a:t>
            </a:r>
            <a:r>
              <a:rPr sz="1800" b="0" i="0">
                <a:solidFill>
                  <a:srgbClr val="14213D"/>
                </a:solidFill>
                <a:latin typeface="Segoe UI"/>
              </a:rPr>
              <a:t>.</a:t>
            </a:r>
          </a:p>
        </p:txBody>
      </p:sp>
      <p:sp>
        <p:nvSpPr>
          <p:cNvPr id="20" name="Rounded Rectangle 19"/>
          <p:cNvSpPr/>
          <p:nvPr/>
        </p:nvSpPr>
        <p:spPr>
          <a:xfrm>
            <a:off x="777240" y="4818888"/>
            <a:ext cx="10637215" cy="74980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1005840" y="4992624"/>
            <a:ext cx="402336" cy="402336"/>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4</a:t>
            </a:r>
          </a:p>
        </p:txBody>
      </p:sp>
      <p:sp>
        <p:nvSpPr>
          <p:cNvPr id="22" name="TextBox 21"/>
          <p:cNvSpPr txBox="1"/>
          <p:nvPr/>
        </p:nvSpPr>
        <p:spPr>
          <a:xfrm>
            <a:off x="1572768" y="4818888"/>
            <a:ext cx="9585655" cy="749808"/>
          </a:xfrm>
          <a:prstGeom prst="rect">
            <a:avLst/>
          </a:prstGeom>
          <a:noFill/>
        </p:spPr>
        <p:txBody>
          <a:bodyPr wrap="square" anchor="ctr" lIns="0" rIns="0" tIns="0" bIns="0">
            <a:spAutoFit/>
          </a:bodyPr>
          <a:lstStyle/>
          <a:p>
            <a:pPr algn="l">
              <a:lnSpc>
                <a:spcPct val="102000"/>
              </a:lnSpc>
              <a:spcBef>
                <a:spcPts val="0"/>
              </a:spcBef>
              <a:spcAft>
                <a:spcPts val="0"/>
              </a:spcAft>
            </a:pPr>
            <a:r>
              <a:rPr sz="1800" b="0" i="0">
                <a:solidFill>
                  <a:srgbClr val="14213D"/>
                </a:solidFill>
                <a:latin typeface="Segoe UI"/>
              </a:rPr>
              <a:t>Trade papers and check each question against the </a:t>
            </a:r>
            <a:r>
              <a:rPr sz="1800" b="1" i="0">
                <a:solidFill>
                  <a:srgbClr val="2A9D8F"/>
                </a:solidFill>
                <a:latin typeface="Segoe UI"/>
              </a:rPr>
              <a:t>Clear–Focused–Answerable</a:t>
            </a:r>
            <a:r>
              <a:rPr sz="1800" b="0" i="0">
                <a:solidFill>
                  <a:srgbClr val="14213D"/>
                </a:solidFill>
                <a:latin typeface="Segoe UI"/>
              </a:rPr>
              <a:t> checklist (Slide 31).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From “What” to “So What”</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45</a:t>
            </a:r>
          </a:p>
        </p:txBody>
      </p:sp>
      <p:sp>
        <p:nvSpPr>
          <p:cNvPr id="9" name="Rounded Rectangle 8"/>
          <p:cNvSpPr/>
          <p:nvPr/>
        </p:nvSpPr>
        <p:spPr>
          <a:xfrm>
            <a:off x="777240" y="1847088"/>
            <a:ext cx="2286000" cy="868680"/>
          </a:xfrm>
          <a:prstGeom prst="roundRect">
            <a:avLst>
              <a:gd name="adj" fmla="val 16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 Research Problem</a:t>
            </a:r>
          </a:p>
        </p:txBody>
      </p:sp>
      <p:sp>
        <p:nvSpPr>
          <p:cNvPr id="10" name="Right Arrow 9"/>
          <p:cNvSpPr/>
          <p:nvPr/>
        </p:nvSpPr>
        <p:spPr>
          <a:xfrm>
            <a:off x="3099816"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3566160" y="1847088"/>
            <a:ext cx="2286000" cy="868680"/>
          </a:xfrm>
          <a:prstGeom prst="roundRect">
            <a:avLst>
              <a:gd name="adj" fmla="val 16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 Research Questions &amp; Hypotheses</a:t>
            </a:r>
          </a:p>
        </p:txBody>
      </p:sp>
      <p:sp>
        <p:nvSpPr>
          <p:cNvPr id="12" name="Right Arrow 11"/>
          <p:cNvSpPr/>
          <p:nvPr/>
        </p:nvSpPr>
        <p:spPr>
          <a:xfrm>
            <a:off x="5888736"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355079" y="1847088"/>
            <a:ext cx="2286000" cy="868680"/>
          </a:xfrm>
          <a:prstGeom prst="roundRect">
            <a:avLst>
              <a:gd name="adj" fmla="val 16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Justifying the Problem (CER)</a:t>
            </a:r>
          </a:p>
        </p:txBody>
      </p:sp>
      <p:sp>
        <p:nvSpPr>
          <p:cNvPr id="14" name="Right Arrow 13"/>
          <p:cNvSpPr/>
          <p:nvPr/>
        </p:nvSpPr>
        <p:spPr>
          <a:xfrm>
            <a:off x="8677655"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9144000" y="1847088"/>
            <a:ext cx="2286000" cy="868680"/>
          </a:xfrm>
          <a:prstGeom prst="roundRect">
            <a:avLst>
              <a:gd name="adj" fmla="val 16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Assumptions &amp; Limitations</a:t>
            </a:r>
          </a:p>
        </p:txBody>
      </p:sp>
      <p:sp>
        <p:nvSpPr>
          <p:cNvPr id="16" name="TextBox 15"/>
          <p:cNvSpPr txBox="1"/>
          <p:nvPr/>
        </p:nvSpPr>
        <p:spPr>
          <a:xfrm>
            <a:off x="822960" y="3063239"/>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1400"/>
              </a:spcAft>
              <a:buClr>
                <a:srgbClr val="1D7A8C"/>
              </a:buClr>
              <a:buSzPct val="80000"/>
              <a:buFont typeface="Arial"/>
              <a:buChar char="▪"/>
            </a:pPr>
            <a:r>
              <a:rPr sz="2400" b="0" i="0">
                <a:solidFill>
                  <a:srgbClr val="14213D"/>
                </a:solidFill>
                <a:latin typeface="Segoe UI"/>
              </a:rPr>
              <a:t>You now know </a:t>
            </a:r>
            <a:r>
              <a:rPr sz="2400" b="1" i="1">
                <a:solidFill>
                  <a:srgbClr val="1D7A8C"/>
                </a:solidFill>
                <a:latin typeface="Segoe UI"/>
              </a:rPr>
              <a:t>what</a:t>
            </a:r>
            <a:r>
              <a:rPr sz="2400" b="0" i="0">
                <a:solidFill>
                  <a:srgbClr val="14213D"/>
                </a:solidFill>
                <a:latin typeface="Segoe UI"/>
              </a:rPr>
              <a:t> you will investigate. A research panel's very next question will be: </a:t>
            </a:r>
            <a:r>
              <a:rPr sz="2400" b="1" i="0">
                <a:solidFill>
                  <a:srgbClr val="F4795B"/>
                </a:solidFill>
                <a:latin typeface="Segoe UI"/>
              </a:rPr>
              <a:t>“So what? Why does this matter?”</a:t>
            </a:r>
          </a:p>
          <a:p>
            <a:pPr algn="l" marL="274638" indent="-274638">
              <a:lnSpc>
                <a:spcPct val="105000"/>
              </a:lnSpc>
              <a:spcBef>
                <a:spcPts val="0"/>
              </a:spcBef>
              <a:spcAft>
                <a:spcPts val="1400"/>
              </a:spcAft>
              <a:buClr>
                <a:srgbClr val="1D7A8C"/>
              </a:buClr>
              <a:buSzPct val="80000"/>
              <a:buFont typeface="Arial"/>
              <a:buChar char="▪"/>
            </a:pPr>
            <a:r>
              <a:rPr sz="2400" b="0" i="0">
                <a:solidFill>
                  <a:srgbClr val="14213D"/>
                </a:solidFill>
                <a:latin typeface="Segoe UI"/>
              </a:rPr>
              <a:t>Today you learn a reusable structure for answering that question with </a:t>
            </a:r>
            <a:r>
              <a:rPr sz="2400" b="1" i="0">
                <a:solidFill>
                  <a:srgbClr val="2A9D8F"/>
                </a:solidFill>
                <a:latin typeface="Segoe UI"/>
              </a:rPr>
              <a:t>evidence</a:t>
            </a:r>
            <a:r>
              <a:rPr sz="2400" b="0" i="0">
                <a:solidFill>
                  <a:srgbClr val="14213D"/>
                </a:solidFill>
                <a:latin typeface="Segoe UI"/>
              </a:rPr>
              <a:t>, not just enthusiasm.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Introducing Claim – Evidence – Reasoning</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46</a:t>
            </a:r>
          </a:p>
        </p:txBody>
      </p:sp>
      <p:sp>
        <p:nvSpPr>
          <p:cNvPr id="9" name="Rounded Rectangle 8"/>
          <p:cNvSpPr/>
          <p:nvPr/>
        </p:nvSpPr>
        <p:spPr>
          <a:xfrm>
            <a:off x="777240" y="1874519"/>
            <a:ext cx="3210458" cy="1234440"/>
          </a:xfrm>
          <a:prstGeom prst="roundRect">
            <a:avLst>
              <a:gd name="adj" fmla="val 12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2000"/>
              </a:lnSpc>
            </a:pPr>
            <a:r>
              <a:rPr sz="1900" b="1" i="0">
                <a:solidFill>
                  <a:srgbClr val="FFFFFF"/>
                </a:solidFill>
                <a:latin typeface="Segoe UI Semibold"/>
              </a:rPr>
              <a:t>CLAIM
</a:t>
            </a:r>
            <a:r>
              <a:rPr sz="1400" b="0" i="0">
                <a:solidFill>
                  <a:srgbClr val="F2F7F9"/>
                </a:solidFill>
                <a:latin typeface="Segoe UI"/>
              </a:rPr>
              <a:t>the problem is worth studying</a:t>
            </a:r>
          </a:p>
        </p:txBody>
      </p:sp>
      <p:sp>
        <p:nvSpPr>
          <p:cNvPr id="10" name="Right Arrow 9"/>
          <p:cNvSpPr/>
          <p:nvPr/>
        </p:nvSpPr>
        <p:spPr>
          <a:xfrm>
            <a:off x="4042562" y="2286000"/>
            <a:ext cx="384048" cy="41148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4490618" y="1874519"/>
            <a:ext cx="3210458" cy="1234440"/>
          </a:xfrm>
          <a:prstGeom prst="roundRect">
            <a:avLst>
              <a:gd name="adj" fmla="val 12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2000"/>
              </a:lnSpc>
            </a:pPr>
            <a:r>
              <a:rPr sz="1900" b="1" i="0">
                <a:solidFill>
                  <a:srgbClr val="FFFFFF"/>
                </a:solidFill>
                <a:latin typeface="Segoe UI Semibold"/>
              </a:rPr>
              <a:t>EVIDENCE
</a:t>
            </a:r>
            <a:r>
              <a:rPr sz="1400" b="0" i="0">
                <a:solidFill>
                  <a:srgbClr val="F2F7F9"/>
                </a:solidFill>
                <a:latin typeface="Segoe UI"/>
              </a:rPr>
              <a:t>literature findings / gaps you found</a:t>
            </a:r>
          </a:p>
        </p:txBody>
      </p:sp>
      <p:sp>
        <p:nvSpPr>
          <p:cNvPr id="12" name="Right Arrow 11"/>
          <p:cNvSpPr/>
          <p:nvPr/>
        </p:nvSpPr>
        <p:spPr>
          <a:xfrm>
            <a:off x="7755940" y="2286000"/>
            <a:ext cx="384048" cy="41148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8203996" y="1874519"/>
            <a:ext cx="3210458" cy="1234440"/>
          </a:xfrm>
          <a:prstGeom prst="roundRect">
            <a:avLst>
              <a:gd name="adj" fmla="val 12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2000"/>
              </a:lnSpc>
            </a:pPr>
            <a:r>
              <a:rPr sz="1900" b="1" i="0">
                <a:solidFill>
                  <a:srgbClr val="FFFFFF"/>
                </a:solidFill>
                <a:latin typeface="Segoe UI Semibold"/>
              </a:rPr>
              <a:t>REASONING
</a:t>
            </a:r>
            <a:r>
              <a:rPr sz="1400" b="0" i="0">
                <a:solidFill>
                  <a:srgbClr val="F2F7F9"/>
                </a:solidFill>
                <a:latin typeface="Segoe UI"/>
              </a:rPr>
              <a:t>explicit logic linking evidence to the claim</a:t>
            </a:r>
          </a:p>
        </p:txBody>
      </p:sp>
      <p:sp>
        <p:nvSpPr>
          <p:cNvPr id="14" name="TextBox 13"/>
          <p:cNvSpPr txBox="1"/>
          <p:nvPr/>
        </p:nvSpPr>
        <p:spPr>
          <a:xfrm>
            <a:off x="822960" y="333756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600"/>
              </a:spcAft>
              <a:buClr>
                <a:srgbClr val="1D7A8C"/>
              </a:buClr>
              <a:buSzPct val="80000"/>
              <a:buFont typeface="Arial"/>
              <a:buChar char="▪"/>
            </a:pPr>
            <a:r>
              <a:rPr sz="1700" b="1" i="0">
                <a:solidFill>
                  <a:srgbClr val="14213D"/>
                </a:solidFill>
                <a:latin typeface="Segoe UI"/>
              </a:rPr>
              <a:t>CER</a:t>
            </a:r>
            <a:r>
              <a:rPr sz="1700" b="0" i="0">
                <a:solidFill>
                  <a:srgbClr val="14213D"/>
                </a:solidFill>
                <a:latin typeface="Segoe UI"/>
              </a:rPr>
              <a:t> builds a convincing, evidence-based argument for why your research problem matters.</a:t>
            </a:r>
          </a:p>
          <a:p>
            <a:pPr algn="l" marL="274638" indent="-274638">
              <a:lnSpc>
                <a:spcPct val="105000"/>
              </a:lnSpc>
              <a:spcBef>
                <a:spcPts val="0"/>
              </a:spcBef>
              <a:spcAft>
                <a:spcPts val="600"/>
              </a:spcAft>
              <a:buClr>
                <a:srgbClr val="1D7A8C"/>
              </a:buClr>
              <a:buSzPct val="80000"/>
              <a:buFont typeface="Arial"/>
              <a:buChar char="▪"/>
            </a:pPr>
            <a:r>
              <a:rPr sz="1700" b="1" i="0">
                <a:solidFill>
                  <a:srgbClr val="1D7A8C"/>
                </a:solidFill>
                <a:latin typeface="Segoe UI"/>
              </a:rPr>
              <a:t>Claim</a:t>
            </a:r>
            <a:r>
              <a:rPr sz="1700" b="0" i="0">
                <a:solidFill>
                  <a:srgbClr val="14213D"/>
                </a:solidFill>
                <a:latin typeface="Segoe UI"/>
              </a:rPr>
              <a:t> = your assertion that the problem is significant and worth studying.</a:t>
            </a:r>
          </a:p>
          <a:p>
            <a:pPr algn="l" marL="274638" indent="-274638">
              <a:lnSpc>
                <a:spcPct val="105000"/>
              </a:lnSpc>
              <a:spcBef>
                <a:spcPts val="0"/>
              </a:spcBef>
              <a:spcAft>
                <a:spcPts val="600"/>
              </a:spcAft>
              <a:buClr>
                <a:srgbClr val="1D7A8C"/>
              </a:buClr>
              <a:buSzPct val="80000"/>
              <a:buFont typeface="Arial"/>
              <a:buChar char="▪"/>
            </a:pPr>
            <a:r>
              <a:rPr sz="1700" b="1" i="0">
                <a:solidFill>
                  <a:srgbClr val="F4795B"/>
                </a:solidFill>
                <a:latin typeface="Segoe UI"/>
              </a:rPr>
              <a:t>Evidence</a:t>
            </a:r>
            <a:r>
              <a:rPr sz="1700" b="0" i="0">
                <a:solidFill>
                  <a:srgbClr val="14213D"/>
                </a:solidFill>
                <a:latin typeface="Segoe UI"/>
              </a:rPr>
              <a:t> = literature findings, statistics, or documented gaps that support the claim.</a:t>
            </a:r>
          </a:p>
          <a:p>
            <a:pPr algn="l" marL="274638" indent="-274638">
              <a:lnSpc>
                <a:spcPct val="105000"/>
              </a:lnSpc>
              <a:spcBef>
                <a:spcPts val="0"/>
              </a:spcBef>
              <a:spcAft>
                <a:spcPts val="600"/>
              </a:spcAft>
              <a:buClr>
                <a:srgbClr val="1D7A8C"/>
              </a:buClr>
              <a:buSzPct val="80000"/>
              <a:buFont typeface="Arial"/>
              <a:buChar char="▪"/>
            </a:pPr>
            <a:r>
              <a:rPr sz="1700" b="1" i="0">
                <a:solidFill>
                  <a:srgbClr val="2A9D8F"/>
                </a:solidFill>
                <a:latin typeface="Segoe UI"/>
              </a:rPr>
              <a:t>Reasoning</a:t>
            </a:r>
            <a:r>
              <a:rPr sz="1700" b="0" i="0">
                <a:solidFill>
                  <a:srgbClr val="14213D"/>
                </a:solidFill>
                <a:latin typeface="Segoe UI"/>
              </a:rPr>
              <a:t> = the explicit logical bridge connecting evidence back to the claim — the step students most often skip.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14213D"/>
                </a:solidFill>
                <a:latin typeface="Segoe UI Semibold"/>
              </a:rPr>
              <a:t>Worked Example — CER Paragraph (Coral Reef)</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47</a:t>
            </a:r>
          </a:p>
        </p:txBody>
      </p:sp>
      <p:sp>
        <p:nvSpPr>
          <p:cNvPr id="9" name="Rounded Rectangle 8"/>
          <p:cNvSpPr/>
          <p:nvPr/>
        </p:nvSpPr>
        <p:spPr>
          <a:xfrm>
            <a:off x="777240" y="1719072"/>
            <a:ext cx="2220163"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037283"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a:t>
            </a:r>
          </a:p>
        </p:txBody>
      </p:sp>
      <p:sp>
        <p:nvSpPr>
          <p:cNvPr id="11" name="Oval 10"/>
          <p:cNvSpPr/>
          <p:nvPr/>
        </p:nvSpPr>
        <p:spPr>
          <a:xfrm>
            <a:off x="777240" y="2194560"/>
            <a:ext cx="237744" cy="237744"/>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88136" y="2139696"/>
            <a:ext cx="1737360" cy="32004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14213D"/>
                </a:solidFill>
                <a:latin typeface="Segoe UI Semibold"/>
              </a:rPr>
              <a:t>Claim</a:t>
            </a:r>
          </a:p>
        </p:txBody>
      </p:sp>
      <p:sp>
        <p:nvSpPr>
          <p:cNvPr id="13" name="Oval 12"/>
          <p:cNvSpPr/>
          <p:nvPr/>
        </p:nvSpPr>
        <p:spPr>
          <a:xfrm>
            <a:off x="2651760" y="2194560"/>
            <a:ext cx="237744" cy="237744"/>
          </a:xfrm>
          <a:prstGeom prst="ellipse">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962656" y="2139696"/>
            <a:ext cx="1737360" cy="32004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14213D"/>
                </a:solidFill>
                <a:latin typeface="Segoe UI Semibold"/>
              </a:rPr>
              <a:t>Evidence</a:t>
            </a:r>
          </a:p>
        </p:txBody>
      </p:sp>
      <p:sp>
        <p:nvSpPr>
          <p:cNvPr id="15" name="Oval 14"/>
          <p:cNvSpPr/>
          <p:nvPr/>
        </p:nvSpPr>
        <p:spPr>
          <a:xfrm>
            <a:off x="4526279" y="2194560"/>
            <a:ext cx="237744" cy="237744"/>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837175" y="2139696"/>
            <a:ext cx="1737360" cy="320040"/>
          </a:xfrm>
          <a:prstGeom prst="rect">
            <a:avLst/>
          </a:prstGeom>
          <a:noFill/>
        </p:spPr>
        <p:txBody>
          <a:bodyPr wrap="square" anchor="ctr" lIns="0" rIns="0" tIns="0" bIns="0">
            <a:spAutoFit/>
          </a:bodyPr>
          <a:lstStyle/>
          <a:p>
            <a:pPr algn="l">
              <a:lnSpc>
                <a:spcPct val="105000"/>
              </a:lnSpc>
              <a:spcBef>
                <a:spcPts val="0"/>
              </a:spcBef>
              <a:spcAft>
                <a:spcPts val="0"/>
              </a:spcAft>
            </a:pPr>
            <a:r>
              <a:rPr sz="1500" b="1" i="0">
                <a:solidFill>
                  <a:srgbClr val="14213D"/>
                </a:solidFill>
                <a:latin typeface="Segoe UI Semibold"/>
              </a:rPr>
              <a:t>Reasoning</a:t>
            </a:r>
          </a:p>
        </p:txBody>
      </p:sp>
      <p:sp>
        <p:nvSpPr>
          <p:cNvPr id="17" name="Rounded Rectangle 16"/>
          <p:cNvSpPr/>
          <p:nvPr/>
        </p:nvSpPr>
        <p:spPr>
          <a:xfrm>
            <a:off x="777240" y="2606039"/>
            <a:ext cx="10637215" cy="3383280"/>
          </a:xfrm>
          <a:prstGeom prst="roundRect">
            <a:avLst>
              <a:gd name="adj" fmla="val 6000"/>
            </a:avLst>
          </a:prstGeom>
          <a:solidFill>
            <a:srgbClr val="FBFDFE"/>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188720" y="2788920"/>
            <a:ext cx="9814255" cy="3017520"/>
          </a:xfrm>
          <a:prstGeom prst="rect">
            <a:avLst/>
          </a:prstGeom>
          <a:noFill/>
        </p:spPr>
        <p:txBody>
          <a:bodyPr wrap="square" anchor="ctr" lIns="0" rIns="0" tIns="0" bIns="0">
            <a:spAutoFit/>
          </a:bodyPr>
          <a:lstStyle/>
          <a:p>
            <a:pPr algn="l">
              <a:lnSpc>
                <a:spcPct val="124000"/>
              </a:lnSpc>
              <a:spcBef>
                <a:spcPts val="0"/>
              </a:spcBef>
              <a:spcAft>
                <a:spcPts val="0"/>
              </a:spcAft>
            </a:pPr>
            <a:r>
              <a:rPr sz="1900" b="1" i="0">
                <a:solidFill>
                  <a:srgbClr val="1D7A8C"/>
                </a:solidFill>
                <a:latin typeface="Segoe UI"/>
              </a:rPr>
              <a:t>[CLAIM] </a:t>
            </a:r>
            <a:r>
              <a:rPr sz="1900" b="0" i="0">
                <a:solidFill>
                  <a:srgbClr val="14213D"/>
                </a:solidFill>
                <a:latin typeface="Segoe UI"/>
              </a:rPr>
              <a:t>Investigating coral reef degradation in Davao Gulf is an urgent research priority. </a:t>
            </a:r>
            <a:r>
              <a:rPr sz="1900" b="1" i="0">
                <a:solidFill>
                  <a:srgbClr val="F4795B"/>
                </a:solidFill>
                <a:latin typeface="Segoe UI"/>
              </a:rPr>
              <a:t>[EVIDENCE] </a:t>
            </a:r>
            <a:r>
              <a:rPr sz="1900" b="0" i="0">
                <a:solidFill>
                  <a:srgbClr val="14213D"/>
                </a:solidFill>
                <a:latin typeface="Segoe UI"/>
              </a:rPr>
              <a:t>Regional marine surveys have documented declining live coral cover linked to coastal sedimentation and rising sea surface temperatures, while local fisherfolk report shrinking catches over the past decade. </a:t>
            </a:r>
            <a:r>
              <a:rPr sz="1900" b="1" i="0">
                <a:solidFill>
                  <a:srgbClr val="2A9D8F"/>
                </a:solidFill>
                <a:latin typeface="Segoe UI"/>
              </a:rPr>
              <a:t>[REASONING] </a:t>
            </a:r>
            <a:r>
              <a:rPr sz="1900" b="0" i="0">
                <a:solidFill>
                  <a:srgbClr val="14213D"/>
                </a:solidFill>
                <a:latin typeface="Segoe UI"/>
              </a:rPr>
              <a:t>Because coral reefs serve as the primary nursery habitat for many commercially important fish species, continued degradation directly threatens both marine biodiversity and the food security of coastal communities — meaning the problem is not just ecological, but also has direct human consequences that justify immediate study.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Application — Spot the Missing Reasoning</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48</a:t>
            </a:r>
          </a:p>
        </p:txBody>
      </p:sp>
      <p:sp>
        <p:nvSpPr>
          <p:cNvPr id="9" name="Rounded Rectangle 8"/>
          <p:cNvSpPr/>
          <p:nvPr/>
        </p:nvSpPr>
        <p:spPr>
          <a:xfrm>
            <a:off x="777240" y="1719072"/>
            <a:ext cx="3024835"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841955"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a:t>
            </a:r>
          </a:p>
        </p:txBody>
      </p:sp>
      <p:sp>
        <p:nvSpPr>
          <p:cNvPr id="11" name="Rounded Rectangle 10"/>
          <p:cNvSpPr/>
          <p:nvPr/>
        </p:nvSpPr>
        <p:spPr>
          <a:xfrm>
            <a:off x="777240" y="2194560"/>
            <a:ext cx="10637215" cy="1645920"/>
          </a:xfrm>
          <a:prstGeom prst="roundRect">
            <a:avLst>
              <a:gd name="adj" fmla="val 6000"/>
            </a:avLst>
          </a:prstGeom>
          <a:solidFill>
            <a:srgbClr val="FFFFFF"/>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88720" y="2377439"/>
            <a:ext cx="9814255" cy="1280160"/>
          </a:xfrm>
          <a:prstGeom prst="rect">
            <a:avLst/>
          </a:prstGeom>
          <a:noFill/>
        </p:spPr>
        <p:txBody>
          <a:bodyPr wrap="square" anchor="ctr" lIns="0" rIns="0" tIns="0" bIns="0">
            <a:spAutoFit/>
          </a:bodyPr>
          <a:lstStyle/>
          <a:p>
            <a:pPr algn="l">
              <a:lnSpc>
                <a:spcPct val="120000"/>
              </a:lnSpc>
              <a:spcBef>
                <a:spcPts val="0"/>
              </a:spcBef>
              <a:spcAft>
                <a:spcPts val="0"/>
              </a:spcAft>
            </a:pPr>
            <a:r>
              <a:rPr sz="2000" b="0" i="0">
                <a:solidFill>
                  <a:srgbClr val="14213D"/>
                </a:solidFill>
                <a:latin typeface="Segoe UI"/>
              </a:rPr>
              <a:t>“Pest resistance among corn farmers is a growing concern. Studies show that fall armyworm populations in several Mindanao provinces have developed resistance to common pesticides, and farmer surveys report declining yields.”</a:t>
            </a:r>
          </a:p>
        </p:txBody>
      </p:sp>
      <p:sp>
        <p:nvSpPr>
          <p:cNvPr id="13" name="TextBox 12"/>
          <p:cNvSpPr txBox="1"/>
          <p:nvPr/>
        </p:nvSpPr>
        <p:spPr>
          <a:xfrm>
            <a:off x="822960" y="4069079"/>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600"/>
              </a:spcAft>
              <a:buClr>
                <a:srgbClr val="1D7A8C"/>
              </a:buClr>
              <a:buSzPct val="80000"/>
              <a:buFont typeface="Arial"/>
              <a:buChar char="▪"/>
            </a:pPr>
            <a:r>
              <a:rPr sz="1900" b="0" i="0">
                <a:solidFill>
                  <a:srgbClr val="14213D"/>
                </a:solidFill>
                <a:latin typeface="Segoe UI"/>
              </a:rPr>
              <a:t>This paragraph has a </a:t>
            </a:r>
            <a:r>
              <a:rPr sz="1900" b="1" i="0">
                <a:solidFill>
                  <a:srgbClr val="1D7A8C"/>
                </a:solidFill>
                <a:latin typeface="Segoe UI"/>
              </a:rPr>
              <a:t>Claim</a:t>
            </a:r>
            <a:r>
              <a:rPr sz="1900" b="0" i="0">
                <a:solidFill>
                  <a:srgbClr val="14213D"/>
                </a:solidFill>
                <a:latin typeface="Segoe UI"/>
              </a:rPr>
              <a:t> and </a:t>
            </a:r>
            <a:r>
              <a:rPr sz="1900" b="1" i="0">
                <a:solidFill>
                  <a:srgbClr val="F4795B"/>
                </a:solidFill>
                <a:latin typeface="Segoe UI"/>
              </a:rPr>
              <a:t>Evidence</a:t>
            </a:r>
            <a:r>
              <a:rPr sz="1900" b="0" i="0">
                <a:solidFill>
                  <a:srgbClr val="14213D"/>
                </a:solidFill>
                <a:latin typeface="Segoe UI"/>
              </a:rPr>
              <a:t> — but is missing </a:t>
            </a:r>
            <a:r>
              <a:rPr sz="1900" b="1" i="0">
                <a:solidFill>
                  <a:srgbClr val="2A9D8F"/>
                </a:solidFill>
                <a:latin typeface="Segoe UI"/>
              </a:rPr>
              <a:t>Reasoning</a:t>
            </a:r>
            <a:r>
              <a:rPr sz="1900" b="0" i="0">
                <a:solidFill>
                  <a:srgbClr val="14213D"/>
                </a:solidFill>
                <a:latin typeface="Segoe UI"/>
              </a:rPr>
              <a:t>. In pairs, write one sentence that connects the evidence to why this problem deserves study.</a:t>
            </a:r>
          </a:p>
        </p:txBody>
      </p:sp>
      <p:sp>
        <p:nvSpPr>
          <p:cNvPr id="14" name="Rounded Rectangle 13"/>
          <p:cNvSpPr/>
          <p:nvPr/>
        </p:nvSpPr>
        <p:spPr>
          <a:xfrm>
            <a:off x="777240" y="516636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960120" y="526694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6" name="TextBox 15"/>
          <p:cNvSpPr txBox="1"/>
          <p:nvPr/>
        </p:nvSpPr>
        <p:spPr>
          <a:xfrm>
            <a:off x="1490472" y="516636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3–4 minutes, then two pairs share their Reasoning sentence.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Guided Practice — Label a Full Paragraph</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49</a:t>
            </a:r>
          </a:p>
        </p:txBody>
      </p:sp>
      <p:sp>
        <p:nvSpPr>
          <p:cNvPr id="9" name="Rounded Rectangle 8"/>
          <p:cNvSpPr/>
          <p:nvPr/>
        </p:nvSpPr>
        <p:spPr>
          <a:xfrm>
            <a:off x="777240" y="1719072"/>
            <a:ext cx="3024835"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841955"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a:t>
            </a:r>
          </a:p>
        </p:txBody>
      </p:sp>
      <p:sp>
        <p:nvSpPr>
          <p:cNvPr id="11" name="Rounded Rectangle 10"/>
          <p:cNvSpPr/>
          <p:nvPr/>
        </p:nvSpPr>
        <p:spPr>
          <a:xfrm>
            <a:off x="777240" y="2194560"/>
            <a:ext cx="10637215" cy="2514600"/>
          </a:xfrm>
          <a:prstGeom prst="roundRect">
            <a:avLst>
              <a:gd name="adj" fmla="val 6000"/>
            </a:avLst>
          </a:prstGeom>
          <a:solidFill>
            <a:srgbClr val="FFFFFF"/>
          </a:solidFill>
          <a:ln w="12700">
            <a:solidFill>
              <a:srgbClr val="1D7A8C"/>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188720" y="2395728"/>
            <a:ext cx="9814255" cy="2103120"/>
          </a:xfrm>
          <a:prstGeom prst="rect">
            <a:avLst/>
          </a:prstGeom>
          <a:noFill/>
        </p:spPr>
        <p:txBody>
          <a:bodyPr wrap="square" anchor="ctr" lIns="0" rIns="0" tIns="0" bIns="0">
            <a:spAutoFit/>
          </a:bodyPr>
          <a:lstStyle/>
          <a:p>
            <a:pPr algn="l">
              <a:lnSpc>
                <a:spcPct val="128000"/>
              </a:lnSpc>
              <a:spcBef>
                <a:spcPts val="0"/>
              </a:spcBef>
              <a:spcAft>
                <a:spcPts val="0"/>
              </a:spcAft>
            </a:pPr>
            <a:r>
              <a:rPr sz="1900" b="0" i="0">
                <a:solidFill>
                  <a:srgbClr val="14213D"/>
                </a:solidFill>
                <a:latin typeface="Segoe UI"/>
              </a:rPr>
              <a:t>“Improving post-harvest handling of rice is a pressing issue for small farmers. National agriculture data show that up to 16% of harvested rice is lost before it reaches market due to poor drying and storage facilities. Since post-harvest losses directly reduce farmer income without any corresponding increase in production cost, addressing this gap offers one of the most cost-effective ways to improve farmer livelihoods without expanding farmland.”</a:t>
            </a:r>
          </a:p>
        </p:txBody>
      </p:sp>
      <p:sp>
        <p:nvSpPr>
          <p:cNvPr id="13" name="Rounded Rectangle 12"/>
          <p:cNvSpPr/>
          <p:nvPr/>
        </p:nvSpPr>
        <p:spPr>
          <a:xfrm>
            <a:off x="777240" y="493776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960120" y="503834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15" name="TextBox 14"/>
          <p:cNvSpPr txBox="1"/>
          <p:nvPr/>
        </p:nvSpPr>
        <p:spPr>
          <a:xfrm>
            <a:off x="1490472" y="493776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Label each sentence:  C (Claim)  ·  E (Evidence)  ·  R (Reasoning).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600" b="1" i="0">
                <a:solidFill>
                  <a:srgbClr val="14213D"/>
                </a:solidFill>
                <a:latin typeface="Segoe UI Semibold"/>
              </a:rPr>
              <a:t>Writing Workshop — Draft Your CER Justification</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50</a:t>
            </a:r>
          </a:p>
        </p:txBody>
      </p:sp>
      <p:sp>
        <p:nvSpPr>
          <p:cNvPr id="9" name="Rounded Rectangle 8"/>
          <p:cNvSpPr/>
          <p:nvPr/>
        </p:nvSpPr>
        <p:spPr>
          <a:xfrm>
            <a:off x="777240" y="1719072"/>
            <a:ext cx="4754880"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4572000"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 · 15 minutes, individual</a:t>
            </a:r>
          </a:p>
        </p:txBody>
      </p:sp>
      <p:sp>
        <p:nvSpPr>
          <p:cNvPr id="11" name="Rounded Rectangle 10"/>
          <p:cNvSpPr/>
          <p:nvPr/>
        </p:nvSpPr>
        <p:spPr>
          <a:xfrm>
            <a:off x="777240" y="2240280"/>
            <a:ext cx="10637215" cy="74980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05840" y="2414016"/>
            <a:ext cx="402336" cy="40233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1</a:t>
            </a:r>
          </a:p>
        </p:txBody>
      </p:sp>
      <p:sp>
        <p:nvSpPr>
          <p:cNvPr id="13" name="TextBox 12"/>
          <p:cNvSpPr txBox="1"/>
          <p:nvPr/>
        </p:nvSpPr>
        <p:spPr>
          <a:xfrm>
            <a:off x="1572768" y="2240280"/>
            <a:ext cx="9585655" cy="749808"/>
          </a:xfrm>
          <a:prstGeom prst="rect">
            <a:avLst/>
          </a:prstGeom>
          <a:noFill/>
        </p:spPr>
        <p:txBody>
          <a:bodyPr wrap="square" anchor="ctr" lIns="0" rIns="0" tIns="0" bIns="0">
            <a:spAutoFit/>
          </a:bodyPr>
          <a:lstStyle/>
          <a:p>
            <a:pPr algn="l">
              <a:lnSpc>
                <a:spcPct val="102000"/>
              </a:lnSpc>
              <a:spcBef>
                <a:spcPts val="0"/>
              </a:spcBef>
              <a:spcAft>
                <a:spcPts val="0"/>
              </a:spcAft>
            </a:pPr>
            <a:r>
              <a:rPr sz="1750" b="0" i="0">
                <a:solidFill>
                  <a:srgbClr val="14213D"/>
                </a:solidFill>
                <a:latin typeface="Segoe UI"/>
              </a:rPr>
              <a:t>Write your </a:t>
            </a:r>
            <a:r>
              <a:rPr sz="1750" b="1" i="0">
                <a:solidFill>
                  <a:srgbClr val="1D7A8C"/>
                </a:solidFill>
                <a:latin typeface="Segoe UI"/>
              </a:rPr>
              <a:t>Claim</a:t>
            </a:r>
            <a:r>
              <a:rPr sz="1750" b="0" i="0">
                <a:solidFill>
                  <a:srgbClr val="14213D"/>
                </a:solidFill>
                <a:latin typeface="Segoe UI"/>
              </a:rPr>
              <a:t> sentence (the problem is worth studying).</a:t>
            </a:r>
          </a:p>
        </p:txBody>
      </p:sp>
      <p:sp>
        <p:nvSpPr>
          <p:cNvPr id="14" name="Rounded Rectangle 13"/>
          <p:cNvSpPr/>
          <p:nvPr/>
        </p:nvSpPr>
        <p:spPr>
          <a:xfrm>
            <a:off x="777240" y="3099816"/>
            <a:ext cx="10637215" cy="74980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05840" y="3273552"/>
            <a:ext cx="402336" cy="40233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2</a:t>
            </a:r>
          </a:p>
        </p:txBody>
      </p:sp>
      <p:sp>
        <p:nvSpPr>
          <p:cNvPr id="16" name="TextBox 15"/>
          <p:cNvSpPr txBox="1"/>
          <p:nvPr/>
        </p:nvSpPr>
        <p:spPr>
          <a:xfrm>
            <a:off x="1572768" y="3099816"/>
            <a:ext cx="9585655" cy="749808"/>
          </a:xfrm>
          <a:prstGeom prst="rect">
            <a:avLst/>
          </a:prstGeom>
          <a:noFill/>
        </p:spPr>
        <p:txBody>
          <a:bodyPr wrap="square" anchor="ctr" lIns="0" rIns="0" tIns="0" bIns="0">
            <a:spAutoFit/>
          </a:bodyPr>
          <a:lstStyle/>
          <a:p>
            <a:pPr algn="l">
              <a:lnSpc>
                <a:spcPct val="102000"/>
              </a:lnSpc>
              <a:spcBef>
                <a:spcPts val="0"/>
              </a:spcBef>
              <a:spcAft>
                <a:spcPts val="0"/>
              </a:spcAft>
            </a:pPr>
            <a:r>
              <a:rPr sz="1750" b="0" i="0">
                <a:solidFill>
                  <a:srgbClr val="14213D"/>
                </a:solidFill>
                <a:latin typeface="Segoe UI"/>
              </a:rPr>
              <a:t>Write 1–2 </a:t>
            </a:r>
            <a:r>
              <a:rPr sz="1750" b="1" i="0">
                <a:solidFill>
                  <a:srgbClr val="F4795B"/>
                </a:solidFill>
                <a:latin typeface="Segoe UI"/>
              </a:rPr>
              <a:t>Evidence</a:t>
            </a:r>
            <a:r>
              <a:rPr sz="1750" b="0" i="0">
                <a:solidFill>
                  <a:srgbClr val="14213D"/>
                </a:solidFill>
                <a:latin typeface="Segoe UI"/>
              </a:rPr>
              <a:t> sentences (literature findings or documented gaps — real or plausible placeholders to verify later).</a:t>
            </a:r>
          </a:p>
        </p:txBody>
      </p:sp>
      <p:sp>
        <p:nvSpPr>
          <p:cNvPr id="17" name="Rounded Rectangle 16"/>
          <p:cNvSpPr/>
          <p:nvPr/>
        </p:nvSpPr>
        <p:spPr>
          <a:xfrm>
            <a:off x="777240" y="3959352"/>
            <a:ext cx="10637215" cy="74980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05840" y="4133088"/>
            <a:ext cx="402336" cy="40233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3</a:t>
            </a:r>
          </a:p>
        </p:txBody>
      </p:sp>
      <p:sp>
        <p:nvSpPr>
          <p:cNvPr id="19" name="TextBox 18"/>
          <p:cNvSpPr txBox="1"/>
          <p:nvPr/>
        </p:nvSpPr>
        <p:spPr>
          <a:xfrm>
            <a:off x="1572768" y="3959352"/>
            <a:ext cx="9585655" cy="749808"/>
          </a:xfrm>
          <a:prstGeom prst="rect">
            <a:avLst/>
          </a:prstGeom>
          <a:noFill/>
        </p:spPr>
        <p:txBody>
          <a:bodyPr wrap="square" anchor="ctr" lIns="0" rIns="0" tIns="0" bIns="0">
            <a:spAutoFit/>
          </a:bodyPr>
          <a:lstStyle/>
          <a:p>
            <a:pPr algn="l">
              <a:lnSpc>
                <a:spcPct val="102000"/>
              </a:lnSpc>
              <a:spcBef>
                <a:spcPts val="0"/>
              </a:spcBef>
              <a:spcAft>
                <a:spcPts val="0"/>
              </a:spcAft>
            </a:pPr>
            <a:r>
              <a:rPr sz="1750" b="0" i="0">
                <a:solidFill>
                  <a:srgbClr val="14213D"/>
                </a:solidFill>
                <a:latin typeface="Segoe UI"/>
              </a:rPr>
              <a:t>Write your </a:t>
            </a:r>
            <a:r>
              <a:rPr sz="1750" b="1" i="0">
                <a:solidFill>
                  <a:srgbClr val="2A9D8F"/>
                </a:solidFill>
                <a:latin typeface="Segoe UI"/>
              </a:rPr>
              <a:t>Reasoning</a:t>
            </a:r>
            <a:r>
              <a:rPr sz="1750" b="0" i="0">
                <a:solidFill>
                  <a:srgbClr val="14213D"/>
                </a:solidFill>
                <a:latin typeface="Segoe UI"/>
              </a:rPr>
              <a:t> sentence — explicitly explain why the evidence proves the claim.</a:t>
            </a:r>
          </a:p>
        </p:txBody>
      </p:sp>
      <p:sp>
        <p:nvSpPr>
          <p:cNvPr id="20" name="Rounded Rectangle 19"/>
          <p:cNvSpPr/>
          <p:nvPr/>
        </p:nvSpPr>
        <p:spPr>
          <a:xfrm>
            <a:off x="777240" y="4818888"/>
            <a:ext cx="10637215" cy="74980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1005840" y="4992624"/>
            <a:ext cx="402336" cy="402336"/>
          </a:xfrm>
          <a:prstGeom prst="ellipse">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700" b="1" i="0">
                <a:solidFill>
                  <a:srgbClr val="FFFFFF"/>
                </a:solidFill>
                <a:latin typeface="Segoe UI"/>
              </a:rPr>
              <a:t>4</a:t>
            </a:r>
          </a:p>
        </p:txBody>
      </p:sp>
      <p:sp>
        <p:nvSpPr>
          <p:cNvPr id="22" name="TextBox 21"/>
          <p:cNvSpPr txBox="1"/>
          <p:nvPr/>
        </p:nvSpPr>
        <p:spPr>
          <a:xfrm>
            <a:off x="1572768" y="4818888"/>
            <a:ext cx="9585655" cy="749808"/>
          </a:xfrm>
          <a:prstGeom prst="rect">
            <a:avLst/>
          </a:prstGeom>
          <a:noFill/>
        </p:spPr>
        <p:txBody>
          <a:bodyPr wrap="square" anchor="ctr" lIns="0" rIns="0" tIns="0" bIns="0">
            <a:spAutoFit/>
          </a:bodyPr>
          <a:lstStyle/>
          <a:p>
            <a:pPr algn="l">
              <a:lnSpc>
                <a:spcPct val="102000"/>
              </a:lnSpc>
              <a:spcBef>
                <a:spcPts val="0"/>
              </a:spcBef>
              <a:spcAft>
                <a:spcPts val="0"/>
              </a:spcAft>
            </a:pPr>
            <a:r>
              <a:rPr sz="1750" b="0" i="0">
                <a:solidFill>
                  <a:srgbClr val="14213D"/>
                </a:solidFill>
                <a:latin typeface="Segoe UI"/>
              </a:rPr>
              <a:t>Underline your Reasoning: does it explain a </a:t>
            </a:r>
            <a:r>
              <a:rPr sz="1750" b="1" i="0">
                <a:solidFill>
                  <a:srgbClr val="14213D"/>
                </a:solidFill>
                <a:latin typeface="Segoe UI"/>
              </a:rPr>
              <a:t>mechanism or consequence</a:t>
            </a:r>
            <a:r>
              <a:rPr sz="1750" b="0" i="0">
                <a:solidFill>
                  <a:srgbClr val="14213D"/>
                </a:solidFill>
                <a:latin typeface="Segoe UI"/>
              </a:rPr>
              <a:t>, or just restate the evidence?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600" b="1" i="0">
                <a:solidFill>
                  <a:srgbClr val="14213D"/>
                </a:solidFill>
                <a:latin typeface="Segoe UI Semibold"/>
              </a:rPr>
              <a:t>Speaking Workshop — Defend Your Claim Aloud</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51</a:t>
            </a:r>
          </a:p>
        </p:txBody>
      </p:sp>
      <p:sp>
        <p:nvSpPr>
          <p:cNvPr id="9" name="Rounded Rectangle 8"/>
          <p:cNvSpPr/>
          <p:nvPr/>
        </p:nvSpPr>
        <p:spPr>
          <a:xfrm>
            <a:off x="777240" y="1719072"/>
            <a:ext cx="4754880"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4572000"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 · Defense simulation, 10 min</a:t>
            </a:r>
          </a:p>
        </p:txBody>
      </p:sp>
      <p:sp>
        <p:nvSpPr>
          <p:cNvPr id="11" name="Rounded Rectangle 10"/>
          <p:cNvSpPr/>
          <p:nvPr/>
        </p:nvSpPr>
        <p:spPr>
          <a:xfrm>
            <a:off x="777240" y="2240280"/>
            <a:ext cx="10637215" cy="65836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05840" y="2368296"/>
            <a:ext cx="402336" cy="402336"/>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600" b="1" i="0">
                <a:solidFill>
                  <a:srgbClr val="FFFFFF"/>
                </a:solidFill>
                <a:latin typeface="Segoe UI"/>
              </a:rPr>
              <a:t>1</a:t>
            </a:r>
          </a:p>
        </p:txBody>
      </p:sp>
      <p:sp>
        <p:nvSpPr>
          <p:cNvPr id="13" name="TextBox 12"/>
          <p:cNvSpPr txBox="1"/>
          <p:nvPr/>
        </p:nvSpPr>
        <p:spPr>
          <a:xfrm>
            <a:off x="1572768" y="2240280"/>
            <a:ext cx="9585655" cy="658368"/>
          </a:xfrm>
          <a:prstGeom prst="rect">
            <a:avLst/>
          </a:prstGeom>
          <a:noFill/>
        </p:spPr>
        <p:txBody>
          <a:bodyPr wrap="square" anchor="ctr" lIns="0" rIns="0" tIns="0" bIns="0">
            <a:spAutoFit/>
          </a:bodyPr>
          <a:lstStyle/>
          <a:p>
            <a:pPr algn="l">
              <a:lnSpc>
                <a:spcPct val="100000"/>
              </a:lnSpc>
              <a:spcBef>
                <a:spcPts val="0"/>
              </a:spcBef>
              <a:spcAft>
                <a:spcPts val="0"/>
              </a:spcAft>
            </a:pPr>
            <a:r>
              <a:rPr sz="1750" b="0" i="0">
                <a:solidFill>
                  <a:srgbClr val="14213D"/>
                </a:solidFill>
                <a:latin typeface="Segoe UI"/>
              </a:rPr>
              <a:t>Partner A reads their </a:t>
            </a:r>
            <a:r>
              <a:rPr sz="1750" b="1" i="0">
                <a:solidFill>
                  <a:srgbClr val="1D7A8C"/>
                </a:solidFill>
                <a:latin typeface="Segoe UI"/>
              </a:rPr>
              <a:t>Claim sentence only</a:t>
            </a:r>
            <a:r>
              <a:rPr sz="1750" b="0" i="0">
                <a:solidFill>
                  <a:srgbClr val="14213D"/>
                </a:solidFill>
                <a:latin typeface="Segoe UI"/>
              </a:rPr>
              <a:t> — no evidence, no reasoning yet.</a:t>
            </a:r>
          </a:p>
        </p:txBody>
      </p:sp>
      <p:sp>
        <p:nvSpPr>
          <p:cNvPr id="14" name="Rounded Rectangle 13"/>
          <p:cNvSpPr/>
          <p:nvPr/>
        </p:nvSpPr>
        <p:spPr>
          <a:xfrm>
            <a:off x="777240" y="2990088"/>
            <a:ext cx="10637215" cy="65836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05840" y="3118104"/>
            <a:ext cx="402336" cy="402336"/>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600" b="1" i="0">
                <a:solidFill>
                  <a:srgbClr val="FFFFFF"/>
                </a:solidFill>
                <a:latin typeface="Segoe UI"/>
              </a:rPr>
              <a:t>2</a:t>
            </a:r>
          </a:p>
        </p:txBody>
      </p:sp>
      <p:sp>
        <p:nvSpPr>
          <p:cNvPr id="16" name="TextBox 15"/>
          <p:cNvSpPr txBox="1"/>
          <p:nvPr/>
        </p:nvSpPr>
        <p:spPr>
          <a:xfrm>
            <a:off x="1572768" y="2990088"/>
            <a:ext cx="9585655" cy="658368"/>
          </a:xfrm>
          <a:prstGeom prst="rect">
            <a:avLst/>
          </a:prstGeom>
          <a:noFill/>
        </p:spPr>
        <p:txBody>
          <a:bodyPr wrap="square" anchor="ctr" lIns="0" rIns="0" tIns="0" bIns="0">
            <a:spAutoFit/>
          </a:bodyPr>
          <a:lstStyle/>
          <a:p>
            <a:pPr algn="l">
              <a:lnSpc>
                <a:spcPct val="100000"/>
              </a:lnSpc>
              <a:spcBef>
                <a:spcPts val="0"/>
              </a:spcBef>
              <a:spcAft>
                <a:spcPts val="0"/>
              </a:spcAft>
            </a:pPr>
            <a:r>
              <a:rPr sz="1750" b="0" i="0">
                <a:solidFill>
                  <a:srgbClr val="14213D"/>
                </a:solidFill>
                <a:latin typeface="Segoe UI"/>
              </a:rPr>
              <a:t>Partner B asks: </a:t>
            </a:r>
            <a:r>
              <a:rPr sz="1750" b="1" i="0">
                <a:solidFill>
                  <a:srgbClr val="F4795B"/>
                </a:solidFill>
                <a:latin typeface="Segoe UI"/>
              </a:rPr>
              <a:t>“So what? Why should anyone study that?”</a:t>
            </a:r>
          </a:p>
        </p:txBody>
      </p:sp>
      <p:sp>
        <p:nvSpPr>
          <p:cNvPr id="17" name="Rounded Rectangle 16"/>
          <p:cNvSpPr/>
          <p:nvPr/>
        </p:nvSpPr>
        <p:spPr>
          <a:xfrm>
            <a:off x="777240" y="3739896"/>
            <a:ext cx="10637215" cy="65836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05840" y="3867911"/>
            <a:ext cx="402336" cy="402336"/>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600" b="1" i="0">
                <a:solidFill>
                  <a:srgbClr val="FFFFFF"/>
                </a:solidFill>
                <a:latin typeface="Segoe UI"/>
              </a:rPr>
              <a:t>3</a:t>
            </a:r>
          </a:p>
        </p:txBody>
      </p:sp>
      <p:sp>
        <p:nvSpPr>
          <p:cNvPr id="19" name="TextBox 18"/>
          <p:cNvSpPr txBox="1"/>
          <p:nvPr/>
        </p:nvSpPr>
        <p:spPr>
          <a:xfrm>
            <a:off x="1572768" y="3739896"/>
            <a:ext cx="9585655" cy="658368"/>
          </a:xfrm>
          <a:prstGeom prst="rect">
            <a:avLst/>
          </a:prstGeom>
          <a:noFill/>
        </p:spPr>
        <p:txBody>
          <a:bodyPr wrap="square" anchor="ctr" lIns="0" rIns="0" tIns="0" bIns="0">
            <a:spAutoFit/>
          </a:bodyPr>
          <a:lstStyle/>
          <a:p>
            <a:pPr algn="l">
              <a:lnSpc>
                <a:spcPct val="100000"/>
              </a:lnSpc>
              <a:spcBef>
                <a:spcPts val="0"/>
              </a:spcBef>
              <a:spcAft>
                <a:spcPts val="0"/>
              </a:spcAft>
            </a:pPr>
            <a:r>
              <a:rPr sz="1750" b="0" i="0">
                <a:solidFill>
                  <a:srgbClr val="14213D"/>
                </a:solidFill>
                <a:latin typeface="Segoe UI"/>
              </a:rPr>
              <a:t>Partner A answers </a:t>
            </a:r>
            <a:r>
              <a:rPr sz="1750" b="1" i="0">
                <a:solidFill>
                  <a:srgbClr val="2A9D8F"/>
                </a:solidFill>
                <a:latin typeface="Segoe UI"/>
              </a:rPr>
              <a:t>out loud, from memory</a:t>
            </a:r>
            <a:r>
              <a:rPr sz="1750" b="0" i="0">
                <a:solidFill>
                  <a:srgbClr val="14213D"/>
                </a:solidFill>
                <a:latin typeface="Segoe UI"/>
              </a:rPr>
              <a:t>, using their Evidence and Reasoning — no reading from paper.</a:t>
            </a:r>
          </a:p>
        </p:txBody>
      </p:sp>
      <p:sp>
        <p:nvSpPr>
          <p:cNvPr id="20" name="Rounded Rectangle 19"/>
          <p:cNvSpPr/>
          <p:nvPr/>
        </p:nvSpPr>
        <p:spPr>
          <a:xfrm>
            <a:off x="777240" y="4489704"/>
            <a:ext cx="10637215" cy="658368"/>
          </a:xfrm>
          <a:prstGeom prst="roundRect">
            <a:avLst>
              <a:gd name="adj" fmla="val 10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1005840" y="4617720"/>
            <a:ext cx="402336" cy="402336"/>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600" b="1" i="0">
                <a:solidFill>
                  <a:srgbClr val="FFFFFF"/>
                </a:solidFill>
                <a:latin typeface="Segoe UI"/>
              </a:rPr>
              <a:t>4</a:t>
            </a:r>
          </a:p>
        </p:txBody>
      </p:sp>
      <p:sp>
        <p:nvSpPr>
          <p:cNvPr id="22" name="TextBox 21"/>
          <p:cNvSpPr txBox="1"/>
          <p:nvPr/>
        </p:nvSpPr>
        <p:spPr>
          <a:xfrm>
            <a:off x="1572768" y="4489704"/>
            <a:ext cx="9585655" cy="658368"/>
          </a:xfrm>
          <a:prstGeom prst="rect">
            <a:avLst/>
          </a:prstGeom>
          <a:noFill/>
        </p:spPr>
        <p:txBody>
          <a:bodyPr wrap="square" anchor="ctr" lIns="0" rIns="0" tIns="0" bIns="0">
            <a:spAutoFit/>
          </a:bodyPr>
          <a:lstStyle/>
          <a:p>
            <a:pPr algn="l">
              <a:lnSpc>
                <a:spcPct val="100000"/>
              </a:lnSpc>
              <a:spcBef>
                <a:spcPts val="0"/>
              </a:spcBef>
              <a:spcAft>
                <a:spcPts val="0"/>
              </a:spcAft>
            </a:pPr>
            <a:r>
              <a:rPr sz="1750" b="0" i="0">
                <a:solidFill>
                  <a:srgbClr val="14213D"/>
                </a:solidFill>
                <a:latin typeface="Segoe UI"/>
              </a:rPr>
              <a:t>Switch roles.</a:t>
            </a:r>
          </a:p>
        </p:txBody>
      </p:sp>
      <p:sp>
        <p:nvSpPr>
          <p:cNvPr id="23" name="Rounded Rectangle 22"/>
          <p:cNvSpPr/>
          <p:nvPr/>
        </p:nvSpPr>
        <p:spPr>
          <a:xfrm>
            <a:off x="777240" y="5257800"/>
            <a:ext cx="10637215" cy="566928"/>
          </a:xfrm>
          <a:prstGeom prst="roundRect">
            <a:avLst>
              <a:gd name="adj" fmla="val 10000"/>
            </a:avLst>
          </a:prstGeom>
          <a:solidFill>
            <a:srgbClr val="FCF0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97280" y="5257800"/>
            <a:ext cx="9997135" cy="566928"/>
          </a:xfrm>
          <a:prstGeom prst="rect">
            <a:avLst/>
          </a:prstGeom>
          <a:noFill/>
        </p:spPr>
        <p:txBody>
          <a:bodyPr wrap="square" anchor="ctr" lIns="0" rIns="0" tIns="0" bIns="0">
            <a:spAutoFit/>
          </a:bodyPr>
          <a:lstStyle/>
          <a:p>
            <a:pPr algn="l">
              <a:lnSpc>
                <a:spcPct val="105000"/>
              </a:lnSpc>
              <a:spcBef>
                <a:spcPts val="0"/>
              </a:spcBef>
              <a:spcAft>
                <a:spcPts val="0"/>
              </a:spcAft>
            </a:pPr>
            <a:r>
              <a:rPr sz="1650" b="1" i="0">
                <a:solidFill>
                  <a:srgbClr val="14213D"/>
                </a:solidFill>
                <a:latin typeface="Segoe UI"/>
              </a:rPr>
              <a:t>This is exactly the kind of question a research panel will ask during your defense.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7 · JUSTIFYING THE PROBLEM WITH CER (COMPETENCY 15)</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Common CER Pitfalls in a Defense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52</a:t>
            </a:r>
          </a:p>
        </p:txBody>
      </p:sp>
      <p:graphicFrame>
        <p:nvGraphicFramePr>
          <p:cNvPr id="9" name="Table 8"/>
          <p:cNvGraphicFramePr>
            <a:graphicFrameLocks noGrp="1"/>
          </p:cNvGraphicFramePr>
          <p:nvPr/>
        </p:nvGraphicFramePr>
        <p:xfrm>
          <a:off x="777240" y="2011679"/>
          <a:ext cx="10637214" cy="3273552"/>
        </p:xfrm>
        <a:graphic>
          <a:graphicData uri="http://schemas.openxmlformats.org/drawingml/2006/table">
            <a:tbl>
              <a:tblPr>
                <a:tableStyleId>{5C22544A-7EE6-4342-B048-85BDC9FD1C3A}</a:tableStyleId>
              </a:tblPr>
              <a:tblGrid>
                <a:gridCol w="5076852"/>
                <a:gridCol w="5560362"/>
              </a:tblGrid>
              <a:tr h="530352">
                <a:tc>
                  <a:txBody>
                    <a:bodyPr wrap="square"/>
                    <a:lstStyle/>
                    <a:p>
                      <a:pPr algn="l">
                        <a:lnSpc>
                          <a:spcPct val="100000"/>
                        </a:lnSpc>
                      </a:pPr>
                      <a:r>
                        <a:rPr sz="1800" b="1">
                          <a:solidFill>
                            <a:srgbClr val="FFFFFF"/>
                          </a:solidFill>
                          <a:latin typeface="Segoe UI Semibold"/>
                        </a:rPr>
                        <a:t>Pitfall</a:t>
                      </a:r>
                    </a:p>
                  </a:txBody>
                  <a:tcPr marL="101600" marR="101600" marT="50800" marB="50800" anchor="ctr">
                    <a:solidFill>
                      <a:srgbClr val="D1495B"/>
                    </a:solidFill>
                  </a:tcPr>
                </a:tc>
                <a:tc>
                  <a:txBody>
                    <a:bodyPr wrap="square"/>
                    <a:lstStyle/>
                    <a:p>
                      <a:pPr algn="l">
                        <a:lnSpc>
                          <a:spcPct val="100000"/>
                        </a:lnSpc>
                      </a:pPr>
                      <a:r>
                        <a:rPr sz="1800" b="1">
                          <a:solidFill>
                            <a:srgbClr val="FFFFFF"/>
                          </a:solidFill>
                          <a:latin typeface="Segoe UI Semibold"/>
                        </a:rPr>
                        <a:t>Fix</a:t>
                      </a:r>
                    </a:p>
                  </a:txBody>
                  <a:tcPr marL="101600" marR="101600" marT="50800" marB="50800" anchor="ctr">
                    <a:solidFill>
                      <a:srgbClr val="D1495B"/>
                    </a:solidFill>
                  </a:tcPr>
                </a:tc>
              </a:tr>
              <a:tr h="914400">
                <a:tc>
                  <a:txBody>
                    <a:bodyPr wrap="square"/>
                    <a:lstStyle/>
                    <a:p>
                      <a:pPr algn="l">
                        <a:lnSpc>
                          <a:spcPct val="100000"/>
                        </a:lnSpc>
                      </a:pPr>
                      <a:r>
                        <a:rPr sz="1750" b="0">
                          <a:solidFill>
                            <a:srgbClr val="14213D"/>
                          </a:solidFill>
                          <a:latin typeface="Segoe UI"/>
                        </a:rPr>
                        <a:t>Evidence with no source or citation (“studies show...”)</a:t>
                      </a:r>
                    </a:p>
                  </a:txBody>
                  <a:tcPr marL="101600" marR="101600" marT="50800" marB="50800" anchor="ctr">
                    <a:solidFill>
                      <a:srgbClr val="FFFFFF"/>
                    </a:solidFill>
                  </a:tcPr>
                </a:tc>
                <a:tc>
                  <a:txBody>
                    <a:bodyPr wrap="square"/>
                    <a:lstStyle/>
                    <a:p>
                      <a:pPr algn="l">
                        <a:lnSpc>
                          <a:spcPct val="100000"/>
                        </a:lnSpc>
                      </a:pPr>
                      <a:r>
                        <a:rPr sz="1750" b="0">
                          <a:solidFill>
                            <a:srgbClr val="14213D"/>
                          </a:solidFill>
                          <a:latin typeface="Segoe UI"/>
                        </a:rPr>
                        <a:t>Name the actual source, or say “based on my preliminary reading of...”</a:t>
                      </a:r>
                    </a:p>
                  </a:txBody>
                  <a:tcPr marL="101600" marR="101600" marT="50800" marB="50800" anchor="ctr">
                    <a:solidFill>
                      <a:srgbClr val="FFFFFF"/>
                    </a:solidFill>
                  </a:tcPr>
                </a:tc>
              </a:tr>
              <a:tr h="914400">
                <a:tc>
                  <a:txBody>
                    <a:bodyPr wrap="square"/>
                    <a:lstStyle/>
                    <a:p>
                      <a:pPr algn="l">
                        <a:lnSpc>
                          <a:spcPct val="100000"/>
                        </a:lnSpc>
                      </a:pPr>
                      <a:r>
                        <a:rPr sz="1750" b="0">
                          <a:solidFill>
                            <a:srgbClr val="14213D"/>
                          </a:solidFill>
                          <a:latin typeface="Segoe UI"/>
                        </a:rPr>
                        <a:t>Reasoning that just restates Evidence in different words</a:t>
                      </a:r>
                    </a:p>
                  </a:txBody>
                  <a:tcPr marL="101600" marR="101600" marT="50800" marB="50800" anchor="ctr">
                    <a:solidFill>
                      <a:srgbClr val="EEF4F7"/>
                    </a:solidFill>
                  </a:tcPr>
                </a:tc>
                <a:tc>
                  <a:txBody>
                    <a:bodyPr wrap="square"/>
                    <a:lstStyle/>
                    <a:p>
                      <a:pPr algn="l">
                        <a:lnSpc>
                          <a:spcPct val="100000"/>
                        </a:lnSpc>
                      </a:pPr>
                      <a:r>
                        <a:rPr sz="1750" b="0">
                          <a:solidFill>
                            <a:srgbClr val="14213D"/>
                          </a:solidFill>
                          <a:latin typeface="Segoe UI"/>
                        </a:rPr>
                        <a:t>Ask: what happens next if this problem is ignored? State that consequence.</a:t>
                      </a:r>
                    </a:p>
                  </a:txBody>
                  <a:tcPr marL="101600" marR="101600" marT="50800" marB="50800" anchor="ctr">
                    <a:solidFill>
                      <a:srgbClr val="EEF4F7"/>
                    </a:solidFill>
                  </a:tcPr>
                </a:tc>
              </a:tr>
              <a:tr h="914400">
                <a:tc>
                  <a:txBody>
                    <a:bodyPr wrap="square"/>
                    <a:lstStyle/>
                    <a:p>
                      <a:pPr algn="l">
                        <a:lnSpc>
                          <a:spcPct val="100000"/>
                        </a:lnSpc>
                      </a:pPr>
                      <a:r>
                        <a:rPr sz="1750" b="0">
                          <a:solidFill>
                            <a:srgbClr val="14213D"/>
                          </a:solidFill>
                          <a:latin typeface="Segoe UI"/>
                        </a:rPr>
                        <a:t>Claim stated as pure opinion (“this is a very important topic”)</a:t>
                      </a:r>
                    </a:p>
                  </a:txBody>
                  <a:tcPr marL="101600" marR="101600" marT="50800" marB="50800" anchor="ctr">
                    <a:solidFill>
                      <a:srgbClr val="FFFFFF"/>
                    </a:solidFill>
                  </a:tcPr>
                </a:tc>
                <a:tc>
                  <a:txBody>
                    <a:bodyPr wrap="square"/>
                    <a:lstStyle/>
                    <a:p>
                      <a:pPr algn="l">
                        <a:lnSpc>
                          <a:spcPct val="100000"/>
                        </a:lnSpc>
                      </a:pPr>
                      <a:r>
                        <a:rPr sz="1750" b="0">
                          <a:solidFill>
                            <a:srgbClr val="14213D"/>
                          </a:solidFill>
                          <a:latin typeface="Segoe UI"/>
                        </a:rPr>
                        <a:t>Ground the claim in a measurable stake — lives affected, income lost, species threatened</a:t>
                      </a:r>
                    </a:p>
                  </a:txBody>
                  <a:tcPr marL="101600" marR="101600" marT="50800" marB="50800" anchor="ctr">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Even the Best Study Has Boundaries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53</a:t>
            </a:r>
          </a:p>
        </p:txBody>
      </p:sp>
      <p:sp>
        <p:nvSpPr>
          <p:cNvPr id="9" name="Rounded Rectangle 8"/>
          <p:cNvSpPr/>
          <p:nvPr/>
        </p:nvSpPr>
        <p:spPr>
          <a:xfrm>
            <a:off x="777240" y="1847088"/>
            <a:ext cx="2286000" cy="868680"/>
          </a:xfrm>
          <a:prstGeom prst="roundRect">
            <a:avLst>
              <a:gd name="adj" fmla="val 16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 Research Problem</a:t>
            </a:r>
          </a:p>
        </p:txBody>
      </p:sp>
      <p:sp>
        <p:nvSpPr>
          <p:cNvPr id="10" name="Right Arrow 9"/>
          <p:cNvSpPr/>
          <p:nvPr/>
        </p:nvSpPr>
        <p:spPr>
          <a:xfrm>
            <a:off x="3099816"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3566160" y="1847088"/>
            <a:ext cx="2286000" cy="868680"/>
          </a:xfrm>
          <a:prstGeom prst="roundRect">
            <a:avLst>
              <a:gd name="adj" fmla="val 16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 Research Questions &amp; Hypotheses</a:t>
            </a:r>
          </a:p>
        </p:txBody>
      </p:sp>
      <p:sp>
        <p:nvSpPr>
          <p:cNvPr id="12" name="Right Arrow 11"/>
          <p:cNvSpPr/>
          <p:nvPr/>
        </p:nvSpPr>
        <p:spPr>
          <a:xfrm>
            <a:off x="5888736"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355079" y="1847088"/>
            <a:ext cx="2286000" cy="868680"/>
          </a:xfrm>
          <a:prstGeom prst="roundRect">
            <a:avLst>
              <a:gd name="adj" fmla="val 16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 Justifying the Problem (CER)</a:t>
            </a:r>
          </a:p>
        </p:txBody>
      </p:sp>
      <p:sp>
        <p:nvSpPr>
          <p:cNvPr id="14" name="Right Arrow 13"/>
          <p:cNvSpPr/>
          <p:nvPr/>
        </p:nvSpPr>
        <p:spPr>
          <a:xfrm>
            <a:off x="8677655" y="2144268"/>
            <a:ext cx="420624" cy="274320"/>
          </a:xfrm>
          <a:prstGeom prst="rightArrow">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9144000" y="1847088"/>
            <a:ext cx="2286000" cy="868680"/>
          </a:xfrm>
          <a:prstGeom prst="roundRect">
            <a:avLst>
              <a:gd name="adj" fmla="val 16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88900" rIns="88900"/>
          <a:lstStyle/>
          <a:p>
            <a:pPr algn="ctr">
              <a:lnSpc>
                <a:spcPct val="100000"/>
              </a:lnSpc>
            </a:pPr>
            <a:r>
              <a:rPr sz="1300" b="1" i="0">
                <a:solidFill>
                  <a:srgbClr val="FFFFFF"/>
                </a:solidFill>
                <a:latin typeface="Segoe UI Semibold"/>
              </a:rPr>
              <a:t>Assumptions &amp; Limitations</a:t>
            </a:r>
          </a:p>
        </p:txBody>
      </p:sp>
      <p:sp>
        <p:nvSpPr>
          <p:cNvPr id="16" name="TextBox 15"/>
          <p:cNvSpPr txBox="1"/>
          <p:nvPr/>
        </p:nvSpPr>
        <p:spPr>
          <a:xfrm>
            <a:off x="822960" y="3063239"/>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1400"/>
              </a:spcAft>
              <a:buClr>
                <a:srgbClr val="1D7A8C"/>
              </a:buClr>
              <a:buSzPct val="80000"/>
              <a:buFont typeface="Arial"/>
              <a:buChar char="▪"/>
            </a:pPr>
            <a:r>
              <a:rPr sz="2300" b="0" i="0">
                <a:solidFill>
                  <a:srgbClr val="14213D"/>
                </a:solidFill>
                <a:latin typeface="Segoe UI"/>
              </a:rPr>
              <a:t>No study — not even a professionally funded one — can measure everything, control everything, or prove itself beyond all doubt.</a:t>
            </a:r>
          </a:p>
          <a:p>
            <a:pPr algn="l" marL="274638" indent="-274638">
              <a:lnSpc>
                <a:spcPct val="105000"/>
              </a:lnSpc>
              <a:spcBef>
                <a:spcPts val="0"/>
              </a:spcBef>
              <a:spcAft>
                <a:spcPts val="1400"/>
              </a:spcAft>
              <a:buClr>
                <a:srgbClr val="1D7A8C"/>
              </a:buClr>
              <a:buSzPct val="80000"/>
              <a:buFont typeface="Arial"/>
              <a:buChar char="▪"/>
            </a:pPr>
            <a:r>
              <a:rPr sz="2300" b="0" i="0">
                <a:solidFill>
                  <a:srgbClr val="14213D"/>
                </a:solidFill>
                <a:latin typeface="Segoe UI"/>
              </a:rPr>
              <a:t>Today's skill is not weakness — it is </a:t>
            </a:r>
            <a:r>
              <a:rPr sz="2300" b="1" i="0">
                <a:solidFill>
                  <a:srgbClr val="F4795B"/>
                </a:solidFill>
                <a:latin typeface="Segoe UI"/>
              </a:rPr>
              <a:t>precision</a:t>
            </a:r>
            <a:r>
              <a:rPr sz="2300" b="0" i="0">
                <a:solidFill>
                  <a:srgbClr val="14213D"/>
                </a:solidFill>
                <a:latin typeface="Segoe UI"/>
              </a:rPr>
              <a:t>: telling your reader exactly what your study takes for granted, and exactly where its findings stop applying.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Assumptions vs. Limitations — Defined</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54</a:t>
            </a:r>
          </a:p>
        </p:txBody>
      </p:sp>
      <p:sp>
        <p:nvSpPr>
          <p:cNvPr id="9" name="Rounded Rectangle 8"/>
          <p:cNvSpPr/>
          <p:nvPr/>
        </p:nvSpPr>
        <p:spPr>
          <a:xfrm>
            <a:off x="777240" y="1828800"/>
            <a:ext cx="5090007" cy="34290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828800"/>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996695" y="192938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1D7A8C"/>
                </a:solidFill>
                <a:latin typeface="Segoe UI"/>
              </a:rPr>
              <a:t>✓</a:t>
            </a:r>
          </a:p>
        </p:txBody>
      </p:sp>
      <p:sp>
        <p:nvSpPr>
          <p:cNvPr id="12" name="TextBox 11"/>
          <p:cNvSpPr txBox="1"/>
          <p:nvPr/>
        </p:nvSpPr>
        <p:spPr>
          <a:xfrm>
            <a:off x="1527048" y="1828800"/>
            <a:ext cx="4157319" cy="566928"/>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ASSUMPTIONS</a:t>
            </a:r>
          </a:p>
        </p:txBody>
      </p:sp>
      <p:sp>
        <p:nvSpPr>
          <p:cNvPr id="13" name="TextBox 12"/>
          <p:cNvSpPr txBox="1"/>
          <p:nvPr/>
        </p:nvSpPr>
        <p:spPr>
          <a:xfrm>
            <a:off x="1069848" y="2606040"/>
            <a:ext cx="4541367" cy="2514600"/>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1D7A8C"/>
              </a:buClr>
              <a:buSzPct val="80000"/>
              <a:buFont typeface="Arial"/>
              <a:buChar char="▪"/>
            </a:pPr>
            <a:r>
              <a:rPr sz="2000" b="0" i="0">
                <a:solidFill>
                  <a:srgbClr val="14213D"/>
                </a:solidFill>
                <a:latin typeface="Segoe UI"/>
              </a:rPr>
              <a:t>What you take as true or given, without directly testing it, in order for your study to proceed.</a:t>
            </a:r>
          </a:p>
          <a:p>
            <a:pPr algn="l" marL="274638" indent="-274638">
              <a:lnSpc>
                <a:spcPct val="105000"/>
              </a:lnSpc>
              <a:spcBef>
                <a:spcPts val="0"/>
              </a:spcBef>
              <a:spcAft>
                <a:spcPts val="1200"/>
              </a:spcAft>
              <a:buClr>
                <a:srgbClr val="1D7A8C"/>
              </a:buClr>
              <a:buSzPct val="80000"/>
              <a:buFont typeface="Arial"/>
              <a:buChar char="▪"/>
            </a:pPr>
            <a:r>
              <a:rPr sz="2000" b="1" i="0">
                <a:solidFill>
                  <a:srgbClr val="1D7A8C"/>
                </a:solidFill>
                <a:latin typeface="Segoe UI"/>
              </a:rPr>
              <a:t>Example: </a:t>
            </a:r>
            <a:r>
              <a:rPr sz="2000" b="0" i="1">
                <a:solidFill>
                  <a:srgbClr val="14213D"/>
                </a:solidFill>
                <a:latin typeface="Segoe UI"/>
              </a:rPr>
              <a:t>“It is assumed that survey respondents answered honestly.”</a:t>
            </a:r>
          </a:p>
        </p:txBody>
      </p:sp>
      <p:sp>
        <p:nvSpPr>
          <p:cNvPr id="14" name="Rounded Rectangle 13"/>
          <p:cNvSpPr/>
          <p:nvPr/>
        </p:nvSpPr>
        <p:spPr>
          <a:xfrm>
            <a:off x="6324447" y="1828800"/>
            <a:ext cx="5090007" cy="34290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324447" y="1828800"/>
            <a:ext cx="5090007"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543903" y="192938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4795B"/>
                </a:solidFill>
                <a:latin typeface="Segoe UI"/>
              </a:rPr>
              <a:t>!</a:t>
            </a:r>
          </a:p>
        </p:txBody>
      </p:sp>
      <p:sp>
        <p:nvSpPr>
          <p:cNvPr id="17" name="TextBox 16"/>
          <p:cNvSpPr txBox="1"/>
          <p:nvPr/>
        </p:nvSpPr>
        <p:spPr>
          <a:xfrm>
            <a:off x="7074255" y="1828800"/>
            <a:ext cx="4157319" cy="566928"/>
          </a:xfrm>
          <a:prstGeom prst="rect">
            <a:avLst/>
          </a:prstGeom>
          <a:noFill/>
        </p:spPr>
        <p:txBody>
          <a:bodyPr wrap="square" anchor="ctr" lIns="0" rIns="0" tIns="0" bIns="0">
            <a:spAutoFit/>
          </a:bodyPr>
          <a:lstStyle/>
          <a:p>
            <a:pPr algn="l">
              <a:lnSpc>
                <a:spcPct val="105000"/>
              </a:lnSpc>
              <a:spcBef>
                <a:spcPts val="0"/>
              </a:spcBef>
              <a:spcAft>
                <a:spcPts val="0"/>
              </a:spcAft>
            </a:pPr>
            <a:r>
              <a:rPr sz="1900" b="1" i="0">
                <a:solidFill>
                  <a:srgbClr val="FFFFFF"/>
                </a:solidFill>
                <a:latin typeface="Segoe UI Semibold"/>
              </a:rPr>
              <a:t>LIMITATIONS</a:t>
            </a:r>
          </a:p>
        </p:txBody>
      </p:sp>
      <p:sp>
        <p:nvSpPr>
          <p:cNvPr id="18" name="TextBox 17"/>
          <p:cNvSpPr txBox="1"/>
          <p:nvPr/>
        </p:nvSpPr>
        <p:spPr>
          <a:xfrm>
            <a:off x="6617055" y="2606040"/>
            <a:ext cx="4541367" cy="2514600"/>
          </a:xfrm>
          <a:prstGeom prst="rect">
            <a:avLst/>
          </a:prstGeom>
          <a:noFill/>
        </p:spPr>
        <p:txBody>
          <a:bodyPr wrap="square" anchor="t" lIns="0" rIns="0" tIns="0" bIns="0">
            <a:spAutoFit/>
          </a:bodyPr>
          <a:lstStyle/>
          <a:p>
            <a:pPr algn="l" marL="274638" indent="-274638">
              <a:lnSpc>
                <a:spcPct val="105000"/>
              </a:lnSpc>
              <a:spcBef>
                <a:spcPts val="0"/>
              </a:spcBef>
              <a:spcAft>
                <a:spcPts val="1200"/>
              </a:spcAft>
              <a:buClr>
                <a:srgbClr val="F4795B"/>
              </a:buClr>
              <a:buSzPct val="80000"/>
              <a:buFont typeface="Arial"/>
              <a:buChar char="▪"/>
            </a:pPr>
            <a:r>
              <a:rPr sz="2000" b="0" i="0">
                <a:solidFill>
                  <a:srgbClr val="14213D"/>
                </a:solidFill>
                <a:latin typeface="Segoe UI"/>
              </a:rPr>
              <a:t>The constraints or weaknesses of your study — factors beyond your control that may affect your findings.</a:t>
            </a:r>
          </a:p>
          <a:p>
            <a:pPr algn="l" marL="274638" indent="-274638">
              <a:lnSpc>
                <a:spcPct val="105000"/>
              </a:lnSpc>
              <a:spcBef>
                <a:spcPts val="0"/>
              </a:spcBef>
              <a:spcAft>
                <a:spcPts val="1200"/>
              </a:spcAft>
              <a:buClr>
                <a:srgbClr val="F4795B"/>
              </a:buClr>
              <a:buSzPct val="80000"/>
              <a:buFont typeface="Arial"/>
              <a:buChar char="▪"/>
            </a:pPr>
            <a:r>
              <a:rPr sz="2000" b="1" i="0">
                <a:solidFill>
                  <a:srgbClr val="F4795B"/>
                </a:solidFill>
                <a:latin typeface="Segoe UI"/>
              </a:rPr>
              <a:t>Example: </a:t>
            </a:r>
            <a:r>
              <a:rPr sz="2000" b="0" i="1">
                <a:solidFill>
                  <a:srgbClr val="14213D"/>
                </a:solidFill>
                <a:latin typeface="Segoe UI"/>
              </a:rPr>
              <a:t>“This study is limited by a small sample size of 30 farmers, which may not represent the entire municipality.”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Application — Sort Assumption or Limitation</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55</a:t>
            </a:r>
          </a:p>
        </p:txBody>
      </p:sp>
      <p:sp>
        <p:nvSpPr>
          <p:cNvPr id="9" name="Rounded Rectangle 8"/>
          <p:cNvSpPr/>
          <p:nvPr/>
        </p:nvSpPr>
        <p:spPr>
          <a:xfrm>
            <a:off x="777240" y="1719072"/>
            <a:ext cx="3024835"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841955"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a:t>
            </a:r>
          </a:p>
        </p:txBody>
      </p:sp>
      <p:graphicFrame>
        <p:nvGraphicFramePr>
          <p:cNvPr id="11" name="Table 10"/>
          <p:cNvGraphicFramePr>
            <a:graphicFrameLocks noGrp="1"/>
          </p:cNvGraphicFramePr>
          <p:nvPr/>
        </p:nvGraphicFramePr>
        <p:xfrm>
          <a:off x="777240" y="2194560"/>
          <a:ext cx="10637214" cy="3136392"/>
        </p:xfrm>
        <a:graphic>
          <a:graphicData uri="http://schemas.openxmlformats.org/drawingml/2006/table">
            <a:tbl>
              <a:tblPr>
                <a:tableStyleId>{5C22544A-7EE6-4342-B048-85BDC9FD1C3A}</a:tableStyleId>
              </a:tblPr>
              <a:tblGrid>
                <a:gridCol w="7413816"/>
                <a:gridCol w="3223398"/>
              </a:tblGrid>
              <a:tr h="502920">
                <a:tc>
                  <a:txBody>
                    <a:bodyPr wrap="square"/>
                    <a:lstStyle/>
                    <a:p>
                      <a:pPr algn="l">
                        <a:lnSpc>
                          <a:spcPct val="100000"/>
                        </a:lnSpc>
                      </a:pPr>
                      <a:r>
                        <a:rPr sz="1600" b="1">
                          <a:solidFill>
                            <a:srgbClr val="FFFFFF"/>
                          </a:solidFill>
                          <a:latin typeface="Segoe UI Semibold"/>
                        </a:rPr>
                        <a:t>Statement</a:t>
                      </a:r>
                    </a:p>
                  </a:txBody>
                  <a:tcPr marL="101600" marR="101600" marT="50800" marB="50800" anchor="ctr">
                    <a:solidFill>
                      <a:srgbClr val="1D7A8C"/>
                    </a:solidFill>
                  </a:tcPr>
                </a:tc>
                <a:tc>
                  <a:txBody>
                    <a:bodyPr wrap="square"/>
                    <a:lstStyle/>
                    <a:p>
                      <a:pPr algn="l">
                        <a:lnSpc>
                          <a:spcPct val="100000"/>
                        </a:lnSpc>
                      </a:pPr>
                      <a:r>
                        <a:rPr sz="1600" b="1">
                          <a:solidFill>
                            <a:srgbClr val="FFFFFF"/>
                          </a:solidFill>
                          <a:latin typeface="Segoe UI Semibold"/>
                        </a:rPr>
                        <a:t>Assumption or Limitation?</a:t>
                      </a:r>
                    </a:p>
                  </a:txBody>
                  <a:tcPr marL="101600" marR="101600" marT="50800" marB="50800" anchor="ctr">
                    <a:solidFill>
                      <a:srgbClr val="1D7A8C"/>
                    </a:solidFill>
                  </a:tcPr>
                </a:tc>
              </a:tr>
              <a:tr h="658368">
                <a:tc>
                  <a:txBody>
                    <a:bodyPr wrap="square"/>
                    <a:lstStyle/>
                    <a:p>
                      <a:pPr algn="l">
                        <a:lnSpc>
                          <a:spcPct val="100000"/>
                        </a:lnSpc>
                      </a:pPr>
                      <a:r>
                        <a:rPr sz="1600" b="0">
                          <a:solidFill>
                            <a:srgbClr val="14213D"/>
                          </a:solidFill>
                          <a:latin typeface="Segoe UI"/>
                        </a:rPr>
                        <a:t>“It is assumed that the water quality test kits used provide accurate turbidity readings.”</a:t>
                      </a:r>
                    </a:p>
                  </a:txBody>
                  <a:tcPr marL="101600" marR="101600" marT="50800" marB="50800" anchor="ctr">
                    <a:solidFill>
                      <a:srgbClr val="FFFFFF"/>
                    </a:solidFill>
                  </a:tcPr>
                </a:tc>
                <a:tc>
                  <a:txBody>
                    <a:bodyPr wrap="square"/>
                    <a:lstStyle/>
                    <a:p>
                      <a:pPr algn="l">
                        <a:lnSpc>
                          <a:spcPct val="100000"/>
                        </a:lnSpc>
                      </a:pPr>
                      <a:r>
                        <a:rPr sz="16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600" b="0">
                          <a:solidFill>
                            <a:srgbClr val="14213D"/>
                          </a:solidFill>
                          <a:latin typeface="Segoe UI"/>
                        </a:rPr>
                        <a:t>“The study only measured coral cover during the dry season and may not reflect wet-season conditions.”</a:t>
                      </a:r>
                    </a:p>
                  </a:txBody>
                  <a:tcPr marL="101600" marR="101600" marT="50800" marB="50800" anchor="ctr">
                    <a:solidFill>
                      <a:srgbClr val="EEF4F7"/>
                    </a:solidFill>
                  </a:tcPr>
                </a:tc>
                <a:tc>
                  <a:txBody>
                    <a:bodyPr wrap="square"/>
                    <a:lstStyle/>
                    <a:p>
                      <a:pPr algn="l">
                        <a:lnSpc>
                          <a:spcPct val="100000"/>
                        </a:lnSpc>
                      </a:pPr>
                      <a:r>
                        <a:rPr sz="16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600" b="0">
                          <a:solidFill>
                            <a:srgbClr val="14213D"/>
                          </a:solidFill>
                          <a:latin typeface="Segoe UI"/>
                        </a:rPr>
                        <a:t>“It is assumed that farmer-respondents accurately recalled their harvest yields from memory.”</a:t>
                      </a:r>
                    </a:p>
                  </a:txBody>
                  <a:tcPr marL="101600" marR="101600" marT="50800" marB="50800" anchor="ctr">
                    <a:solidFill>
                      <a:srgbClr val="FFFFFF"/>
                    </a:solidFill>
                  </a:tcPr>
                </a:tc>
                <a:tc>
                  <a:txBody>
                    <a:bodyPr wrap="square"/>
                    <a:lstStyle/>
                    <a:p>
                      <a:pPr algn="l">
                        <a:lnSpc>
                          <a:spcPct val="100000"/>
                        </a:lnSpc>
                      </a:pPr>
                      <a:r>
                        <a:rPr sz="1600" b="0">
                          <a:solidFill>
                            <a:srgbClr val="14213D"/>
                          </a:solidFill>
                          <a:latin typeface="Segoe UI"/>
                        </a:rPr>
                        <a:t/>
                      </a:r>
                    </a:p>
                  </a:txBody>
                  <a:tcPr marL="101600" marR="101600" marT="50800" marB="50800" anchor="ctr">
                    <a:solidFill>
                      <a:srgbClr val="FCF0CC"/>
                    </a:solidFill>
                  </a:tcPr>
                </a:tc>
              </a:tr>
              <a:tr h="658368">
                <a:tc>
                  <a:txBody>
                    <a:bodyPr wrap="square"/>
                    <a:lstStyle/>
                    <a:p>
                      <a:pPr algn="l">
                        <a:lnSpc>
                          <a:spcPct val="100000"/>
                        </a:lnSpc>
                      </a:pPr>
                      <a:r>
                        <a:rPr sz="1600" b="0">
                          <a:solidFill>
                            <a:srgbClr val="14213D"/>
                          </a:solidFill>
                          <a:latin typeface="Segoe UI"/>
                        </a:rPr>
                        <a:t>“Only one farm cooperative in Davao del Sur was included due to time and travel constraints.”</a:t>
                      </a:r>
                    </a:p>
                  </a:txBody>
                  <a:tcPr marL="101600" marR="101600" marT="50800" marB="50800" anchor="ctr">
                    <a:solidFill>
                      <a:srgbClr val="EEF4F7"/>
                    </a:solidFill>
                  </a:tcPr>
                </a:tc>
                <a:tc>
                  <a:txBody>
                    <a:bodyPr wrap="square"/>
                    <a:lstStyle/>
                    <a:p>
                      <a:pPr algn="l">
                        <a:lnSpc>
                          <a:spcPct val="100000"/>
                        </a:lnSpc>
                      </a:pPr>
                      <a:r>
                        <a:rPr sz="1600" b="0">
                          <a:solidFill>
                            <a:srgbClr val="14213D"/>
                          </a:solidFill>
                          <a:latin typeface="Segoe UI"/>
                        </a:rPr>
                        <a:t/>
                      </a:r>
                    </a:p>
                  </a:txBody>
                  <a:tcPr marL="101600" marR="101600" marT="50800" marB="50800" anchor="ctr">
                    <a:solidFill>
                      <a:srgbClr val="FCF0CC"/>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800" b="1" i="0">
                <a:solidFill>
                  <a:srgbClr val="14213D"/>
                </a:solidFill>
                <a:latin typeface="Segoe UI Semibold"/>
              </a:rPr>
              <a:t>Why Naming Limitations Builds Credibility</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56</a:t>
            </a:r>
          </a:p>
        </p:txBody>
      </p:sp>
      <p:sp>
        <p:nvSpPr>
          <p:cNvPr id="9" name="Rounded Rectangle 8"/>
          <p:cNvSpPr/>
          <p:nvPr/>
        </p:nvSpPr>
        <p:spPr>
          <a:xfrm>
            <a:off x="777240" y="2194560"/>
            <a:ext cx="4572000" cy="1463040"/>
          </a:xfrm>
          <a:prstGeom prst="roundRect">
            <a:avLst>
              <a:gd name="adj" fmla="val 10000"/>
            </a:avLst>
          </a:prstGeom>
          <a:solidFill>
            <a:srgbClr val="F7DEE2"/>
          </a:solidFill>
          <a:ln w="1270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51560" y="2194560"/>
            <a:ext cx="4114800" cy="1463040"/>
          </a:xfrm>
          <a:prstGeom prst="rect">
            <a:avLst/>
          </a:prstGeom>
          <a:noFill/>
        </p:spPr>
        <p:txBody>
          <a:bodyPr wrap="square" anchor="ctr" lIns="0" rIns="0" tIns="0" bIns="0">
            <a:spAutoFit/>
          </a:bodyPr>
          <a:lstStyle/>
          <a:p>
            <a:pPr algn="l">
              <a:lnSpc>
                <a:spcPct val="110000"/>
              </a:lnSpc>
              <a:spcBef>
                <a:spcPts val="0"/>
              </a:spcBef>
              <a:spcAft>
                <a:spcPts val="0"/>
              </a:spcAft>
            </a:pPr>
            <a:r>
              <a:rPr sz="1800" b="1" i="0">
                <a:solidFill>
                  <a:srgbClr val="D1495B"/>
                </a:solidFill>
                <a:latin typeface="Segoe UI"/>
              </a:rPr>
              <a:t>Study claims “no limitations”</a:t>
            </a:r>
          </a:p>
        </p:txBody>
      </p:sp>
      <p:sp>
        <p:nvSpPr>
          <p:cNvPr id="11" name="Right Arrow 10"/>
          <p:cNvSpPr/>
          <p:nvPr/>
        </p:nvSpPr>
        <p:spPr>
          <a:xfrm>
            <a:off x="5486400" y="2697480"/>
            <a:ext cx="822960" cy="457200"/>
          </a:xfrm>
          <a:prstGeom prst="right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446520" y="2194560"/>
            <a:ext cx="4937760" cy="1463040"/>
          </a:xfrm>
          <a:prstGeom prst="roundRect">
            <a:avLst>
              <a:gd name="adj" fmla="val 10000"/>
            </a:avLst>
          </a:prstGeom>
          <a:solidFill>
            <a:srgbClr val="FFFFFF"/>
          </a:solidFill>
          <a:ln w="12700">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20840" y="2194560"/>
            <a:ext cx="4389120" cy="1463040"/>
          </a:xfrm>
          <a:prstGeom prst="rect">
            <a:avLst/>
          </a:prstGeom>
          <a:noFill/>
        </p:spPr>
        <p:txBody>
          <a:bodyPr wrap="square" anchor="ctr" lIns="0" rIns="0" tIns="0" bIns="0">
            <a:spAutoFit/>
          </a:bodyPr>
          <a:lstStyle/>
          <a:p>
            <a:pPr algn="l">
              <a:lnSpc>
                <a:spcPct val="112000"/>
              </a:lnSpc>
              <a:spcBef>
                <a:spcPts val="0"/>
              </a:spcBef>
              <a:spcAft>
                <a:spcPts val="0"/>
              </a:spcAft>
            </a:pPr>
            <a:r>
              <a:rPr sz="1800" b="0" i="0">
                <a:solidFill>
                  <a:srgbClr val="14213D"/>
                </a:solidFill>
                <a:latin typeface="Segoe UI"/>
              </a:rPr>
              <a:t>Panel doubts the researcher's self-awareness and rigor</a:t>
            </a:r>
          </a:p>
        </p:txBody>
      </p:sp>
      <p:sp>
        <p:nvSpPr>
          <p:cNvPr id="14" name="Rounded Rectangle 13"/>
          <p:cNvSpPr/>
          <p:nvPr/>
        </p:nvSpPr>
        <p:spPr>
          <a:xfrm>
            <a:off x="777240" y="3886200"/>
            <a:ext cx="4572000" cy="1554480"/>
          </a:xfrm>
          <a:prstGeom prst="roundRect">
            <a:avLst>
              <a:gd name="adj" fmla="val 10000"/>
            </a:avLst>
          </a:prstGeom>
          <a:solidFill>
            <a:srgbClr val="D9F0EC"/>
          </a:solidFill>
          <a:ln w="127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3886200"/>
            <a:ext cx="4114800" cy="1554480"/>
          </a:xfrm>
          <a:prstGeom prst="rect">
            <a:avLst/>
          </a:prstGeom>
          <a:noFill/>
        </p:spPr>
        <p:txBody>
          <a:bodyPr wrap="square" anchor="ctr" lIns="0" rIns="0" tIns="0" bIns="0">
            <a:spAutoFit/>
          </a:bodyPr>
          <a:lstStyle/>
          <a:p>
            <a:pPr algn="l">
              <a:lnSpc>
                <a:spcPct val="110000"/>
              </a:lnSpc>
              <a:spcBef>
                <a:spcPts val="0"/>
              </a:spcBef>
              <a:spcAft>
                <a:spcPts val="0"/>
              </a:spcAft>
            </a:pPr>
            <a:r>
              <a:rPr sz="1800" b="1" i="0">
                <a:solidFill>
                  <a:srgbClr val="2A9D8F"/>
                </a:solidFill>
                <a:latin typeface="Segoe UI"/>
              </a:rPr>
              <a:t>Study names limitations clearly</a:t>
            </a:r>
          </a:p>
        </p:txBody>
      </p:sp>
      <p:sp>
        <p:nvSpPr>
          <p:cNvPr id="16" name="Right Arrow 15"/>
          <p:cNvSpPr/>
          <p:nvPr/>
        </p:nvSpPr>
        <p:spPr>
          <a:xfrm>
            <a:off x="5486400" y="4480560"/>
            <a:ext cx="822960" cy="45720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446520" y="3886200"/>
            <a:ext cx="4937760" cy="1554480"/>
          </a:xfrm>
          <a:prstGeom prst="roundRect">
            <a:avLst>
              <a:gd name="adj" fmla="val 10000"/>
            </a:avLst>
          </a:prstGeom>
          <a:solidFill>
            <a:srgbClr val="FFFFFF"/>
          </a:solidFill>
          <a:ln w="127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20840" y="3886200"/>
            <a:ext cx="4389120" cy="1554480"/>
          </a:xfrm>
          <a:prstGeom prst="rect">
            <a:avLst/>
          </a:prstGeom>
          <a:noFill/>
        </p:spPr>
        <p:txBody>
          <a:bodyPr wrap="square" anchor="ctr" lIns="0" rIns="0" tIns="0" bIns="0">
            <a:spAutoFit/>
          </a:bodyPr>
          <a:lstStyle/>
          <a:p>
            <a:pPr algn="l">
              <a:lnSpc>
                <a:spcPct val="112000"/>
              </a:lnSpc>
              <a:spcBef>
                <a:spcPts val="0"/>
              </a:spcBef>
              <a:spcAft>
                <a:spcPts val="0"/>
              </a:spcAft>
            </a:pPr>
            <a:r>
              <a:rPr sz="1800" b="0" i="0">
                <a:solidFill>
                  <a:srgbClr val="14213D"/>
                </a:solidFill>
                <a:latin typeface="Segoe UI"/>
              </a:rPr>
              <a:t>Panel sees the researcher understands their method's boundaries → trusts the findings that remain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400" b="1" i="0">
                <a:solidFill>
                  <a:srgbClr val="14213D"/>
                </a:solidFill>
                <a:latin typeface="Segoe UI Semibold"/>
              </a:rPr>
              <a:t>Worked Example — Assumptions &amp; Limitations (Coral Reef)</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57</a:t>
            </a:r>
          </a:p>
        </p:txBody>
      </p:sp>
      <p:sp>
        <p:nvSpPr>
          <p:cNvPr id="9" name="Rounded Rectangle 8"/>
          <p:cNvSpPr/>
          <p:nvPr/>
        </p:nvSpPr>
        <p:spPr>
          <a:xfrm>
            <a:off x="777240" y="1719072"/>
            <a:ext cx="2220163"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037283"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a:t>
            </a:r>
          </a:p>
        </p:txBody>
      </p:sp>
      <p:sp>
        <p:nvSpPr>
          <p:cNvPr id="11" name="Rounded Rectangle 10"/>
          <p:cNvSpPr/>
          <p:nvPr/>
        </p:nvSpPr>
        <p:spPr>
          <a:xfrm>
            <a:off x="777240" y="2194560"/>
            <a:ext cx="5090007" cy="32004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ASSUMPTIONS</a:t>
            </a:r>
          </a:p>
        </p:txBody>
      </p:sp>
      <p:sp>
        <p:nvSpPr>
          <p:cNvPr id="14" name="TextBox 13"/>
          <p:cNvSpPr txBox="1"/>
          <p:nvPr/>
        </p:nvSpPr>
        <p:spPr>
          <a:xfrm>
            <a:off x="1069848" y="2971800"/>
            <a:ext cx="4541367" cy="2286000"/>
          </a:xfrm>
          <a:prstGeom prst="rect">
            <a:avLst/>
          </a:prstGeom>
          <a:noFill/>
        </p:spPr>
        <p:txBody>
          <a:bodyPr wrap="square" anchor="t" lIns="0" rIns="0" tIns="0" bIns="0">
            <a:spAutoFit/>
          </a:bodyPr>
          <a:lstStyle/>
          <a:p>
            <a:pPr algn="l" marL="274638" indent="-274638">
              <a:lnSpc>
                <a:spcPct val="105000"/>
              </a:lnSpc>
              <a:spcBef>
                <a:spcPts val="0"/>
              </a:spcBef>
              <a:spcAft>
                <a:spcPts val="1000"/>
              </a:spcAft>
              <a:buClr>
                <a:srgbClr val="1D7A8C"/>
              </a:buClr>
              <a:buSzPct val="80000"/>
              <a:buFont typeface="Arial"/>
              <a:buChar char="▪"/>
            </a:pPr>
            <a:r>
              <a:rPr sz="1800" b="0" i="0">
                <a:solidFill>
                  <a:srgbClr val="14213D"/>
                </a:solidFill>
                <a:latin typeface="Segoe UI"/>
              </a:rPr>
              <a:t>The water quality testing equipment produces accurate and consistent readings across all sampling sites.</a:t>
            </a:r>
          </a:p>
          <a:p>
            <a:pPr algn="l" marL="274638" indent="-274638">
              <a:lnSpc>
                <a:spcPct val="105000"/>
              </a:lnSpc>
              <a:spcBef>
                <a:spcPts val="0"/>
              </a:spcBef>
              <a:spcAft>
                <a:spcPts val="1000"/>
              </a:spcAft>
              <a:buClr>
                <a:srgbClr val="1D7A8C"/>
              </a:buClr>
              <a:buSzPct val="80000"/>
              <a:buFont typeface="Arial"/>
              <a:buChar char="▪"/>
            </a:pPr>
            <a:r>
              <a:rPr sz="1800" b="0" i="0">
                <a:solidFill>
                  <a:srgbClr val="14213D"/>
                </a:solidFill>
                <a:latin typeface="Segoe UI"/>
              </a:rPr>
              <a:t>The selected reef sites are representative of general reef conditions within the barangay's coastal zone.</a:t>
            </a:r>
          </a:p>
        </p:txBody>
      </p:sp>
      <p:sp>
        <p:nvSpPr>
          <p:cNvPr id="15" name="Rounded Rectangle 14"/>
          <p:cNvSpPr/>
          <p:nvPr/>
        </p:nvSpPr>
        <p:spPr>
          <a:xfrm>
            <a:off x="6324447" y="2194560"/>
            <a:ext cx="5090007" cy="32004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324447" y="2194560"/>
            <a:ext cx="5090007"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0479"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LIMITATIONS</a:t>
            </a:r>
          </a:p>
        </p:txBody>
      </p:sp>
      <p:sp>
        <p:nvSpPr>
          <p:cNvPr id="18" name="TextBox 17"/>
          <p:cNvSpPr txBox="1"/>
          <p:nvPr/>
        </p:nvSpPr>
        <p:spPr>
          <a:xfrm>
            <a:off x="6617055" y="2971800"/>
            <a:ext cx="4541367" cy="2286000"/>
          </a:xfrm>
          <a:prstGeom prst="rect">
            <a:avLst/>
          </a:prstGeom>
          <a:noFill/>
        </p:spPr>
        <p:txBody>
          <a:bodyPr wrap="square" anchor="t" lIns="0" rIns="0" tIns="0" bIns="0">
            <a:spAutoFit/>
          </a:bodyPr>
          <a:lstStyle/>
          <a:p>
            <a:pPr algn="l" marL="274638" indent="-274638">
              <a:lnSpc>
                <a:spcPct val="105000"/>
              </a:lnSpc>
              <a:spcBef>
                <a:spcPts val="0"/>
              </a:spcBef>
              <a:spcAft>
                <a:spcPts val="1000"/>
              </a:spcAft>
              <a:buClr>
                <a:srgbClr val="F4795B"/>
              </a:buClr>
              <a:buSzPct val="80000"/>
              <a:buFont typeface="Arial"/>
              <a:buChar char="▪"/>
            </a:pPr>
            <a:r>
              <a:rPr sz="1800" b="0" i="0">
                <a:solidFill>
                  <a:srgbClr val="14213D"/>
                </a:solidFill>
                <a:latin typeface="Segoe UI"/>
              </a:rPr>
              <a:t>Data collection was limited to a single dry-season sampling period and does not capture seasonal variation.</a:t>
            </a:r>
          </a:p>
          <a:p>
            <a:pPr algn="l" marL="274638" indent="-274638">
              <a:lnSpc>
                <a:spcPct val="105000"/>
              </a:lnSpc>
              <a:spcBef>
                <a:spcPts val="0"/>
              </a:spcBef>
              <a:spcAft>
                <a:spcPts val="1000"/>
              </a:spcAft>
              <a:buClr>
                <a:srgbClr val="F4795B"/>
              </a:buClr>
              <a:buSzPct val="80000"/>
              <a:buFont typeface="Arial"/>
              <a:buChar char="▪"/>
            </a:pPr>
            <a:r>
              <a:rPr sz="1800" b="0" i="0">
                <a:solidFill>
                  <a:srgbClr val="14213D"/>
                </a:solidFill>
                <a:latin typeface="Segoe UI"/>
              </a:rPr>
              <a:t>Only three reef sites in one barangay were covered; results cannot be generalized to the entire Davao Gulf coastline.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400" b="1" i="0">
                <a:solidFill>
                  <a:srgbClr val="14213D"/>
                </a:solidFill>
                <a:latin typeface="Segoe UI Semibold"/>
              </a:rPr>
              <a:t>Worked Example — Assumptions &amp; Limitations (Agriculture)</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58</a:t>
            </a:r>
          </a:p>
        </p:txBody>
      </p:sp>
      <p:sp>
        <p:nvSpPr>
          <p:cNvPr id="9" name="Rounded Rectangle 8"/>
          <p:cNvSpPr/>
          <p:nvPr/>
        </p:nvSpPr>
        <p:spPr>
          <a:xfrm>
            <a:off x="777240" y="1719072"/>
            <a:ext cx="2220163"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2037283"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Example</a:t>
            </a:r>
          </a:p>
        </p:txBody>
      </p:sp>
      <p:sp>
        <p:nvSpPr>
          <p:cNvPr id="11" name="Rounded Rectangle 10"/>
          <p:cNvSpPr/>
          <p:nvPr/>
        </p:nvSpPr>
        <p:spPr>
          <a:xfrm>
            <a:off x="777240" y="2194560"/>
            <a:ext cx="5090007" cy="32004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ASSUMPTIONS</a:t>
            </a:r>
          </a:p>
        </p:txBody>
      </p:sp>
      <p:sp>
        <p:nvSpPr>
          <p:cNvPr id="14" name="TextBox 13"/>
          <p:cNvSpPr txBox="1"/>
          <p:nvPr/>
        </p:nvSpPr>
        <p:spPr>
          <a:xfrm>
            <a:off x="1069848" y="2971800"/>
            <a:ext cx="4541367" cy="2286000"/>
          </a:xfrm>
          <a:prstGeom prst="rect">
            <a:avLst/>
          </a:prstGeom>
          <a:noFill/>
        </p:spPr>
        <p:txBody>
          <a:bodyPr wrap="square" anchor="t" lIns="0" rIns="0" tIns="0" bIns="0">
            <a:spAutoFit/>
          </a:bodyPr>
          <a:lstStyle/>
          <a:p>
            <a:pPr algn="l" marL="274638" indent="-274638">
              <a:lnSpc>
                <a:spcPct val="105000"/>
              </a:lnSpc>
              <a:spcBef>
                <a:spcPts val="0"/>
              </a:spcBef>
              <a:spcAft>
                <a:spcPts val="1000"/>
              </a:spcAft>
              <a:buClr>
                <a:srgbClr val="1D7A8C"/>
              </a:buClr>
              <a:buSzPct val="80000"/>
              <a:buFont typeface="Arial"/>
              <a:buChar char="▪"/>
            </a:pPr>
            <a:r>
              <a:rPr sz="1800" b="0" i="0">
                <a:solidFill>
                  <a:srgbClr val="14213D"/>
                </a:solidFill>
                <a:latin typeface="Segoe UI"/>
              </a:rPr>
              <a:t>All experimental and control plots received equal sunlight and watering except for the fertilizer treatment being tested.</a:t>
            </a:r>
          </a:p>
          <a:p>
            <a:pPr algn="l" marL="274638" indent="-274638">
              <a:lnSpc>
                <a:spcPct val="105000"/>
              </a:lnSpc>
              <a:spcBef>
                <a:spcPts val="0"/>
              </a:spcBef>
              <a:spcAft>
                <a:spcPts val="1000"/>
              </a:spcAft>
              <a:buClr>
                <a:srgbClr val="1D7A8C"/>
              </a:buClr>
              <a:buSzPct val="80000"/>
              <a:buFont typeface="Arial"/>
              <a:buChar char="▪"/>
            </a:pPr>
            <a:r>
              <a:rPr sz="1800" b="0" i="0">
                <a:solidFill>
                  <a:srgbClr val="14213D"/>
                </a:solidFill>
                <a:latin typeface="Segoe UI"/>
              </a:rPr>
              <a:t>Respondent-farmers reported their historical yield data accurately.</a:t>
            </a:r>
          </a:p>
        </p:txBody>
      </p:sp>
      <p:sp>
        <p:nvSpPr>
          <p:cNvPr id="15" name="Rounded Rectangle 14"/>
          <p:cNvSpPr/>
          <p:nvPr/>
        </p:nvSpPr>
        <p:spPr>
          <a:xfrm>
            <a:off x="6324447" y="2194560"/>
            <a:ext cx="5090007" cy="320040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324447" y="2194560"/>
            <a:ext cx="5090007"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0479"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800" b="1" i="0">
                <a:solidFill>
                  <a:srgbClr val="FFFFFF"/>
                </a:solidFill>
                <a:latin typeface="Segoe UI Semibold"/>
              </a:rPr>
              <a:t>LIMITATIONS</a:t>
            </a:r>
          </a:p>
        </p:txBody>
      </p:sp>
      <p:sp>
        <p:nvSpPr>
          <p:cNvPr id="18" name="TextBox 17"/>
          <p:cNvSpPr txBox="1"/>
          <p:nvPr/>
        </p:nvSpPr>
        <p:spPr>
          <a:xfrm>
            <a:off x="6617055" y="2971800"/>
            <a:ext cx="4541367" cy="2286000"/>
          </a:xfrm>
          <a:prstGeom prst="rect">
            <a:avLst/>
          </a:prstGeom>
          <a:noFill/>
        </p:spPr>
        <p:txBody>
          <a:bodyPr wrap="square" anchor="t" lIns="0" rIns="0" tIns="0" bIns="0">
            <a:spAutoFit/>
          </a:bodyPr>
          <a:lstStyle/>
          <a:p>
            <a:pPr algn="l" marL="274638" indent="-274638">
              <a:lnSpc>
                <a:spcPct val="105000"/>
              </a:lnSpc>
              <a:spcBef>
                <a:spcPts val="0"/>
              </a:spcBef>
              <a:spcAft>
                <a:spcPts val="1000"/>
              </a:spcAft>
              <a:buClr>
                <a:srgbClr val="F4795B"/>
              </a:buClr>
              <a:buSzPct val="80000"/>
              <a:buFont typeface="Arial"/>
              <a:buChar char="▪"/>
            </a:pPr>
            <a:r>
              <a:rPr sz="1800" b="0" i="0">
                <a:solidFill>
                  <a:srgbClr val="14213D"/>
                </a:solidFill>
                <a:latin typeface="Segoe UI"/>
              </a:rPr>
              <a:t>The study was conducted on a single farm, so results may not apply to farms with different soil or climate.</a:t>
            </a:r>
          </a:p>
          <a:p>
            <a:pPr algn="l" marL="274638" indent="-274638">
              <a:lnSpc>
                <a:spcPct val="105000"/>
              </a:lnSpc>
              <a:spcBef>
                <a:spcPts val="0"/>
              </a:spcBef>
              <a:spcAft>
                <a:spcPts val="1000"/>
              </a:spcAft>
              <a:buClr>
                <a:srgbClr val="F4795B"/>
              </a:buClr>
              <a:buSzPct val="80000"/>
              <a:buFont typeface="Arial"/>
              <a:buChar char="▪"/>
            </a:pPr>
            <a:r>
              <a:rPr sz="1800" b="0" i="0">
                <a:solidFill>
                  <a:srgbClr val="14213D"/>
                </a:solidFill>
                <a:latin typeface="Segoe UI"/>
              </a:rPr>
              <a:t>The experiment ran for only one growing cycle, and results may vary across seasons or years.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3000" b="1" i="0">
                <a:solidFill>
                  <a:srgbClr val="14213D"/>
                </a:solidFill>
                <a:latin typeface="Segoe UI Semibold"/>
              </a:rPr>
              <a:t>Application — Draft Your Own</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59</a:t>
            </a:r>
          </a:p>
        </p:txBody>
      </p:sp>
      <p:sp>
        <p:nvSpPr>
          <p:cNvPr id="9" name="Rounded Rectangle 8"/>
          <p:cNvSpPr/>
          <p:nvPr/>
        </p:nvSpPr>
        <p:spPr>
          <a:xfrm>
            <a:off x="777240" y="1719072"/>
            <a:ext cx="4070908" cy="310896"/>
          </a:xfrm>
          <a:prstGeom prst="roundRect">
            <a:avLst>
              <a:gd name="adj" fmla="val 50000"/>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41832" y="1719072"/>
            <a:ext cx="3888028" cy="310896"/>
          </a:xfrm>
          <a:prstGeom prst="rect">
            <a:avLst/>
          </a:prstGeom>
          <a:noFill/>
        </p:spPr>
        <p:txBody>
          <a:bodyPr wrap="square" anchor="ctr" lIns="0" rIns="0" tIns="0" bIns="0">
            <a:spAutoFit/>
          </a:bodyPr>
          <a:lstStyle/>
          <a:p>
            <a:pPr algn="l">
              <a:lnSpc>
                <a:spcPct val="105000"/>
              </a:lnSpc>
              <a:spcBef>
                <a:spcPts val="0"/>
              </a:spcBef>
              <a:spcAft>
                <a:spcPts val="0"/>
              </a:spcAft>
            </a:pPr>
            <a:r>
              <a:rPr sz="1150" b="1" i="0">
                <a:solidFill>
                  <a:srgbClr val="115968"/>
                </a:solidFill>
                <a:latin typeface="Segoe UI Semibold"/>
              </a:rPr>
              <a:t>Instructor-Created Practice Activity · 10 minutes</a:t>
            </a:r>
          </a:p>
        </p:txBody>
      </p:sp>
      <p:sp>
        <p:nvSpPr>
          <p:cNvPr id="11" name="Rounded Rectangle 10"/>
          <p:cNvSpPr/>
          <p:nvPr/>
        </p:nvSpPr>
        <p:spPr>
          <a:xfrm>
            <a:off x="777240" y="2194560"/>
            <a:ext cx="5090007" cy="21945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777240" y="2194560"/>
            <a:ext cx="5090007" cy="566928"/>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1"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Write 2 ASSUMPTIONS</a:t>
            </a:r>
          </a:p>
        </p:txBody>
      </p:sp>
      <p:sp>
        <p:nvSpPr>
          <p:cNvPr id="14" name="TextBox 13"/>
          <p:cNvSpPr txBox="1"/>
          <p:nvPr/>
        </p:nvSpPr>
        <p:spPr>
          <a:xfrm>
            <a:off x="1051560" y="2788920"/>
            <a:ext cx="4541367" cy="457200"/>
          </a:xfrm>
          <a:prstGeom prst="rect">
            <a:avLst/>
          </a:prstGeom>
          <a:noFill/>
        </p:spPr>
        <p:txBody>
          <a:bodyPr wrap="square" anchor="t" lIns="0" rIns="0" tIns="0" bIns="0">
            <a:spAutoFit/>
          </a:bodyPr>
          <a:lstStyle/>
          <a:p>
            <a:pPr algn="l">
              <a:lnSpc>
                <a:spcPct val="100000"/>
              </a:lnSpc>
              <a:spcBef>
                <a:spcPts val="0"/>
              </a:spcBef>
              <a:spcAft>
                <a:spcPts val="0"/>
              </a:spcAft>
            </a:pPr>
            <a:r>
              <a:rPr sz="1400" b="0" i="1">
                <a:solidFill>
                  <a:srgbClr val="5B6B7B"/>
                </a:solidFill>
                <a:latin typeface="Segoe UI"/>
              </a:rPr>
              <a:t>what are you trusting to be true without testing it?</a:t>
            </a:r>
          </a:p>
        </p:txBody>
      </p:sp>
      <p:sp>
        <p:nvSpPr>
          <p:cNvPr id="15" name="Rounded Rectangle 14"/>
          <p:cNvSpPr/>
          <p:nvPr/>
        </p:nvSpPr>
        <p:spPr>
          <a:xfrm>
            <a:off x="1097280" y="3337560"/>
            <a:ext cx="4449927"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1097280" y="3794760"/>
            <a:ext cx="4449927"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324447" y="2194560"/>
            <a:ext cx="5090007" cy="21945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324447" y="2194560"/>
            <a:ext cx="5090007" cy="566928"/>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80479" y="2194560"/>
            <a:ext cx="4651095" cy="566928"/>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Write 2 LIMITATIONS</a:t>
            </a:r>
          </a:p>
        </p:txBody>
      </p:sp>
      <p:sp>
        <p:nvSpPr>
          <p:cNvPr id="20" name="TextBox 19"/>
          <p:cNvSpPr txBox="1"/>
          <p:nvPr/>
        </p:nvSpPr>
        <p:spPr>
          <a:xfrm>
            <a:off x="6598767" y="2788920"/>
            <a:ext cx="4541367" cy="457200"/>
          </a:xfrm>
          <a:prstGeom prst="rect">
            <a:avLst/>
          </a:prstGeom>
          <a:noFill/>
        </p:spPr>
        <p:txBody>
          <a:bodyPr wrap="square" anchor="t" lIns="0" rIns="0" tIns="0" bIns="0">
            <a:spAutoFit/>
          </a:bodyPr>
          <a:lstStyle/>
          <a:p>
            <a:pPr algn="l">
              <a:lnSpc>
                <a:spcPct val="100000"/>
              </a:lnSpc>
              <a:spcBef>
                <a:spcPts val="0"/>
              </a:spcBef>
              <a:spcAft>
                <a:spcPts val="0"/>
              </a:spcAft>
            </a:pPr>
            <a:r>
              <a:rPr sz="1400" b="0" i="1">
                <a:solidFill>
                  <a:srgbClr val="5B6B7B"/>
                </a:solidFill>
                <a:latin typeface="Segoe UI"/>
              </a:rPr>
              <a:t>what constraints (time, sample, scope, instruments, events) affect the study?</a:t>
            </a:r>
          </a:p>
        </p:txBody>
      </p:sp>
      <p:sp>
        <p:nvSpPr>
          <p:cNvPr id="21" name="Rounded Rectangle 20"/>
          <p:cNvSpPr/>
          <p:nvPr/>
        </p:nvSpPr>
        <p:spPr>
          <a:xfrm>
            <a:off x="6644487" y="3337560"/>
            <a:ext cx="4449927"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644487" y="3794760"/>
            <a:ext cx="4449927" cy="41148"/>
          </a:xfrm>
          <a:prstGeom prst="roundRect">
            <a:avLst>
              <a:gd name="adj" fmla="val 50000"/>
            </a:avLst>
          </a:prstGeom>
          <a:solidFill>
            <a:srgbClr val="D8E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777240" y="4617720"/>
            <a:ext cx="10637215" cy="566928"/>
          </a:xfrm>
          <a:prstGeom prst="roundRect">
            <a:avLst>
              <a:gd name="adj" fmla="val 12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960120" y="4718304"/>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500" b="1" i="0">
                <a:solidFill>
                  <a:srgbClr val="F2B705"/>
                </a:solidFill>
                <a:latin typeface="Segoe UI"/>
              </a:rPr>
              <a:t>✎</a:t>
            </a:r>
          </a:p>
        </p:txBody>
      </p:sp>
      <p:sp>
        <p:nvSpPr>
          <p:cNvPr id="25" name="TextBox 24"/>
          <p:cNvSpPr txBox="1"/>
          <p:nvPr/>
        </p:nvSpPr>
        <p:spPr>
          <a:xfrm>
            <a:off x="1490472" y="4617720"/>
            <a:ext cx="9722815" cy="566928"/>
          </a:xfrm>
          <a:prstGeom prst="rect">
            <a:avLst/>
          </a:prstGeom>
          <a:noFill/>
        </p:spPr>
        <p:txBody>
          <a:bodyPr wrap="square" anchor="ctr" lIns="0" rIns="0" tIns="0" bIns="0">
            <a:spAutoFit/>
          </a:bodyPr>
          <a:lstStyle/>
          <a:p>
            <a:pPr algn="l">
              <a:lnSpc>
                <a:spcPct val="100000"/>
              </a:lnSpc>
              <a:spcBef>
                <a:spcPts val="0"/>
              </a:spcBef>
              <a:spcAft>
                <a:spcPts val="0"/>
              </a:spcAft>
            </a:pPr>
            <a:r>
              <a:rPr sz="1700" b="1" i="0">
                <a:solidFill>
                  <a:srgbClr val="14213D"/>
                </a:solidFill>
                <a:latin typeface="Segoe UI Semibold"/>
              </a:rPr>
              <a:t>Trade with a partner: can they tell your assumptions from your limitations without help?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700" b="1" i="0">
                <a:solidFill>
                  <a:srgbClr val="14213D"/>
                </a:solidFill>
                <a:latin typeface="Segoe UI Semibold"/>
              </a:rPr>
              <a:t>Looking Ahead — Limitations Shape Your Method</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60</a:t>
            </a:r>
          </a:p>
        </p:txBody>
      </p:sp>
      <p:sp>
        <p:nvSpPr>
          <p:cNvPr id="9" name="TextBox 8"/>
          <p:cNvSpPr txBox="1"/>
          <p:nvPr/>
        </p:nvSpPr>
        <p:spPr>
          <a:xfrm>
            <a:off x="822960" y="2240280"/>
            <a:ext cx="10454335" cy="4389120"/>
          </a:xfrm>
          <a:prstGeom prst="rect">
            <a:avLst/>
          </a:prstGeom>
          <a:noFill/>
        </p:spPr>
        <p:txBody>
          <a:bodyPr wrap="square" anchor="t" lIns="0" rIns="0" tIns="0" bIns="0">
            <a:spAutoFit/>
          </a:bodyPr>
          <a:lstStyle/>
          <a:p>
            <a:pPr algn="l" marL="274638" indent="-274638">
              <a:lnSpc>
                <a:spcPct val="105000"/>
              </a:lnSpc>
              <a:spcBef>
                <a:spcPts val="0"/>
              </a:spcBef>
              <a:spcAft>
                <a:spcPts val="1600"/>
              </a:spcAft>
              <a:buClr>
                <a:srgbClr val="1D7A8C"/>
              </a:buClr>
              <a:buSzPct val="80000"/>
              <a:buFont typeface="Arial"/>
              <a:buChar char="▪"/>
            </a:pPr>
            <a:r>
              <a:rPr sz="2400" b="0" i="0">
                <a:solidFill>
                  <a:srgbClr val="14213D"/>
                </a:solidFill>
                <a:latin typeface="Segoe UI"/>
              </a:rPr>
              <a:t>Some limitations you just wrote — sample size, timing, instrument choice — are </a:t>
            </a:r>
            <a:r>
              <a:rPr sz="2400" b="1" i="0">
                <a:solidFill>
                  <a:srgbClr val="F4795B"/>
                </a:solidFill>
                <a:latin typeface="Segoe UI"/>
              </a:rPr>
              <a:t>not fixed</a:t>
            </a:r>
            <a:r>
              <a:rPr sz="2400" b="0" i="0">
                <a:solidFill>
                  <a:srgbClr val="14213D"/>
                </a:solidFill>
                <a:latin typeface="Segoe UI"/>
              </a:rPr>
              <a:t>. They will directly shape the </a:t>
            </a:r>
            <a:r>
              <a:rPr sz="2400" b="1" i="0">
                <a:solidFill>
                  <a:srgbClr val="1D7A8C"/>
                </a:solidFill>
                <a:latin typeface="Segoe UI"/>
              </a:rPr>
              <a:t>methodology decisions</a:t>
            </a:r>
            <a:r>
              <a:rPr sz="2400" b="0" i="0">
                <a:solidFill>
                  <a:srgbClr val="14213D"/>
                </a:solidFill>
                <a:latin typeface="Segoe UI"/>
              </a:rPr>
              <a:t> you make next: how you sample, what instruments you choose, and how you schedule data collection.</a:t>
            </a:r>
          </a:p>
          <a:p>
            <a:pPr algn="l" marL="274638" indent="-274638">
              <a:lnSpc>
                <a:spcPct val="105000"/>
              </a:lnSpc>
              <a:spcBef>
                <a:spcPts val="0"/>
              </a:spcBef>
              <a:spcAft>
                <a:spcPts val="1600"/>
              </a:spcAft>
              <a:buClr>
                <a:srgbClr val="1D7A8C"/>
              </a:buClr>
              <a:buSzPct val="80000"/>
              <a:buFont typeface="Arial"/>
              <a:buChar char="▪"/>
            </a:pPr>
            <a:r>
              <a:rPr sz="2400" b="0" i="0">
                <a:solidFill>
                  <a:srgbClr val="14213D"/>
                </a:solidFill>
                <a:latin typeface="Segoe UI"/>
              </a:rPr>
              <a:t>Naming a limitation today is often the first step toward </a:t>
            </a:r>
            <a:r>
              <a:rPr sz="2400" b="1" i="0">
                <a:solidFill>
                  <a:srgbClr val="2A9D8F"/>
                </a:solidFill>
                <a:latin typeface="Segoe UI"/>
              </a:rPr>
              <a:t>designing around it</a:t>
            </a:r>
            <a:r>
              <a:rPr sz="2400" b="0" i="0">
                <a:solidFill>
                  <a:srgbClr val="14213D"/>
                </a:solidFill>
                <a:latin typeface="Segoe UI"/>
              </a:rPr>
              <a:t> tomorrow.</a:t>
            </a:r>
          </a:p>
        </p:txBody>
      </p:sp>
      <p:sp>
        <p:nvSpPr>
          <p:cNvPr id="10" name="Rounded Rectangle 9"/>
          <p:cNvSpPr/>
          <p:nvPr/>
        </p:nvSpPr>
        <p:spPr>
          <a:xfrm>
            <a:off x="777240" y="4572000"/>
            <a:ext cx="10637215" cy="914400"/>
          </a:xfrm>
          <a:prstGeom prst="roundRect">
            <a:avLst>
              <a:gd name="adj" fmla="val 10000"/>
            </a:avLst>
          </a:prstGeom>
          <a:solidFill>
            <a:srgbClr val="14213D"/>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4572000"/>
            <a:ext cx="9997135" cy="914400"/>
          </a:xfrm>
          <a:prstGeom prst="rect">
            <a:avLst/>
          </a:prstGeom>
          <a:noFill/>
        </p:spPr>
        <p:txBody>
          <a:bodyPr wrap="square" anchor="ctr" lIns="0" rIns="0" tIns="0" bIns="0">
            <a:spAutoFit/>
          </a:bodyPr>
          <a:lstStyle/>
          <a:p>
            <a:pPr algn="l">
              <a:lnSpc>
                <a:spcPct val="105000"/>
              </a:lnSpc>
              <a:spcBef>
                <a:spcPts val="0"/>
              </a:spcBef>
              <a:spcAft>
                <a:spcPts val="0"/>
              </a:spcAft>
            </a:pPr>
            <a:r>
              <a:rPr sz="1600" b="1" i="0">
                <a:solidFill>
                  <a:srgbClr val="FFFFFF"/>
                </a:solidFill>
                <a:latin typeface="Segoe UI"/>
              </a:rPr>
              <a:t>Research Questions &amp; Hypotheses  +  CER Justification  +  Assumptions &amp; Limitations  </a:t>
            </a:r>
            <a:r>
              <a:rPr sz="1600" b="1" i="0">
                <a:solidFill>
                  <a:srgbClr val="F2B705"/>
                </a:solidFill>
                <a:latin typeface="Segoe UI"/>
              </a:rPr>
              <a:t>=  the complete Chapter 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F6F9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502920" y="566928"/>
            <a:ext cx="128016" cy="822960"/>
          </a:xfrm>
          <a:prstGeom prst="roundRect">
            <a:avLst>
              <a:gd name="adj" fmla="val 50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77240" y="502920"/>
            <a:ext cx="10607040" cy="292608"/>
          </a:xfrm>
          <a:prstGeom prst="rect">
            <a:avLst/>
          </a:prstGeom>
          <a:noFill/>
        </p:spPr>
        <p:txBody>
          <a:bodyPr wrap="square" anchor="t" lIns="0" rIns="0" tIns="0" bIns="0">
            <a:spAutoFit/>
          </a:bodyPr>
          <a:lstStyle/>
          <a:p>
            <a:pPr algn="l">
              <a:lnSpc>
                <a:spcPct val="105000"/>
              </a:lnSpc>
              <a:spcBef>
                <a:spcPts val="0"/>
              </a:spcBef>
              <a:spcAft>
                <a:spcPts val="0"/>
              </a:spcAft>
            </a:pPr>
            <a:r>
              <a:rPr sz="1250" b="1" i="0">
                <a:solidFill>
                  <a:srgbClr val="1D7A8C"/>
                </a:solidFill>
                <a:latin typeface="Segoe UI Semibold"/>
              </a:rPr>
              <a:t>SECTION 8 · ASSUMPTIONS &amp; LIMITATIONS (COMPETENCY 16)</a:t>
            </a:r>
          </a:p>
        </p:txBody>
      </p:sp>
      <p:sp>
        <p:nvSpPr>
          <p:cNvPr id="5" name="TextBox 4"/>
          <p:cNvSpPr txBox="1"/>
          <p:nvPr/>
        </p:nvSpPr>
        <p:spPr>
          <a:xfrm>
            <a:off x="749808" y="777240"/>
            <a:ext cx="10698480" cy="822960"/>
          </a:xfrm>
          <a:prstGeom prst="rect">
            <a:avLst/>
          </a:prstGeom>
          <a:noFill/>
        </p:spPr>
        <p:txBody>
          <a:bodyPr wrap="square" anchor="t" lIns="0" rIns="0" tIns="0" bIns="0">
            <a:spAutoFit/>
          </a:bodyPr>
          <a:lstStyle/>
          <a:p>
            <a:pPr algn="l">
              <a:lnSpc>
                <a:spcPct val="100000"/>
              </a:lnSpc>
              <a:spcBef>
                <a:spcPts val="0"/>
              </a:spcBef>
              <a:spcAft>
                <a:spcPts val="0"/>
              </a:spcAft>
            </a:pPr>
            <a:r>
              <a:rPr sz="2900" b="1" i="0">
                <a:solidFill>
                  <a:srgbClr val="14213D"/>
                </a:solidFill>
                <a:latin typeface="Segoe UI Semibold"/>
              </a:rPr>
              <a:t>Recap — Today's Three Competencies</a:t>
            </a:r>
          </a:p>
        </p:txBody>
      </p:sp>
      <p:sp>
        <p:nvSpPr>
          <p:cNvPr id="6" name="Rounded Rectangle 5"/>
          <p:cNvSpPr/>
          <p:nvPr/>
        </p:nvSpPr>
        <p:spPr>
          <a:xfrm>
            <a:off x="777240" y="1481328"/>
            <a:ext cx="685800" cy="64008"/>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8" name="Oval 7"/>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61</a:t>
            </a:r>
          </a:p>
        </p:txBody>
      </p:sp>
      <p:sp>
        <p:nvSpPr>
          <p:cNvPr id="9" name="Rounded Rectangle 8"/>
          <p:cNvSpPr/>
          <p:nvPr/>
        </p:nvSpPr>
        <p:spPr>
          <a:xfrm>
            <a:off x="777240" y="1965960"/>
            <a:ext cx="3301898" cy="28803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777240" y="1965960"/>
            <a:ext cx="3301898" cy="548640"/>
          </a:xfrm>
          <a:prstGeom prst="roundRect">
            <a:avLst>
              <a:gd name="adj" fmla="val 12000"/>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33271" y="1965960"/>
            <a:ext cx="2862986" cy="548640"/>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Competency 14</a:t>
            </a:r>
          </a:p>
        </p:txBody>
      </p:sp>
      <p:sp>
        <p:nvSpPr>
          <p:cNvPr id="12" name="TextBox 11"/>
          <p:cNvSpPr txBox="1"/>
          <p:nvPr/>
        </p:nvSpPr>
        <p:spPr>
          <a:xfrm>
            <a:off x="1033271" y="2651760"/>
            <a:ext cx="2789834"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4213D"/>
                </a:solidFill>
                <a:latin typeface="Segoe UI Semibold"/>
              </a:rPr>
              <a:t>Research Questions &amp; Hypotheses</a:t>
            </a:r>
          </a:p>
        </p:txBody>
      </p:sp>
      <p:sp>
        <p:nvSpPr>
          <p:cNvPr id="13" name="TextBox 12"/>
          <p:cNvSpPr txBox="1"/>
          <p:nvPr/>
        </p:nvSpPr>
        <p:spPr>
          <a:xfrm>
            <a:off x="1033271" y="3337560"/>
            <a:ext cx="2789834" cy="1463040"/>
          </a:xfrm>
          <a:prstGeom prst="rect">
            <a:avLst/>
          </a:prstGeom>
          <a:noFill/>
        </p:spPr>
        <p:txBody>
          <a:bodyPr wrap="square" anchor="t" lIns="0" rIns="0" tIns="0" bIns="0">
            <a:spAutoFit/>
          </a:bodyPr>
          <a:lstStyle/>
          <a:p>
            <a:pPr algn="l">
              <a:lnSpc>
                <a:spcPct val="112000"/>
              </a:lnSpc>
              <a:spcBef>
                <a:spcPts val="0"/>
              </a:spcBef>
              <a:spcAft>
                <a:spcPts val="0"/>
              </a:spcAft>
            </a:pPr>
            <a:r>
              <a:rPr sz="1550" b="0" i="0">
                <a:solidFill>
                  <a:srgbClr val="5B6B7B"/>
                </a:solidFill>
                <a:latin typeface="Segoe UI"/>
              </a:rPr>
              <a:t>Narrow the problem into clear, focused, answerable questions; write directional hypotheses when quantitative</a:t>
            </a:r>
          </a:p>
        </p:txBody>
      </p:sp>
      <p:sp>
        <p:nvSpPr>
          <p:cNvPr id="14" name="Rounded Rectangle 13"/>
          <p:cNvSpPr/>
          <p:nvPr/>
        </p:nvSpPr>
        <p:spPr>
          <a:xfrm>
            <a:off x="4444898" y="1965960"/>
            <a:ext cx="3301898" cy="28803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4444898" y="1965960"/>
            <a:ext cx="3301898" cy="548640"/>
          </a:xfrm>
          <a:prstGeom prst="roundRect">
            <a:avLst>
              <a:gd name="adj" fmla="val 12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700930" y="1965960"/>
            <a:ext cx="2862986" cy="548640"/>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Competency 15</a:t>
            </a:r>
          </a:p>
        </p:txBody>
      </p:sp>
      <p:sp>
        <p:nvSpPr>
          <p:cNvPr id="17" name="TextBox 16"/>
          <p:cNvSpPr txBox="1"/>
          <p:nvPr/>
        </p:nvSpPr>
        <p:spPr>
          <a:xfrm>
            <a:off x="4700930" y="2651760"/>
            <a:ext cx="2789834"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4213D"/>
                </a:solidFill>
                <a:latin typeface="Segoe UI Semibold"/>
              </a:rPr>
              <a:t>CER Justification</a:t>
            </a:r>
          </a:p>
        </p:txBody>
      </p:sp>
      <p:sp>
        <p:nvSpPr>
          <p:cNvPr id="18" name="TextBox 17"/>
          <p:cNvSpPr txBox="1"/>
          <p:nvPr/>
        </p:nvSpPr>
        <p:spPr>
          <a:xfrm>
            <a:off x="4700930" y="3337560"/>
            <a:ext cx="2789834" cy="1463040"/>
          </a:xfrm>
          <a:prstGeom prst="rect">
            <a:avLst/>
          </a:prstGeom>
          <a:noFill/>
        </p:spPr>
        <p:txBody>
          <a:bodyPr wrap="square" anchor="t" lIns="0" rIns="0" tIns="0" bIns="0">
            <a:spAutoFit/>
          </a:bodyPr>
          <a:lstStyle/>
          <a:p>
            <a:pPr algn="l">
              <a:lnSpc>
                <a:spcPct val="112000"/>
              </a:lnSpc>
              <a:spcBef>
                <a:spcPts val="0"/>
              </a:spcBef>
              <a:spcAft>
                <a:spcPts val="0"/>
              </a:spcAft>
            </a:pPr>
            <a:r>
              <a:rPr sz="1550" b="0" i="0">
                <a:solidFill>
                  <a:srgbClr val="5B6B7B"/>
                </a:solidFill>
                <a:latin typeface="Segoe UI"/>
              </a:rPr>
              <a:t>Build a Claim–Evidence–Reasoning argument for why the problem matters</a:t>
            </a:r>
          </a:p>
        </p:txBody>
      </p:sp>
      <p:sp>
        <p:nvSpPr>
          <p:cNvPr id="19" name="Rounded Rectangle 18"/>
          <p:cNvSpPr/>
          <p:nvPr/>
        </p:nvSpPr>
        <p:spPr>
          <a:xfrm>
            <a:off x="8112556" y="1965960"/>
            <a:ext cx="3301898" cy="2880360"/>
          </a:xfrm>
          <a:prstGeom prst="roundRect">
            <a:avLst>
              <a:gd name="adj" fmla="val 6000"/>
            </a:avLst>
          </a:prstGeom>
          <a:solidFill>
            <a:srgbClr val="FFFFFF"/>
          </a:solidFill>
          <a:ln w="12700">
            <a:solidFill>
              <a:srgbClr val="D8E1E8"/>
            </a:solid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8112556" y="1965960"/>
            <a:ext cx="3301898" cy="548640"/>
          </a:xfrm>
          <a:prstGeom prst="roundRect">
            <a:avLst>
              <a:gd name="adj" fmla="val 12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368588" y="1965960"/>
            <a:ext cx="2862986" cy="548640"/>
          </a:xfrm>
          <a:prstGeom prst="rect">
            <a:avLst/>
          </a:prstGeom>
          <a:noFill/>
        </p:spPr>
        <p:txBody>
          <a:bodyPr wrap="square" anchor="ctr" lIns="0" rIns="0" tIns="0" bIns="0">
            <a:spAutoFit/>
          </a:bodyPr>
          <a:lstStyle/>
          <a:p>
            <a:pPr algn="l">
              <a:lnSpc>
                <a:spcPct val="105000"/>
              </a:lnSpc>
              <a:spcBef>
                <a:spcPts val="0"/>
              </a:spcBef>
              <a:spcAft>
                <a:spcPts val="0"/>
              </a:spcAft>
            </a:pPr>
            <a:r>
              <a:rPr sz="1700" b="1" i="0">
                <a:solidFill>
                  <a:srgbClr val="FFFFFF"/>
                </a:solidFill>
                <a:latin typeface="Segoe UI Semibold"/>
              </a:rPr>
              <a:t>Competency 16</a:t>
            </a:r>
          </a:p>
        </p:txBody>
      </p:sp>
      <p:sp>
        <p:nvSpPr>
          <p:cNvPr id="22" name="TextBox 21"/>
          <p:cNvSpPr txBox="1"/>
          <p:nvPr/>
        </p:nvSpPr>
        <p:spPr>
          <a:xfrm>
            <a:off x="8368588" y="2651760"/>
            <a:ext cx="2789834" cy="640080"/>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4213D"/>
                </a:solidFill>
                <a:latin typeface="Segoe UI Semibold"/>
              </a:rPr>
              <a:t>Assumptions &amp; Limitations</a:t>
            </a:r>
          </a:p>
        </p:txBody>
      </p:sp>
      <p:sp>
        <p:nvSpPr>
          <p:cNvPr id="23" name="TextBox 22"/>
          <p:cNvSpPr txBox="1"/>
          <p:nvPr/>
        </p:nvSpPr>
        <p:spPr>
          <a:xfrm>
            <a:off x="8368588" y="3337560"/>
            <a:ext cx="2789834" cy="1463040"/>
          </a:xfrm>
          <a:prstGeom prst="rect">
            <a:avLst/>
          </a:prstGeom>
          <a:noFill/>
        </p:spPr>
        <p:txBody>
          <a:bodyPr wrap="square" anchor="t" lIns="0" rIns="0" tIns="0" bIns="0">
            <a:spAutoFit/>
          </a:bodyPr>
          <a:lstStyle/>
          <a:p>
            <a:pPr algn="l">
              <a:lnSpc>
                <a:spcPct val="112000"/>
              </a:lnSpc>
              <a:spcBef>
                <a:spcPts val="0"/>
              </a:spcBef>
              <a:spcAft>
                <a:spcPts val="0"/>
              </a:spcAft>
            </a:pPr>
            <a:r>
              <a:rPr sz="1550" b="0" i="0">
                <a:solidFill>
                  <a:srgbClr val="5B6B7B"/>
                </a:solidFill>
                <a:latin typeface="Segoe UI"/>
              </a:rPr>
              <a:t>Name what you take as true (assumptions) and what constrains your study (limitations)</a:t>
            </a:r>
          </a:p>
        </p:txBody>
      </p:sp>
      <p:sp>
        <p:nvSpPr>
          <p:cNvPr id="24" name="Rounded Rectangle 23"/>
          <p:cNvSpPr/>
          <p:nvPr/>
        </p:nvSpPr>
        <p:spPr>
          <a:xfrm>
            <a:off x="777240" y="5029200"/>
            <a:ext cx="10637215" cy="566928"/>
          </a:xfrm>
          <a:prstGeom prst="roundRect">
            <a:avLst>
              <a:gd name="adj" fmla="val 1000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97280" y="5029200"/>
            <a:ext cx="9997135" cy="566928"/>
          </a:xfrm>
          <a:prstGeom prst="rect">
            <a:avLst/>
          </a:prstGeom>
          <a:noFill/>
        </p:spPr>
        <p:txBody>
          <a:bodyPr wrap="square" anchor="ctr" lIns="0" rIns="0" tIns="0" bIns="0">
            <a:spAutoFit/>
          </a:bodyPr>
          <a:lstStyle/>
          <a:p>
            <a:pPr algn="l">
              <a:lnSpc>
                <a:spcPct val="105000"/>
              </a:lnSpc>
              <a:spcBef>
                <a:spcPts val="0"/>
              </a:spcBef>
              <a:spcAft>
                <a:spcPts val="0"/>
              </a:spcAft>
            </a:pPr>
            <a:r>
              <a:rPr sz="1600" b="0" i="0">
                <a:solidFill>
                  <a:srgbClr val="FFFFFF"/>
                </a:solidFill>
                <a:latin typeface="Segoe UI"/>
              </a:rPr>
              <a:t>Together, these three skills complete the </a:t>
            </a:r>
            <a:r>
              <a:rPr sz="1600" b="1" i="0">
                <a:solidFill>
                  <a:srgbClr val="F2B705"/>
                </a:solidFill>
                <a:latin typeface="Segoe UI"/>
              </a:rPr>
              <a:t>argumentative backbone of Chapter 1</a:t>
            </a:r>
            <a:r>
              <a:rPr sz="1600" b="0" i="0">
                <a:solidFill>
                  <a:srgbClr val="FFFFFF"/>
                </a:solidFill>
                <a:latin typeface="Segoe UI"/>
              </a:rPr>
              <a:t> — and the core of what you will defend.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374575" cy="704088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Oval 2"/>
          <p:cNvSpPr/>
          <p:nvPr/>
        </p:nvSpPr>
        <p:spPr>
          <a:xfrm>
            <a:off x="-1371600" y="-1371600"/>
            <a:ext cx="4114800" cy="4114800"/>
          </a:xfrm>
          <a:prstGeom prst="ellipse">
            <a:avLst/>
          </a:prstGeom>
          <a:solidFill>
            <a:srgbClr val="2434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777240" y="548640"/>
            <a:ext cx="128016" cy="822960"/>
          </a:xfrm>
          <a:prstGeom prst="roundRect">
            <a:avLst>
              <a:gd name="adj" fmla="val 50000"/>
            </a:avLst>
          </a:prstGeom>
          <a:solidFill>
            <a:srgbClr val="F47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051560" y="502920"/>
            <a:ext cx="10058400" cy="320040"/>
          </a:xfrm>
          <a:prstGeom prst="rect">
            <a:avLst/>
          </a:prstGeom>
          <a:noFill/>
        </p:spPr>
        <p:txBody>
          <a:bodyPr wrap="square" anchor="t" lIns="0" rIns="0" tIns="0" bIns="0">
            <a:spAutoFit/>
          </a:bodyPr>
          <a:lstStyle/>
          <a:p>
            <a:pPr algn="l">
              <a:lnSpc>
                <a:spcPct val="105000"/>
              </a:lnSpc>
              <a:spcBef>
                <a:spcPts val="0"/>
              </a:spcBef>
              <a:spcAft>
                <a:spcPts val="0"/>
              </a:spcAft>
            </a:pPr>
            <a:r>
              <a:rPr sz="1300" b="1" i="0">
                <a:solidFill>
                  <a:srgbClr val="E4F1F3"/>
                </a:solidFill>
                <a:latin typeface="Segoe UI Semibold"/>
              </a:rPr>
              <a:t>CLOSING</a:t>
            </a:r>
          </a:p>
        </p:txBody>
      </p:sp>
      <p:sp>
        <p:nvSpPr>
          <p:cNvPr id="6" name="TextBox 5"/>
          <p:cNvSpPr txBox="1"/>
          <p:nvPr/>
        </p:nvSpPr>
        <p:spPr>
          <a:xfrm>
            <a:off x="1024128" y="822960"/>
            <a:ext cx="10424160" cy="640080"/>
          </a:xfrm>
          <a:prstGeom prst="rect">
            <a:avLst/>
          </a:prstGeom>
          <a:noFill/>
        </p:spPr>
        <p:txBody>
          <a:bodyPr wrap="square" anchor="t" lIns="0" rIns="0" tIns="0" bIns="0">
            <a:spAutoFit/>
          </a:bodyPr>
          <a:lstStyle/>
          <a:p>
            <a:pPr algn="l">
              <a:lnSpc>
                <a:spcPct val="105000"/>
              </a:lnSpc>
              <a:spcBef>
                <a:spcPts val="0"/>
              </a:spcBef>
              <a:spcAft>
                <a:spcPts val="0"/>
              </a:spcAft>
            </a:pPr>
            <a:r>
              <a:rPr sz="3000" b="1" i="0">
                <a:solidFill>
                  <a:srgbClr val="FFFFFF"/>
                </a:solidFill>
                <a:latin typeface="Segoe UI Semibold"/>
              </a:rPr>
              <a:t>The Complete Research Reasoning Chain</a:t>
            </a:r>
          </a:p>
        </p:txBody>
      </p:sp>
      <p:sp>
        <p:nvSpPr>
          <p:cNvPr id="7" name="Rounded Rectangle 6"/>
          <p:cNvSpPr/>
          <p:nvPr/>
        </p:nvSpPr>
        <p:spPr>
          <a:xfrm>
            <a:off x="777240" y="1965960"/>
            <a:ext cx="2468880" cy="1143000"/>
          </a:xfrm>
          <a:prstGeom prst="roundRect">
            <a:avLst>
              <a:gd name="adj" fmla="val 12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1
</a:t>
            </a:r>
            <a:r>
              <a:rPr sz="1550" b="1" i="0">
                <a:solidFill>
                  <a:srgbClr val="FFFFFF"/>
                </a:solidFill>
                <a:latin typeface="Segoe UI Semibold"/>
              </a:rPr>
              <a:t>Sources</a:t>
            </a:r>
          </a:p>
        </p:txBody>
      </p:sp>
      <p:sp>
        <p:nvSpPr>
          <p:cNvPr id="8" name="Right Arrow 7"/>
          <p:cNvSpPr/>
          <p:nvPr/>
        </p:nvSpPr>
        <p:spPr>
          <a:xfrm>
            <a:off x="3264408" y="237744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3630168" y="1965960"/>
            <a:ext cx="2468880" cy="1143000"/>
          </a:xfrm>
          <a:prstGeom prst="roundRect">
            <a:avLst>
              <a:gd name="adj" fmla="val 12000"/>
            </a:avLst>
          </a:prstGeom>
          <a:solidFill>
            <a:srgbClr val="1D7A8C"/>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2
</a:t>
            </a:r>
            <a:r>
              <a:rPr sz="1550" b="1" i="0">
                <a:solidFill>
                  <a:srgbClr val="FFFFFF"/>
                </a:solidFill>
                <a:latin typeface="Segoe UI Semibold"/>
              </a:rPr>
              <a:t>Synthesis</a:t>
            </a:r>
          </a:p>
        </p:txBody>
      </p:sp>
      <p:sp>
        <p:nvSpPr>
          <p:cNvPr id="10" name="Right Arrow 9"/>
          <p:cNvSpPr/>
          <p:nvPr/>
        </p:nvSpPr>
        <p:spPr>
          <a:xfrm>
            <a:off x="6117336" y="237744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483096" y="1965960"/>
            <a:ext cx="2468880" cy="1143000"/>
          </a:xfrm>
          <a:prstGeom prst="roundRect">
            <a:avLst>
              <a:gd name="adj" fmla="val 12000"/>
            </a:avLst>
          </a:prstGeom>
          <a:solidFill>
            <a:srgbClr val="115968"/>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3
</a:t>
            </a:r>
            <a:r>
              <a:rPr sz="1550" b="1" i="0">
                <a:solidFill>
                  <a:srgbClr val="FFFFFF"/>
                </a:solidFill>
                <a:latin typeface="Segoe UI Semibold"/>
              </a:rPr>
              <a:t>Gap</a:t>
            </a:r>
          </a:p>
        </p:txBody>
      </p:sp>
      <p:sp>
        <p:nvSpPr>
          <p:cNvPr id="12" name="Right Arrow 11"/>
          <p:cNvSpPr/>
          <p:nvPr/>
        </p:nvSpPr>
        <p:spPr>
          <a:xfrm>
            <a:off x="8970263" y="237744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9336024" y="1965960"/>
            <a:ext cx="2468880" cy="1143000"/>
          </a:xfrm>
          <a:prstGeom prst="roundRect">
            <a:avLst>
              <a:gd name="adj" fmla="val 12000"/>
            </a:avLst>
          </a:prstGeom>
          <a:solidFill>
            <a:srgbClr val="115968"/>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4
</a:t>
            </a:r>
            <a:r>
              <a:rPr sz="1550" b="1" i="0">
                <a:solidFill>
                  <a:srgbClr val="FFFFFF"/>
                </a:solidFill>
                <a:latin typeface="Segoe UI Semibold"/>
              </a:rPr>
              <a:t>Literature Review</a:t>
            </a:r>
          </a:p>
        </p:txBody>
      </p:sp>
      <p:sp>
        <p:nvSpPr>
          <p:cNvPr id="14" name="Rounded Rectangle 13"/>
          <p:cNvSpPr/>
          <p:nvPr/>
        </p:nvSpPr>
        <p:spPr>
          <a:xfrm>
            <a:off x="777240" y="3977639"/>
            <a:ext cx="2468880" cy="1143000"/>
          </a:xfrm>
          <a:prstGeom prst="roundRect">
            <a:avLst>
              <a:gd name="adj" fmla="val 12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5
</a:t>
            </a:r>
            <a:r>
              <a:rPr sz="1550" b="1" i="0">
                <a:solidFill>
                  <a:srgbClr val="FFFFFF"/>
                </a:solidFill>
                <a:latin typeface="Segoe UI Semibold"/>
              </a:rPr>
              <a:t>Problem Statement</a:t>
            </a:r>
          </a:p>
        </p:txBody>
      </p:sp>
      <p:sp>
        <p:nvSpPr>
          <p:cNvPr id="15" name="Right Arrow 14"/>
          <p:cNvSpPr/>
          <p:nvPr/>
        </p:nvSpPr>
        <p:spPr>
          <a:xfrm>
            <a:off x="3264408" y="438912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630168" y="3977639"/>
            <a:ext cx="2468880" cy="1143000"/>
          </a:xfrm>
          <a:prstGeom prst="roundRect">
            <a:avLst>
              <a:gd name="adj" fmla="val 12000"/>
            </a:avLst>
          </a:prstGeom>
          <a:solidFill>
            <a:srgbClr val="F4795B"/>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6
</a:t>
            </a:r>
            <a:r>
              <a:rPr sz="1550" b="1" i="0">
                <a:solidFill>
                  <a:srgbClr val="FFFFFF"/>
                </a:solidFill>
                <a:latin typeface="Segoe UI Semibold"/>
              </a:rPr>
              <a:t>Research Question / Hypothesis</a:t>
            </a:r>
          </a:p>
        </p:txBody>
      </p:sp>
      <p:sp>
        <p:nvSpPr>
          <p:cNvPr id="17" name="Right Arrow 16"/>
          <p:cNvSpPr/>
          <p:nvPr/>
        </p:nvSpPr>
        <p:spPr>
          <a:xfrm>
            <a:off x="6117336" y="438912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483096" y="3977639"/>
            <a:ext cx="2468880" cy="1143000"/>
          </a:xfrm>
          <a:prstGeom prst="roundRect">
            <a:avLst>
              <a:gd name="adj" fmla="val 12000"/>
            </a:avLst>
          </a:prstGeom>
          <a:solidFill>
            <a:srgbClr val="2A9D8F"/>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7
</a:t>
            </a:r>
            <a:r>
              <a:rPr sz="1550" b="1" i="0">
                <a:solidFill>
                  <a:srgbClr val="FFFFFF"/>
                </a:solidFill>
                <a:latin typeface="Segoe UI Semibold"/>
              </a:rPr>
              <a:t>CER Justification</a:t>
            </a:r>
          </a:p>
        </p:txBody>
      </p:sp>
      <p:sp>
        <p:nvSpPr>
          <p:cNvPr id="19" name="Right Arrow 18"/>
          <p:cNvSpPr/>
          <p:nvPr/>
        </p:nvSpPr>
        <p:spPr>
          <a:xfrm>
            <a:off x="8970263" y="4389120"/>
            <a:ext cx="347472" cy="310896"/>
          </a:xfrm>
          <a:prstGeom prst="rightArrow">
            <a:avLst/>
          </a:prstGeom>
          <a:solidFill>
            <a:srgbClr val="E4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9336024" y="3977639"/>
            <a:ext cx="2468880" cy="1143000"/>
          </a:xfrm>
          <a:prstGeom prst="roundRect">
            <a:avLst>
              <a:gd name="adj" fmla="val 12000"/>
            </a:avLst>
          </a:prstGeom>
          <a:solidFill>
            <a:srgbClr val="F2B705"/>
          </a:solidFill>
          <a:ln>
            <a:noFill/>
          </a:ln>
          <a:effectLst>
            <a:outerShdw blurRad="127000" dist="63500" dir="5400000" rotWithShape="0">
              <a:srgbClr val="1B2A3A">
                <a:alpha val="24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300" b="1" i="0">
                <a:solidFill>
                  <a:srgbClr val="D9EEF2"/>
                </a:solidFill>
                <a:latin typeface="Segoe UI"/>
              </a:rPr>
              <a:t>8
</a:t>
            </a:r>
            <a:r>
              <a:rPr sz="1550" b="1" i="0">
                <a:solidFill>
                  <a:srgbClr val="FFFFFF"/>
                </a:solidFill>
                <a:latin typeface="Segoe UI Semibold"/>
              </a:rPr>
              <a:t>Assumptions &amp; Limitations</a:t>
            </a:r>
          </a:p>
        </p:txBody>
      </p:sp>
      <p:cxnSp>
        <p:nvCxnSpPr>
          <p:cNvPr id="21" name="Connector 20"/>
          <p:cNvCxnSpPr/>
          <p:nvPr/>
        </p:nvCxnSpPr>
        <p:spPr>
          <a:xfrm flipH="1">
            <a:off x="2011680" y="3108960"/>
            <a:ext cx="8558783" cy="868679"/>
          </a:xfrm>
          <a:prstGeom prst="line">
            <a:avLst/>
          </a:prstGeom>
          <a:ln w="31750">
            <a:solidFill>
              <a:srgbClr val="F4795B"/>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77240" y="5440680"/>
            <a:ext cx="10637215" cy="822960"/>
          </a:xfrm>
          <a:prstGeom prst="rect">
            <a:avLst/>
          </a:prstGeom>
          <a:noFill/>
        </p:spPr>
        <p:txBody>
          <a:bodyPr wrap="square" anchor="t" lIns="0" rIns="0" tIns="0" bIns="0">
            <a:spAutoFit/>
          </a:bodyPr>
          <a:lstStyle/>
          <a:p>
            <a:pPr algn="ctr">
              <a:lnSpc>
                <a:spcPct val="110000"/>
              </a:lnSpc>
              <a:spcBef>
                <a:spcPts val="0"/>
              </a:spcBef>
              <a:spcAft>
                <a:spcPts val="0"/>
              </a:spcAft>
            </a:pPr>
            <a:r>
              <a:rPr sz="1800" b="0" i="1">
                <a:solidFill>
                  <a:srgbClr val="E4F1F3"/>
                </a:solidFill>
                <a:latin typeface="Segoe UI"/>
              </a:rPr>
              <a:t>One continuous argument — every stage feeds directly into the next.</a:t>
            </a:r>
          </a:p>
        </p:txBody>
      </p:sp>
      <p:sp>
        <p:nvSpPr>
          <p:cNvPr id="23" name="TextBox 22"/>
          <p:cNvSpPr txBox="1"/>
          <p:nvPr/>
        </p:nvSpPr>
        <p:spPr>
          <a:xfrm>
            <a:off x="777240" y="6419088"/>
            <a:ext cx="8229600" cy="274320"/>
          </a:xfrm>
          <a:prstGeom prst="rect">
            <a:avLst/>
          </a:prstGeom>
          <a:noFill/>
        </p:spPr>
        <p:txBody>
          <a:bodyPr wrap="square" anchor="t" lIns="0" rIns="0" tIns="0" bIns="0">
            <a:spAutoFit/>
          </a:bodyPr>
          <a:lstStyle/>
          <a:p>
            <a:pPr algn="l">
              <a:lnSpc>
                <a:spcPct val="105000"/>
              </a:lnSpc>
              <a:spcBef>
                <a:spcPts val="0"/>
              </a:spcBef>
              <a:spcAft>
                <a:spcPts val="0"/>
              </a:spcAft>
            </a:pPr>
            <a:r>
              <a:rPr sz="950" b="0" i="0">
                <a:solidFill>
                  <a:srgbClr val="5B6B7B"/>
                </a:solidFill>
                <a:latin typeface="Segoe UI"/>
              </a:rPr>
              <a:t>Lecture 3  ·  Review of Literature for Identifying Research Problems</a:t>
            </a:r>
          </a:p>
        </p:txBody>
      </p:sp>
      <p:sp>
        <p:nvSpPr>
          <p:cNvPr id="24" name="Oval 23"/>
          <p:cNvSpPr/>
          <p:nvPr/>
        </p:nvSpPr>
        <p:spPr>
          <a:xfrm>
            <a:off x="11356848" y="6327648"/>
            <a:ext cx="457200" cy="4572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38100" bIns="38100"/>
          <a:lstStyle/>
          <a:p>
            <a:pPr algn="ctr">
              <a:lnSpc>
                <a:spcPct val="100000"/>
              </a:lnSpc>
              <a:spcAft>
                <a:spcPts val="0"/>
              </a:spcAft>
            </a:pPr>
            <a:r>
              <a:rPr sz="1200" b="1" i="0">
                <a:solidFill>
                  <a:srgbClr val="FFFFFF"/>
                </a:solidFill>
                <a:latin typeface="Segoe UI"/>
              </a:rPr>
              <a:t>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