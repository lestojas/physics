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destination before the details: by the end of this lecture, every group will walk away with a complete, defensible research problem package - not just a topic. Frame the six stops as a single pipeline, not six unrelated skills. Tell them we will use one running example (coastal plastic waste) so they can watch the same piece of research evolve through every stage, and a second example (dengue) that they will build up themselves, piece by piece, across several practice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whole section in a problem students will genuinely face the moment they start their own capstone research: information overload. Emphasize that having more sources is not the same as having better sources, and that a paper built on weak sources collapses no matter how well it's written afterward. This sets up the need for a deliberate, criteria-based way of judging sources rather than just grabbing whatever appears first in a search engine.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distinction practical, not just definitional: primary vs. secondary is about how close the source is to the original data, while scholarly vs. popular is about whether the source went through expert vetting before publication. These are two separate sliders, not one - a news article can be secondary and still reasonably reliable, while a blog post can be primary (a firsthand account) but still not scholarly. Students often collapse these into one 'good vs. bad' category; keeping the two dimensions separate produces sharper source judgments later.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these four side-by-side so students see that credibility is not binary - Source B is not 'scholarly' in the peer-review sense, but it's still highly authoritative because it comes from the mandated data-collecting agency itself. This nuance matters: SHS students often assume 'not a journal article' automatically means 'not usable,' when in fact government and institutional reports are frequently the backbone of applied research. Source D is the clear example of a source to exclude entirely - no author accountability, no evidence, no traceable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criteria come directly from how the textbook describes evaluating literature quality - looking at whether a journal has a refereed editorial board, whether a publisher is well-established, and whether the work is recent. Frame currency carefully: older sources aren't automatically disqualified, especially if they're foundational or still widely cited, but a 10-year-old statistic on plastic waste volumes is far less reliable than one from the past two or three years given how fast environmental data changes. Have students notice that no single criterion is sufficient on its 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switch the topic away from plastic waste here so students practice transferring the skill rather than just recalling the coastal-waste examples from the previous slides. Circulate while pairs work and listen for whether they're citing a specific criterion rather than a vague gut feeling. This is the checkpoint that confirms competency 11 has actually landed before moving into synthesis.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pivot point of the whole lecture. Having good sources (Part 1) is necessary but not sufficient - the real intellectual work of a literature review happens when a student stops describing individual studies and starts comparing them against each other. Preview that this comparison is exactly what will reveal the 'gap' they need for their own study - and, later in this section, the skeleton of how to actually write that comparison up.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textbook frames a literature review's purpose as connecting a study to the larger, ongoing dialogue in the field - not simply reporting what each source said. Make explicit that summarizing is a necessary first step, but a review that stops at summarizing every source back-to-back reads like a list, not an argument. The synthesis skill is specifically about drawing connections across the row, not down each column.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synthesis matrix first because it's the more approachable entry point for SHS-level work. Then connect it to the textbook's literature map concept, which arranges literature into broad topic categories with the proposed study placed at the point where it extends existing work. Frame the two as complementary: the matrix is what you build while reading; the map is often what you can build after, once the categories become clear.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class down each row first, then across - that shift from vertical to horizontal reading is the entire synthesis skill in miniature. Point out that no single source in this table answers the question 'why do plastic-segregation behaviors fail specifically in coastal barangay households,' even though every source touches a piece of it. That absence - visible only once the sources sit side by side - is what a gap looks like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gap-signaling phrases are drawn directly from how published researchers write about deficiencies in prior literature - students will start noticing this exact language once they read real journal introductions. Reinforce that a gap is not 'nobody has ever studied plastic waste' (far too broad to be true) - it's a specific, narrow absence, like the coastal-household angle in Slide 10's matrix.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sentence frame is deliberately modeled on the real 'what remains to be explored' language researchers use. Watch for students who fill in something too broad - push them to make the third blank as specific as the matrix allows, since that specificity is exactly what will make the literature review (next) and the eventual problem statement researchable rather than vague.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shift explicit: everything up to this slide has been about finding the gap; this slide is about writing it up in the format expected of a quantitative study. Emphasize why Topic 3 is deliberately kept short - the textbook notes this section should be relatively brief, containing only studies closest to the proposed topic, because that is often exactly where the gap lives. If a topic is so new that Topic 3 has almost nothing in it, that scarcity itself is evidence of the gap.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Topic 3 in this example is thin almost on purpose - that thinness IS the finding. This is the moment where the synthesis matrix (Slide 10) and the gap statement (Slide 12) stop being separate exercises and become raw material that slots directly into a formal review section.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activity light - one sentence per part, five sentences total - since the goal is recognizing the shape of a quantitative review, not drafting a full one in class. Circulate and check specifically that their 'Topic 3' sentence names a genuine, narrow intersection rather than repeating Topic 1 or Topic 2 in different words.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transition brief but explicit, since students often treat the gap statement and the problem statement as the same thing. The gap statement is diagnostic - it's about the literature. The problem statement is directive - it's about this study. The next several slides go into real depth on how to build one properly, since a rushed problem statement is the single most common weak point in student research proposals.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funnel diagnoses a very common student error: presenting a topic when a problem or a question is required. Have students test any given sentence by asking, 'Could someone write an entire book just on this?' - if yes, it's still a topic, not a problem. Everything in this section builds toward filling that middle box properly.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a more detailed lens on the same 'problem' box from the Slide 17 funnel - it doesn't replace the funnel, it zooms into what belongs inside it. Note that Gap here means the same thing as the literature gap from Part 2, just restated as the problem itself rather than a missing piece of research. Orientation and Impact are the two elements students skip most often - they'll state the problem and jump straight to why it matters, without ever grounding the reader in when, where, and how severely it's happening.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as four connected sentences before pointing out the labels - the goal is for students to hear it as one coherent paragraph, not four disconnected fill-in-the-blanks. Note that Gap here is nearly identical to the gap statement built back in Part 2 (Slide 12) - this is deliberate, showing students that the literature-synthesis work they already did isn't separate from problem-statement writing, it IS half the raw material for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a fresh topic (e-waste) instead of the running plastic-waste example forces students to recognize the four elements rather than simply recall the labels from the previous slide. Note that this paragraph deliberately doesn't label its own parts - that mirrors real published writing, where the four elements are woven together rather than announced.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common way student problem statements fail - not from having the wrong elements, but from trying to explain everything at once and ending up unfocused. Emphasize the guiding test: every piece of context earns its place only if it helps explain why the problem exists; everything else, no matter how interesting, is noise that should be cut. Narrowing to one contributing factor doesn't make the problem less important - it makes it actually researchable.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students explicitly that this isn't a one-off exercise - whatever they narrow this dengue scenario down to will carry forward through root-cause analysis (coming up next) all the way to a full problem statement later in this section. A reasonable narrowed target to nudge stuck groups toward: household-level compliance with mosquito-breeding-site elimination in a specific urban barangay.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medical-diagnosis comparison is worth dwelling on: doctors don't diagnose from one symptom in isolation, they look at a cluster of symptoms occurring together. The same logic applies to research problems - low attendance alone doesn't tell you why students are disengaged, but low attendance combined with high missing-work rates combined with low participation starts to sketch a real pattern. This reframes 'digging deeper' as a structured, evidence-based process, not just guessing.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how far this chain traveled - from 'missing work' (a symptom nobody would dispute) to 'instructor training and course design' (a root cause almost nobody would have guessed from the first symptom alone). That distance is the entire point of the method: the obvious first-guess explanation is very rarely the real one. Also flag that five is a guideline, not a rule - sometimes the real cause appears after three whys, sometimes it takes seven; stop when the answer to 'why' starts repeating itself or stops producing new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explicitly that 'people don't know plastic is bad for the environment' is almost never the real root cause once you dig - awareness campaigns are common, but sustained, convenient, reinforced systems are rare. This distinction between the obvious first-guess symptom (low awareness) and the less obvious systemic root cause (lack of reinforcement/convenience) is exactly the kind of insight that makes a research problem worth studying rather than obvious.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groups a firm few minutes and then have two or three pairs share their chains aloud - root-cause chains often diverge in interesting, defensible ways even from the same starting symptom, and that's a feature, not a problem, worth naming explicitly. Keep pushing any group that stops at 'people don't know about dengue prevention' to ask at least one more 'why.'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Reassure students these aren't two competing frameworks to memorize separately - the four-point checklist from Lecture 1 is really asking the same questions as the four elements in a different order. Use this slide as the final quality check before writing: run a draft through both columns, and if it satisfies the left side, it will almost always satisfy the right side too.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paragraph and show, sentence by sentence, exactly which earlier slide each piece came from - the gap statement from Part 2, the root-cause insight from Slide 25, and the four-element structure from Slide 18. The point of this slide is to make visible that a strong problem statement isn't written in one sitting from a blank page; it's assembled from work the researcher has already done.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slide for the entire dengue thread running through this section - students are not starting from scratch, they're assembling pieces they already built themselves, which is exactly the iterative process real researchers go through (research informs the writing, writing reveals what still needs more research, and so on). Let a few pairs read their paragraphs aloud and have the class check them against the Slide 27 table together.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brief - its only job is to signal that the problem statement, while necessary, is still not 'actionable' on its own. Preview that this section goes deep specifically into the quantitative side of this step, since that's where most STEM capstone studies in this course will ultimately land.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fill-in-the-blank scripts come directly from how the textbook teaches question-writing, simplified here for first-time use. Emphasize the sequencing point at the bottom - students often want to jump straight to a relationship question, but a good quantitative study usually reports basic descriptive findings (means, frequencies, ranges) before testing whether variables relate to each other.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vocabulary matters because it's exactly what students will need for every remaining step in this section - writing questions, writing hypotheses, and even naming limitations later (Part 6 will return to 'mediating variable' directly). The point about theory is worth slowing down on: a hypothesis grounded in a named theory reads as far more rigorous than one that just states a guess, because it shows the researcher understands why the variables might be connected, not just that they might be.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how the descriptive question would typically come first in the actual study - the group would need to know the general spread of compliance scores before it makes sense to test whether program exposure relates to them. Note that Social Learning Theory is used here as a genuine, real theoretical grounding, not an invented one - this is what 'grounding in a theory' looks like in practice, connecting a recognized behavioral framework to the specific variables at hand.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aligned criterion is the one students skip most often - they write a technically clear, researchable question that has quietly drifted away from the problem statement they spent the last section building. Make this explicit: alignment isn't optional polish, it's the entire point of writing the question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this in the textbook's own reasoning: qualitative researchers deliberately avoid hypotheses because they don't want to predict a direction before hearing from participants. Quantitative researchers do the opposite: they state a predicted relationship up front because their whole design is built around testing it. Neither approach is 'better' - the choice depends entirely on what the problem statement calls for.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at the plain-language, directional-prediction level - formal null/alternative notation and statistical significance testing belong to a later statistics-focused lesson, not here. The H1/H2 labeling convention is worth introducing now, though, since students will see it constantly once they start reading real quantitative studies, and it's simply a way of organizing multiple predictions within one study, not a statistical procedure in itself.</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slide for Part 4 - showing the same problem statement branching into two legitimate but different research paths makes the qualitative/quantitative distinction concrete rather than abstract. Ask students which approach they'd choose if their group only had time for interviews with 10 households versus a survey of 200 households - the practical constraint, not just the 'feel' of the topic, often decides the approach.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Reusing their own dengue problem statement from Slide 29 - rather than a fresh scenario - keeps the iterative thread going and shows students this is one continuous piece of work, not six disconnected worksheets. Collect a few examples on the board, specifically flagging any question or hypothesis that drifted from their own problem statement.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moment to reframe research writing as persuasive, not just descriptive. Preview that the next several slides introduce a simple three-part structure for building exactly that case.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transparent with students about where this framework comes from - it isn't in the Creswell textbook by name, but it maps closely onto how the textbook actually describes a strong introduction. Presenting CER as a translation of that same logic into a format students may already recognize from science class builds confidence rather than introducing something entirely foreign.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this explicitly back to Part 2 - the synthesis matrix, literature review structure, and gap statement students already built are not separate assignments, they are literally the 'Evidence' component of this argument.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paragraph aloud as one continuous piece before breaking it back into its three labeled parts. Note explicitly that the specific figures referenced here are illustrative for teaching purposes; when students write their own, they must cite their actual sources and real data.</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this point, students have carried the dengue scenario through narrowing (Slide 22), root-cause analysis (Slide 26), a full problem statement (Slide 29), and a research question or hypothesis (Slide 38) - this CER paragraph is the final piece, arguing for the very problem they've now built from the ground up. Listen for pairs whose 'Reasoning' sentence simply restates the 'Evidence' sentence; push them toward explaining why the evidence supports the claim.</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not as a weakness to hide but as a standard, expected part of any honest research proposal. This framing matters because SHS students sometimes worry that naming a limitation will make their proposal look weak, when in fact its absence is what actually signals inexperience to a reader.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clearest way to help students tell these apart: an assumption is something you're choosing to believe without checking; a limitation is something you can't change even if you wanted to.</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categories are a direct adaptation of the same 'deficiencies' categories the textbook used earlier to describe gaps in other people's research - sample/population, measurement validity, theory development, and mediating variables. The insight here is that the exact same lens researchers use to critique prior literature is the lens they should turn on their own study once it's designed. This is genuinely useful, quantitative-specific vocabulary - far more precise than a vague 'this study has limitations' statement.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guiding question here is the practical tool students should walk away with. Emphasize that assumptions aren't flaws to fix; they're conditions the researcher is knowingly relying on, and naming them shows methodological self-awareness.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explicitly naming which category each limitation falls under (rather than just listing constraints) is what separates a rigorous quantitative limitations section from a vague, generic one. This is also a useful sanity check: if a 'limitation' doesn't fit any category from Slide 46, it may actually be an assumption in disguise.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closing paragraph shows students what a complete, quantitative-focused assumptions-and-limitations section actually looks like in finished form - brief, specific, and explicitly categorized rather than a vague closing disclaimer. Note how naming the category in parentheses after each limitation (as modeled here) makes the writing more precise without making it longer.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recycling-program scenario is intentionally close to students' own school life. A common confusion to watch for: students sometimes list a limitation as an assumption (e.g., 'the program was implemented correctly' is closer to an assumption, not a limitation) - use any such mix-up as a live teaching moment against the Slide 45 table.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walking the class back through the entire vertical spine of the lecture using the running coastal plastic-waste case study as the thread. Emphasize that these six competencies are not separate skills to be checked off individually - they are one continuous, iterative process that produces a single defensible research problem. Remind students that their own dengue work across the practice slides mirrors exactly what researchers do: each stage informs and refines the ones around it. Send them off with the reassurance that they now have a repeatable process they can apply to any capstone topic they choose.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C3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0C3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5212080"/>
            <a:ext cx="14630400" cy="2743200"/>
          </a:xfrm>
          <a:prstGeom prst="ellipse">
            <a:avLst/>
          </a:prstGeom>
          <a:solidFill>
            <a:srgbClr val="1F4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28800" y="5669280"/>
            <a:ext cx="16459200" cy="2743200"/>
          </a:xfrm>
          <a:prstGeom prst="ellipse">
            <a:avLst/>
          </a:prstGeom>
          <a:solidFill>
            <a:srgbClr val="105E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6126480"/>
            <a:ext cx="15544800" cy="2743200"/>
          </a:xfrm>
          <a:prstGeom prst="ellipse">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685800"/>
            <a:ext cx="10515600" cy="365760"/>
          </a:xfrm>
          <a:prstGeom prst="rect">
            <a:avLst/>
          </a:prstGeom>
          <a:noFill/>
        </p:spPr>
        <p:txBody>
          <a:bodyPr wrap="square" anchor="t" lIns="0" rIns="0" tIns="0" bIns="0">
            <a:spAutoFit/>
          </a:bodyPr>
          <a:lstStyle/>
          <a:p>
            <a:pPr algn="l"/>
            <a:r>
              <a:rPr sz="1300" b="1" i="0">
                <a:solidFill>
                  <a:srgbClr val="E9C46A"/>
                </a:solidFill>
                <a:latin typeface="Segoe UI"/>
              </a:rPr>
              <a:t>LECTURE 3  -  STEM SENIOR HIGH SCHOOL RESEARCH</a:t>
            </a:r>
          </a:p>
        </p:txBody>
      </p:sp>
      <p:sp>
        <p:nvSpPr>
          <p:cNvPr id="9" name="TextBox 8"/>
          <p:cNvSpPr txBox="1"/>
          <p:nvPr/>
        </p:nvSpPr>
        <p:spPr>
          <a:xfrm>
            <a:off x="822960" y="1051560"/>
            <a:ext cx="10607040" cy="1554480"/>
          </a:xfrm>
          <a:prstGeom prst="rect">
            <a:avLst/>
          </a:prstGeom>
          <a:noFill/>
        </p:spPr>
        <p:txBody>
          <a:bodyPr wrap="square" anchor="t" lIns="0" rIns="0" tIns="0" bIns="0">
            <a:spAutoFit/>
          </a:bodyPr>
          <a:lstStyle/>
          <a:p>
            <a:pPr algn="l">
              <a:lnSpc>
                <a:spcPct val="98000"/>
              </a:lnSpc>
            </a:pPr>
            <a:r>
              <a:rPr sz="4600" b="1" i="0">
                <a:solidFill>
                  <a:srgbClr val="FFFFFF"/>
                </a:solidFill>
                <a:latin typeface="Segoe UI"/>
              </a:rPr>
              <a:t>The Research Problem Journey</a:t>
            </a:r>
          </a:p>
        </p:txBody>
      </p:sp>
      <p:sp>
        <p:nvSpPr>
          <p:cNvPr id="10" name="TextBox 9"/>
          <p:cNvSpPr txBox="1"/>
          <p:nvPr/>
        </p:nvSpPr>
        <p:spPr>
          <a:xfrm>
            <a:off x="822960" y="2331720"/>
            <a:ext cx="10424160" cy="502920"/>
          </a:xfrm>
          <a:prstGeom prst="rect">
            <a:avLst/>
          </a:prstGeom>
          <a:noFill/>
        </p:spPr>
        <p:txBody>
          <a:bodyPr wrap="square" anchor="t" lIns="0" rIns="0" tIns="0" bIns="0">
            <a:spAutoFit/>
          </a:bodyPr>
          <a:lstStyle/>
          <a:p>
            <a:pPr algn="l"/>
            <a:r>
              <a:rPr sz="1600" b="0" i="1">
                <a:solidFill>
                  <a:srgbClr val="C4DFE2"/>
                </a:solidFill>
                <a:latin typeface="Segoe UI"/>
              </a:rPr>
              <a:t>Review of Literature for Identifying Research Problems  |  Competencies 11-16</a:t>
            </a:r>
          </a:p>
        </p:txBody>
      </p:sp>
      <p:sp>
        <p:nvSpPr>
          <p:cNvPr id="11" name="Chevron 10"/>
          <p:cNvSpPr/>
          <p:nvPr/>
        </p:nvSpPr>
        <p:spPr>
          <a:xfrm>
            <a:off x="822960" y="3063240"/>
            <a:ext cx="1668780" cy="868680"/>
          </a:xfrm>
          <a:prstGeom prst="chevron">
            <a:avLst/>
          </a:prstGeom>
          <a:solidFill>
            <a:srgbClr val="2A9D8F"/>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2688" y="3323844"/>
            <a:ext cx="347472" cy="34747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323844"/>
            <a:ext cx="347472" cy="347472"/>
          </a:xfrm>
          <a:prstGeom prst="rect">
            <a:avLst/>
          </a:prstGeom>
          <a:noFill/>
        </p:spPr>
        <p:txBody>
          <a:bodyPr wrap="square" anchor="ctr" lIns="0" rIns="0" tIns="0" bIns="0">
            <a:spAutoFit/>
          </a:bodyPr>
          <a:lstStyle/>
          <a:p>
            <a:pPr algn="ctr"/>
            <a:r>
              <a:rPr sz="1500" b="1" i="0">
                <a:solidFill>
                  <a:srgbClr val="2A9D8F"/>
                </a:solidFill>
                <a:latin typeface="Segoe UI"/>
              </a:rPr>
              <a:t>1</a:t>
            </a:r>
          </a:p>
        </p:txBody>
      </p:sp>
      <p:sp>
        <p:nvSpPr>
          <p:cNvPr id="14" name="TextBox 13"/>
          <p:cNvSpPr txBox="1"/>
          <p:nvPr/>
        </p:nvSpPr>
        <p:spPr>
          <a:xfrm>
            <a:off x="1298448" y="3063240"/>
            <a:ext cx="1101852" cy="868680"/>
          </a:xfrm>
          <a:prstGeom prst="rect">
            <a:avLst/>
          </a:prstGeom>
          <a:noFill/>
        </p:spPr>
        <p:txBody>
          <a:bodyPr wrap="square" anchor="ctr" lIns="0" rIns="0" tIns="0" bIns="0">
            <a:spAutoFit/>
          </a:bodyPr>
          <a:lstStyle/>
          <a:p>
            <a:pPr algn="l">
              <a:lnSpc>
                <a:spcPct val="95000"/>
              </a:lnSpc>
            </a:pPr>
            <a:r>
              <a:rPr sz="1300" b="1" i="0">
                <a:solidFill>
                  <a:srgbClr val="FFFFFF"/>
                </a:solidFill>
                <a:latin typeface="Segoe UI"/>
              </a:rPr>
              <a:t>Evaluate sources</a:t>
            </a:r>
          </a:p>
        </p:txBody>
      </p:sp>
      <p:sp>
        <p:nvSpPr>
          <p:cNvPr id="15" name="Chevron 14"/>
          <p:cNvSpPr/>
          <p:nvPr/>
        </p:nvSpPr>
        <p:spPr>
          <a:xfrm>
            <a:off x="2601468" y="3063240"/>
            <a:ext cx="1668780" cy="868680"/>
          </a:xfrm>
          <a:prstGeom prst="chevron">
            <a:avLst/>
          </a:prstGeom>
          <a:solidFill>
            <a:srgbClr val="61B6AC"/>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711196" y="3323844"/>
            <a:ext cx="347472" cy="34747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11196" y="3323844"/>
            <a:ext cx="347472" cy="347472"/>
          </a:xfrm>
          <a:prstGeom prst="rect">
            <a:avLst/>
          </a:prstGeom>
          <a:noFill/>
        </p:spPr>
        <p:txBody>
          <a:bodyPr wrap="square" anchor="ctr" lIns="0" rIns="0" tIns="0" bIns="0">
            <a:spAutoFit/>
          </a:bodyPr>
          <a:lstStyle/>
          <a:p>
            <a:pPr algn="ctr"/>
            <a:r>
              <a:rPr sz="1500" b="1" i="0">
                <a:solidFill>
                  <a:srgbClr val="61B6AC"/>
                </a:solidFill>
                <a:latin typeface="Segoe UI"/>
              </a:rPr>
              <a:t>2</a:t>
            </a:r>
          </a:p>
        </p:txBody>
      </p:sp>
      <p:sp>
        <p:nvSpPr>
          <p:cNvPr id="18" name="TextBox 17"/>
          <p:cNvSpPr txBox="1"/>
          <p:nvPr/>
        </p:nvSpPr>
        <p:spPr>
          <a:xfrm>
            <a:off x="3076956" y="3063240"/>
            <a:ext cx="1101852" cy="868680"/>
          </a:xfrm>
          <a:prstGeom prst="rect">
            <a:avLst/>
          </a:prstGeom>
          <a:noFill/>
        </p:spPr>
        <p:txBody>
          <a:bodyPr wrap="square" anchor="ctr" lIns="0" rIns="0" tIns="0" bIns="0">
            <a:spAutoFit/>
          </a:bodyPr>
          <a:lstStyle/>
          <a:p>
            <a:pPr algn="l">
              <a:lnSpc>
                <a:spcPct val="95000"/>
              </a:lnSpc>
            </a:pPr>
            <a:r>
              <a:rPr sz="1300" b="1" i="0">
                <a:solidFill>
                  <a:srgbClr val="FFFFFF"/>
                </a:solidFill>
                <a:latin typeface="Segoe UI"/>
              </a:rPr>
              <a:t>Synthesize literature</a:t>
            </a:r>
          </a:p>
        </p:txBody>
      </p:sp>
      <p:sp>
        <p:nvSpPr>
          <p:cNvPr id="19" name="Chevron 18"/>
          <p:cNvSpPr/>
          <p:nvPr/>
        </p:nvSpPr>
        <p:spPr>
          <a:xfrm>
            <a:off x="4379976" y="3063240"/>
            <a:ext cx="1668780" cy="868680"/>
          </a:xfrm>
          <a:prstGeom prst="chevron">
            <a:avLst/>
          </a:prstGeom>
          <a:solidFill>
            <a:srgbClr val="2A9D8F"/>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489704" y="3323844"/>
            <a:ext cx="347472" cy="34747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9704" y="3323844"/>
            <a:ext cx="347472" cy="347472"/>
          </a:xfrm>
          <a:prstGeom prst="rect">
            <a:avLst/>
          </a:prstGeom>
          <a:noFill/>
        </p:spPr>
        <p:txBody>
          <a:bodyPr wrap="square" anchor="ctr" lIns="0" rIns="0" tIns="0" bIns="0">
            <a:spAutoFit/>
          </a:bodyPr>
          <a:lstStyle/>
          <a:p>
            <a:pPr algn="ctr"/>
            <a:r>
              <a:rPr sz="1500" b="1" i="0">
                <a:solidFill>
                  <a:srgbClr val="2A9D8F"/>
                </a:solidFill>
                <a:latin typeface="Segoe UI"/>
              </a:rPr>
              <a:t>3</a:t>
            </a:r>
          </a:p>
        </p:txBody>
      </p:sp>
      <p:sp>
        <p:nvSpPr>
          <p:cNvPr id="22" name="TextBox 21"/>
          <p:cNvSpPr txBox="1"/>
          <p:nvPr/>
        </p:nvSpPr>
        <p:spPr>
          <a:xfrm>
            <a:off x="4855464" y="3063240"/>
            <a:ext cx="1101852" cy="868680"/>
          </a:xfrm>
          <a:prstGeom prst="rect">
            <a:avLst/>
          </a:prstGeom>
          <a:noFill/>
        </p:spPr>
        <p:txBody>
          <a:bodyPr wrap="square" anchor="ctr" lIns="0" rIns="0" tIns="0" bIns="0">
            <a:spAutoFit/>
          </a:bodyPr>
          <a:lstStyle/>
          <a:p>
            <a:pPr algn="l">
              <a:lnSpc>
                <a:spcPct val="95000"/>
              </a:lnSpc>
            </a:pPr>
            <a:r>
              <a:rPr sz="1300" b="1" i="0">
                <a:solidFill>
                  <a:srgbClr val="FFFFFF"/>
                </a:solidFill>
                <a:latin typeface="Segoe UI"/>
              </a:rPr>
              <a:t>Formulate the problem</a:t>
            </a:r>
          </a:p>
        </p:txBody>
      </p:sp>
      <p:sp>
        <p:nvSpPr>
          <p:cNvPr id="23" name="Chevron 22"/>
          <p:cNvSpPr/>
          <p:nvPr/>
        </p:nvSpPr>
        <p:spPr>
          <a:xfrm>
            <a:off x="6158484" y="3063240"/>
            <a:ext cx="1668780" cy="868680"/>
          </a:xfrm>
          <a:prstGeom prst="chevron">
            <a:avLst/>
          </a:prstGeom>
          <a:solidFill>
            <a:srgbClr val="61B6AC"/>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268212" y="3323844"/>
            <a:ext cx="347472" cy="34747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8212" y="3323844"/>
            <a:ext cx="347472" cy="347472"/>
          </a:xfrm>
          <a:prstGeom prst="rect">
            <a:avLst/>
          </a:prstGeom>
          <a:noFill/>
        </p:spPr>
        <p:txBody>
          <a:bodyPr wrap="square" anchor="ctr" lIns="0" rIns="0" tIns="0" bIns="0">
            <a:spAutoFit/>
          </a:bodyPr>
          <a:lstStyle/>
          <a:p>
            <a:pPr algn="ctr"/>
            <a:r>
              <a:rPr sz="1500" b="1" i="0">
                <a:solidFill>
                  <a:srgbClr val="61B6AC"/>
                </a:solidFill>
                <a:latin typeface="Segoe UI"/>
              </a:rPr>
              <a:t>4</a:t>
            </a:r>
          </a:p>
        </p:txBody>
      </p:sp>
      <p:sp>
        <p:nvSpPr>
          <p:cNvPr id="26" name="TextBox 25"/>
          <p:cNvSpPr txBox="1"/>
          <p:nvPr/>
        </p:nvSpPr>
        <p:spPr>
          <a:xfrm>
            <a:off x="6633972" y="3063240"/>
            <a:ext cx="1101852" cy="868680"/>
          </a:xfrm>
          <a:prstGeom prst="rect">
            <a:avLst/>
          </a:prstGeom>
          <a:noFill/>
        </p:spPr>
        <p:txBody>
          <a:bodyPr wrap="square" anchor="ctr" lIns="0" rIns="0" tIns="0" bIns="0">
            <a:spAutoFit/>
          </a:bodyPr>
          <a:lstStyle/>
          <a:p>
            <a:pPr algn="l">
              <a:lnSpc>
                <a:spcPct val="95000"/>
              </a:lnSpc>
            </a:pPr>
            <a:r>
              <a:rPr sz="1300" b="1" i="0">
                <a:solidFill>
                  <a:srgbClr val="FFFFFF"/>
                </a:solidFill>
                <a:latin typeface="Segoe UI"/>
              </a:rPr>
              <a:t>Develop questions / hypotheses</a:t>
            </a:r>
          </a:p>
        </p:txBody>
      </p:sp>
      <p:sp>
        <p:nvSpPr>
          <p:cNvPr id="27" name="Chevron 26"/>
          <p:cNvSpPr/>
          <p:nvPr/>
        </p:nvSpPr>
        <p:spPr>
          <a:xfrm>
            <a:off x="7936992" y="3063240"/>
            <a:ext cx="1668780" cy="868680"/>
          </a:xfrm>
          <a:prstGeom prst="chevron">
            <a:avLst/>
          </a:prstGeom>
          <a:solidFill>
            <a:srgbClr val="2A9D8F"/>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46720" y="3323844"/>
            <a:ext cx="347472" cy="34747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0" y="3323844"/>
            <a:ext cx="347472" cy="347472"/>
          </a:xfrm>
          <a:prstGeom prst="rect">
            <a:avLst/>
          </a:prstGeom>
          <a:noFill/>
        </p:spPr>
        <p:txBody>
          <a:bodyPr wrap="square" anchor="ctr" lIns="0" rIns="0" tIns="0" bIns="0">
            <a:spAutoFit/>
          </a:bodyPr>
          <a:lstStyle/>
          <a:p>
            <a:pPr algn="ctr"/>
            <a:r>
              <a:rPr sz="1500" b="1" i="0">
                <a:solidFill>
                  <a:srgbClr val="2A9D8F"/>
                </a:solidFill>
                <a:latin typeface="Segoe UI"/>
              </a:rPr>
              <a:t>5</a:t>
            </a:r>
          </a:p>
        </p:txBody>
      </p:sp>
      <p:sp>
        <p:nvSpPr>
          <p:cNvPr id="30" name="TextBox 29"/>
          <p:cNvSpPr txBox="1"/>
          <p:nvPr/>
        </p:nvSpPr>
        <p:spPr>
          <a:xfrm>
            <a:off x="8412480" y="3063240"/>
            <a:ext cx="1101852" cy="868680"/>
          </a:xfrm>
          <a:prstGeom prst="rect">
            <a:avLst/>
          </a:prstGeom>
          <a:noFill/>
        </p:spPr>
        <p:txBody>
          <a:bodyPr wrap="square" anchor="ctr" lIns="0" rIns="0" tIns="0" bIns="0">
            <a:spAutoFit/>
          </a:bodyPr>
          <a:lstStyle/>
          <a:p>
            <a:pPr algn="l">
              <a:lnSpc>
                <a:spcPct val="95000"/>
              </a:lnSpc>
            </a:pPr>
            <a:r>
              <a:rPr sz="1300" b="1" i="0">
                <a:solidFill>
                  <a:srgbClr val="FFFFFF"/>
                </a:solidFill>
                <a:latin typeface="Segoe UI"/>
              </a:rPr>
              <a:t>Justify (CER)</a:t>
            </a:r>
          </a:p>
        </p:txBody>
      </p:sp>
      <p:sp>
        <p:nvSpPr>
          <p:cNvPr id="31" name="Chevron 30"/>
          <p:cNvSpPr/>
          <p:nvPr/>
        </p:nvSpPr>
        <p:spPr>
          <a:xfrm>
            <a:off x="9715500" y="3063240"/>
            <a:ext cx="1668780" cy="868680"/>
          </a:xfrm>
          <a:prstGeom prst="chevron">
            <a:avLst/>
          </a:prstGeom>
          <a:solidFill>
            <a:srgbClr val="61B6AC"/>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825228" y="3323844"/>
            <a:ext cx="347472" cy="34747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25228" y="3323844"/>
            <a:ext cx="347472" cy="347472"/>
          </a:xfrm>
          <a:prstGeom prst="rect">
            <a:avLst/>
          </a:prstGeom>
          <a:noFill/>
        </p:spPr>
        <p:txBody>
          <a:bodyPr wrap="square" anchor="ctr" lIns="0" rIns="0" tIns="0" bIns="0">
            <a:spAutoFit/>
          </a:bodyPr>
          <a:lstStyle/>
          <a:p>
            <a:pPr algn="ctr"/>
            <a:r>
              <a:rPr sz="1500" b="1" i="0">
                <a:solidFill>
                  <a:srgbClr val="61B6AC"/>
                </a:solidFill>
                <a:latin typeface="Segoe UI"/>
              </a:rPr>
              <a:t>6</a:t>
            </a:r>
          </a:p>
        </p:txBody>
      </p:sp>
      <p:sp>
        <p:nvSpPr>
          <p:cNvPr id="34" name="TextBox 33"/>
          <p:cNvSpPr txBox="1"/>
          <p:nvPr/>
        </p:nvSpPr>
        <p:spPr>
          <a:xfrm>
            <a:off x="10190988" y="3063240"/>
            <a:ext cx="1101852" cy="868680"/>
          </a:xfrm>
          <a:prstGeom prst="rect">
            <a:avLst/>
          </a:prstGeom>
          <a:noFill/>
        </p:spPr>
        <p:txBody>
          <a:bodyPr wrap="square" anchor="ctr" lIns="0" rIns="0" tIns="0" bIns="0">
            <a:spAutoFit/>
          </a:bodyPr>
          <a:lstStyle/>
          <a:p>
            <a:pPr algn="l">
              <a:lnSpc>
                <a:spcPct val="95000"/>
              </a:lnSpc>
            </a:pPr>
            <a:r>
              <a:rPr sz="1300" b="1" i="0">
                <a:solidFill>
                  <a:srgbClr val="FFFFFF"/>
                </a:solidFill>
                <a:latin typeface="Segoe UI"/>
              </a:rPr>
              <a:t>Define assumptions &amp; limitations</a:t>
            </a:r>
          </a:p>
        </p:txBody>
      </p:sp>
      <p:sp>
        <p:nvSpPr>
          <p:cNvPr id="35" name="TextBox 34"/>
          <p:cNvSpPr txBox="1"/>
          <p:nvPr/>
        </p:nvSpPr>
        <p:spPr>
          <a:xfrm>
            <a:off x="3058668" y="3968496"/>
            <a:ext cx="1668780" cy="320040"/>
          </a:xfrm>
          <a:prstGeom prst="rect">
            <a:avLst/>
          </a:prstGeom>
          <a:noFill/>
        </p:spPr>
        <p:txBody>
          <a:bodyPr wrap="square" anchor="t" lIns="0" rIns="0" tIns="0" bIns="0">
            <a:spAutoFit/>
          </a:bodyPr>
          <a:lstStyle/>
          <a:p>
            <a:pPr algn="ctr"/>
            <a:r>
              <a:rPr sz="950" b="0" i="1">
                <a:solidFill>
                  <a:srgbClr val="ACD3D6"/>
                </a:solidFill>
                <a:latin typeface="Segoe UI"/>
              </a:rPr>
              <a:t>(and write it up)</a:t>
            </a:r>
          </a:p>
        </p:txBody>
      </p:sp>
      <p:sp>
        <p:nvSpPr>
          <p:cNvPr id="36" name="TextBox 35"/>
          <p:cNvSpPr txBox="1"/>
          <p:nvPr/>
        </p:nvSpPr>
        <p:spPr>
          <a:xfrm>
            <a:off x="4837176" y="3968496"/>
            <a:ext cx="1668780" cy="320040"/>
          </a:xfrm>
          <a:prstGeom prst="rect">
            <a:avLst/>
          </a:prstGeom>
          <a:noFill/>
        </p:spPr>
        <p:txBody>
          <a:bodyPr wrap="square" anchor="t" lIns="0" rIns="0" tIns="0" bIns="0">
            <a:spAutoFit/>
          </a:bodyPr>
          <a:lstStyle/>
          <a:p>
            <a:pPr algn="ctr"/>
            <a:r>
              <a:rPr sz="950" b="0" i="1">
                <a:solidFill>
                  <a:srgbClr val="ACD3D6"/>
                </a:solidFill>
                <a:latin typeface="Segoe UI"/>
              </a:rPr>
              <a:t>(in depth)</a:t>
            </a:r>
          </a:p>
        </p:txBody>
      </p:sp>
      <p:sp>
        <p:nvSpPr>
          <p:cNvPr id="37" name="TextBox 36"/>
          <p:cNvSpPr txBox="1"/>
          <p:nvPr/>
        </p:nvSpPr>
        <p:spPr>
          <a:xfrm>
            <a:off x="6615684" y="3968496"/>
            <a:ext cx="1668780" cy="320040"/>
          </a:xfrm>
          <a:prstGeom prst="rect">
            <a:avLst/>
          </a:prstGeom>
          <a:noFill/>
        </p:spPr>
        <p:txBody>
          <a:bodyPr wrap="square" anchor="t" lIns="0" rIns="0" tIns="0" bIns="0">
            <a:spAutoFit/>
          </a:bodyPr>
          <a:lstStyle/>
          <a:p>
            <a:pPr algn="ctr"/>
            <a:r>
              <a:rPr sz="950" b="0" i="1">
                <a:solidFill>
                  <a:srgbClr val="ACD3D6"/>
                </a:solidFill>
                <a:latin typeface="Segoe UI"/>
              </a:rPr>
              <a:t>(quantitative focus)</a:t>
            </a:r>
          </a:p>
        </p:txBody>
      </p:sp>
      <p:sp>
        <p:nvSpPr>
          <p:cNvPr id="38" name="TextBox 37"/>
          <p:cNvSpPr txBox="1"/>
          <p:nvPr/>
        </p:nvSpPr>
        <p:spPr>
          <a:xfrm>
            <a:off x="10172700" y="3968496"/>
            <a:ext cx="1668780" cy="320040"/>
          </a:xfrm>
          <a:prstGeom prst="rect">
            <a:avLst/>
          </a:prstGeom>
          <a:noFill/>
        </p:spPr>
        <p:txBody>
          <a:bodyPr wrap="square" anchor="t" lIns="0" rIns="0" tIns="0" bIns="0">
            <a:spAutoFit/>
          </a:bodyPr>
          <a:lstStyle/>
          <a:p>
            <a:pPr algn="ctr"/>
            <a:r>
              <a:rPr sz="950" b="0" i="1">
                <a:solidFill>
                  <a:srgbClr val="ACD3D6"/>
                </a:solidFill>
                <a:latin typeface="Segoe UI"/>
              </a:rPr>
              <a:t>(quantitative focus)</a:t>
            </a:r>
          </a:p>
        </p:txBody>
      </p:sp>
      <p:sp>
        <p:nvSpPr>
          <p:cNvPr id="39" name="Rounded Rectangle 38"/>
          <p:cNvSpPr/>
          <p:nvPr/>
        </p:nvSpPr>
        <p:spPr>
          <a:xfrm>
            <a:off x="822960" y="4526280"/>
            <a:ext cx="10561320" cy="566928"/>
          </a:xfrm>
          <a:prstGeom prst="roundRect">
            <a:avLst/>
          </a:prstGeom>
          <a:solidFill>
            <a:srgbClr val="2952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22960" y="4526280"/>
            <a:ext cx="82296" cy="566928"/>
          </a:xfrm>
          <a:prstGeom prst="round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526280"/>
            <a:ext cx="10149840" cy="566928"/>
          </a:xfrm>
          <a:prstGeom prst="rect">
            <a:avLst/>
          </a:prstGeom>
          <a:noFill/>
        </p:spPr>
        <p:txBody>
          <a:bodyPr wrap="square" anchor="ctr" lIns="0" rIns="0" tIns="0" bIns="0">
            <a:spAutoFit/>
          </a:bodyPr>
          <a:lstStyle/>
          <a:p>
            <a:pPr algn="l"/>
            <a:r>
              <a:rPr sz="1400" b="0" i="1">
                <a:solidFill>
                  <a:srgbClr val="FFFFFF"/>
                </a:solidFill>
                <a:latin typeface="Segoe UI"/>
              </a:rPr>
              <a:t>Each stop builds on the one before it - you cannot skip a step and still end up with a defensible research problem.</a:t>
            </a:r>
          </a:p>
        </p:txBody>
      </p:sp>
      <p:sp>
        <p:nvSpPr>
          <p:cNvPr id="42" name="TextBox 41"/>
          <p:cNvSpPr txBox="1"/>
          <p:nvPr/>
        </p:nvSpPr>
        <p:spPr>
          <a:xfrm>
            <a:off x="822960" y="6446520"/>
            <a:ext cx="10515600" cy="320040"/>
          </a:xfrm>
          <a:prstGeom prst="rect">
            <a:avLst/>
          </a:prstGeom>
          <a:noFill/>
        </p:spPr>
        <p:txBody>
          <a:bodyPr wrap="square" anchor="t" lIns="0" rIns="0" tIns="0" bIns="0">
            <a:spAutoFit/>
          </a:bodyPr>
          <a:lstStyle/>
          <a:p>
            <a:pPr algn="l"/>
            <a:r>
              <a:rPr sz="1050" b="0" i="1">
                <a:solidFill>
                  <a:srgbClr val="FFFFFF"/>
                </a:solidFill>
                <a:latin typeface="Segoe UI"/>
              </a:rPr>
              <a:t>Running case study: one coastal-barangay plastic-waste story carried through every stage.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14828C">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14828C"/>
                </a:solidFill>
                <a:latin typeface="Segoe UI"/>
              </a:rPr>
              <a:t>PART 1 - EVALUATING SOURCES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Too Many Sources, Too Little Time</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Scenario framing</a:t>
            </a:r>
          </a:p>
        </p:txBody>
      </p:sp>
      <p:sp>
        <p:nvSpPr>
          <p:cNvPr id="8" name="Rectangle 7"/>
          <p:cNvSpPr/>
          <p:nvPr/>
        </p:nvSpPr>
        <p:spPr>
          <a:xfrm>
            <a:off x="576072" y="1572768"/>
            <a:ext cx="1554480" cy="50292"/>
          </a:xfrm>
          <a:prstGeom prst="rect">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02  /  51</a:t>
            </a:r>
          </a:p>
        </p:txBody>
      </p:sp>
      <p:sp>
        <p:nvSpPr>
          <p:cNvPr id="10" name="TextBox 9"/>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1" name="TextBox 10"/>
          <p:cNvSpPr txBox="1"/>
          <p:nvPr/>
        </p:nvSpPr>
        <p:spPr>
          <a:xfrm>
            <a:off x="566928" y="2148840"/>
            <a:ext cx="6583680" cy="3657600"/>
          </a:xfrm>
          <a:prstGeom prst="rect">
            <a:avLst/>
          </a:prstGeom>
          <a:noFill/>
        </p:spPr>
        <p:txBody>
          <a:bodyPr wrap="square" lIns="0" rIns="0" tIns="0" bIns="0">
            <a:spAutoFit/>
          </a:bodyPr>
          <a:lstStyle/>
          <a:p>
            <a:pPr>
              <a:lnSpc>
                <a:spcPct val="104000"/>
              </a:lnSpc>
              <a:spcAft>
                <a:spcPts val="1400"/>
              </a:spcAft>
            </a:pPr>
            <a:r>
              <a:rPr sz="1300">
                <a:solidFill>
                  <a:srgbClr val="14828C"/>
                </a:solidFill>
              </a:rPr>
              <a:t>■  </a:t>
            </a:r>
            <a:r>
              <a:rPr sz="1700" b="0" i="0">
                <a:solidFill>
                  <a:srgbClr val="14252E"/>
                </a:solidFill>
                <a:latin typeface="Segoe UI"/>
              </a:rPr>
              <a:t>A STEM research group wants to study plastic waste in a coastal barangay.</a:t>
            </a:r>
          </a:p>
          <a:p>
            <a:pPr>
              <a:lnSpc>
                <a:spcPct val="104000"/>
              </a:lnSpc>
              <a:spcAft>
                <a:spcPts val="1400"/>
              </a:spcAft>
            </a:pPr>
            <a:r>
              <a:rPr sz="1300">
                <a:solidFill>
                  <a:srgbClr val="14828C"/>
                </a:solidFill>
              </a:rPr>
              <a:t>■  </a:t>
            </a:r>
            <a:r>
              <a:rPr sz="1700" b="0" i="0">
                <a:solidFill>
                  <a:srgbClr val="14252E"/>
                </a:solidFill>
                <a:latin typeface="Segoe UI"/>
              </a:rPr>
              <a:t>A search turns up: </a:t>
            </a:r>
            <a:r>
              <a:rPr sz="1700" b="1" i="0">
                <a:solidFill>
                  <a:srgbClr val="14252E"/>
                </a:solidFill>
                <a:latin typeface="Segoe UI"/>
              </a:rPr>
              <a:t>3 government reports, 4 peer-reviewed journal articles, 12 news articles, 20+ blog posts and social media threads.</a:t>
            </a:r>
          </a:p>
          <a:p>
            <a:pPr>
              <a:lnSpc>
                <a:spcPct val="104000"/>
              </a:lnSpc>
              <a:spcAft>
                <a:spcPts val="1400"/>
              </a:spcAft>
            </a:pPr>
            <a:r>
              <a:rPr sz="1300">
                <a:solidFill>
                  <a:srgbClr val="14828C"/>
                </a:solidFill>
              </a:rPr>
              <a:t>■  </a:t>
            </a:r>
            <a:r>
              <a:rPr sz="1700" b="0" i="0">
                <a:solidFill>
                  <a:srgbClr val="14252E"/>
                </a:solidFill>
                <a:latin typeface="Segoe UI"/>
              </a:rPr>
              <a:t>The real question isn't </a:t>
            </a:r>
            <a:r>
              <a:rPr sz="1700" b="0" i="1">
                <a:solidFill>
                  <a:srgbClr val="14252E"/>
                </a:solidFill>
                <a:latin typeface="Segoe UI"/>
              </a:rPr>
              <a:t>“How much can I find?”</a:t>
            </a:r>
            <a:r>
              <a:rPr sz="1700" b="0" i="0">
                <a:solidFill>
                  <a:srgbClr val="14252E"/>
                </a:solidFill>
                <a:latin typeface="Segoe UI"/>
              </a:rPr>
              <a:t> - it's </a:t>
            </a:r>
            <a:r>
              <a:rPr sz="1700" b="0" i="1">
                <a:solidFill>
                  <a:srgbClr val="14252E"/>
                </a:solidFill>
                <a:latin typeface="Segoe UI"/>
              </a:rPr>
              <a:t>“Which of these can I actually trust and use?”</a:t>
            </a:r>
          </a:p>
        </p:txBody>
      </p:sp>
      <p:sp>
        <p:nvSpPr>
          <p:cNvPr id="12" name="Rounded Rectangle 11"/>
          <p:cNvSpPr/>
          <p:nvPr/>
        </p:nvSpPr>
        <p:spPr>
          <a:xfrm>
            <a:off x="7498079" y="2148840"/>
            <a:ext cx="4114800" cy="393192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498079" y="2148840"/>
            <a:ext cx="4114800" cy="502920"/>
          </a:xfrm>
          <a:prstGeom prst="roundRect">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6679" y="2148840"/>
            <a:ext cx="3657600" cy="502920"/>
          </a:xfrm>
          <a:prstGeom prst="rect">
            <a:avLst/>
          </a:prstGeom>
          <a:noFill/>
        </p:spPr>
        <p:txBody>
          <a:bodyPr wrap="square" anchor="ctr" lIns="0" rIns="0" tIns="0" bIns="0">
            <a:spAutoFit/>
          </a:bodyPr>
          <a:lstStyle/>
          <a:p>
            <a:pPr algn="l"/>
            <a:r>
              <a:rPr sz="1300" b="1" i="0">
                <a:solidFill>
                  <a:srgbClr val="FFFFFF"/>
                </a:solidFill>
                <a:latin typeface="Segoe UI"/>
              </a:rPr>
              <a:t>🔍   Search results (unsorted)</a:t>
            </a:r>
          </a:p>
        </p:txBody>
      </p:sp>
      <p:sp>
        <p:nvSpPr>
          <p:cNvPr id="15" name="Rounded Rectangle 14"/>
          <p:cNvSpPr/>
          <p:nvPr/>
        </p:nvSpPr>
        <p:spPr>
          <a:xfrm>
            <a:off x="7726679" y="2834640"/>
            <a:ext cx="3657600" cy="566928"/>
          </a:xfrm>
          <a:prstGeom prst="roundRect">
            <a:avLst>
              <a:gd name="adj" fmla="val 8000"/>
            </a:avLst>
          </a:prstGeom>
          <a:solidFill>
            <a:srgbClr val="ECF2F3"/>
          </a:solidFill>
          <a:ln w="12700">
            <a:solidFill>
              <a:srgbClr val="DD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863840" y="2935224"/>
            <a:ext cx="658368" cy="365760"/>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2935224"/>
            <a:ext cx="658368" cy="365760"/>
          </a:xfrm>
          <a:prstGeom prst="rect">
            <a:avLst/>
          </a:prstGeom>
          <a:noFill/>
        </p:spPr>
        <p:txBody>
          <a:bodyPr wrap="square" anchor="ctr" lIns="0" rIns="0" tIns="0" bIns="0">
            <a:spAutoFit/>
          </a:bodyPr>
          <a:lstStyle/>
          <a:p>
            <a:pPr algn="ctr"/>
            <a:r>
              <a:rPr sz="1400" b="1" i="0">
                <a:solidFill>
                  <a:srgbClr val="FFFFFF"/>
                </a:solidFill>
                <a:latin typeface="Segoe UI"/>
              </a:rPr>
              <a:t>3</a:t>
            </a:r>
          </a:p>
        </p:txBody>
      </p:sp>
      <p:sp>
        <p:nvSpPr>
          <p:cNvPr id="18" name="TextBox 17"/>
          <p:cNvSpPr txBox="1"/>
          <p:nvPr/>
        </p:nvSpPr>
        <p:spPr>
          <a:xfrm>
            <a:off x="8686800" y="2834640"/>
            <a:ext cx="2560320" cy="566928"/>
          </a:xfrm>
          <a:prstGeom prst="rect">
            <a:avLst/>
          </a:prstGeom>
          <a:noFill/>
        </p:spPr>
        <p:txBody>
          <a:bodyPr wrap="square" anchor="ctr" lIns="0" rIns="0" tIns="0" bIns="0">
            <a:spAutoFit/>
          </a:bodyPr>
          <a:lstStyle/>
          <a:p>
            <a:pPr algn="l"/>
            <a:r>
              <a:rPr sz="1300" b="1" i="0">
                <a:solidFill>
                  <a:srgbClr val="14252E"/>
                </a:solidFill>
                <a:latin typeface="Segoe UI"/>
              </a:rPr>
              <a:t>Gov't reports</a:t>
            </a:r>
          </a:p>
        </p:txBody>
      </p:sp>
      <p:sp>
        <p:nvSpPr>
          <p:cNvPr id="19" name="Rounded Rectangle 18"/>
          <p:cNvSpPr/>
          <p:nvPr/>
        </p:nvSpPr>
        <p:spPr>
          <a:xfrm>
            <a:off x="7726679" y="3547872"/>
            <a:ext cx="3657600" cy="566928"/>
          </a:xfrm>
          <a:prstGeom prst="roundRect">
            <a:avLst>
              <a:gd name="adj" fmla="val 8000"/>
            </a:avLst>
          </a:prstGeom>
          <a:solidFill>
            <a:srgbClr val="ECF2F3"/>
          </a:solidFill>
          <a:ln w="12700">
            <a:solidFill>
              <a:srgbClr val="DD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863840" y="3648456"/>
            <a:ext cx="658368" cy="36576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0" y="3648456"/>
            <a:ext cx="658368" cy="365760"/>
          </a:xfrm>
          <a:prstGeom prst="rect">
            <a:avLst/>
          </a:prstGeom>
          <a:noFill/>
        </p:spPr>
        <p:txBody>
          <a:bodyPr wrap="square" anchor="ctr" lIns="0" rIns="0" tIns="0" bIns="0">
            <a:spAutoFit/>
          </a:bodyPr>
          <a:lstStyle/>
          <a:p>
            <a:pPr algn="ctr"/>
            <a:r>
              <a:rPr sz="1400" b="1" i="0">
                <a:solidFill>
                  <a:srgbClr val="FFFFFF"/>
                </a:solidFill>
                <a:latin typeface="Segoe UI"/>
              </a:rPr>
              <a:t>4</a:t>
            </a:r>
          </a:p>
        </p:txBody>
      </p:sp>
      <p:sp>
        <p:nvSpPr>
          <p:cNvPr id="22" name="TextBox 21"/>
          <p:cNvSpPr txBox="1"/>
          <p:nvPr/>
        </p:nvSpPr>
        <p:spPr>
          <a:xfrm>
            <a:off x="8686800" y="3547872"/>
            <a:ext cx="2560320" cy="566928"/>
          </a:xfrm>
          <a:prstGeom prst="rect">
            <a:avLst/>
          </a:prstGeom>
          <a:noFill/>
        </p:spPr>
        <p:txBody>
          <a:bodyPr wrap="square" anchor="ctr" lIns="0" rIns="0" tIns="0" bIns="0">
            <a:spAutoFit/>
          </a:bodyPr>
          <a:lstStyle/>
          <a:p>
            <a:pPr algn="l"/>
            <a:r>
              <a:rPr sz="1300" b="1" i="0">
                <a:solidFill>
                  <a:srgbClr val="14252E"/>
                </a:solidFill>
                <a:latin typeface="Segoe UI"/>
              </a:rPr>
              <a:t>Journal articles</a:t>
            </a:r>
          </a:p>
        </p:txBody>
      </p:sp>
      <p:sp>
        <p:nvSpPr>
          <p:cNvPr id="23" name="Rounded Rectangle 22"/>
          <p:cNvSpPr/>
          <p:nvPr/>
        </p:nvSpPr>
        <p:spPr>
          <a:xfrm>
            <a:off x="7726679" y="4261104"/>
            <a:ext cx="3657600" cy="566928"/>
          </a:xfrm>
          <a:prstGeom prst="roundRect">
            <a:avLst>
              <a:gd name="adj" fmla="val 8000"/>
            </a:avLst>
          </a:prstGeom>
          <a:solidFill>
            <a:srgbClr val="ECF2F3"/>
          </a:solidFill>
          <a:ln w="12700">
            <a:solidFill>
              <a:srgbClr val="DD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863840" y="4361688"/>
            <a:ext cx="658368" cy="365760"/>
          </a:xfrm>
          <a:prstGeom prst="round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4361688"/>
            <a:ext cx="658368" cy="365760"/>
          </a:xfrm>
          <a:prstGeom prst="rect">
            <a:avLst/>
          </a:prstGeom>
          <a:noFill/>
        </p:spPr>
        <p:txBody>
          <a:bodyPr wrap="square" anchor="ctr" lIns="0" rIns="0" tIns="0" bIns="0">
            <a:spAutoFit/>
          </a:bodyPr>
          <a:lstStyle/>
          <a:p>
            <a:pPr algn="ctr"/>
            <a:r>
              <a:rPr sz="1400" b="1" i="0">
                <a:solidFill>
                  <a:srgbClr val="FFFFFF"/>
                </a:solidFill>
                <a:latin typeface="Segoe UI"/>
              </a:rPr>
              <a:t>12</a:t>
            </a:r>
          </a:p>
        </p:txBody>
      </p:sp>
      <p:sp>
        <p:nvSpPr>
          <p:cNvPr id="26" name="TextBox 25"/>
          <p:cNvSpPr txBox="1"/>
          <p:nvPr/>
        </p:nvSpPr>
        <p:spPr>
          <a:xfrm>
            <a:off x="8686800" y="4261104"/>
            <a:ext cx="2560320" cy="566928"/>
          </a:xfrm>
          <a:prstGeom prst="rect">
            <a:avLst/>
          </a:prstGeom>
          <a:noFill/>
        </p:spPr>
        <p:txBody>
          <a:bodyPr wrap="square" anchor="ctr" lIns="0" rIns="0" tIns="0" bIns="0">
            <a:spAutoFit/>
          </a:bodyPr>
          <a:lstStyle/>
          <a:p>
            <a:pPr algn="l"/>
            <a:r>
              <a:rPr sz="1300" b="1" i="0">
                <a:solidFill>
                  <a:srgbClr val="14252E"/>
                </a:solidFill>
                <a:latin typeface="Segoe UI"/>
              </a:rPr>
              <a:t>News articles</a:t>
            </a:r>
          </a:p>
        </p:txBody>
      </p:sp>
      <p:sp>
        <p:nvSpPr>
          <p:cNvPr id="27" name="Rounded Rectangle 26"/>
          <p:cNvSpPr/>
          <p:nvPr/>
        </p:nvSpPr>
        <p:spPr>
          <a:xfrm>
            <a:off x="7726679" y="4974336"/>
            <a:ext cx="3657600" cy="566928"/>
          </a:xfrm>
          <a:prstGeom prst="roundRect">
            <a:avLst>
              <a:gd name="adj" fmla="val 8000"/>
            </a:avLst>
          </a:prstGeom>
          <a:solidFill>
            <a:srgbClr val="ECF2F3"/>
          </a:solidFill>
          <a:ln w="12700">
            <a:solidFill>
              <a:srgbClr val="DD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863840" y="5074920"/>
            <a:ext cx="658368" cy="36576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0" y="5074920"/>
            <a:ext cx="658368" cy="365760"/>
          </a:xfrm>
          <a:prstGeom prst="rect">
            <a:avLst/>
          </a:prstGeom>
          <a:noFill/>
        </p:spPr>
        <p:txBody>
          <a:bodyPr wrap="square" anchor="ctr" lIns="0" rIns="0" tIns="0" bIns="0">
            <a:spAutoFit/>
          </a:bodyPr>
          <a:lstStyle/>
          <a:p>
            <a:pPr algn="ctr"/>
            <a:r>
              <a:rPr sz="1400" b="1" i="0">
                <a:solidFill>
                  <a:srgbClr val="FFFFFF"/>
                </a:solidFill>
                <a:latin typeface="Segoe UI"/>
              </a:rPr>
              <a:t>20+</a:t>
            </a:r>
          </a:p>
        </p:txBody>
      </p:sp>
      <p:sp>
        <p:nvSpPr>
          <p:cNvPr id="30" name="TextBox 29"/>
          <p:cNvSpPr txBox="1"/>
          <p:nvPr/>
        </p:nvSpPr>
        <p:spPr>
          <a:xfrm>
            <a:off x="8686800" y="4974336"/>
            <a:ext cx="2560320" cy="566928"/>
          </a:xfrm>
          <a:prstGeom prst="rect">
            <a:avLst/>
          </a:prstGeom>
          <a:noFill/>
        </p:spPr>
        <p:txBody>
          <a:bodyPr wrap="square" anchor="ctr" lIns="0" rIns="0" tIns="0" bIns="0">
            <a:spAutoFit/>
          </a:bodyPr>
          <a:lstStyle/>
          <a:p>
            <a:pPr algn="l"/>
            <a:r>
              <a:rPr sz="1300" b="1" i="0">
                <a:solidFill>
                  <a:srgbClr val="14252E"/>
                </a:solidFill>
                <a:latin typeface="Segoe UI"/>
              </a:rPr>
              <a:t>Blogs / social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14828C">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14828C"/>
                </a:solidFill>
                <a:latin typeface="Segoe UI"/>
              </a:rPr>
              <a:t>PART 1 - EVALUATING SOURCES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Types and Quality of Sources</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Comparison table</a:t>
            </a:r>
          </a:p>
        </p:txBody>
      </p:sp>
      <p:sp>
        <p:nvSpPr>
          <p:cNvPr id="8" name="Rectangle 7"/>
          <p:cNvSpPr/>
          <p:nvPr/>
        </p:nvSpPr>
        <p:spPr>
          <a:xfrm>
            <a:off x="576072" y="1572768"/>
            <a:ext cx="1554480" cy="50292"/>
          </a:xfrm>
          <a:prstGeom prst="rect">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03  /  51</a:t>
            </a:r>
          </a:p>
        </p:txBody>
      </p:sp>
      <p:sp>
        <p:nvSpPr>
          <p:cNvPr id="10" name="TextBox 9"/>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graphicFrame>
        <p:nvGraphicFramePr>
          <p:cNvPr id="11" name="Table 10"/>
          <p:cNvGraphicFramePr>
            <a:graphicFrameLocks noGrp="1"/>
          </p:cNvGraphicFramePr>
          <p:nvPr/>
        </p:nvGraphicFramePr>
        <p:xfrm>
          <a:off x="566928" y="1965960"/>
          <a:ext cx="11064240" cy="4187952"/>
        </p:xfrm>
        <a:graphic>
          <a:graphicData uri="http://schemas.openxmlformats.org/drawingml/2006/table">
            <a:tbl>
              <a:tblPr>
                <a:tableStyleId>{5C22544A-7EE6-4342-B048-85BDC9FD1C3A}</a:tableStyleId>
              </a:tblPr>
              <a:tblGrid>
                <a:gridCol w="2834640"/>
                <a:gridCol w="4572000"/>
                <a:gridCol w="3657600"/>
              </a:tblGrid>
              <a:tr h="457200">
                <a:tc>
                  <a:txBody>
                    <a:bodyPr wrap="square"/>
                    <a:lstStyle/>
                    <a:p>
                      <a:pPr algn="l"/>
                      <a:r>
                        <a:rPr sz="1400" b="1" i="0">
                          <a:solidFill>
                            <a:srgbClr val="FFFFFF"/>
                          </a:solidFill>
                          <a:latin typeface="Segoe UI"/>
                        </a:rPr>
                        <a:t>Category</a:t>
                      </a:r>
                    </a:p>
                  </a:txBody>
                  <a:tcPr marL="100584" marR="82296" marT="45720" marB="45720" anchor="ctr">
                    <a:solidFill>
                      <a:srgbClr val="14828C"/>
                    </a:solidFill>
                  </a:tcPr>
                </a:tc>
                <a:tc>
                  <a:txBody>
                    <a:bodyPr wrap="square"/>
                    <a:lstStyle/>
                    <a:p>
                      <a:pPr algn="l"/>
                      <a:r>
                        <a:rPr sz="1400" b="1" i="0">
                          <a:solidFill>
                            <a:srgbClr val="FFFFFF"/>
                          </a:solidFill>
                          <a:latin typeface="Segoe UI"/>
                        </a:rPr>
                        <a:t>Definition</a:t>
                      </a:r>
                    </a:p>
                  </a:txBody>
                  <a:tcPr marL="100584" marR="82296" marT="45720" marB="45720" anchor="ctr">
                    <a:solidFill>
                      <a:srgbClr val="14828C"/>
                    </a:solidFill>
                  </a:tcPr>
                </a:tc>
                <a:tc>
                  <a:txBody>
                    <a:bodyPr wrap="square"/>
                    <a:lstStyle/>
                    <a:p>
                      <a:pPr algn="l"/>
                      <a:r>
                        <a:rPr sz="1400" b="1" i="0">
                          <a:solidFill>
                            <a:srgbClr val="FFFFFF"/>
                          </a:solidFill>
                          <a:latin typeface="Segoe UI"/>
                        </a:rPr>
                        <a:t>Typical Example</a:t>
                      </a:r>
                    </a:p>
                  </a:txBody>
                  <a:tcPr marL="100584" marR="82296" marT="45720" marB="45720" anchor="ctr">
                    <a:solidFill>
                      <a:srgbClr val="14828C"/>
                    </a:solidFill>
                  </a:tcPr>
                </a:tc>
              </a:tr>
              <a:tr h="932688">
                <a:tc>
                  <a:txBody>
                    <a:bodyPr wrap="square"/>
                    <a:lstStyle/>
                    <a:p>
                      <a:pPr algn="l"/>
                      <a:r>
                        <a:rPr sz="1250" b="1" i="1">
                          <a:solidFill>
                            <a:srgbClr val="14252E"/>
                          </a:solidFill>
                          <a:latin typeface="Segoe UI"/>
                        </a:rPr>
                        <a:t>Primary source</a:t>
                      </a:r>
                    </a:p>
                  </a:txBody>
                  <a:tcPr marL="100584" marR="82296" marT="45720" marB="45720" anchor="ctr">
                    <a:solidFill>
                      <a:srgbClr val="FFFFFF"/>
                    </a:solidFill>
                  </a:tcPr>
                </a:tc>
                <a:tc>
                  <a:txBody>
                    <a:bodyPr wrap="square"/>
                    <a:lstStyle/>
                    <a:p>
                      <a:pPr algn="l"/>
                      <a:r>
                        <a:rPr sz="1250" b="0" i="0">
                          <a:solidFill>
                            <a:srgbClr val="3A4B54"/>
                          </a:solidFill>
                          <a:latin typeface="Segoe UI"/>
                        </a:rPr>
                        <a:t>Original data or firsthand account produced by the researcher(s) who conducted the study</a:t>
                      </a:r>
                    </a:p>
                  </a:txBody>
                  <a:tcPr marL="100584" marR="82296" marT="45720" marB="45720" anchor="ctr">
                    <a:solidFill>
                      <a:srgbClr val="FFFFFF"/>
                    </a:solidFill>
                  </a:tcPr>
                </a:tc>
                <a:tc>
                  <a:txBody>
                    <a:bodyPr wrap="square"/>
                    <a:lstStyle/>
                    <a:p>
                      <a:pPr algn="l"/>
                      <a:r>
                        <a:rPr sz="1250" b="0" i="0">
                          <a:solidFill>
                            <a:srgbClr val="3A4B54"/>
                          </a:solidFill>
                          <a:latin typeface="Segoe UI"/>
                        </a:rPr>
                        <a:t>A journal article reporting a barangay's original waste-audit data</a:t>
                      </a:r>
                    </a:p>
                  </a:txBody>
                  <a:tcPr marL="100584" marR="82296" marT="45720" marB="45720" anchor="ctr">
                    <a:solidFill>
                      <a:srgbClr val="FFFFFF"/>
                    </a:solidFill>
                  </a:tcPr>
                </a:tc>
              </a:tr>
              <a:tr h="932688">
                <a:tc>
                  <a:txBody>
                    <a:bodyPr wrap="square"/>
                    <a:lstStyle/>
                    <a:p>
                      <a:pPr algn="l"/>
                      <a:r>
                        <a:rPr sz="1250" b="1" i="1">
                          <a:solidFill>
                            <a:srgbClr val="14252E"/>
                          </a:solidFill>
                          <a:latin typeface="Segoe UI"/>
                        </a:rPr>
                        <a:t>Secondary source</a:t>
                      </a:r>
                    </a:p>
                  </a:txBody>
                  <a:tcPr marL="100584" marR="82296" marT="45720" marB="45720" anchor="ctr">
                    <a:solidFill>
                      <a:srgbClr val="ECF2F3"/>
                    </a:solidFill>
                  </a:tcPr>
                </a:tc>
                <a:tc>
                  <a:txBody>
                    <a:bodyPr wrap="square"/>
                    <a:lstStyle/>
                    <a:p>
                      <a:pPr algn="l"/>
                      <a:r>
                        <a:rPr sz="1250" b="0" i="0">
                          <a:solidFill>
                            <a:srgbClr val="3A4B54"/>
                          </a:solidFill>
                          <a:latin typeface="Segoe UI"/>
                        </a:rPr>
                        <a:t>A work that describes, summarizes, or comments on someone else's original research</a:t>
                      </a:r>
                    </a:p>
                  </a:txBody>
                  <a:tcPr marL="100584" marR="82296" marT="45720" marB="45720" anchor="ctr">
                    <a:solidFill>
                      <a:srgbClr val="ECF2F3"/>
                    </a:solidFill>
                  </a:tcPr>
                </a:tc>
                <a:tc>
                  <a:txBody>
                    <a:bodyPr wrap="square"/>
                    <a:lstStyle/>
                    <a:p>
                      <a:pPr algn="l"/>
                      <a:r>
                        <a:rPr sz="1250" b="0" i="0">
                          <a:solidFill>
                            <a:srgbClr val="3A4B54"/>
                          </a:solidFill>
                          <a:latin typeface="Segoe UI"/>
                        </a:rPr>
                        <a:t>A news article reporting on that same waste-audit study</a:t>
                      </a:r>
                    </a:p>
                  </a:txBody>
                  <a:tcPr marL="100584" marR="82296" marT="45720" marB="45720" anchor="ctr">
                    <a:solidFill>
                      <a:srgbClr val="ECF2F3"/>
                    </a:solidFill>
                  </a:tcPr>
                </a:tc>
              </a:tr>
              <a:tr h="932688">
                <a:tc>
                  <a:txBody>
                    <a:bodyPr wrap="square"/>
                    <a:lstStyle/>
                    <a:p>
                      <a:pPr algn="l"/>
                      <a:r>
                        <a:rPr sz="1250" b="1" i="1">
                          <a:solidFill>
                            <a:srgbClr val="14252E"/>
                          </a:solidFill>
                          <a:latin typeface="Segoe UI"/>
                        </a:rPr>
                        <a:t>Scholarly / peer-reviewed source</a:t>
                      </a:r>
                    </a:p>
                  </a:txBody>
                  <a:tcPr marL="100584" marR="82296" marT="45720" marB="45720" anchor="ctr">
                    <a:solidFill>
                      <a:srgbClr val="FFFFFF"/>
                    </a:solidFill>
                  </a:tcPr>
                </a:tc>
                <a:tc>
                  <a:txBody>
                    <a:bodyPr wrap="square"/>
                    <a:lstStyle/>
                    <a:p>
                      <a:pPr algn="l"/>
                      <a:r>
                        <a:rPr sz="1250" b="0" i="0">
                          <a:solidFill>
                            <a:srgbClr val="3A4B54"/>
                          </a:solidFill>
                          <a:latin typeface="Segoe UI"/>
                        </a:rPr>
                        <a:t>Reviewed by an editorial board of experts before publication</a:t>
                      </a:r>
                    </a:p>
                  </a:txBody>
                  <a:tcPr marL="100584" marR="82296" marT="45720" marB="45720" anchor="ctr">
                    <a:solidFill>
                      <a:srgbClr val="FFFFFF"/>
                    </a:solidFill>
                  </a:tcPr>
                </a:tc>
                <a:tc>
                  <a:txBody>
                    <a:bodyPr wrap="square"/>
                    <a:lstStyle/>
                    <a:p>
                      <a:pPr algn="l"/>
                      <a:r>
                        <a:rPr sz="1250" b="0" i="0">
                          <a:solidFill>
                            <a:srgbClr val="3A4B54"/>
                          </a:solidFill>
                          <a:latin typeface="Segoe UI"/>
                        </a:rPr>
                        <a:t>An article in a refereed academic journal</a:t>
                      </a:r>
                    </a:p>
                  </a:txBody>
                  <a:tcPr marL="100584" marR="82296" marT="45720" marB="45720" anchor="ctr">
                    <a:solidFill>
                      <a:srgbClr val="FFFFFF"/>
                    </a:solidFill>
                  </a:tcPr>
                </a:tc>
              </a:tr>
              <a:tr h="932688">
                <a:tc>
                  <a:txBody>
                    <a:bodyPr wrap="square"/>
                    <a:lstStyle/>
                    <a:p>
                      <a:pPr algn="l"/>
                      <a:r>
                        <a:rPr sz="1250" b="1" i="1">
                          <a:solidFill>
                            <a:srgbClr val="14252E"/>
                          </a:solidFill>
                          <a:latin typeface="Segoe UI"/>
                        </a:rPr>
                        <a:t>Popular / non-scholarly source</a:t>
                      </a:r>
                    </a:p>
                  </a:txBody>
                  <a:tcPr marL="100584" marR="82296" marT="45720" marB="45720" anchor="ctr">
                    <a:solidFill>
                      <a:srgbClr val="ECF2F3"/>
                    </a:solidFill>
                  </a:tcPr>
                </a:tc>
                <a:tc>
                  <a:txBody>
                    <a:bodyPr wrap="square"/>
                    <a:lstStyle/>
                    <a:p>
                      <a:pPr algn="l"/>
                      <a:r>
                        <a:rPr sz="1250" b="0" i="0">
                          <a:solidFill>
                            <a:srgbClr val="3A4B54"/>
                          </a:solidFill>
                          <a:latin typeface="Segoe UI"/>
                        </a:rPr>
                        <a:t>Written for a general audience, no formal expert review</a:t>
                      </a:r>
                    </a:p>
                  </a:txBody>
                  <a:tcPr marL="100584" marR="82296" marT="45720" marB="45720" anchor="ctr">
                    <a:solidFill>
                      <a:srgbClr val="ECF2F3"/>
                    </a:solidFill>
                  </a:tcPr>
                </a:tc>
                <a:tc>
                  <a:txBody>
                    <a:bodyPr wrap="square"/>
                    <a:lstStyle/>
                    <a:p>
                      <a:pPr algn="l"/>
                      <a:r>
                        <a:rPr sz="1250" b="0" i="0">
                          <a:solidFill>
                            <a:srgbClr val="3A4B54"/>
                          </a:solidFill>
                          <a:latin typeface="Segoe UI"/>
                        </a:rPr>
                        <a:t>A blog post, opinion piece, or social media post</a:t>
                      </a:r>
                    </a:p>
                  </a:txBody>
                  <a:tcPr marL="100584" marR="82296" marT="45720" marB="45720" anchor="ctr">
                    <a:solidFill>
                      <a:srgbClr val="ECF2F3"/>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14828C">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14828C"/>
                </a:solidFill>
                <a:latin typeface="Segoe UI"/>
              </a:rPr>
              <a:t>PART 1 - EVALUATING SOURCES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Rating Real Sources on Plastic Waste</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Annotated examples</a:t>
            </a:r>
          </a:p>
        </p:txBody>
      </p:sp>
      <p:sp>
        <p:nvSpPr>
          <p:cNvPr id="8" name="Rectangle 7"/>
          <p:cNvSpPr/>
          <p:nvPr/>
        </p:nvSpPr>
        <p:spPr>
          <a:xfrm>
            <a:off x="576072" y="1572768"/>
            <a:ext cx="1554480" cy="50292"/>
          </a:xfrm>
          <a:prstGeom prst="rect">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04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2057400"/>
            <a:ext cx="2560320" cy="3977639"/>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2057400"/>
            <a:ext cx="2560320" cy="658368"/>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31520" y="2157984"/>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57984"/>
            <a:ext cx="457200" cy="457200"/>
          </a:xfrm>
          <a:prstGeom prst="rect">
            <a:avLst/>
          </a:prstGeom>
          <a:noFill/>
        </p:spPr>
        <p:txBody>
          <a:bodyPr wrap="square" anchor="ctr" lIns="0" rIns="0" tIns="0" bIns="0">
            <a:spAutoFit/>
          </a:bodyPr>
          <a:lstStyle/>
          <a:p>
            <a:pPr algn="ctr"/>
            <a:r>
              <a:rPr sz="1800" b="1" i="0">
                <a:solidFill>
                  <a:srgbClr val="2A9D8F"/>
                </a:solidFill>
                <a:latin typeface="Segoe UI"/>
              </a:rPr>
              <a:t>A</a:t>
            </a:r>
          </a:p>
        </p:txBody>
      </p:sp>
      <p:sp>
        <p:nvSpPr>
          <p:cNvPr id="17" name="TextBox 16"/>
          <p:cNvSpPr txBox="1"/>
          <p:nvPr/>
        </p:nvSpPr>
        <p:spPr>
          <a:xfrm>
            <a:off x="1298448" y="2057400"/>
            <a:ext cx="1737360" cy="658368"/>
          </a:xfrm>
          <a:prstGeom prst="rect">
            <a:avLst/>
          </a:prstGeom>
          <a:noFill/>
        </p:spPr>
        <p:txBody>
          <a:bodyPr wrap="square" anchor="ctr" lIns="0" rIns="0" tIns="0" bIns="0">
            <a:spAutoFit/>
          </a:bodyPr>
          <a:lstStyle/>
          <a:p>
            <a:pPr algn="l"/>
            <a:r>
              <a:rPr sz="1400" b="1" i="0">
                <a:solidFill>
                  <a:srgbClr val="FFFFFF"/>
                </a:solidFill>
                <a:latin typeface="Segoe UI"/>
              </a:rPr>
              <a:t>Source A</a:t>
            </a:r>
          </a:p>
        </p:txBody>
      </p:sp>
      <p:sp>
        <p:nvSpPr>
          <p:cNvPr id="18" name="TextBox 17"/>
          <p:cNvSpPr txBox="1"/>
          <p:nvPr/>
        </p:nvSpPr>
        <p:spPr>
          <a:xfrm>
            <a:off x="749808" y="2834640"/>
            <a:ext cx="2194560" cy="1920240"/>
          </a:xfrm>
          <a:prstGeom prst="rect">
            <a:avLst/>
          </a:prstGeom>
          <a:noFill/>
        </p:spPr>
        <p:txBody>
          <a:bodyPr wrap="square" anchor="t" lIns="0" rIns="0" tIns="0" bIns="0">
            <a:spAutoFit/>
          </a:bodyPr>
          <a:lstStyle/>
          <a:p>
            <a:pPr algn="l">
              <a:lnSpc>
                <a:spcPct val="103000"/>
              </a:lnSpc>
            </a:pPr>
            <a:r>
              <a:rPr sz="1200" b="0" i="0">
                <a:solidFill>
                  <a:srgbClr val="14252E"/>
                </a:solidFill>
                <a:latin typeface="Segoe UI"/>
              </a:rPr>
              <a:t>A journal article in an environmental science journal reporting original beach-litter survey data</a:t>
            </a:r>
          </a:p>
        </p:txBody>
      </p:sp>
      <p:sp>
        <p:nvSpPr>
          <p:cNvPr id="19" name="Rectangle 18"/>
          <p:cNvSpPr/>
          <p:nvPr/>
        </p:nvSpPr>
        <p:spPr>
          <a:xfrm>
            <a:off x="749808" y="4892040"/>
            <a:ext cx="2194560"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983480"/>
            <a:ext cx="2194560" cy="685800"/>
          </a:xfrm>
          <a:prstGeom prst="rect">
            <a:avLst/>
          </a:prstGeom>
          <a:noFill/>
        </p:spPr>
        <p:txBody>
          <a:bodyPr wrap="square" anchor="t" lIns="0" rIns="0" tIns="0" bIns="0">
            <a:spAutoFit/>
          </a:bodyPr>
          <a:lstStyle/>
          <a:p>
            <a:pPr algn="l">
              <a:lnSpc>
                <a:spcPct val="97000"/>
              </a:lnSpc>
            </a:pPr>
            <a:r>
              <a:rPr sz="1250" b="1" i="1">
                <a:solidFill>
                  <a:srgbClr val="2A9D8F"/>
                </a:solidFill>
                <a:latin typeface="Segoe UI"/>
              </a:rPr>
              <a:t>primary, scholarly</a:t>
            </a:r>
          </a:p>
        </p:txBody>
      </p:sp>
      <p:sp>
        <p:nvSpPr>
          <p:cNvPr id="21" name="Rounded Rectangle 20"/>
          <p:cNvSpPr/>
          <p:nvPr/>
        </p:nvSpPr>
        <p:spPr>
          <a:xfrm>
            <a:off x="749808" y="5715000"/>
            <a:ext cx="2194560" cy="274320"/>
          </a:xfrm>
          <a:prstGeom prst="roundRect">
            <a:avLst/>
          </a:prstGeom>
          <a:solidFill>
            <a:srgbClr val="D4E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705856"/>
            <a:ext cx="2194560" cy="274320"/>
          </a:xfrm>
          <a:prstGeom prst="rect">
            <a:avLst/>
          </a:prstGeom>
          <a:noFill/>
        </p:spPr>
        <p:txBody>
          <a:bodyPr wrap="square" anchor="ctr" lIns="0" rIns="0" tIns="0" bIns="0">
            <a:spAutoFit/>
          </a:bodyPr>
          <a:lstStyle/>
          <a:p>
            <a:pPr algn="ctr"/>
            <a:r>
              <a:rPr sz="1000" b="1" i="0">
                <a:solidFill>
                  <a:srgbClr val="237971"/>
                </a:solidFill>
                <a:latin typeface="Segoe UI"/>
              </a:rPr>
              <a:t>MOST CREDIBLE</a:t>
            </a:r>
          </a:p>
        </p:txBody>
      </p:sp>
      <p:sp>
        <p:nvSpPr>
          <p:cNvPr id="23" name="Rounded Rectangle 22"/>
          <p:cNvSpPr/>
          <p:nvPr/>
        </p:nvSpPr>
        <p:spPr>
          <a:xfrm>
            <a:off x="3401568" y="2057400"/>
            <a:ext cx="2560320" cy="3977639"/>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401568" y="2057400"/>
            <a:ext cx="2560320" cy="658368"/>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566160" y="2157984"/>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0" y="2157984"/>
            <a:ext cx="457200" cy="457200"/>
          </a:xfrm>
          <a:prstGeom prst="rect">
            <a:avLst/>
          </a:prstGeom>
          <a:noFill/>
        </p:spPr>
        <p:txBody>
          <a:bodyPr wrap="square" anchor="ctr" lIns="0" rIns="0" tIns="0" bIns="0">
            <a:spAutoFit/>
          </a:bodyPr>
          <a:lstStyle/>
          <a:p>
            <a:pPr algn="ctr"/>
            <a:r>
              <a:rPr sz="1800" b="1" i="0">
                <a:solidFill>
                  <a:srgbClr val="2B6CB2"/>
                </a:solidFill>
                <a:latin typeface="Segoe UI"/>
              </a:rPr>
              <a:t>B</a:t>
            </a:r>
          </a:p>
        </p:txBody>
      </p:sp>
      <p:sp>
        <p:nvSpPr>
          <p:cNvPr id="27" name="TextBox 26"/>
          <p:cNvSpPr txBox="1"/>
          <p:nvPr/>
        </p:nvSpPr>
        <p:spPr>
          <a:xfrm>
            <a:off x="4133087" y="2057400"/>
            <a:ext cx="1737360" cy="658368"/>
          </a:xfrm>
          <a:prstGeom prst="rect">
            <a:avLst/>
          </a:prstGeom>
          <a:noFill/>
        </p:spPr>
        <p:txBody>
          <a:bodyPr wrap="square" anchor="ctr" lIns="0" rIns="0" tIns="0" bIns="0">
            <a:spAutoFit/>
          </a:bodyPr>
          <a:lstStyle/>
          <a:p>
            <a:pPr algn="l"/>
            <a:r>
              <a:rPr sz="1400" b="1" i="0">
                <a:solidFill>
                  <a:srgbClr val="FFFFFF"/>
                </a:solidFill>
                <a:latin typeface="Segoe UI"/>
              </a:rPr>
              <a:t>Source B</a:t>
            </a:r>
          </a:p>
        </p:txBody>
      </p:sp>
      <p:sp>
        <p:nvSpPr>
          <p:cNvPr id="28" name="TextBox 27"/>
          <p:cNvSpPr txBox="1"/>
          <p:nvPr/>
        </p:nvSpPr>
        <p:spPr>
          <a:xfrm>
            <a:off x="3584448" y="2834640"/>
            <a:ext cx="2194560" cy="1920240"/>
          </a:xfrm>
          <a:prstGeom prst="rect">
            <a:avLst/>
          </a:prstGeom>
          <a:noFill/>
        </p:spPr>
        <p:txBody>
          <a:bodyPr wrap="square" anchor="t" lIns="0" rIns="0" tIns="0" bIns="0">
            <a:spAutoFit/>
          </a:bodyPr>
          <a:lstStyle/>
          <a:p>
            <a:pPr algn="l">
              <a:lnSpc>
                <a:spcPct val="103000"/>
              </a:lnSpc>
            </a:pPr>
            <a:r>
              <a:rPr sz="1200" b="0" i="0">
                <a:solidFill>
                  <a:srgbClr val="14252E"/>
                </a:solidFill>
                <a:latin typeface="Segoe UI"/>
              </a:rPr>
              <a:t>A national government agency's technical report on coastal solid-waste management</a:t>
            </a:r>
          </a:p>
        </p:txBody>
      </p:sp>
      <p:sp>
        <p:nvSpPr>
          <p:cNvPr id="29" name="Rectangle 28"/>
          <p:cNvSpPr/>
          <p:nvPr/>
        </p:nvSpPr>
        <p:spPr>
          <a:xfrm>
            <a:off x="3584448" y="4892040"/>
            <a:ext cx="2194560"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84448" y="4983480"/>
            <a:ext cx="2194560" cy="685800"/>
          </a:xfrm>
          <a:prstGeom prst="rect">
            <a:avLst/>
          </a:prstGeom>
          <a:noFill/>
        </p:spPr>
        <p:txBody>
          <a:bodyPr wrap="square" anchor="t" lIns="0" rIns="0" tIns="0" bIns="0">
            <a:spAutoFit/>
          </a:bodyPr>
          <a:lstStyle/>
          <a:p>
            <a:pPr algn="l">
              <a:lnSpc>
                <a:spcPct val="97000"/>
              </a:lnSpc>
            </a:pPr>
            <a:r>
              <a:rPr sz="1250" b="1" i="1">
                <a:solidFill>
                  <a:srgbClr val="2B6CB2"/>
                </a:solidFill>
                <a:latin typeface="Segoe UI"/>
              </a:rPr>
              <a:t>primary, non-scholarly but authoritative</a:t>
            </a:r>
          </a:p>
        </p:txBody>
      </p:sp>
      <p:sp>
        <p:nvSpPr>
          <p:cNvPr id="31" name="Rounded Rectangle 30"/>
          <p:cNvSpPr/>
          <p:nvPr/>
        </p:nvSpPr>
        <p:spPr>
          <a:xfrm>
            <a:off x="3584448" y="5715000"/>
            <a:ext cx="2194560" cy="274320"/>
          </a:xfrm>
          <a:prstGeom prst="roundRect">
            <a:avLst/>
          </a:prstGeom>
          <a:solidFill>
            <a:srgbClr val="D4E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84448" y="5705856"/>
            <a:ext cx="2194560" cy="274320"/>
          </a:xfrm>
          <a:prstGeom prst="rect">
            <a:avLst/>
          </a:prstGeom>
          <a:noFill/>
        </p:spPr>
        <p:txBody>
          <a:bodyPr wrap="square" anchor="ctr" lIns="0" rIns="0" tIns="0" bIns="0">
            <a:spAutoFit/>
          </a:bodyPr>
          <a:lstStyle/>
          <a:p>
            <a:pPr algn="ctr"/>
            <a:r>
              <a:rPr sz="1000" b="1" i="0">
                <a:solidFill>
                  <a:srgbClr val="24568A"/>
                </a:solidFill>
                <a:latin typeface="Segoe UI"/>
              </a:rPr>
              <a:t>HIGHLY AUTHORITATIVE</a:t>
            </a:r>
          </a:p>
        </p:txBody>
      </p:sp>
      <p:sp>
        <p:nvSpPr>
          <p:cNvPr id="33" name="Rounded Rectangle 32"/>
          <p:cNvSpPr/>
          <p:nvPr/>
        </p:nvSpPr>
        <p:spPr>
          <a:xfrm>
            <a:off x="6236207" y="2057400"/>
            <a:ext cx="2560320" cy="3977639"/>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236207" y="2057400"/>
            <a:ext cx="2560320" cy="658368"/>
          </a:xfrm>
          <a:prstGeom prst="round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400799" y="2157984"/>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799" y="2157984"/>
            <a:ext cx="457200" cy="457200"/>
          </a:xfrm>
          <a:prstGeom prst="rect">
            <a:avLst/>
          </a:prstGeom>
          <a:noFill/>
        </p:spPr>
        <p:txBody>
          <a:bodyPr wrap="square" anchor="ctr" lIns="0" rIns="0" tIns="0" bIns="0">
            <a:spAutoFit/>
          </a:bodyPr>
          <a:lstStyle/>
          <a:p>
            <a:pPr algn="ctr"/>
            <a:r>
              <a:rPr sz="1800" b="1" i="0">
                <a:solidFill>
                  <a:srgbClr val="E9C46A"/>
                </a:solidFill>
                <a:latin typeface="Segoe UI"/>
              </a:rPr>
              <a:t>C</a:t>
            </a:r>
          </a:p>
        </p:txBody>
      </p:sp>
      <p:sp>
        <p:nvSpPr>
          <p:cNvPr id="37" name="TextBox 36"/>
          <p:cNvSpPr txBox="1"/>
          <p:nvPr/>
        </p:nvSpPr>
        <p:spPr>
          <a:xfrm>
            <a:off x="6967727" y="2057400"/>
            <a:ext cx="1737360" cy="658368"/>
          </a:xfrm>
          <a:prstGeom prst="rect">
            <a:avLst/>
          </a:prstGeom>
          <a:noFill/>
        </p:spPr>
        <p:txBody>
          <a:bodyPr wrap="square" anchor="ctr" lIns="0" rIns="0" tIns="0" bIns="0">
            <a:spAutoFit/>
          </a:bodyPr>
          <a:lstStyle/>
          <a:p>
            <a:pPr algn="l"/>
            <a:r>
              <a:rPr sz="1400" b="1" i="0">
                <a:solidFill>
                  <a:srgbClr val="FFFFFF"/>
                </a:solidFill>
                <a:latin typeface="Segoe UI"/>
              </a:rPr>
              <a:t>Source C</a:t>
            </a:r>
          </a:p>
        </p:txBody>
      </p:sp>
      <p:sp>
        <p:nvSpPr>
          <p:cNvPr id="38" name="TextBox 37"/>
          <p:cNvSpPr txBox="1"/>
          <p:nvPr/>
        </p:nvSpPr>
        <p:spPr>
          <a:xfrm>
            <a:off x="6419088" y="2834640"/>
            <a:ext cx="2194560" cy="1920240"/>
          </a:xfrm>
          <a:prstGeom prst="rect">
            <a:avLst/>
          </a:prstGeom>
          <a:noFill/>
        </p:spPr>
        <p:txBody>
          <a:bodyPr wrap="square" anchor="t" lIns="0" rIns="0" tIns="0" bIns="0">
            <a:spAutoFit/>
          </a:bodyPr>
          <a:lstStyle/>
          <a:p>
            <a:pPr algn="l">
              <a:lnSpc>
                <a:spcPct val="103000"/>
              </a:lnSpc>
            </a:pPr>
            <a:r>
              <a:rPr sz="1200" b="0" i="0">
                <a:solidFill>
                  <a:srgbClr val="14252E"/>
                </a:solidFill>
                <a:latin typeface="Segoe UI"/>
              </a:rPr>
              <a:t>A news outlet's article summarizing Source A's findings for the public</a:t>
            </a:r>
          </a:p>
        </p:txBody>
      </p:sp>
      <p:sp>
        <p:nvSpPr>
          <p:cNvPr id="39" name="Rectangle 38"/>
          <p:cNvSpPr/>
          <p:nvPr/>
        </p:nvSpPr>
        <p:spPr>
          <a:xfrm>
            <a:off x="6419088" y="4892040"/>
            <a:ext cx="2194560"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19088" y="4983480"/>
            <a:ext cx="2194560" cy="685800"/>
          </a:xfrm>
          <a:prstGeom prst="rect">
            <a:avLst/>
          </a:prstGeom>
          <a:noFill/>
        </p:spPr>
        <p:txBody>
          <a:bodyPr wrap="square" anchor="t" lIns="0" rIns="0" tIns="0" bIns="0">
            <a:spAutoFit/>
          </a:bodyPr>
          <a:lstStyle/>
          <a:p>
            <a:pPr algn="l">
              <a:lnSpc>
                <a:spcPct val="97000"/>
              </a:lnSpc>
            </a:pPr>
            <a:r>
              <a:rPr sz="1250" b="1" i="1">
                <a:solidFill>
                  <a:srgbClr val="E9C46A"/>
                </a:solidFill>
                <a:latin typeface="Segoe UI"/>
              </a:rPr>
              <a:t>secondary, non-scholarly</a:t>
            </a:r>
          </a:p>
        </p:txBody>
      </p:sp>
      <p:sp>
        <p:nvSpPr>
          <p:cNvPr id="41" name="Rounded Rectangle 40"/>
          <p:cNvSpPr/>
          <p:nvPr/>
        </p:nvSpPr>
        <p:spPr>
          <a:xfrm>
            <a:off x="6419088" y="5715000"/>
            <a:ext cx="2194560" cy="274320"/>
          </a:xfrm>
          <a:prstGeom prst="roundRect">
            <a:avLst/>
          </a:prstGeom>
          <a:solidFill>
            <a:srgbClr val="FA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19088" y="5705856"/>
            <a:ext cx="2194560" cy="274320"/>
          </a:xfrm>
          <a:prstGeom prst="rect">
            <a:avLst/>
          </a:prstGeom>
          <a:noFill/>
        </p:spPr>
        <p:txBody>
          <a:bodyPr wrap="square" anchor="ctr" lIns="0" rIns="0" tIns="0" bIns="0">
            <a:spAutoFit/>
          </a:bodyPr>
          <a:lstStyle/>
          <a:p>
            <a:pPr algn="ctr"/>
            <a:r>
              <a:rPr sz="1000" b="1" i="0">
                <a:solidFill>
                  <a:srgbClr val="A99458"/>
                </a:solidFill>
                <a:latin typeface="Segoe UI"/>
              </a:rPr>
              <a:t>USE WITH CARE</a:t>
            </a:r>
          </a:p>
        </p:txBody>
      </p:sp>
      <p:sp>
        <p:nvSpPr>
          <p:cNvPr id="43" name="Rounded Rectangle 42"/>
          <p:cNvSpPr/>
          <p:nvPr/>
        </p:nvSpPr>
        <p:spPr>
          <a:xfrm>
            <a:off x="9070847" y="2057400"/>
            <a:ext cx="2560320" cy="3977639"/>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070847" y="2057400"/>
            <a:ext cx="2560320" cy="65836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235439" y="2157984"/>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35439" y="2157984"/>
            <a:ext cx="457200" cy="457200"/>
          </a:xfrm>
          <a:prstGeom prst="rect">
            <a:avLst/>
          </a:prstGeom>
          <a:noFill/>
        </p:spPr>
        <p:txBody>
          <a:bodyPr wrap="square" anchor="ctr" lIns="0" rIns="0" tIns="0" bIns="0">
            <a:spAutoFit/>
          </a:bodyPr>
          <a:lstStyle/>
          <a:p>
            <a:pPr algn="ctr"/>
            <a:r>
              <a:rPr sz="1800" b="1" i="0">
                <a:solidFill>
                  <a:srgbClr val="E76F51"/>
                </a:solidFill>
                <a:latin typeface="Segoe UI"/>
              </a:rPr>
              <a:t>D</a:t>
            </a:r>
          </a:p>
        </p:txBody>
      </p:sp>
      <p:sp>
        <p:nvSpPr>
          <p:cNvPr id="47" name="TextBox 46"/>
          <p:cNvSpPr txBox="1"/>
          <p:nvPr/>
        </p:nvSpPr>
        <p:spPr>
          <a:xfrm>
            <a:off x="9802367" y="2057400"/>
            <a:ext cx="1737360" cy="658368"/>
          </a:xfrm>
          <a:prstGeom prst="rect">
            <a:avLst/>
          </a:prstGeom>
          <a:noFill/>
        </p:spPr>
        <p:txBody>
          <a:bodyPr wrap="square" anchor="ctr" lIns="0" rIns="0" tIns="0" bIns="0">
            <a:spAutoFit/>
          </a:bodyPr>
          <a:lstStyle/>
          <a:p>
            <a:pPr algn="l"/>
            <a:r>
              <a:rPr sz="1400" b="1" i="0">
                <a:solidFill>
                  <a:srgbClr val="FFFFFF"/>
                </a:solidFill>
                <a:latin typeface="Segoe UI"/>
              </a:rPr>
              <a:t>Source D</a:t>
            </a:r>
          </a:p>
        </p:txBody>
      </p:sp>
      <p:sp>
        <p:nvSpPr>
          <p:cNvPr id="48" name="TextBox 47"/>
          <p:cNvSpPr txBox="1"/>
          <p:nvPr/>
        </p:nvSpPr>
        <p:spPr>
          <a:xfrm>
            <a:off x="9253727" y="2834640"/>
            <a:ext cx="2194560" cy="1920240"/>
          </a:xfrm>
          <a:prstGeom prst="rect">
            <a:avLst/>
          </a:prstGeom>
          <a:noFill/>
        </p:spPr>
        <p:txBody>
          <a:bodyPr wrap="square" anchor="t" lIns="0" rIns="0" tIns="0" bIns="0">
            <a:spAutoFit/>
          </a:bodyPr>
          <a:lstStyle/>
          <a:p>
            <a:pPr algn="l">
              <a:lnSpc>
                <a:spcPct val="103000"/>
              </a:lnSpc>
            </a:pPr>
            <a:r>
              <a:rPr sz="1200" b="0" i="0">
                <a:solidFill>
                  <a:srgbClr val="14252E"/>
                </a:solidFill>
                <a:latin typeface="Segoe UI"/>
              </a:rPr>
              <a:t>A social media post claiming “plastic pollution is exaggerated” with no citations</a:t>
            </a:r>
          </a:p>
        </p:txBody>
      </p:sp>
      <p:sp>
        <p:nvSpPr>
          <p:cNvPr id="49" name="Rectangle 48"/>
          <p:cNvSpPr/>
          <p:nvPr/>
        </p:nvSpPr>
        <p:spPr>
          <a:xfrm>
            <a:off x="9253727" y="4892040"/>
            <a:ext cx="2194560"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53727" y="4983480"/>
            <a:ext cx="2194560" cy="685800"/>
          </a:xfrm>
          <a:prstGeom prst="rect">
            <a:avLst/>
          </a:prstGeom>
          <a:noFill/>
        </p:spPr>
        <p:txBody>
          <a:bodyPr wrap="square" anchor="t" lIns="0" rIns="0" tIns="0" bIns="0">
            <a:spAutoFit/>
          </a:bodyPr>
          <a:lstStyle/>
          <a:p>
            <a:pPr algn="l">
              <a:lnSpc>
                <a:spcPct val="97000"/>
              </a:lnSpc>
            </a:pPr>
            <a:r>
              <a:rPr sz="1250" b="1" i="1">
                <a:solidFill>
                  <a:srgbClr val="E76F51"/>
                </a:solidFill>
                <a:latin typeface="Segoe UI"/>
              </a:rPr>
              <a:t>neither primary nor scholarly - low credibility</a:t>
            </a:r>
          </a:p>
        </p:txBody>
      </p:sp>
      <p:sp>
        <p:nvSpPr>
          <p:cNvPr id="51" name="Rounded Rectangle 50"/>
          <p:cNvSpPr/>
          <p:nvPr/>
        </p:nvSpPr>
        <p:spPr>
          <a:xfrm>
            <a:off x="9253727" y="5715000"/>
            <a:ext cx="2194560" cy="274320"/>
          </a:xfrm>
          <a:prstGeom prst="roundRect">
            <a:avLst/>
          </a:prstGeom>
          <a:solidFill>
            <a:srgbClr val="FA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53727" y="5705856"/>
            <a:ext cx="2194560" cy="274320"/>
          </a:xfrm>
          <a:prstGeom prst="rect">
            <a:avLst/>
          </a:prstGeom>
          <a:noFill/>
        </p:spPr>
        <p:txBody>
          <a:bodyPr wrap="square" anchor="ctr" lIns="0" rIns="0" tIns="0" bIns="0">
            <a:spAutoFit/>
          </a:bodyPr>
          <a:lstStyle/>
          <a:p>
            <a:pPr algn="ctr"/>
            <a:r>
              <a:rPr sz="1000" b="1" i="0">
                <a:solidFill>
                  <a:srgbClr val="A75846"/>
                </a:solidFill>
                <a:latin typeface="Segoe UI"/>
              </a:rPr>
              <a:t>EXCLUDE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14828C">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14828C"/>
                </a:solidFill>
                <a:latin typeface="Segoe UI"/>
              </a:rPr>
              <a:t>PART 1 - EVALUATING SOURCES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Five Criteria for Judging Sources</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Matrix / checklist</a:t>
            </a:r>
          </a:p>
        </p:txBody>
      </p:sp>
      <p:sp>
        <p:nvSpPr>
          <p:cNvPr id="8" name="Rectangle 7"/>
          <p:cNvSpPr/>
          <p:nvPr/>
        </p:nvSpPr>
        <p:spPr>
          <a:xfrm>
            <a:off x="576072" y="1572768"/>
            <a:ext cx="1554480" cy="50292"/>
          </a:xfrm>
          <a:prstGeom prst="rect">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759391" y="420624"/>
            <a:ext cx="1883664" cy="310896"/>
          </a:xfrm>
          <a:prstGeom prst="roundRect">
            <a:avLst>
              <a:gd name="adj" fmla="val 50000"/>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9391" y="420624"/>
            <a:ext cx="1883664" cy="310896"/>
          </a:xfrm>
          <a:prstGeom prst="rect">
            <a:avLst/>
          </a:prstGeom>
          <a:noFill/>
        </p:spPr>
        <p:txBody>
          <a:bodyPr wrap="square" anchor="ctr" lIns="0" rIns="0" tIns="0" bIns="0">
            <a:spAutoFit/>
          </a:bodyPr>
          <a:lstStyle/>
          <a:p>
            <a:pPr algn="ctr"/>
            <a:r>
              <a:rPr sz="1050" b="1" i="0">
                <a:solidFill>
                  <a:srgbClr val="FFFFFF"/>
                </a:solidFill>
                <a:latin typeface="Segoe UI"/>
              </a:rPr>
              <a:t>TEXTBOOK-BASED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05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1965960"/>
            <a:ext cx="11064240" cy="768096"/>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3232" y="2103120"/>
            <a:ext cx="493776" cy="493776"/>
          </a:xfrm>
          <a:prstGeom prst="ellipse">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2084831"/>
            <a:ext cx="493776" cy="493776"/>
          </a:xfrm>
          <a:prstGeom prst="rect">
            <a:avLst/>
          </a:prstGeom>
          <a:noFill/>
        </p:spPr>
        <p:txBody>
          <a:bodyPr wrap="square" anchor="ctr" lIns="0" rIns="0" tIns="0" bIns="0">
            <a:spAutoFit/>
          </a:bodyPr>
          <a:lstStyle/>
          <a:p>
            <a:pPr algn="ctr"/>
            <a:r>
              <a:rPr sz="1700" b="1" i="0">
                <a:solidFill>
                  <a:srgbClr val="FFFFFF"/>
                </a:solidFill>
                <a:latin typeface="Segoe UI"/>
              </a:rPr>
              <a:t>★</a:t>
            </a:r>
          </a:p>
        </p:txBody>
      </p:sp>
      <p:sp>
        <p:nvSpPr>
          <p:cNvPr id="16" name="TextBox 15"/>
          <p:cNvSpPr txBox="1"/>
          <p:nvPr/>
        </p:nvSpPr>
        <p:spPr>
          <a:xfrm>
            <a:off x="1353312" y="2057400"/>
            <a:ext cx="10104119" cy="585215"/>
          </a:xfrm>
          <a:prstGeom prst="rect">
            <a:avLst/>
          </a:prstGeom>
          <a:noFill/>
        </p:spPr>
        <p:txBody>
          <a:bodyPr wrap="square" anchor="ctr" lIns="0" rIns="0" tIns="0" bIns="0">
            <a:spAutoFit/>
          </a:bodyPr>
          <a:lstStyle/>
          <a:p>
            <a:pPr algn="l">
              <a:lnSpc>
                <a:spcPct val="95000"/>
              </a:lnSpc>
              <a:spcAft>
                <a:spcPts val="200"/>
              </a:spcAft>
            </a:pPr>
            <a:r>
              <a:rPr sz="1500" b="1" i="0">
                <a:solidFill>
                  <a:srgbClr val="14252E"/>
                </a:solidFill>
                <a:latin typeface="Segoe UI"/>
              </a:rPr>
              <a:t>Authority</a:t>
            </a:r>
          </a:p>
          <a:p>
            <a:pPr algn="l">
              <a:lnSpc>
                <a:spcPct val="98000"/>
              </a:lnSpc>
            </a:pPr>
            <a:r>
              <a:rPr sz="1200" b="0" i="0">
                <a:solidFill>
                  <a:srgbClr val="3A4B54"/>
                </a:solidFill>
                <a:latin typeface="Segoe UI"/>
              </a:rPr>
              <a:t>Is the author or institution qualified / recognized in the field?</a:t>
            </a:r>
          </a:p>
        </p:txBody>
      </p:sp>
      <p:sp>
        <p:nvSpPr>
          <p:cNvPr id="17" name="Rounded Rectangle 16"/>
          <p:cNvSpPr/>
          <p:nvPr/>
        </p:nvSpPr>
        <p:spPr>
          <a:xfrm>
            <a:off x="566928" y="2843784"/>
            <a:ext cx="11064240" cy="768096"/>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2980944"/>
            <a:ext cx="493776" cy="493776"/>
          </a:xfrm>
          <a:prstGeom prst="ellipse">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2962656"/>
            <a:ext cx="493776" cy="493776"/>
          </a:xfrm>
          <a:prstGeom prst="rect">
            <a:avLst/>
          </a:prstGeom>
          <a:noFill/>
        </p:spPr>
        <p:txBody>
          <a:bodyPr wrap="square" anchor="ctr" lIns="0" rIns="0" tIns="0" bIns="0">
            <a:spAutoFit/>
          </a:bodyPr>
          <a:lstStyle/>
          <a:p>
            <a:pPr algn="ctr"/>
            <a:r>
              <a:rPr sz="1700" b="1" i="0">
                <a:solidFill>
                  <a:srgbClr val="FFFFFF"/>
                </a:solidFill>
                <a:latin typeface="Segoe UI"/>
              </a:rPr>
              <a:t>✓</a:t>
            </a:r>
          </a:p>
        </p:txBody>
      </p:sp>
      <p:sp>
        <p:nvSpPr>
          <p:cNvPr id="20" name="TextBox 19"/>
          <p:cNvSpPr txBox="1"/>
          <p:nvPr/>
        </p:nvSpPr>
        <p:spPr>
          <a:xfrm>
            <a:off x="1353312" y="2935224"/>
            <a:ext cx="10104119" cy="585215"/>
          </a:xfrm>
          <a:prstGeom prst="rect">
            <a:avLst/>
          </a:prstGeom>
          <a:noFill/>
        </p:spPr>
        <p:txBody>
          <a:bodyPr wrap="square" anchor="ctr" lIns="0" rIns="0" tIns="0" bIns="0">
            <a:spAutoFit/>
          </a:bodyPr>
          <a:lstStyle/>
          <a:p>
            <a:pPr algn="l">
              <a:lnSpc>
                <a:spcPct val="95000"/>
              </a:lnSpc>
              <a:spcAft>
                <a:spcPts val="200"/>
              </a:spcAft>
            </a:pPr>
            <a:r>
              <a:rPr sz="1500" b="1" i="0">
                <a:solidFill>
                  <a:srgbClr val="14252E"/>
                </a:solidFill>
                <a:latin typeface="Segoe UI"/>
              </a:rPr>
              <a:t>Accuracy</a:t>
            </a:r>
          </a:p>
          <a:p>
            <a:pPr algn="l">
              <a:lnSpc>
                <a:spcPct val="98000"/>
              </a:lnSpc>
            </a:pPr>
            <a:r>
              <a:rPr sz="1200" b="0" i="0">
                <a:solidFill>
                  <a:srgbClr val="3A4B54"/>
                </a:solidFill>
                <a:latin typeface="Segoe UI"/>
              </a:rPr>
              <a:t>Is the information supported by evidence and free of clear errors?</a:t>
            </a:r>
          </a:p>
        </p:txBody>
      </p:sp>
      <p:sp>
        <p:nvSpPr>
          <p:cNvPr id="21" name="Rounded Rectangle 20"/>
          <p:cNvSpPr/>
          <p:nvPr/>
        </p:nvSpPr>
        <p:spPr>
          <a:xfrm>
            <a:off x="566928" y="3721608"/>
            <a:ext cx="11064240" cy="768096"/>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3232" y="3858768"/>
            <a:ext cx="493776" cy="493776"/>
          </a:xfrm>
          <a:prstGeom prst="ellipse">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3840480"/>
            <a:ext cx="493776" cy="493776"/>
          </a:xfrm>
          <a:prstGeom prst="rect">
            <a:avLst/>
          </a:prstGeom>
          <a:noFill/>
        </p:spPr>
        <p:txBody>
          <a:bodyPr wrap="square" anchor="ctr" lIns="0" rIns="0" tIns="0" bIns="0">
            <a:spAutoFit/>
          </a:bodyPr>
          <a:lstStyle/>
          <a:p>
            <a:pPr algn="ctr"/>
            <a:r>
              <a:rPr sz="1700" b="1" i="0">
                <a:solidFill>
                  <a:srgbClr val="FFFFFF"/>
                </a:solidFill>
                <a:latin typeface="Segoe UI"/>
              </a:rPr>
              <a:t>↻</a:t>
            </a:r>
          </a:p>
        </p:txBody>
      </p:sp>
      <p:sp>
        <p:nvSpPr>
          <p:cNvPr id="24" name="TextBox 23"/>
          <p:cNvSpPr txBox="1"/>
          <p:nvPr/>
        </p:nvSpPr>
        <p:spPr>
          <a:xfrm>
            <a:off x="1353312" y="3813048"/>
            <a:ext cx="10104119" cy="585215"/>
          </a:xfrm>
          <a:prstGeom prst="rect">
            <a:avLst/>
          </a:prstGeom>
          <a:noFill/>
        </p:spPr>
        <p:txBody>
          <a:bodyPr wrap="square" anchor="ctr" lIns="0" rIns="0" tIns="0" bIns="0">
            <a:spAutoFit/>
          </a:bodyPr>
          <a:lstStyle/>
          <a:p>
            <a:pPr algn="l">
              <a:lnSpc>
                <a:spcPct val="95000"/>
              </a:lnSpc>
              <a:spcAft>
                <a:spcPts val="200"/>
              </a:spcAft>
            </a:pPr>
            <a:r>
              <a:rPr sz="1500" b="1" i="0">
                <a:solidFill>
                  <a:srgbClr val="14252E"/>
                </a:solidFill>
                <a:latin typeface="Segoe UI"/>
              </a:rPr>
              <a:t>Currency</a:t>
            </a:r>
          </a:p>
          <a:p>
            <a:pPr algn="l">
              <a:lnSpc>
                <a:spcPct val="98000"/>
              </a:lnSpc>
            </a:pPr>
            <a:r>
              <a:rPr sz="1200" b="0" i="0">
                <a:solidFill>
                  <a:srgbClr val="3A4B54"/>
                </a:solidFill>
                <a:latin typeface="Segoe UI"/>
              </a:rPr>
              <a:t>Was it published recently enough to still be relevant (the textbook recommends favoring literature from roughly the last 10 years)?</a:t>
            </a:r>
          </a:p>
        </p:txBody>
      </p:sp>
      <p:sp>
        <p:nvSpPr>
          <p:cNvPr id="25" name="Rounded Rectangle 24"/>
          <p:cNvSpPr/>
          <p:nvPr/>
        </p:nvSpPr>
        <p:spPr>
          <a:xfrm>
            <a:off x="566928" y="4599432"/>
            <a:ext cx="11064240" cy="768096"/>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13232" y="4736592"/>
            <a:ext cx="493776" cy="493776"/>
          </a:xfrm>
          <a:prstGeom prst="ellipse">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4718304"/>
            <a:ext cx="493776" cy="493776"/>
          </a:xfrm>
          <a:prstGeom prst="rect">
            <a:avLst/>
          </a:prstGeom>
          <a:noFill/>
        </p:spPr>
        <p:txBody>
          <a:bodyPr wrap="square" anchor="ctr" lIns="0" rIns="0" tIns="0" bIns="0">
            <a:spAutoFit/>
          </a:bodyPr>
          <a:lstStyle/>
          <a:p>
            <a:pPr algn="ctr"/>
            <a:r>
              <a:rPr sz="1700" b="1" i="0">
                <a:solidFill>
                  <a:srgbClr val="FFFFFF"/>
                </a:solidFill>
                <a:latin typeface="Segoe UI"/>
              </a:rPr>
              <a:t>◎</a:t>
            </a:r>
          </a:p>
        </p:txBody>
      </p:sp>
      <p:sp>
        <p:nvSpPr>
          <p:cNvPr id="28" name="TextBox 27"/>
          <p:cNvSpPr txBox="1"/>
          <p:nvPr/>
        </p:nvSpPr>
        <p:spPr>
          <a:xfrm>
            <a:off x="1353312" y="4690872"/>
            <a:ext cx="10104119" cy="585215"/>
          </a:xfrm>
          <a:prstGeom prst="rect">
            <a:avLst/>
          </a:prstGeom>
          <a:noFill/>
        </p:spPr>
        <p:txBody>
          <a:bodyPr wrap="square" anchor="ctr" lIns="0" rIns="0" tIns="0" bIns="0">
            <a:spAutoFit/>
          </a:bodyPr>
          <a:lstStyle/>
          <a:p>
            <a:pPr algn="l">
              <a:lnSpc>
                <a:spcPct val="95000"/>
              </a:lnSpc>
              <a:spcAft>
                <a:spcPts val="200"/>
              </a:spcAft>
            </a:pPr>
            <a:r>
              <a:rPr sz="1500" b="1" i="0">
                <a:solidFill>
                  <a:srgbClr val="14252E"/>
                </a:solidFill>
                <a:latin typeface="Segoe UI"/>
              </a:rPr>
              <a:t>Relevance</a:t>
            </a:r>
          </a:p>
          <a:p>
            <a:pPr algn="l">
              <a:lnSpc>
                <a:spcPct val="98000"/>
              </a:lnSpc>
            </a:pPr>
            <a:r>
              <a:rPr sz="1200" b="0" i="0">
                <a:solidFill>
                  <a:srgbClr val="3A4B54"/>
                </a:solidFill>
                <a:latin typeface="Segoe UI"/>
              </a:rPr>
              <a:t>Does it actually connect to the topic being studied?</a:t>
            </a:r>
          </a:p>
        </p:txBody>
      </p:sp>
      <p:sp>
        <p:nvSpPr>
          <p:cNvPr id="29" name="Rounded Rectangle 28"/>
          <p:cNvSpPr/>
          <p:nvPr/>
        </p:nvSpPr>
        <p:spPr>
          <a:xfrm>
            <a:off x="566928" y="5477256"/>
            <a:ext cx="11064240" cy="768096"/>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13232" y="5614416"/>
            <a:ext cx="493776" cy="493776"/>
          </a:xfrm>
          <a:prstGeom prst="ellipse">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 y="5596128"/>
            <a:ext cx="493776" cy="493776"/>
          </a:xfrm>
          <a:prstGeom prst="rect">
            <a:avLst/>
          </a:prstGeom>
          <a:noFill/>
        </p:spPr>
        <p:txBody>
          <a:bodyPr wrap="square" anchor="ctr" lIns="0" rIns="0" tIns="0" bIns="0">
            <a:spAutoFit/>
          </a:bodyPr>
          <a:lstStyle/>
          <a:p>
            <a:pPr algn="ctr"/>
            <a:r>
              <a:rPr sz="1700" b="1" i="0">
                <a:solidFill>
                  <a:srgbClr val="FFFFFF"/>
                </a:solidFill>
                <a:latin typeface="Segoe UI"/>
              </a:rPr>
              <a:t>⚖</a:t>
            </a:r>
          </a:p>
        </p:txBody>
      </p:sp>
      <p:sp>
        <p:nvSpPr>
          <p:cNvPr id="32" name="TextBox 31"/>
          <p:cNvSpPr txBox="1"/>
          <p:nvPr/>
        </p:nvSpPr>
        <p:spPr>
          <a:xfrm>
            <a:off x="1353312" y="5568696"/>
            <a:ext cx="10104119" cy="585215"/>
          </a:xfrm>
          <a:prstGeom prst="rect">
            <a:avLst/>
          </a:prstGeom>
          <a:noFill/>
        </p:spPr>
        <p:txBody>
          <a:bodyPr wrap="square" anchor="ctr" lIns="0" rIns="0" tIns="0" bIns="0">
            <a:spAutoFit/>
          </a:bodyPr>
          <a:lstStyle/>
          <a:p>
            <a:pPr algn="l">
              <a:lnSpc>
                <a:spcPct val="95000"/>
              </a:lnSpc>
              <a:spcAft>
                <a:spcPts val="200"/>
              </a:spcAft>
            </a:pPr>
            <a:r>
              <a:rPr sz="1500" b="1" i="0">
                <a:solidFill>
                  <a:srgbClr val="14252E"/>
                </a:solidFill>
                <a:latin typeface="Segoe UI"/>
              </a:rPr>
              <a:t>Purpose / Bias</a:t>
            </a:r>
          </a:p>
          <a:p>
            <a:pPr algn="l">
              <a:lnSpc>
                <a:spcPct val="98000"/>
              </a:lnSpc>
            </a:pPr>
            <a:r>
              <a:rPr sz="1200" b="0" i="0">
                <a:solidFill>
                  <a:srgbClr val="3A4B54"/>
                </a:solidFill>
                <a:latin typeface="Segoe UI"/>
              </a:rPr>
              <a:t>Was it written to inform, or to persuade / sell?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14828C">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14828C"/>
                </a:solidFill>
                <a:latin typeface="Segoe UI"/>
              </a:rPr>
              <a:t>PART 1 - EVALUATING SOURCES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Practice: Rate These Three Sources</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Activity</a:t>
            </a:r>
          </a:p>
        </p:txBody>
      </p:sp>
      <p:sp>
        <p:nvSpPr>
          <p:cNvPr id="8" name="Rectangle 7"/>
          <p:cNvSpPr/>
          <p:nvPr/>
        </p:nvSpPr>
        <p:spPr>
          <a:xfrm>
            <a:off x="576072" y="1572768"/>
            <a:ext cx="1554480" cy="50292"/>
          </a:xfrm>
          <a:prstGeom prst="rect">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06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1920240"/>
            <a:ext cx="11064240" cy="548640"/>
          </a:xfrm>
          <a:prstGeom prst="roundRect">
            <a:avLst/>
          </a:prstGeom>
          <a:solidFill>
            <a:srgbClr val="D4E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1920240"/>
            <a:ext cx="82296" cy="548640"/>
          </a:xfrm>
          <a:prstGeom prst="roundRect">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1920240"/>
            <a:ext cx="10607040" cy="548640"/>
          </a:xfrm>
          <a:prstGeom prst="rect">
            <a:avLst/>
          </a:prstGeom>
          <a:noFill/>
        </p:spPr>
        <p:txBody>
          <a:bodyPr wrap="square" anchor="ctr" lIns="0" rIns="0" tIns="0" bIns="0">
            <a:spAutoFit/>
          </a:bodyPr>
          <a:lstStyle/>
          <a:p>
            <a:pPr algn="l"/>
            <a:r>
              <a:rPr sz="1400" b="1" i="0">
                <a:solidFill>
                  <a:srgbClr val="14252E"/>
                </a:solidFill>
                <a:latin typeface="Segoe UI"/>
              </a:rPr>
              <a:t>✎  IN PAIRS  -  apply the five criteria (Slide 5) to a new topic: urban flooding in Metro Manila.</a:t>
            </a:r>
          </a:p>
        </p:txBody>
      </p:sp>
      <p:sp>
        <p:nvSpPr>
          <p:cNvPr id="16" name="TextBox 15"/>
          <p:cNvSpPr txBox="1"/>
          <p:nvPr/>
        </p:nvSpPr>
        <p:spPr>
          <a:xfrm>
            <a:off x="822960" y="2743200"/>
            <a:ext cx="6400800" cy="2011680"/>
          </a:xfrm>
          <a:prstGeom prst="rect">
            <a:avLst/>
          </a:prstGeom>
          <a:noFill/>
        </p:spPr>
        <p:txBody>
          <a:bodyPr wrap="square" lIns="0" rIns="0" tIns="0" bIns="0">
            <a:spAutoFit/>
          </a:bodyPr>
          <a:lstStyle/>
          <a:p>
            <a:pPr>
              <a:lnSpc>
                <a:spcPct val="104000"/>
              </a:lnSpc>
              <a:spcAft>
                <a:spcPts val="1400"/>
              </a:spcAft>
            </a:pPr>
            <a:r>
              <a:rPr b="1" sz="1600">
                <a:solidFill>
                  <a:srgbClr val="14828C"/>
                </a:solidFill>
              </a:rPr>
              <a:t>1.  </a:t>
            </a:r>
            <a:r>
              <a:rPr sz="1600" b="0" i="0">
                <a:solidFill>
                  <a:srgbClr val="14252E"/>
                </a:solidFill>
                <a:latin typeface="Segoe UI"/>
              </a:rPr>
              <a:t>A 2024 peer-reviewed hydrology journal article</a:t>
            </a:r>
          </a:p>
          <a:p>
            <a:pPr>
              <a:lnSpc>
                <a:spcPct val="104000"/>
              </a:lnSpc>
              <a:spcAft>
                <a:spcPts val="1400"/>
              </a:spcAft>
            </a:pPr>
            <a:r>
              <a:rPr b="1" sz="1600">
                <a:solidFill>
                  <a:srgbClr val="14828C"/>
                </a:solidFill>
              </a:rPr>
              <a:t>2.  </a:t>
            </a:r>
            <a:r>
              <a:rPr sz="1600" b="0" i="0">
                <a:solidFill>
                  <a:srgbClr val="14252E"/>
                </a:solidFill>
                <a:latin typeface="Segoe UI"/>
              </a:rPr>
              <a:t>A 2015 blog post on flood-prevention tips</a:t>
            </a:r>
          </a:p>
          <a:p>
            <a:pPr>
              <a:lnSpc>
                <a:spcPct val="104000"/>
              </a:lnSpc>
              <a:spcAft>
                <a:spcPts val="1400"/>
              </a:spcAft>
            </a:pPr>
            <a:r>
              <a:rPr b="1" sz="1600">
                <a:solidFill>
                  <a:srgbClr val="14828C"/>
                </a:solidFill>
              </a:rPr>
              <a:t>3.  </a:t>
            </a:r>
            <a:r>
              <a:rPr sz="1600" b="0" i="0">
                <a:solidFill>
                  <a:srgbClr val="14252E"/>
                </a:solidFill>
                <a:latin typeface="Segoe UI"/>
              </a:rPr>
              <a:t>A government flood-risk map with technical documentation</a:t>
            </a:r>
          </a:p>
        </p:txBody>
      </p:sp>
      <p:graphicFrame>
        <p:nvGraphicFramePr>
          <p:cNvPr id="17" name="Table 16"/>
          <p:cNvGraphicFramePr>
            <a:graphicFrameLocks noGrp="1"/>
          </p:cNvGraphicFramePr>
          <p:nvPr/>
        </p:nvGraphicFramePr>
        <p:xfrm>
          <a:off x="7452360" y="2743200"/>
          <a:ext cx="4160519" cy="2157984"/>
        </p:xfrm>
        <a:graphic>
          <a:graphicData uri="http://schemas.openxmlformats.org/drawingml/2006/table">
            <a:tbl>
              <a:tblPr>
                <a:tableStyleId>{5C22544A-7EE6-4342-B048-85BDC9FD1C3A}</a:tableStyleId>
              </a:tblPr>
              <a:tblGrid>
                <a:gridCol w="822960"/>
                <a:gridCol w="1874519"/>
                <a:gridCol w="1463040"/>
              </a:tblGrid>
              <a:tr h="457200">
                <a:tc>
                  <a:txBody>
                    <a:bodyPr wrap="square"/>
                    <a:lstStyle/>
                    <a:p>
                      <a:pPr algn="l"/>
                      <a:r>
                        <a:rPr sz="1200" b="1" i="0">
                          <a:solidFill>
                            <a:srgbClr val="FFFFFF"/>
                          </a:solidFill>
                          <a:latin typeface="Segoe UI"/>
                        </a:rPr>
                        <a:t>Source</a:t>
                      </a:r>
                    </a:p>
                  </a:txBody>
                  <a:tcPr marL="100584" marR="82296" marT="45720" marB="45720" anchor="ctr">
                    <a:solidFill>
                      <a:srgbClr val="14828C"/>
                    </a:solidFill>
                  </a:tcPr>
                </a:tc>
                <a:tc>
                  <a:txBody>
                    <a:bodyPr wrap="square"/>
                    <a:lstStyle/>
                    <a:p>
                      <a:pPr algn="l"/>
                      <a:r>
                        <a:rPr sz="1200" b="1" i="0">
                          <a:solidFill>
                            <a:srgbClr val="FFFFFF"/>
                          </a:solidFill>
                          <a:latin typeface="Segoe UI"/>
                        </a:rPr>
                        <a:t>Criterion cited</a:t>
                      </a:r>
                    </a:p>
                  </a:txBody>
                  <a:tcPr marL="100584" marR="82296" marT="45720" marB="45720" anchor="ctr">
                    <a:solidFill>
                      <a:srgbClr val="14828C"/>
                    </a:solidFill>
                  </a:tcPr>
                </a:tc>
                <a:tc>
                  <a:txBody>
                    <a:bodyPr wrap="square"/>
                    <a:lstStyle/>
                    <a:p>
                      <a:pPr algn="l"/>
                      <a:r>
                        <a:rPr sz="1200" b="1" i="0">
                          <a:solidFill>
                            <a:srgbClr val="FFFFFF"/>
                          </a:solidFill>
                          <a:latin typeface="Segoe UI"/>
                        </a:rPr>
                        <a:t>Decision</a:t>
                      </a:r>
                    </a:p>
                  </a:txBody>
                  <a:tcPr marL="100584" marR="82296" marT="45720" marB="45720" anchor="ctr">
                    <a:solidFill>
                      <a:srgbClr val="14828C"/>
                    </a:solidFill>
                  </a:tcPr>
                </a:tc>
              </a:tr>
              <a:tr h="566928">
                <a:tc>
                  <a:txBody>
                    <a:bodyPr wrap="square"/>
                    <a:lstStyle/>
                    <a:p>
                      <a:pPr algn="l"/>
                      <a:r>
                        <a:rPr sz="1200" b="0" i="0">
                          <a:solidFill>
                            <a:srgbClr val="14252E"/>
                          </a:solidFill>
                          <a:latin typeface="Segoe UI"/>
                        </a:rPr>
                        <a:t>1</a:t>
                      </a:r>
                    </a:p>
                  </a:txBody>
                  <a:tcPr marL="100584" marR="82296" marT="45720" marB="45720" anchor="ctr">
                    <a:solidFill>
                      <a:srgbClr val="FFFFFF"/>
                    </a:solidFill>
                  </a:tcPr>
                </a:tc>
                <a:tc>
                  <a:txBody>
                    <a:bodyPr wrap="square"/>
                    <a:lstStyle/>
                    <a:p>
                      <a:pPr algn="l"/>
                    </a:p>
                  </a:txBody>
                  <a:tcPr marL="100584" marR="82296" marT="45720" marB="45720" anchor="ctr">
                    <a:solidFill>
                      <a:srgbClr val="FFFFFF"/>
                    </a:solidFill>
                  </a:tcPr>
                </a:tc>
                <a:tc>
                  <a:txBody>
                    <a:bodyPr wrap="square"/>
                    <a:lstStyle/>
                    <a:p>
                      <a:pPr algn="l"/>
                    </a:p>
                  </a:txBody>
                  <a:tcPr marL="100584" marR="82296" marT="45720" marB="45720" anchor="ctr">
                    <a:solidFill>
                      <a:srgbClr val="FFFFFF"/>
                    </a:solidFill>
                  </a:tcPr>
                </a:tc>
              </a:tr>
              <a:tr h="566928">
                <a:tc>
                  <a:txBody>
                    <a:bodyPr wrap="square"/>
                    <a:lstStyle/>
                    <a:p>
                      <a:pPr algn="l"/>
                      <a:r>
                        <a:rPr sz="1200" b="0" i="0">
                          <a:solidFill>
                            <a:srgbClr val="14252E"/>
                          </a:solidFill>
                          <a:latin typeface="Segoe UI"/>
                        </a:rPr>
                        <a:t>2</a:t>
                      </a:r>
                    </a:p>
                  </a:txBody>
                  <a:tcPr marL="100584" marR="82296" marT="45720" marB="45720" anchor="ctr">
                    <a:solidFill>
                      <a:srgbClr val="ECF2F3"/>
                    </a:solidFill>
                  </a:tcPr>
                </a:tc>
                <a:tc>
                  <a:txBody>
                    <a:bodyPr wrap="square"/>
                    <a:lstStyle/>
                    <a:p>
                      <a:pPr algn="l"/>
                    </a:p>
                  </a:txBody>
                  <a:tcPr marL="100584" marR="82296" marT="45720" marB="45720" anchor="ctr">
                    <a:solidFill>
                      <a:srgbClr val="ECF2F3"/>
                    </a:solidFill>
                  </a:tcPr>
                </a:tc>
                <a:tc>
                  <a:txBody>
                    <a:bodyPr wrap="square"/>
                    <a:lstStyle/>
                    <a:p>
                      <a:pPr algn="l"/>
                    </a:p>
                  </a:txBody>
                  <a:tcPr marL="100584" marR="82296" marT="45720" marB="45720" anchor="ctr">
                    <a:solidFill>
                      <a:srgbClr val="ECF2F3"/>
                    </a:solidFill>
                  </a:tcPr>
                </a:tc>
              </a:tr>
              <a:tr h="566928">
                <a:tc>
                  <a:txBody>
                    <a:bodyPr wrap="square"/>
                    <a:lstStyle/>
                    <a:p>
                      <a:pPr algn="l"/>
                      <a:r>
                        <a:rPr sz="1200" b="0" i="0">
                          <a:solidFill>
                            <a:srgbClr val="14252E"/>
                          </a:solidFill>
                          <a:latin typeface="Segoe UI"/>
                        </a:rPr>
                        <a:t>3</a:t>
                      </a:r>
                    </a:p>
                  </a:txBody>
                  <a:tcPr marL="100584" marR="82296" marT="45720" marB="45720" anchor="ctr">
                    <a:solidFill>
                      <a:srgbClr val="FFFFFF"/>
                    </a:solidFill>
                  </a:tcPr>
                </a:tc>
                <a:tc>
                  <a:txBody>
                    <a:bodyPr wrap="square"/>
                    <a:lstStyle/>
                    <a:p>
                      <a:pPr algn="l"/>
                    </a:p>
                  </a:txBody>
                  <a:tcPr marL="100584" marR="82296" marT="45720" marB="45720" anchor="ctr">
                    <a:solidFill>
                      <a:srgbClr val="FFFFFF"/>
                    </a:solidFill>
                  </a:tcPr>
                </a:tc>
                <a:tc>
                  <a:txBody>
                    <a:bodyPr wrap="square"/>
                    <a:lstStyle/>
                    <a:p>
                      <a:pPr algn="l"/>
                    </a:p>
                  </a:txBody>
                  <a:tcPr marL="100584" marR="82296" marT="45720" marB="45720" anchor="ctr">
                    <a:solidFill>
                      <a:srgbClr val="FFFFFF"/>
                    </a:solidFill>
                  </a:tcPr>
                </a:tc>
              </a:tr>
            </a:tbl>
          </a:graphicData>
        </a:graphic>
      </p:graphicFrame>
      <p:sp>
        <p:nvSpPr>
          <p:cNvPr id="18" name="Rounded Rectangle 17"/>
          <p:cNvSpPr/>
          <p:nvPr/>
        </p:nvSpPr>
        <p:spPr>
          <a:xfrm>
            <a:off x="566928" y="5257800"/>
            <a:ext cx="11064240" cy="658368"/>
          </a:xfrm>
          <a:prstGeom prst="roundRect">
            <a:avLst>
              <a:gd name="adj" fmla="val 12000"/>
            </a:avLst>
          </a:prstGeom>
          <a:solidFill>
            <a:srgbClr val="D4E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66928" y="5257800"/>
            <a:ext cx="82296" cy="658368"/>
          </a:xfrm>
          <a:prstGeom prst="roundRect">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257800"/>
            <a:ext cx="10607040" cy="658368"/>
          </a:xfrm>
          <a:prstGeom prst="rect">
            <a:avLst/>
          </a:prstGeom>
          <a:noFill/>
        </p:spPr>
        <p:txBody>
          <a:bodyPr wrap="square" anchor="ctr" lIns="0" rIns="0" tIns="0" bIns="0">
            <a:spAutoFit/>
          </a:bodyPr>
          <a:lstStyle/>
          <a:p>
            <a:pPr algn="l">
              <a:lnSpc>
                <a:spcPct val="102000"/>
              </a:lnSpc>
            </a:pPr>
            <a:r>
              <a:rPr sz="1500" b="0" i="0">
                <a:solidFill>
                  <a:srgbClr val="14252E"/>
                </a:solidFill>
                <a:latin typeface="Segoe UI"/>
              </a:rPr>
              <a:t>For each: Keep, Use with caution, or Reject? Justify with at least one criterion.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2B6CB2">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2B6CB2"/>
                </a:solidFill>
                <a:latin typeface="Segoe UI"/>
              </a:rPr>
              <a:t>PART 2 - SYNTHESIZING LITERATURE</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A Pile of Credible Sources</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Scenario framing</a:t>
            </a:r>
          </a:p>
        </p:txBody>
      </p:sp>
      <p:sp>
        <p:nvSpPr>
          <p:cNvPr id="8" name="Rectangle 7"/>
          <p:cNvSpPr/>
          <p:nvPr/>
        </p:nvSpPr>
        <p:spPr>
          <a:xfrm>
            <a:off x="576072" y="1572768"/>
            <a:ext cx="1554480" cy="50292"/>
          </a:xfrm>
          <a:prstGeom prst="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07  /  51</a:t>
            </a:r>
          </a:p>
        </p:txBody>
      </p:sp>
      <p:sp>
        <p:nvSpPr>
          <p:cNvPr id="10" name="TextBox 9"/>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1" name="TextBox 10"/>
          <p:cNvSpPr txBox="1"/>
          <p:nvPr/>
        </p:nvSpPr>
        <p:spPr>
          <a:xfrm>
            <a:off x="566928" y="2194560"/>
            <a:ext cx="6126480" cy="3657600"/>
          </a:xfrm>
          <a:prstGeom prst="rect">
            <a:avLst/>
          </a:prstGeom>
          <a:noFill/>
        </p:spPr>
        <p:txBody>
          <a:bodyPr wrap="square" lIns="0" rIns="0" tIns="0" bIns="0">
            <a:spAutoFit/>
          </a:bodyPr>
          <a:lstStyle/>
          <a:p>
            <a:pPr>
              <a:lnSpc>
                <a:spcPct val="104000"/>
              </a:lnSpc>
              <a:spcAft>
                <a:spcPts val="1600"/>
              </a:spcAft>
            </a:pPr>
            <a:r>
              <a:rPr sz="1300">
                <a:solidFill>
                  <a:srgbClr val="2B6CB2"/>
                </a:solidFill>
              </a:rPr>
              <a:t>■  </a:t>
            </a:r>
            <a:r>
              <a:rPr sz="1700" b="0" i="0">
                <a:solidFill>
                  <a:srgbClr val="14252E"/>
                </a:solidFill>
                <a:latin typeface="Segoe UI"/>
              </a:rPr>
              <a:t>The group has now filtered their list down to </a:t>
            </a:r>
            <a:r>
              <a:rPr sz="1700" b="1" i="0">
                <a:solidFill>
                  <a:srgbClr val="14252E"/>
                </a:solidFill>
                <a:latin typeface="Segoe UI"/>
              </a:rPr>
              <a:t>8 credible, relevant sources</a:t>
            </a:r>
            <a:r>
              <a:rPr sz="1700" b="0" i="0">
                <a:solidFill>
                  <a:srgbClr val="14252E"/>
                </a:solidFill>
                <a:latin typeface="Segoe UI"/>
              </a:rPr>
              <a:t> on coastal plastic waste.</a:t>
            </a:r>
          </a:p>
          <a:p>
            <a:pPr>
              <a:lnSpc>
                <a:spcPct val="104000"/>
              </a:lnSpc>
              <a:spcAft>
                <a:spcPts val="1600"/>
              </a:spcAft>
            </a:pPr>
            <a:r>
              <a:rPr sz="1300">
                <a:solidFill>
                  <a:srgbClr val="2B6CB2"/>
                </a:solidFill>
              </a:rPr>
              <a:t>■  </a:t>
            </a:r>
            <a:r>
              <a:rPr sz="1700" b="0" i="0">
                <a:solidFill>
                  <a:srgbClr val="14252E"/>
                </a:solidFill>
                <a:latin typeface="Segoe UI"/>
              </a:rPr>
              <a:t>Reading each one in isolation still leaves them with 8 separate summaries - </a:t>
            </a:r>
            <a:r>
              <a:rPr sz="1700" b="0" i="1">
                <a:solidFill>
                  <a:srgbClr val="14252E"/>
                </a:solidFill>
                <a:latin typeface="Segoe UI"/>
              </a:rPr>
              <a:t>not a research direction.</a:t>
            </a:r>
          </a:p>
          <a:p>
            <a:pPr>
              <a:lnSpc>
                <a:spcPct val="104000"/>
              </a:lnSpc>
              <a:spcAft>
                <a:spcPts val="1600"/>
              </a:spcAft>
            </a:pPr>
            <a:r>
              <a:rPr sz="1300">
                <a:solidFill>
                  <a:srgbClr val="2B6CB2"/>
                </a:solidFill>
              </a:rPr>
              <a:t>■  </a:t>
            </a:r>
            <a:r>
              <a:rPr sz="1700" b="0" i="0">
                <a:solidFill>
                  <a:srgbClr val="14252E"/>
                </a:solidFill>
                <a:latin typeface="Segoe UI"/>
              </a:rPr>
              <a:t>The next skill: </a:t>
            </a:r>
            <a:r>
              <a:rPr sz="1700" b="0" i="1">
                <a:solidFill>
                  <a:srgbClr val="14252E"/>
                </a:solidFill>
                <a:latin typeface="Segoe UI"/>
              </a:rPr>
              <a:t>reading across</a:t>
            </a:r>
            <a:r>
              <a:rPr sz="1700" b="0" i="0">
                <a:solidFill>
                  <a:srgbClr val="14252E"/>
                </a:solidFill>
                <a:latin typeface="Segoe UI"/>
              </a:rPr>
              <a:t> sources instead of </a:t>
            </a:r>
            <a:r>
              <a:rPr sz="1700" b="0" i="1">
                <a:solidFill>
                  <a:srgbClr val="14252E"/>
                </a:solidFill>
                <a:latin typeface="Segoe UI"/>
              </a:rPr>
              <a:t>reading through</a:t>
            </a:r>
            <a:r>
              <a:rPr sz="1700" b="0" i="0">
                <a:solidFill>
                  <a:srgbClr val="14252E"/>
                </a:solidFill>
                <a:latin typeface="Segoe UI"/>
              </a:rPr>
              <a:t> them one at a time.</a:t>
            </a:r>
          </a:p>
        </p:txBody>
      </p:sp>
      <p:sp>
        <p:nvSpPr>
          <p:cNvPr id="12" name="Rounded Rectangle 11"/>
          <p:cNvSpPr/>
          <p:nvPr/>
        </p:nvSpPr>
        <p:spPr>
          <a:xfrm>
            <a:off x="7040880" y="2194560"/>
            <a:ext cx="566928" cy="731520"/>
          </a:xfrm>
          <a:prstGeom prst="roundRect">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0" y="2331720"/>
            <a:ext cx="384048" cy="54864"/>
          </a:xfrm>
          <a:prstGeom prst="rect">
            <a:avLst/>
          </a:prstGeom>
          <a:solidFill>
            <a:srgbClr val="7FA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32320" y="2468879"/>
            <a:ext cx="384048" cy="54864"/>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0" y="2606040"/>
            <a:ext cx="274320" cy="54864"/>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772400" y="2331720"/>
            <a:ext cx="566928" cy="731520"/>
          </a:xfrm>
          <a:prstGeom prst="roundRect">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63840" y="2468879"/>
            <a:ext cx="384048" cy="54864"/>
          </a:xfrm>
          <a:prstGeom prst="rect">
            <a:avLst/>
          </a:prstGeom>
          <a:solidFill>
            <a:srgbClr val="7FA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863840" y="2606039"/>
            <a:ext cx="384048" cy="54864"/>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863840" y="2743200"/>
            <a:ext cx="274320" cy="54864"/>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595360" y="2148840"/>
            <a:ext cx="566928" cy="731520"/>
          </a:xfrm>
          <a:prstGeom prst="roundRect">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86800" y="2286000"/>
            <a:ext cx="384048" cy="54864"/>
          </a:xfrm>
          <a:prstGeom prst="rect">
            <a:avLst/>
          </a:prstGeom>
          <a:solidFill>
            <a:srgbClr val="7FA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0" y="2423160"/>
            <a:ext cx="384048" cy="54864"/>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0" y="2560320"/>
            <a:ext cx="274320" cy="54864"/>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326880" y="2377440"/>
            <a:ext cx="566928" cy="731520"/>
          </a:xfrm>
          <a:prstGeom prst="roundRect">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418319" y="2514600"/>
            <a:ext cx="384048" cy="54864"/>
          </a:xfrm>
          <a:prstGeom prst="rect">
            <a:avLst/>
          </a:prstGeom>
          <a:solidFill>
            <a:srgbClr val="7FA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418319" y="2651760"/>
            <a:ext cx="384048" cy="54864"/>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418319" y="2788920"/>
            <a:ext cx="274320" cy="54864"/>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223760" y="3017520"/>
            <a:ext cx="566928" cy="731520"/>
          </a:xfrm>
          <a:prstGeom prst="roundRect">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15200" y="3154679"/>
            <a:ext cx="384048" cy="54864"/>
          </a:xfrm>
          <a:prstGeom prst="rect">
            <a:avLst/>
          </a:prstGeom>
          <a:solidFill>
            <a:srgbClr val="7FA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15200" y="3291839"/>
            <a:ext cx="384048" cy="54864"/>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15200" y="3429000"/>
            <a:ext cx="274320" cy="54864"/>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046720" y="2880360"/>
            <a:ext cx="566928" cy="731520"/>
          </a:xfrm>
          <a:prstGeom prst="roundRect">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38160" y="3017520"/>
            <a:ext cx="384048" cy="54864"/>
          </a:xfrm>
          <a:prstGeom prst="rect">
            <a:avLst/>
          </a:prstGeom>
          <a:solidFill>
            <a:srgbClr val="7FA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38160" y="3154679"/>
            <a:ext cx="384048" cy="54864"/>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38160" y="3291840"/>
            <a:ext cx="274320" cy="54864"/>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869680" y="3063240"/>
            <a:ext cx="566928" cy="731520"/>
          </a:xfrm>
          <a:prstGeom prst="roundRect">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961119" y="3200400"/>
            <a:ext cx="384048" cy="54864"/>
          </a:xfrm>
          <a:prstGeom prst="rect">
            <a:avLst/>
          </a:prstGeom>
          <a:solidFill>
            <a:srgbClr val="7FA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961119" y="3337560"/>
            <a:ext cx="384048" cy="54864"/>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61119" y="3474720"/>
            <a:ext cx="274320" cy="54864"/>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601200" y="2926080"/>
            <a:ext cx="566928" cy="731520"/>
          </a:xfrm>
          <a:prstGeom prst="roundRect">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692640" y="3063240"/>
            <a:ext cx="384048" cy="54864"/>
          </a:xfrm>
          <a:prstGeom prst="rect">
            <a:avLst/>
          </a:prstGeom>
          <a:solidFill>
            <a:srgbClr val="7FA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692640" y="3200400"/>
            <a:ext cx="384048" cy="54864"/>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692640" y="3337560"/>
            <a:ext cx="274320" cy="54864"/>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Down Arrow 43"/>
          <p:cNvSpPr/>
          <p:nvPr/>
        </p:nvSpPr>
        <p:spPr>
          <a:xfrm>
            <a:off x="8138160" y="3977639"/>
            <a:ext cx="1920240" cy="457200"/>
          </a:xfrm>
          <a:prstGeom prst="downArrow">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040880" y="4617720"/>
            <a:ext cx="3566160" cy="137160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7040880" y="4617720"/>
            <a:ext cx="3566160" cy="365760"/>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040880" y="4617720"/>
            <a:ext cx="3566160" cy="365760"/>
          </a:xfrm>
          <a:prstGeom prst="rect">
            <a:avLst/>
          </a:prstGeom>
          <a:noFill/>
        </p:spPr>
        <p:txBody>
          <a:bodyPr wrap="square" anchor="ctr" lIns="0" rIns="0" tIns="0" bIns="0">
            <a:spAutoFit/>
          </a:bodyPr>
          <a:lstStyle/>
          <a:p>
            <a:pPr algn="ctr"/>
            <a:r>
              <a:rPr sz="1300" b="1" i="0">
                <a:solidFill>
                  <a:srgbClr val="FFFFFF"/>
                </a:solidFill>
                <a:latin typeface="Segoe UI"/>
              </a:rPr>
              <a:t>One organized synthesis table</a:t>
            </a:r>
          </a:p>
        </p:txBody>
      </p:sp>
      <p:sp>
        <p:nvSpPr>
          <p:cNvPr id="48" name="Rectangle 47"/>
          <p:cNvSpPr/>
          <p:nvPr/>
        </p:nvSpPr>
        <p:spPr>
          <a:xfrm>
            <a:off x="7223760" y="5120640"/>
            <a:ext cx="3200400" cy="45720"/>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223760" y="5376672"/>
            <a:ext cx="3200400" cy="45720"/>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223760" y="5632704"/>
            <a:ext cx="3200400" cy="45720"/>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2B6CB2">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2B6CB2"/>
                </a:solidFill>
                <a:latin typeface="Segoe UI"/>
              </a:rPr>
              <a:t>PART 2 - SYNTHESIZING LITERATURE</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Summarizing vs. Synthesizing Literature</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Comparison table</a:t>
            </a:r>
          </a:p>
        </p:txBody>
      </p:sp>
      <p:sp>
        <p:nvSpPr>
          <p:cNvPr id="8" name="Rectangle 7"/>
          <p:cNvSpPr/>
          <p:nvPr/>
        </p:nvSpPr>
        <p:spPr>
          <a:xfrm>
            <a:off x="576072" y="1572768"/>
            <a:ext cx="1554480" cy="50292"/>
          </a:xfrm>
          <a:prstGeom prst="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759391" y="420624"/>
            <a:ext cx="1883664" cy="310896"/>
          </a:xfrm>
          <a:prstGeom prst="roundRect">
            <a:avLst>
              <a:gd name="adj" fmla="val 50000"/>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9391" y="420624"/>
            <a:ext cx="1883664" cy="310896"/>
          </a:xfrm>
          <a:prstGeom prst="rect">
            <a:avLst/>
          </a:prstGeom>
          <a:noFill/>
        </p:spPr>
        <p:txBody>
          <a:bodyPr wrap="square" anchor="ctr" lIns="0" rIns="0" tIns="0" bIns="0">
            <a:spAutoFit/>
          </a:bodyPr>
          <a:lstStyle/>
          <a:p>
            <a:pPr algn="ctr"/>
            <a:r>
              <a:rPr sz="1050" b="1" i="0">
                <a:solidFill>
                  <a:srgbClr val="FFFFFF"/>
                </a:solidFill>
                <a:latin typeface="Segoe UI"/>
              </a:rPr>
              <a:t>TEXTBOOK-BASED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08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graphicFrame>
        <p:nvGraphicFramePr>
          <p:cNvPr id="13" name="Table 12"/>
          <p:cNvGraphicFramePr>
            <a:graphicFrameLocks noGrp="1"/>
          </p:cNvGraphicFramePr>
          <p:nvPr/>
        </p:nvGraphicFramePr>
        <p:xfrm>
          <a:off x="566928" y="2011680"/>
          <a:ext cx="11064240" cy="3611880"/>
        </p:xfrm>
        <a:graphic>
          <a:graphicData uri="http://schemas.openxmlformats.org/drawingml/2006/table">
            <a:tbl>
              <a:tblPr>
                <a:tableStyleId>{5C22544A-7EE6-4342-B048-85BDC9FD1C3A}</a:tableStyleId>
              </a:tblPr>
              <a:tblGrid>
                <a:gridCol w="1737360"/>
                <a:gridCol w="4206240"/>
                <a:gridCol w="5120640"/>
              </a:tblGrid>
              <a:tr h="457200">
                <a:tc>
                  <a:txBody>
                    <a:bodyPr wrap="square"/>
                    <a:lstStyle/>
                    <a:p>
                      <a:pPr algn="l"/>
                    </a:p>
                  </a:txBody>
                  <a:tcPr marL="100584" marR="82296" marT="45720" marB="45720" anchor="ctr">
                    <a:solidFill>
                      <a:srgbClr val="2B6CB2"/>
                    </a:solidFill>
                  </a:tcPr>
                </a:tc>
                <a:tc>
                  <a:txBody>
                    <a:bodyPr wrap="square"/>
                    <a:lstStyle/>
                    <a:p>
                      <a:pPr algn="l"/>
                      <a:r>
                        <a:rPr sz="1400" b="1" i="1">
                          <a:solidFill>
                            <a:srgbClr val="FFFFFF"/>
                          </a:solidFill>
                          <a:latin typeface="Segoe UI"/>
                        </a:rPr>
                        <a:t>Summarizing</a:t>
                      </a:r>
                    </a:p>
                  </a:txBody>
                  <a:tcPr marL="100584" marR="82296" marT="45720" marB="45720" anchor="ctr">
                    <a:solidFill>
                      <a:srgbClr val="2B6CB2"/>
                    </a:solidFill>
                  </a:tcPr>
                </a:tc>
                <a:tc>
                  <a:txBody>
                    <a:bodyPr wrap="square"/>
                    <a:lstStyle/>
                    <a:p>
                      <a:pPr algn="l"/>
                      <a:r>
                        <a:rPr sz="1400" b="1" i="1">
                          <a:solidFill>
                            <a:srgbClr val="FFFFFF"/>
                          </a:solidFill>
                          <a:latin typeface="Segoe UI"/>
                        </a:rPr>
                        <a:t>Synthesizing</a:t>
                      </a:r>
                    </a:p>
                  </a:txBody>
                  <a:tcPr marL="100584" marR="82296" marT="45720" marB="45720" anchor="ctr">
                    <a:solidFill>
                      <a:srgbClr val="2B6CB2"/>
                    </a:solidFill>
                  </a:tcPr>
                </a:tc>
              </a:tr>
              <a:tr h="1051560">
                <a:tc>
                  <a:txBody>
                    <a:bodyPr wrap="square"/>
                    <a:lstStyle/>
                    <a:p>
                      <a:pPr algn="l"/>
                      <a:r>
                        <a:rPr sz="1300" b="1" i="0">
                          <a:solidFill>
                            <a:srgbClr val="14252E"/>
                          </a:solidFill>
                          <a:latin typeface="Segoe UI"/>
                        </a:rPr>
                        <a:t>Focus</a:t>
                      </a:r>
                    </a:p>
                  </a:txBody>
                  <a:tcPr marL="100584" marR="82296" marT="45720" marB="45720" anchor="ctr">
                    <a:solidFill>
                      <a:srgbClr val="FFFFFF"/>
                    </a:solidFill>
                  </a:tcPr>
                </a:tc>
                <a:tc>
                  <a:txBody>
                    <a:bodyPr wrap="square"/>
                    <a:lstStyle/>
                    <a:p>
                      <a:pPr algn="l"/>
                      <a:r>
                        <a:rPr sz="1300" b="0" i="0">
                          <a:solidFill>
                            <a:srgbClr val="3A4B54"/>
                          </a:solidFill>
                          <a:latin typeface="Segoe UI"/>
                        </a:rPr>
                        <a:t>One source at a time</a:t>
                      </a:r>
                    </a:p>
                  </a:txBody>
                  <a:tcPr marL="100584" marR="82296" marT="45720" marB="45720" anchor="ctr">
                    <a:solidFill>
                      <a:srgbClr val="FFFFFF"/>
                    </a:solidFill>
                  </a:tcPr>
                </a:tc>
                <a:tc>
                  <a:txBody>
                    <a:bodyPr wrap="square"/>
                    <a:lstStyle/>
                    <a:p>
                      <a:pPr algn="l"/>
                      <a:r>
                        <a:rPr sz="1300" b="0" i="0">
                          <a:solidFill>
                            <a:srgbClr val="3A4B54"/>
                          </a:solidFill>
                          <a:latin typeface="Segoe UI"/>
                        </a:rPr>
                        <a:t>Multiple sources compared together</a:t>
                      </a:r>
                    </a:p>
                  </a:txBody>
                  <a:tcPr marL="100584" marR="82296" marT="45720" marB="45720" anchor="ctr">
                    <a:solidFill>
                      <a:srgbClr val="FFFFFF"/>
                    </a:solidFill>
                  </a:tcPr>
                </a:tc>
              </a:tr>
              <a:tr h="1051560">
                <a:tc>
                  <a:txBody>
                    <a:bodyPr wrap="square"/>
                    <a:lstStyle/>
                    <a:p>
                      <a:pPr algn="l"/>
                      <a:r>
                        <a:rPr sz="1300" b="1" i="0">
                          <a:solidFill>
                            <a:srgbClr val="14252E"/>
                          </a:solidFill>
                          <a:latin typeface="Segoe UI"/>
                        </a:rPr>
                        <a:t>Output</a:t>
                      </a:r>
                    </a:p>
                  </a:txBody>
                  <a:tcPr marL="100584" marR="82296" marT="45720" marB="45720" anchor="ctr">
                    <a:solidFill>
                      <a:srgbClr val="ECF2F3"/>
                    </a:solidFill>
                  </a:tcPr>
                </a:tc>
                <a:tc>
                  <a:txBody>
                    <a:bodyPr wrap="square"/>
                    <a:lstStyle/>
                    <a:p>
                      <a:pPr algn="l"/>
                      <a:r>
                        <a:rPr sz="1300" b="0" i="0">
                          <a:solidFill>
                            <a:srgbClr val="3A4B54"/>
                          </a:solidFill>
                          <a:latin typeface="Segoe UI"/>
                        </a:rPr>
                        <a:t>“Study A found X. Study B found Y.”</a:t>
                      </a:r>
                    </a:p>
                  </a:txBody>
                  <a:tcPr marL="100584" marR="82296" marT="45720" marB="45720" anchor="ctr">
                    <a:solidFill>
                      <a:srgbClr val="ECF2F3"/>
                    </a:solidFill>
                  </a:tcPr>
                </a:tc>
                <a:tc>
                  <a:txBody>
                    <a:bodyPr wrap="square"/>
                    <a:lstStyle/>
                    <a:p>
                      <a:pPr algn="l"/>
                      <a:r>
                        <a:rPr sz="1300" b="0" i="0">
                          <a:solidFill>
                            <a:srgbClr val="3A4B54"/>
                          </a:solidFill>
                          <a:latin typeface="Segoe UI"/>
                        </a:rPr>
                        <a:t>“Several studies found X, but none examined Y in this context.”</a:t>
                      </a:r>
                    </a:p>
                  </a:txBody>
                  <a:tcPr marL="100584" marR="82296" marT="45720" marB="45720" anchor="ctr">
                    <a:solidFill>
                      <a:srgbClr val="ECF2F3"/>
                    </a:solidFill>
                  </a:tcPr>
                </a:tc>
              </a:tr>
              <a:tr h="1051560">
                <a:tc>
                  <a:txBody>
                    <a:bodyPr wrap="square"/>
                    <a:lstStyle/>
                    <a:p>
                      <a:pPr algn="l"/>
                      <a:r>
                        <a:rPr sz="1300" b="1" i="0">
                          <a:solidFill>
                            <a:srgbClr val="14252E"/>
                          </a:solidFill>
                          <a:latin typeface="Segoe UI"/>
                        </a:rPr>
                        <a:t>Purpose</a:t>
                      </a:r>
                    </a:p>
                  </a:txBody>
                  <a:tcPr marL="100584" marR="82296" marT="45720" marB="45720" anchor="ctr">
                    <a:solidFill>
                      <a:srgbClr val="FFFFFF"/>
                    </a:solidFill>
                  </a:tcPr>
                </a:tc>
                <a:tc>
                  <a:txBody>
                    <a:bodyPr wrap="square"/>
                    <a:lstStyle/>
                    <a:p>
                      <a:pPr algn="l"/>
                      <a:r>
                        <a:rPr sz="1300" b="0" i="0">
                          <a:solidFill>
                            <a:srgbClr val="3A4B54"/>
                          </a:solidFill>
                          <a:latin typeface="Segoe UI"/>
                        </a:rPr>
                        <a:t>Shows you understood each study</a:t>
                      </a:r>
                    </a:p>
                  </a:txBody>
                  <a:tcPr marL="100584" marR="82296" marT="45720" marB="45720" anchor="ctr">
                    <a:solidFill>
                      <a:srgbClr val="FFFFFF"/>
                    </a:solidFill>
                  </a:tcPr>
                </a:tc>
                <a:tc>
                  <a:txBody>
                    <a:bodyPr wrap="square"/>
                    <a:lstStyle/>
                    <a:p>
                      <a:pPr algn="l"/>
                      <a:r>
                        <a:rPr sz="1300" b="0" i="0">
                          <a:solidFill>
                            <a:srgbClr val="3A4B54"/>
                          </a:solidFill>
                          <a:latin typeface="Segoe UI"/>
                        </a:rPr>
                        <a:t>Shows how the studies relate - where they agree, disagree, or leave something unexamined</a:t>
                      </a:r>
                    </a:p>
                  </a:txBody>
                  <a:tcPr marL="100584" marR="82296" marT="45720" marB="45720"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2B6CB2">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2B6CB2"/>
                </a:solidFill>
                <a:latin typeface="Segoe UI"/>
              </a:rPr>
              <a:t>PART 2 - SYNTHESIZING LITERATURE</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Tools for Synthesizing Literature</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Concept map / matrix</a:t>
            </a:r>
          </a:p>
        </p:txBody>
      </p:sp>
      <p:sp>
        <p:nvSpPr>
          <p:cNvPr id="8" name="Rectangle 7"/>
          <p:cNvSpPr/>
          <p:nvPr/>
        </p:nvSpPr>
        <p:spPr>
          <a:xfrm>
            <a:off x="576072" y="1572768"/>
            <a:ext cx="1554480" cy="50292"/>
          </a:xfrm>
          <a:prstGeom prst="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023299" y="420624"/>
            <a:ext cx="2619756" cy="310896"/>
          </a:xfrm>
          <a:prstGeom prst="roundRect">
            <a:avLst>
              <a:gd name="adj" fmla="val 50000"/>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23299" y="420624"/>
            <a:ext cx="2619756" cy="310896"/>
          </a:xfrm>
          <a:prstGeom prst="rect">
            <a:avLst/>
          </a:prstGeom>
          <a:noFill/>
        </p:spPr>
        <p:txBody>
          <a:bodyPr wrap="square" anchor="ctr" lIns="0" rIns="0" tIns="0" bIns="0">
            <a:spAutoFit/>
          </a:bodyPr>
          <a:lstStyle/>
          <a:p>
            <a:pPr algn="ctr"/>
            <a:r>
              <a:rPr sz="1050" b="1" i="0">
                <a:solidFill>
                  <a:srgbClr val="FFFFFF"/>
                </a:solidFill>
                <a:latin typeface="Segoe UI"/>
              </a:rPr>
              <a:t>TEXTBOOK + INSTRUCTOR</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09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2103120"/>
            <a:ext cx="5074920" cy="320040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2103120"/>
            <a:ext cx="5074920" cy="566928"/>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103120"/>
            <a:ext cx="4663440" cy="566928"/>
          </a:xfrm>
          <a:prstGeom prst="rect">
            <a:avLst/>
          </a:prstGeom>
          <a:noFill/>
        </p:spPr>
        <p:txBody>
          <a:bodyPr wrap="square" anchor="ctr" lIns="0" rIns="0" tIns="0" bIns="0">
            <a:spAutoFit/>
          </a:bodyPr>
          <a:lstStyle/>
          <a:p>
            <a:pPr algn="l"/>
            <a:r>
              <a:rPr sz="1500" b="1" i="0">
                <a:solidFill>
                  <a:srgbClr val="FFFFFF"/>
                </a:solidFill>
                <a:latin typeface="Segoe UI"/>
              </a:rPr>
              <a:t>Starting tool - Synthesis matrix</a:t>
            </a:r>
          </a:p>
        </p:txBody>
      </p:sp>
      <p:sp>
        <p:nvSpPr>
          <p:cNvPr id="16" name="TextBox 15"/>
          <p:cNvSpPr txBox="1"/>
          <p:nvPr/>
        </p:nvSpPr>
        <p:spPr>
          <a:xfrm>
            <a:off x="777240" y="2788920"/>
            <a:ext cx="4663440" cy="914400"/>
          </a:xfrm>
          <a:prstGeom prst="rect">
            <a:avLst/>
          </a:prstGeom>
          <a:noFill/>
        </p:spPr>
        <p:txBody>
          <a:bodyPr wrap="square" anchor="t" lIns="0" rIns="0" tIns="0" bIns="0">
            <a:spAutoFit/>
          </a:bodyPr>
          <a:lstStyle/>
          <a:p>
            <a:pPr algn="l">
              <a:lnSpc>
                <a:spcPct val="105000"/>
              </a:lnSpc>
            </a:pPr>
            <a:r>
              <a:rPr sz="1250" b="0" i="0">
                <a:solidFill>
                  <a:srgbClr val="14252E"/>
                </a:solidFill>
                <a:latin typeface="Segoe UI"/>
              </a:rPr>
              <a:t>A simple table with one row per source and columns for </a:t>
            </a:r>
            <a:r>
              <a:rPr sz="1250" b="0" i="1">
                <a:solidFill>
                  <a:srgbClr val="14252E"/>
                </a:solidFill>
                <a:latin typeface="Segoe UI"/>
              </a:rPr>
              <a:t>Key Finding</a:t>
            </a:r>
            <a:r>
              <a:rPr sz="1250" b="0" i="0">
                <a:solidFill>
                  <a:srgbClr val="14252E"/>
                </a:solidFill>
                <a:latin typeface="Segoe UI"/>
              </a:rPr>
              <a:t>, </a:t>
            </a:r>
            <a:r>
              <a:rPr sz="1250" b="0" i="1">
                <a:solidFill>
                  <a:srgbClr val="14252E"/>
                </a:solidFill>
                <a:latin typeface="Segoe UI"/>
              </a:rPr>
              <a:t>Method</a:t>
            </a:r>
            <a:r>
              <a:rPr sz="1250" b="0" i="0">
                <a:solidFill>
                  <a:srgbClr val="14252E"/>
                </a:solidFill>
                <a:latin typeface="Segoe UI"/>
              </a:rPr>
              <a:t>, and </a:t>
            </a:r>
            <a:r>
              <a:rPr sz="1250" b="0" i="1">
                <a:solidFill>
                  <a:srgbClr val="14252E"/>
                </a:solidFill>
                <a:latin typeface="Segoe UI"/>
              </a:rPr>
              <a:t>Theme / Gap Noted</a:t>
            </a:r>
            <a:r>
              <a:rPr sz="1250" b="0" i="0">
                <a:solidFill>
                  <a:srgbClr val="14252E"/>
                </a:solidFill>
                <a:latin typeface="Segoe UI"/>
              </a:rPr>
              <a:t>.</a:t>
            </a:r>
          </a:p>
        </p:txBody>
      </p:sp>
      <p:sp>
        <p:nvSpPr>
          <p:cNvPr id="17" name="Rectangle 16"/>
          <p:cNvSpPr/>
          <p:nvPr/>
        </p:nvSpPr>
        <p:spPr>
          <a:xfrm>
            <a:off x="777240" y="3794760"/>
            <a:ext cx="4663440" cy="292608"/>
          </a:xfrm>
          <a:prstGeom prst="rect">
            <a:avLst/>
          </a:prstGeom>
          <a:solidFill>
            <a:srgbClr val="69BA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4663440" cy="274320"/>
          </a:xfrm>
          <a:prstGeom prst="rect">
            <a:avLst/>
          </a:prstGeom>
          <a:solidFill>
            <a:srgbClr val="ECF2F3"/>
          </a:solidFill>
          <a:ln w="6350">
            <a:solidFill>
              <a:srgbClr val="DD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379976"/>
            <a:ext cx="4663440" cy="274320"/>
          </a:xfrm>
          <a:prstGeom prst="rect">
            <a:avLst/>
          </a:prstGeom>
          <a:solidFill>
            <a:srgbClr val="FFFFFF"/>
          </a:solidFill>
          <a:ln w="6350">
            <a:solidFill>
              <a:srgbClr val="DD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672584"/>
            <a:ext cx="4663440" cy="274320"/>
          </a:xfrm>
          <a:prstGeom prst="rect">
            <a:avLst/>
          </a:prstGeom>
          <a:solidFill>
            <a:srgbClr val="ECF2F3"/>
          </a:solidFill>
          <a:ln w="6350">
            <a:solidFill>
              <a:srgbClr val="DD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011680" y="3794760"/>
            <a:ext cx="18288" cy="1170432"/>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6120" y="3794760"/>
            <a:ext cx="18288" cy="1170432"/>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3794760"/>
            <a:ext cx="18288" cy="1170432"/>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565392" y="2103120"/>
            <a:ext cx="5074920" cy="320040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565392" y="2103120"/>
            <a:ext cx="5074920" cy="566928"/>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75704" y="2103120"/>
            <a:ext cx="4663440" cy="566928"/>
          </a:xfrm>
          <a:prstGeom prst="rect">
            <a:avLst/>
          </a:prstGeom>
          <a:noFill/>
        </p:spPr>
        <p:txBody>
          <a:bodyPr wrap="square" anchor="ctr" lIns="0" rIns="0" tIns="0" bIns="0">
            <a:spAutoFit/>
          </a:bodyPr>
          <a:lstStyle/>
          <a:p>
            <a:pPr algn="l"/>
            <a:r>
              <a:rPr sz="1500" b="1" i="0">
                <a:solidFill>
                  <a:srgbClr val="FFFFFF"/>
                </a:solidFill>
                <a:latin typeface="Segoe UI"/>
              </a:rPr>
              <a:t>Next-level tool - Literature map</a:t>
            </a:r>
          </a:p>
        </p:txBody>
      </p:sp>
      <p:sp>
        <p:nvSpPr>
          <p:cNvPr id="27" name="TextBox 26"/>
          <p:cNvSpPr txBox="1"/>
          <p:nvPr/>
        </p:nvSpPr>
        <p:spPr>
          <a:xfrm>
            <a:off x="6775704" y="2788920"/>
            <a:ext cx="4663440" cy="914400"/>
          </a:xfrm>
          <a:prstGeom prst="rect">
            <a:avLst/>
          </a:prstGeom>
          <a:noFill/>
        </p:spPr>
        <p:txBody>
          <a:bodyPr wrap="square" anchor="t" lIns="0" rIns="0" tIns="0" bIns="0">
            <a:spAutoFit/>
          </a:bodyPr>
          <a:lstStyle/>
          <a:p>
            <a:pPr algn="l">
              <a:lnSpc>
                <a:spcPct val="105000"/>
              </a:lnSpc>
            </a:pPr>
            <a:r>
              <a:rPr sz="1250" b="0" i="0">
                <a:solidFill>
                  <a:srgbClr val="14252E"/>
                </a:solidFill>
                <a:latin typeface="Segoe UI"/>
              </a:rPr>
              <a:t>A visual diagram that groups sources into broad categories and shows where the </a:t>
            </a:r>
            <a:r>
              <a:rPr sz="1250" b="0" i="1">
                <a:solidFill>
                  <a:srgbClr val="14252E"/>
                </a:solidFill>
                <a:latin typeface="Segoe UI"/>
              </a:rPr>
              <a:t>proposed study</a:t>
            </a:r>
            <a:r>
              <a:rPr sz="1250" b="0" i="0">
                <a:solidFill>
                  <a:srgbClr val="14252E"/>
                </a:solidFill>
                <a:latin typeface="Segoe UI"/>
              </a:rPr>
              <a:t> fits relative to existing research.</a:t>
            </a:r>
          </a:p>
        </p:txBody>
      </p:sp>
      <p:sp>
        <p:nvSpPr>
          <p:cNvPr id="28" name="Rounded Rectangle 27"/>
          <p:cNvSpPr/>
          <p:nvPr/>
        </p:nvSpPr>
        <p:spPr>
          <a:xfrm>
            <a:off x="8686800" y="3749039"/>
            <a:ext cx="822960" cy="310896"/>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040880" y="4343400"/>
            <a:ext cx="777240" cy="292608"/>
          </a:xfrm>
          <a:prstGeom prst="roundRect">
            <a:avLst/>
          </a:prstGeom>
          <a:solidFill>
            <a:srgbClr val="759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138160" y="4343400"/>
            <a:ext cx="777240" cy="292608"/>
          </a:xfrm>
          <a:prstGeom prst="roundRect">
            <a:avLst/>
          </a:prstGeom>
          <a:solidFill>
            <a:srgbClr val="759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235440" y="4343400"/>
            <a:ext cx="777240" cy="292608"/>
          </a:xfrm>
          <a:prstGeom prst="roundRect">
            <a:avLst/>
          </a:prstGeom>
          <a:solidFill>
            <a:srgbClr val="759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332720" y="4343400"/>
            <a:ext cx="777240" cy="292608"/>
          </a:xfrm>
          <a:prstGeom prst="roundRect">
            <a:avLst/>
          </a:prstGeom>
          <a:solidFill>
            <a:srgbClr val="759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138160" y="4800600"/>
            <a:ext cx="777240" cy="310896"/>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38160" y="4791456"/>
            <a:ext cx="777240" cy="310896"/>
          </a:xfrm>
          <a:prstGeom prst="rect">
            <a:avLst/>
          </a:prstGeom>
          <a:noFill/>
        </p:spPr>
        <p:txBody>
          <a:bodyPr wrap="square" anchor="ctr" lIns="0" rIns="0" tIns="0" bIns="0">
            <a:spAutoFit/>
          </a:bodyPr>
          <a:lstStyle/>
          <a:p>
            <a:pPr algn="ctr"/>
            <a:r>
              <a:rPr sz="850" b="1" i="0">
                <a:solidFill>
                  <a:srgbClr val="FFFFFF"/>
                </a:solidFill>
                <a:latin typeface="Segoe UI"/>
              </a:rPr>
              <a:t>your study</a:t>
            </a:r>
          </a:p>
        </p:txBody>
      </p:sp>
      <p:sp>
        <p:nvSpPr>
          <p:cNvPr id="35" name="Right Arrow 34"/>
          <p:cNvSpPr/>
          <p:nvPr/>
        </p:nvSpPr>
        <p:spPr>
          <a:xfrm>
            <a:off x="5715000" y="3520440"/>
            <a:ext cx="777240" cy="365760"/>
          </a:xfrm>
          <a:prstGeom prst="rightArrow">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94960" y="3931920"/>
            <a:ext cx="1417320" cy="548640"/>
          </a:xfrm>
          <a:prstGeom prst="rect">
            <a:avLst/>
          </a:prstGeom>
          <a:noFill/>
        </p:spPr>
        <p:txBody>
          <a:bodyPr wrap="square" anchor="t" lIns="0" rIns="0" tIns="0" bIns="0">
            <a:spAutoFit/>
          </a:bodyPr>
          <a:lstStyle/>
          <a:p>
            <a:pPr algn="ctr">
              <a:lnSpc>
                <a:spcPct val="90000"/>
              </a:lnSpc>
            </a:pPr>
            <a:r>
              <a:rPr sz="900" b="0" i="1">
                <a:solidFill>
                  <a:srgbClr val="3A4B54"/>
                </a:solidFill>
                <a:latin typeface="Segoe UI"/>
              </a:rPr>
              <a:t>same purpose, two formats</a:t>
            </a:r>
          </a:p>
        </p:txBody>
      </p:sp>
      <p:sp>
        <p:nvSpPr>
          <p:cNvPr id="37" name="Rounded Rectangle 36"/>
          <p:cNvSpPr/>
          <p:nvPr/>
        </p:nvSpPr>
        <p:spPr>
          <a:xfrm>
            <a:off x="566928" y="5532120"/>
            <a:ext cx="11064240" cy="658368"/>
          </a:xfrm>
          <a:prstGeom prst="roundRect">
            <a:avLst>
              <a:gd name="adj" fmla="val 12000"/>
            </a:avLst>
          </a:prstGeom>
          <a:solidFill>
            <a:srgbClr val="D8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66928" y="5532120"/>
            <a:ext cx="82296" cy="658368"/>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5532120"/>
            <a:ext cx="10607040" cy="658368"/>
          </a:xfrm>
          <a:prstGeom prst="rect">
            <a:avLst/>
          </a:prstGeom>
          <a:noFill/>
        </p:spPr>
        <p:txBody>
          <a:bodyPr wrap="square" anchor="ctr" lIns="0" rIns="0" tIns="0" bIns="0">
            <a:spAutoFit/>
          </a:bodyPr>
          <a:lstStyle/>
          <a:p>
            <a:pPr algn="l">
              <a:lnSpc>
                <a:spcPct val="102000"/>
              </a:lnSpc>
            </a:pPr>
            <a:r>
              <a:rPr sz="1400" b="0" i="1">
                <a:solidFill>
                  <a:srgbClr val="14252E"/>
                </a:solidFill>
                <a:latin typeface="Segoe UI"/>
              </a:rPr>
              <a:t>Both tools do the same job: turn a stack of readings into a picture of what's already known and what isn't yet.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2B6CB2">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2B6CB2"/>
                </a:solidFill>
                <a:latin typeface="Segoe UI"/>
              </a:rPr>
              <a:t>PART 2 - SYNTHESIZING LITERATURE</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A Synthesis Matrix in Action</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Sample data table</a:t>
            </a:r>
          </a:p>
        </p:txBody>
      </p:sp>
      <p:sp>
        <p:nvSpPr>
          <p:cNvPr id="8" name="Rectangle 7"/>
          <p:cNvSpPr/>
          <p:nvPr/>
        </p:nvSpPr>
        <p:spPr>
          <a:xfrm>
            <a:off x="576072" y="1572768"/>
            <a:ext cx="1554480" cy="50292"/>
          </a:xfrm>
          <a:prstGeom prst="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10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graphicFrame>
        <p:nvGraphicFramePr>
          <p:cNvPr id="13" name="Table 12"/>
          <p:cNvGraphicFramePr>
            <a:graphicFrameLocks noGrp="1"/>
          </p:cNvGraphicFramePr>
          <p:nvPr/>
        </p:nvGraphicFramePr>
        <p:xfrm>
          <a:off x="566928" y="2011680"/>
          <a:ext cx="11064240" cy="3822192"/>
        </p:xfrm>
        <a:graphic>
          <a:graphicData uri="http://schemas.openxmlformats.org/drawingml/2006/table">
            <a:tbl>
              <a:tblPr>
                <a:tableStyleId>{5C22544A-7EE6-4342-B048-85BDC9FD1C3A}</a:tableStyleId>
              </a:tblPr>
              <a:tblGrid>
                <a:gridCol w="2011680"/>
                <a:gridCol w="3657600"/>
                <a:gridCol w="1828800"/>
                <a:gridCol w="3566160"/>
              </a:tblGrid>
              <a:tr h="457200">
                <a:tc>
                  <a:txBody>
                    <a:bodyPr wrap="square"/>
                    <a:lstStyle/>
                    <a:p>
                      <a:pPr algn="l"/>
                      <a:r>
                        <a:rPr sz="1300" b="1" i="0">
                          <a:solidFill>
                            <a:srgbClr val="FFFFFF"/>
                          </a:solidFill>
                          <a:latin typeface="Segoe UI"/>
                        </a:rPr>
                        <a:t>Source</a:t>
                      </a:r>
                    </a:p>
                  </a:txBody>
                  <a:tcPr marL="100584" marR="82296" marT="45720" marB="45720" anchor="ctr">
                    <a:solidFill>
                      <a:srgbClr val="2B6CB2"/>
                    </a:solidFill>
                  </a:tcPr>
                </a:tc>
                <a:tc>
                  <a:txBody>
                    <a:bodyPr wrap="square"/>
                    <a:lstStyle/>
                    <a:p>
                      <a:pPr algn="l"/>
                      <a:r>
                        <a:rPr sz="1300" b="1" i="0">
                          <a:solidFill>
                            <a:srgbClr val="FFFFFF"/>
                          </a:solidFill>
                          <a:latin typeface="Segoe UI"/>
                        </a:rPr>
                        <a:t>Key Finding</a:t>
                      </a:r>
                    </a:p>
                  </a:txBody>
                  <a:tcPr marL="100584" marR="82296" marT="45720" marB="45720" anchor="ctr">
                    <a:solidFill>
                      <a:srgbClr val="2B6CB2"/>
                    </a:solidFill>
                  </a:tcPr>
                </a:tc>
                <a:tc>
                  <a:txBody>
                    <a:bodyPr wrap="square"/>
                    <a:lstStyle/>
                    <a:p>
                      <a:pPr algn="l"/>
                      <a:r>
                        <a:rPr sz="1300" b="1" i="0">
                          <a:solidFill>
                            <a:srgbClr val="FFFFFF"/>
                          </a:solidFill>
                          <a:latin typeface="Segoe UI"/>
                        </a:rPr>
                        <a:t>Method</a:t>
                      </a:r>
                    </a:p>
                  </a:txBody>
                  <a:tcPr marL="100584" marR="82296" marT="45720" marB="45720" anchor="ctr">
                    <a:solidFill>
                      <a:srgbClr val="2B6CB2"/>
                    </a:solidFill>
                  </a:tcPr>
                </a:tc>
                <a:tc>
                  <a:txBody>
                    <a:bodyPr wrap="square"/>
                    <a:lstStyle/>
                    <a:p>
                      <a:pPr algn="l"/>
                      <a:r>
                        <a:rPr sz="1300" b="1" i="0">
                          <a:solidFill>
                            <a:srgbClr val="FFFFFF"/>
                          </a:solidFill>
                          <a:latin typeface="Segoe UI"/>
                        </a:rPr>
                        <a:t>Theme / Gap Noted</a:t>
                      </a:r>
                    </a:p>
                  </a:txBody>
                  <a:tcPr marL="100584" marR="82296" marT="45720" marB="45720" anchor="ctr">
                    <a:solidFill>
                      <a:srgbClr val="2B6CB2"/>
                    </a:solidFill>
                  </a:tcPr>
                </a:tc>
              </a:tr>
              <a:tr h="841248">
                <a:tc>
                  <a:txBody>
                    <a:bodyPr wrap="square"/>
                    <a:lstStyle/>
                    <a:p>
                      <a:pPr algn="l"/>
                      <a:r>
                        <a:rPr sz="1200" b="1" i="0">
                          <a:solidFill>
                            <a:srgbClr val="14252E"/>
                          </a:solidFill>
                          <a:latin typeface="Segoe UI"/>
                        </a:rPr>
                        <a:t>Journal Article A</a:t>
                      </a:r>
                    </a:p>
                  </a:txBody>
                  <a:tcPr marL="100584" marR="82296" marT="45720" marB="45720" anchor="ctr">
                    <a:solidFill>
                      <a:srgbClr val="FFFFFF"/>
                    </a:solidFill>
                  </a:tcPr>
                </a:tc>
                <a:tc>
                  <a:txBody>
                    <a:bodyPr wrap="square"/>
                    <a:lstStyle/>
                    <a:p>
                      <a:pPr algn="l"/>
                      <a:r>
                        <a:rPr sz="1200" b="0" i="0">
                          <a:solidFill>
                            <a:srgbClr val="3A4B54"/>
                          </a:solidFill>
                          <a:latin typeface="Segoe UI"/>
                        </a:rPr>
                        <a:t>Coastal households under-segregate plastic waste</a:t>
                      </a:r>
                    </a:p>
                  </a:txBody>
                  <a:tcPr marL="100584" marR="82296" marT="45720" marB="45720" anchor="ctr">
                    <a:solidFill>
                      <a:srgbClr val="FFFFFF"/>
                    </a:solidFill>
                  </a:tcPr>
                </a:tc>
                <a:tc>
                  <a:txBody>
                    <a:bodyPr wrap="square"/>
                    <a:lstStyle/>
                    <a:p>
                      <a:pPr algn="l"/>
                      <a:r>
                        <a:rPr sz="1200" b="0" i="0">
                          <a:solidFill>
                            <a:srgbClr val="3A4B54"/>
                          </a:solidFill>
                          <a:latin typeface="Segoe UI"/>
                        </a:rPr>
                        <a:t>Survey</a:t>
                      </a:r>
                    </a:p>
                  </a:txBody>
                  <a:tcPr marL="100584" marR="82296" marT="45720" marB="45720" anchor="ctr">
                    <a:solidFill>
                      <a:srgbClr val="FFFFFF"/>
                    </a:solidFill>
                  </a:tcPr>
                </a:tc>
                <a:tc>
                  <a:txBody>
                    <a:bodyPr wrap="square"/>
                    <a:lstStyle/>
                    <a:p>
                      <a:pPr algn="l"/>
                      <a:r>
                        <a:rPr sz="1200" b="0" i="0">
                          <a:solidFill>
                            <a:srgbClr val="3A4B54"/>
                          </a:solidFill>
                          <a:latin typeface="Segoe UI"/>
                        </a:rPr>
                        <a:t>Focuses on urban, not coastal, communities</a:t>
                      </a:r>
                    </a:p>
                  </a:txBody>
                  <a:tcPr marL="100584" marR="82296" marT="45720" marB="45720" anchor="ctr">
                    <a:solidFill>
                      <a:srgbClr val="FFFFFF"/>
                    </a:solidFill>
                  </a:tcPr>
                </a:tc>
              </a:tr>
              <a:tr h="841248">
                <a:tc>
                  <a:txBody>
                    <a:bodyPr wrap="square"/>
                    <a:lstStyle/>
                    <a:p>
                      <a:pPr algn="l"/>
                      <a:r>
                        <a:rPr sz="1200" b="1" i="0">
                          <a:solidFill>
                            <a:srgbClr val="14252E"/>
                          </a:solidFill>
                          <a:latin typeface="Segoe UI"/>
                        </a:rPr>
                        <a:t>Journal Article B</a:t>
                      </a:r>
                    </a:p>
                  </a:txBody>
                  <a:tcPr marL="100584" marR="82296" marT="45720" marB="45720" anchor="ctr">
                    <a:solidFill>
                      <a:srgbClr val="ECF2F3"/>
                    </a:solidFill>
                  </a:tcPr>
                </a:tc>
                <a:tc>
                  <a:txBody>
                    <a:bodyPr wrap="square"/>
                    <a:lstStyle/>
                    <a:p>
                      <a:pPr algn="l"/>
                      <a:r>
                        <a:rPr sz="1200" b="0" i="0">
                          <a:solidFill>
                            <a:srgbClr val="3A4B54"/>
                          </a:solidFill>
                          <a:latin typeface="Segoe UI"/>
                        </a:rPr>
                        <a:t>Peer influence affects waste-sorting behavior in schools</a:t>
                      </a:r>
                    </a:p>
                  </a:txBody>
                  <a:tcPr marL="100584" marR="82296" marT="45720" marB="45720" anchor="ctr">
                    <a:solidFill>
                      <a:srgbClr val="ECF2F3"/>
                    </a:solidFill>
                  </a:tcPr>
                </a:tc>
                <a:tc>
                  <a:txBody>
                    <a:bodyPr wrap="square"/>
                    <a:lstStyle/>
                    <a:p>
                      <a:pPr algn="l"/>
                      <a:r>
                        <a:rPr sz="1200" b="0" i="0">
                          <a:solidFill>
                            <a:srgbClr val="3A4B54"/>
                          </a:solidFill>
                          <a:latin typeface="Segoe UI"/>
                        </a:rPr>
                        <a:t>Interviews</a:t>
                      </a:r>
                    </a:p>
                  </a:txBody>
                  <a:tcPr marL="100584" marR="82296" marT="45720" marB="45720" anchor="ctr">
                    <a:solidFill>
                      <a:srgbClr val="ECF2F3"/>
                    </a:solidFill>
                  </a:tcPr>
                </a:tc>
                <a:tc>
                  <a:txBody>
                    <a:bodyPr wrap="square"/>
                    <a:lstStyle/>
                    <a:p>
                      <a:pPr algn="l"/>
                      <a:r>
                        <a:rPr sz="1200" b="0" i="0">
                          <a:solidFill>
                            <a:srgbClr val="3A4B54"/>
                          </a:solidFill>
                          <a:latin typeface="Segoe UI"/>
                        </a:rPr>
                        <a:t>Studies youth, not adult household behavior</a:t>
                      </a:r>
                    </a:p>
                  </a:txBody>
                  <a:tcPr marL="100584" marR="82296" marT="45720" marB="45720" anchor="ctr">
                    <a:solidFill>
                      <a:srgbClr val="ECF2F3"/>
                    </a:solidFill>
                  </a:tcPr>
                </a:tc>
              </a:tr>
              <a:tr h="841248">
                <a:tc>
                  <a:txBody>
                    <a:bodyPr wrap="square"/>
                    <a:lstStyle/>
                    <a:p>
                      <a:pPr algn="l"/>
                      <a:r>
                        <a:rPr sz="1200" b="1" i="0">
                          <a:solidFill>
                            <a:srgbClr val="14252E"/>
                          </a:solidFill>
                          <a:latin typeface="Segoe UI"/>
                        </a:rPr>
                        <a:t>Government Report C</a:t>
                      </a:r>
                    </a:p>
                  </a:txBody>
                  <a:tcPr marL="100584" marR="82296" marT="45720" marB="45720" anchor="ctr">
                    <a:solidFill>
                      <a:srgbClr val="FFFFFF"/>
                    </a:solidFill>
                  </a:tcPr>
                </a:tc>
                <a:tc>
                  <a:txBody>
                    <a:bodyPr wrap="square"/>
                    <a:lstStyle/>
                    <a:p>
                      <a:pPr algn="l"/>
                      <a:r>
                        <a:rPr sz="1200" b="0" i="0">
                          <a:solidFill>
                            <a:srgbClr val="3A4B54"/>
                          </a:solidFill>
                          <a:latin typeface="Segoe UI"/>
                        </a:rPr>
                        <a:t>Coastal barangays report high volumes of uncollected plastic</a:t>
                      </a:r>
                    </a:p>
                  </a:txBody>
                  <a:tcPr marL="100584" marR="82296" marT="45720" marB="45720" anchor="ctr">
                    <a:solidFill>
                      <a:srgbClr val="FFFFFF"/>
                    </a:solidFill>
                  </a:tcPr>
                </a:tc>
                <a:tc>
                  <a:txBody>
                    <a:bodyPr wrap="square"/>
                    <a:lstStyle/>
                    <a:p>
                      <a:pPr algn="l"/>
                      <a:r>
                        <a:rPr sz="1200" b="0" i="0">
                          <a:solidFill>
                            <a:srgbClr val="3A4B54"/>
                          </a:solidFill>
                          <a:latin typeface="Segoe UI"/>
                        </a:rPr>
                        <a:t>Waste audit data</a:t>
                      </a:r>
                    </a:p>
                  </a:txBody>
                  <a:tcPr marL="100584" marR="82296" marT="45720" marB="45720" anchor="ctr">
                    <a:solidFill>
                      <a:srgbClr val="FFFFFF"/>
                    </a:solidFill>
                  </a:tcPr>
                </a:tc>
                <a:tc>
                  <a:txBody>
                    <a:bodyPr wrap="square"/>
                    <a:lstStyle/>
                    <a:p>
                      <a:pPr algn="l"/>
                      <a:r>
                        <a:rPr sz="1200" b="0" i="0">
                          <a:solidFill>
                            <a:srgbClr val="3A4B54"/>
                          </a:solidFill>
                          <a:latin typeface="Segoe UI"/>
                        </a:rPr>
                        <a:t>Reports volume, not </a:t>
                      </a:r>
                      <a:r>
                        <a:rPr sz="1200" b="0" i="1">
                          <a:solidFill>
                            <a:srgbClr val="3A4B54"/>
                          </a:solidFill>
                          <a:latin typeface="Segoe UI"/>
                        </a:rPr>
                        <a:t>why</a:t>
                      </a:r>
                      <a:r>
                        <a:rPr sz="1200" b="0" i="0">
                          <a:solidFill>
                            <a:srgbClr val="3A4B54"/>
                          </a:solidFill>
                          <a:latin typeface="Segoe UI"/>
                        </a:rPr>
                        <a:t> segregation fails</a:t>
                      </a:r>
                    </a:p>
                  </a:txBody>
                  <a:tcPr marL="100584" marR="82296" marT="45720" marB="45720" anchor="ctr">
                    <a:solidFill>
                      <a:srgbClr val="FFFFFF"/>
                    </a:solidFill>
                  </a:tcPr>
                </a:tc>
              </a:tr>
              <a:tr h="841248">
                <a:tc>
                  <a:txBody>
                    <a:bodyPr wrap="square"/>
                    <a:lstStyle/>
                    <a:p>
                      <a:pPr algn="l"/>
                      <a:r>
                        <a:rPr sz="1200" b="1" i="0">
                          <a:solidFill>
                            <a:srgbClr val="14252E"/>
                          </a:solidFill>
                          <a:latin typeface="Segoe UI"/>
                        </a:rPr>
                        <a:t>Journal Article D</a:t>
                      </a:r>
                    </a:p>
                  </a:txBody>
                  <a:tcPr marL="100584" marR="82296" marT="45720" marB="45720" anchor="ctr">
                    <a:solidFill>
                      <a:srgbClr val="ECF2F3"/>
                    </a:solidFill>
                  </a:tcPr>
                </a:tc>
                <a:tc>
                  <a:txBody>
                    <a:bodyPr wrap="square"/>
                    <a:lstStyle/>
                    <a:p>
                      <a:pPr algn="l"/>
                      <a:r>
                        <a:rPr sz="1200" b="0" i="0">
                          <a:solidFill>
                            <a:srgbClr val="3A4B54"/>
                          </a:solidFill>
                          <a:latin typeface="Segoe UI"/>
                        </a:rPr>
                        <a:t>Community education programs increase recycling participation</a:t>
                      </a:r>
                    </a:p>
                  </a:txBody>
                  <a:tcPr marL="100584" marR="82296" marT="45720" marB="45720" anchor="ctr">
                    <a:solidFill>
                      <a:srgbClr val="ECF2F3"/>
                    </a:solidFill>
                  </a:tcPr>
                </a:tc>
                <a:tc>
                  <a:txBody>
                    <a:bodyPr wrap="square"/>
                    <a:lstStyle/>
                    <a:p>
                      <a:pPr algn="l"/>
                      <a:r>
                        <a:rPr sz="1200" b="0" i="0">
                          <a:solidFill>
                            <a:srgbClr val="3A4B54"/>
                          </a:solidFill>
                          <a:latin typeface="Segoe UI"/>
                        </a:rPr>
                        <a:t>Quasi-experiment</a:t>
                      </a:r>
                    </a:p>
                  </a:txBody>
                  <a:tcPr marL="100584" marR="82296" marT="45720" marB="45720" anchor="ctr">
                    <a:solidFill>
                      <a:srgbClr val="ECF2F3"/>
                    </a:solidFill>
                  </a:tcPr>
                </a:tc>
                <a:tc>
                  <a:txBody>
                    <a:bodyPr wrap="square"/>
                    <a:lstStyle/>
                    <a:p>
                      <a:pPr algn="l"/>
                      <a:r>
                        <a:rPr sz="1200" b="0" i="0">
                          <a:solidFill>
                            <a:srgbClr val="3A4B54"/>
                          </a:solidFill>
                          <a:latin typeface="Segoe UI"/>
                        </a:rPr>
                        <a:t>Tested in urban, not coastal, settings</a:t>
                      </a:r>
                    </a:p>
                  </a:txBody>
                  <a:tcPr marL="100584" marR="82296" marT="45720" marB="45720" anchor="ctr">
                    <a:solidFill>
                      <a:srgbClr val="ECF2F3"/>
                    </a:solidFill>
                  </a:tcPr>
                </a:tc>
              </a:tr>
            </a:tbl>
          </a:graphicData>
        </a:graphic>
      </p:graphicFrame>
      <p:sp>
        <p:nvSpPr>
          <p:cNvPr id="14" name="Rectangle 13"/>
          <p:cNvSpPr/>
          <p:nvPr/>
        </p:nvSpPr>
        <p:spPr>
          <a:xfrm>
            <a:off x="8065008" y="2011680"/>
            <a:ext cx="3566160" cy="3822191"/>
          </a:xfrm>
          <a:prstGeom prst="rect">
            <a:avLst/>
          </a:prstGeom>
          <a:noFill/>
          <a:ln w="28575">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5989320"/>
            <a:ext cx="3566160" cy="365760"/>
          </a:xfrm>
          <a:prstGeom prst="rect">
            <a:avLst/>
          </a:prstGeom>
          <a:noFill/>
        </p:spPr>
        <p:txBody>
          <a:bodyPr wrap="square" anchor="t" lIns="0" rIns="0" tIns="0" bIns="0">
            <a:spAutoFit/>
          </a:bodyPr>
          <a:lstStyle/>
          <a:p>
            <a:pPr algn="ctr"/>
            <a:r>
              <a:rPr sz="1200" b="1" i="1">
                <a:solidFill>
                  <a:srgbClr val="E76F51"/>
                </a:solidFill>
                <a:latin typeface="Segoe UI"/>
              </a:rPr>
              <a:t>↑ The gap lives in this column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2B6CB2">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2B6CB2"/>
                </a:solidFill>
                <a:latin typeface="Segoe UI"/>
              </a:rPr>
              <a:t>PART 2 - SYNTHESIZING LITERATURE</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Finding Gaps Across Studies</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What a gap can look like</a:t>
            </a:r>
          </a:p>
        </p:txBody>
      </p:sp>
      <p:sp>
        <p:nvSpPr>
          <p:cNvPr id="8" name="Rectangle 7"/>
          <p:cNvSpPr/>
          <p:nvPr/>
        </p:nvSpPr>
        <p:spPr>
          <a:xfrm>
            <a:off x="576072" y="1572768"/>
            <a:ext cx="1554480" cy="50292"/>
          </a:xfrm>
          <a:prstGeom prst="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759391" y="420624"/>
            <a:ext cx="1883664" cy="310896"/>
          </a:xfrm>
          <a:prstGeom prst="roundRect">
            <a:avLst>
              <a:gd name="adj" fmla="val 50000"/>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9391" y="420624"/>
            <a:ext cx="1883664" cy="310896"/>
          </a:xfrm>
          <a:prstGeom prst="rect">
            <a:avLst/>
          </a:prstGeom>
          <a:noFill/>
        </p:spPr>
        <p:txBody>
          <a:bodyPr wrap="square" anchor="ctr" lIns="0" rIns="0" tIns="0" bIns="0">
            <a:spAutoFit/>
          </a:bodyPr>
          <a:lstStyle/>
          <a:p>
            <a:pPr algn="ctr"/>
            <a:r>
              <a:rPr sz="1050" b="1" i="0">
                <a:solidFill>
                  <a:srgbClr val="FFFFFF"/>
                </a:solidFill>
                <a:latin typeface="Segoe UI"/>
              </a:rPr>
              <a:t>TEXTBOOK-BASED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11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TextBox 12"/>
          <p:cNvSpPr txBox="1"/>
          <p:nvPr/>
        </p:nvSpPr>
        <p:spPr>
          <a:xfrm>
            <a:off x="566928" y="2057400"/>
            <a:ext cx="6035040" cy="3840480"/>
          </a:xfrm>
          <a:prstGeom prst="rect">
            <a:avLst/>
          </a:prstGeom>
          <a:noFill/>
        </p:spPr>
        <p:txBody>
          <a:bodyPr wrap="square" lIns="0" rIns="0" tIns="0" bIns="0">
            <a:spAutoFit/>
          </a:bodyPr>
          <a:lstStyle/>
          <a:p>
            <a:pPr>
              <a:lnSpc>
                <a:spcPct val="104000"/>
              </a:lnSpc>
              <a:spcAft>
                <a:spcPts val="800"/>
              </a:spcAft>
            </a:pPr>
            <a:r>
              <a:rPr sz="1150">
                <a:solidFill>
                  <a:srgbClr val="2B6CB2"/>
                </a:solidFill>
              </a:rPr>
              <a:t>■  </a:t>
            </a:r>
            <a:r>
              <a:rPr sz="1550" b="1" i="0">
                <a:solidFill>
                  <a:srgbClr val="14252E"/>
                </a:solidFill>
                <a:latin typeface="Segoe UI"/>
              </a:rPr>
              <a:t>A </a:t>
            </a:r>
            <a:r>
              <a:rPr sz="1550" b="1" i="0">
                <a:solidFill>
                  <a:srgbClr val="14252E"/>
                </a:solidFill>
                <a:latin typeface="Segoe UI"/>
              </a:rPr>
              <a:t>gap</a:t>
            </a:r>
            <a:r>
              <a:rPr sz="1550" b="1" i="0">
                <a:solidFill>
                  <a:srgbClr val="14252E"/>
                </a:solidFill>
                <a:latin typeface="Segoe UI"/>
              </a:rPr>
              <a:t> can mean:</a:t>
            </a:r>
          </a:p>
          <a:p>
            <a:pPr lvl="1">
              <a:lnSpc>
                <a:spcPct val="104000"/>
              </a:lnSpc>
              <a:spcAft>
                <a:spcPts val="600"/>
              </a:spcAft>
            </a:pPr>
            <a:r>
              <a:rPr sz="1350">
                <a:solidFill>
                  <a:srgbClr val="3A4B54"/>
                </a:solidFill>
              </a:rPr>
              <a:t>–  </a:t>
            </a:r>
            <a:r>
              <a:rPr sz="1450" b="0" i="0">
                <a:solidFill>
                  <a:srgbClr val="3A4B54"/>
                </a:solidFill>
                <a:latin typeface="Segoe UI"/>
              </a:rPr>
              <a:t>An unstudied population, site, or context</a:t>
            </a:r>
          </a:p>
          <a:p>
            <a:pPr lvl="1">
              <a:lnSpc>
                <a:spcPct val="104000"/>
              </a:lnSpc>
              <a:spcAft>
                <a:spcPts val="600"/>
              </a:spcAft>
            </a:pPr>
            <a:r>
              <a:rPr sz="1350">
                <a:solidFill>
                  <a:srgbClr val="3A4B54"/>
                </a:solidFill>
              </a:rPr>
              <a:t>–  </a:t>
            </a:r>
            <a:r>
              <a:rPr sz="1450" b="0" i="0">
                <a:solidFill>
                  <a:srgbClr val="3A4B54"/>
                </a:solidFill>
                <a:latin typeface="Segoe UI"/>
              </a:rPr>
              <a:t>Contradictory findings across studies</a:t>
            </a:r>
          </a:p>
          <a:p>
            <a:pPr lvl="1">
              <a:lnSpc>
                <a:spcPct val="104000"/>
              </a:lnSpc>
              <a:spcAft>
                <a:spcPts val="1400"/>
              </a:spcAft>
            </a:pPr>
            <a:r>
              <a:rPr sz="1350">
                <a:solidFill>
                  <a:srgbClr val="3A4B54"/>
                </a:solidFill>
              </a:rPr>
              <a:t>–  </a:t>
            </a:r>
            <a:r>
              <a:rPr sz="1450" b="0" i="0">
                <a:solidFill>
                  <a:srgbClr val="3A4B54"/>
                </a:solidFill>
                <a:latin typeface="Segoe UI"/>
              </a:rPr>
              <a:t>A topic mentioned but not directly investigated</a:t>
            </a:r>
          </a:p>
          <a:p>
            <a:pPr>
              <a:lnSpc>
                <a:spcPct val="104000"/>
              </a:lnSpc>
              <a:spcAft>
                <a:spcPts val="1400"/>
              </a:spcAft>
            </a:pPr>
            <a:r>
              <a:rPr sz="1150">
                <a:solidFill>
                  <a:srgbClr val="2B6CB2"/>
                </a:solidFill>
              </a:rPr>
              <a:t>■  </a:t>
            </a:r>
            <a:r>
              <a:rPr sz="1550" b="0" i="0">
                <a:solidFill>
                  <a:srgbClr val="14252E"/>
                </a:solidFill>
                <a:latin typeface="Segoe UI"/>
              </a:rPr>
              <a:t>Researchers often signal a gap with phrases like </a:t>
            </a:r>
            <a:r>
              <a:rPr sz="1550" b="0" i="1">
                <a:solidFill>
                  <a:srgbClr val="14252E"/>
                </a:solidFill>
                <a:latin typeface="Segoe UI"/>
              </a:rPr>
              <a:t>“what remains to be explored”</a:t>
            </a:r>
            <a:r>
              <a:rPr sz="1550" b="0" i="0">
                <a:solidFill>
                  <a:srgbClr val="14252E"/>
                </a:solidFill>
                <a:latin typeface="Segoe UI"/>
              </a:rPr>
              <a:t> or </a:t>
            </a:r>
            <a:r>
              <a:rPr sz="1550" b="0" i="1">
                <a:solidFill>
                  <a:srgbClr val="14252E"/>
                </a:solidFill>
                <a:latin typeface="Segoe UI"/>
              </a:rPr>
              <a:t>“little empirical research”</a:t>
            </a:r>
            <a:r>
              <a:rPr sz="1550" b="0" i="0">
                <a:solidFill>
                  <a:srgbClr val="14252E"/>
                </a:solidFill>
                <a:latin typeface="Segoe UI"/>
              </a:rPr>
              <a:t> on a topic.</a:t>
            </a:r>
          </a:p>
          <a:p>
            <a:pPr>
              <a:lnSpc>
                <a:spcPct val="104000"/>
              </a:lnSpc>
              <a:spcAft>
                <a:spcPts val="800"/>
              </a:spcAft>
            </a:pPr>
            <a:r>
              <a:rPr sz="1150">
                <a:solidFill>
                  <a:srgbClr val="2B6CB2"/>
                </a:solidFill>
              </a:rPr>
              <a:t>■  </a:t>
            </a:r>
            <a:r>
              <a:rPr sz="1550" b="0" i="0">
                <a:solidFill>
                  <a:srgbClr val="14252E"/>
                </a:solidFill>
                <a:latin typeface="Segoe UI"/>
              </a:rPr>
              <a:t>Naming the gap precisely is what turns a stack of readings into a direction for new research.</a:t>
            </a:r>
          </a:p>
        </p:txBody>
      </p:sp>
      <p:sp>
        <p:nvSpPr>
          <p:cNvPr id="14" name="Oval 13"/>
          <p:cNvSpPr/>
          <p:nvPr/>
        </p:nvSpPr>
        <p:spPr>
          <a:xfrm>
            <a:off x="7360920" y="2240280"/>
            <a:ext cx="2103120" cy="2103120"/>
          </a:xfrm>
          <a:prstGeom prst="ellipse">
            <a:avLst/>
          </a:prstGeom>
          <a:solidFill>
            <a:srgbClr val="2B6CB2">
              <a:alpha val="45000"/>
            </a:srgbClr>
          </a:solidFill>
          <a:ln w="15875">
            <a:solidFill>
              <a:srgbClr val="2B6C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641080" y="2240280"/>
            <a:ext cx="2103120" cy="2103120"/>
          </a:xfrm>
          <a:prstGeom prst="ellipse">
            <a:avLst/>
          </a:prstGeom>
          <a:solidFill>
            <a:srgbClr val="2A9D8F">
              <a:alpha val="45000"/>
            </a:srgbClr>
          </a:solidFill>
          <a:ln w="158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1000" y="3429000"/>
            <a:ext cx="2103120" cy="2103120"/>
          </a:xfrm>
          <a:prstGeom prst="ellipse">
            <a:avLst/>
          </a:prstGeom>
          <a:solidFill>
            <a:srgbClr val="E9C46A">
              <a:alpha val="45000"/>
            </a:srgbClr>
          </a:solidFill>
          <a:ln w="15875">
            <a:solidFill>
              <a:srgbClr val="E9C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2148840"/>
            <a:ext cx="1600200" cy="548640"/>
          </a:xfrm>
          <a:prstGeom prst="rect">
            <a:avLst/>
          </a:prstGeom>
          <a:noFill/>
        </p:spPr>
        <p:txBody>
          <a:bodyPr wrap="square" anchor="ctr" lIns="0" rIns="0" tIns="0" bIns="0">
            <a:spAutoFit/>
          </a:bodyPr>
          <a:lstStyle/>
          <a:p>
            <a:pPr algn="ctr">
              <a:lnSpc>
                <a:spcPct val="95000"/>
              </a:lnSpc>
            </a:pPr>
            <a:r>
              <a:rPr sz="1050" b="1" i="0">
                <a:solidFill>
                  <a:srgbClr val="2B6CB2"/>
                </a:solidFill>
                <a:latin typeface="Segoe UI"/>
              </a:rPr>
              <a:t>Studies on
segregation</a:t>
            </a:r>
          </a:p>
        </p:txBody>
      </p:sp>
      <p:sp>
        <p:nvSpPr>
          <p:cNvPr id="18" name="TextBox 17"/>
          <p:cNvSpPr txBox="1"/>
          <p:nvPr/>
        </p:nvSpPr>
        <p:spPr>
          <a:xfrm>
            <a:off x="10378440" y="2148840"/>
            <a:ext cx="1737360" cy="548640"/>
          </a:xfrm>
          <a:prstGeom prst="rect">
            <a:avLst/>
          </a:prstGeom>
          <a:noFill/>
        </p:spPr>
        <p:txBody>
          <a:bodyPr wrap="square" anchor="ctr" lIns="0" rIns="0" tIns="0" bIns="0">
            <a:spAutoFit/>
          </a:bodyPr>
          <a:lstStyle/>
          <a:p>
            <a:pPr algn="ctr">
              <a:lnSpc>
                <a:spcPct val="95000"/>
              </a:lnSpc>
            </a:pPr>
            <a:r>
              <a:rPr sz="1050" b="1" i="0">
                <a:solidFill>
                  <a:srgbClr val="2A9D8F"/>
                </a:solidFill>
                <a:latin typeface="Segoe UI"/>
              </a:rPr>
              <a:t>Studies on coastal
communities</a:t>
            </a:r>
          </a:p>
        </p:txBody>
      </p:sp>
      <p:sp>
        <p:nvSpPr>
          <p:cNvPr id="19" name="TextBox 18"/>
          <p:cNvSpPr txBox="1"/>
          <p:nvPr/>
        </p:nvSpPr>
        <p:spPr>
          <a:xfrm>
            <a:off x="7772400" y="5486400"/>
            <a:ext cx="2560320" cy="457200"/>
          </a:xfrm>
          <a:prstGeom prst="rect">
            <a:avLst/>
          </a:prstGeom>
          <a:noFill/>
        </p:spPr>
        <p:txBody>
          <a:bodyPr wrap="square" anchor="ctr" lIns="0" rIns="0" tIns="0" bIns="0">
            <a:spAutoFit/>
          </a:bodyPr>
          <a:lstStyle/>
          <a:p>
            <a:pPr algn="ctr">
              <a:lnSpc>
                <a:spcPct val="95000"/>
              </a:lnSpc>
            </a:pPr>
            <a:r>
              <a:rPr sz="1050" b="1" i="0">
                <a:solidFill>
                  <a:srgbClr val="897C4F"/>
                </a:solidFill>
                <a:latin typeface="Segoe UI"/>
              </a:rPr>
              <a:t>Studies on adult household behavior</a:t>
            </a:r>
          </a:p>
        </p:txBody>
      </p:sp>
      <p:sp>
        <p:nvSpPr>
          <p:cNvPr id="20" name="TextBox 19"/>
          <p:cNvSpPr txBox="1"/>
          <p:nvPr/>
        </p:nvSpPr>
        <p:spPr>
          <a:xfrm>
            <a:off x="8549640" y="3657600"/>
            <a:ext cx="1005840" cy="457200"/>
          </a:xfrm>
          <a:prstGeom prst="rect">
            <a:avLst/>
          </a:prstGeom>
          <a:noFill/>
        </p:spPr>
        <p:txBody>
          <a:bodyPr wrap="square" anchor="ctr" lIns="0" rIns="0" tIns="0" bIns="0">
            <a:spAutoFit/>
          </a:bodyPr>
          <a:lstStyle/>
          <a:p>
            <a:pPr algn="ctr"/>
            <a:r>
              <a:rPr sz="1100" b="1" i="0">
                <a:solidFill>
                  <a:srgbClr val="14252E"/>
                </a:solidFill>
                <a:latin typeface="Segoe UI"/>
              </a:rPr>
              <a:t>the gap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2B6CB2">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2B6CB2"/>
                </a:solidFill>
                <a:latin typeface="Segoe UI"/>
              </a:rPr>
              <a:t>PART 2 - SYNTHESIZING LITERATURE</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Practice: Write Your Gap Statement</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Activity</a:t>
            </a:r>
          </a:p>
        </p:txBody>
      </p:sp>
      <p:sp>
        <p:nvSpPr>
          <p:cNvPr id="8" name="Rectangle 7"/>
          <p:cNvSpPr/>
          <p:nvPr/>
        </p:nvSpPr>
        <p:spPr>
          <a:xfrm>
            <a:off x="576072" y="1572768"/>
            <a:ext cx="1554480" cy="50292"/>
          </a:xfrm>
          <a:prstGeom prst="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12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2148840"/>
            <a:ext cx="11064240" cy="658368"/>
          </a:xfrm>
          <a:prstGeom prst="roundRect">
            <a:avLst>
              <a:gd name="adj" fmla="val 12000"/>
            </a:avLst>
          </a:prstGeom>
          <a:solidFill>
            <a:srgbClr val="D8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2148840"/>
            <a:ext cx="82296" cy="658368"/>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148840"/>
            <a:ext cx="10607040" cy="658368"/>
          </a:xfrm>
          <a:prstGeom prst="rect">
            <a:avLst/>
          </a:prstGeom>
          <a:noFill/>
        </p:spPr>
        <p:txBody>
          <a:bodyPr wrap="square" anchor="ctr" lIns="0" rIns="0" tIns="0" bIns="0">
            <a:spAutoFit/>
          </a:bodyPr>
          <a:lstStyle/>
          <a:p>
            <a:pPr algn="l">
              <a:lnSpc>
                <a:spcPct val="102000"/>
              </a:lnSpc>
            </a:pPr>
            <a:r>
              <a:rPr sz="1500" b="0" i="0">
                <a:solidFill>
                  <a:srgbClr val="14252E"/>
                </a:solidFill>
                <a:latin typeface="Segoe UI"/>
              </a:rPr>
              <a:t>Using the matrix from Slide 10, complete this sentence starter:</a:t>
            </a:r>
          </a:p>
        </p:txBody>
      </p:sp>
      <p:sp>
        <p:nvSpPr>
          <p:cNvPr id="16" name="Rounded Rectangle 15"/>
          <p:cNvSpPr/>
          <p:nvPr/>
        </p:nvSpPr>
        <p:spPr>
          <a:xfrm>
            <a:off x="1280160" y="3108960"/>
            <a:ext cx="9601200" cy="182880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280160" y="3108960"/>
            <a:ext cx="100584" cy="1828800"/>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45920" y="3108960"/>
            <a:ext cx="9052560" cy="1828800"/>
          </a:xfrm>
          <a:prstGeom prst="rect">
            <a:avLst/>
          </a:prstGeom>
          <a:noFill/>
        </p:spPr>
        <p:txBody>
          <a:bodyPr wrap="square" anchor="ctr" lIns="0" rIns="0" tIns="0" bIns="0">
            <a:spAutoFit/>
          </a:bodyPr>
          <a:lstStyle/>
          <a:p>
            <a:pPr algn="l">
              <a:lnSpc>
                <a:spcPct val="110000"/>
              </a:lnSpc>
              <a:spcAft>
                <a:spcPts val="800"/>
              </a:spcAft>
            </a:pPr>
            <a:r>
              <a:rPr sz="1900" b="0" i="1">
                <a:solidFill>
                  <a:srgbClr val="14252E"/>
                </a:solidFill>
                <a:latin typeface="Segoe UI"/>
              </a:rPr>
              <a:t>“While much research has examined _______________ ,</a:t>
            </a:r>
          </a:p>
          <a:p>
            <a:pPr algn="l">
              <a:lnSpc>
                <a:spcPct val="110000"/>
              </a:lnSpc>
              <a:spcAft>
                <a:spcPts val="800"/>
              </a:spcAft>
            </a:pPr>
            <a:r>
              <a:rPr sz="1900" b="0" i="1">
                <a:solidFill>
                  <a:srgbClr val="14252E"/>
                </a:solidFill>
                <a:latin typeface="Segoe UI"/>
              </a:rPr>
              <a:t>few studies have looked at _______________</a:t>
            </a:r>
          </a:p>
          <a:p>
            <a:pPr algn="l">
              <a:lnSpc>
                <a:spcPct val="110000"/>
              </a:lnSpc>
            </a:pPr>
            <a:r>
              <a:rPr sz="1900" b="0" i="1">
                <a:solidFill>
                  <a:srgbClr val="14252E"/>
                </a:solidFill>
                <a:latin typeface="Segoe UI"/>
              </a:rPr>
              <a:t>in the context of _______________ .”</a:t>
            </a:r>
          </a:p>
        </p:txBody>
      </p:sp>
      <p:sp>
        <p:nvSpPr>
          <p:cNvPr id="19" name="Rounded Rectangle 18"/>
          <p:cNvSpPr/>
          <p:nvPr/>
        </p:nvSpPr>
        <p:spPr>
          <a:xfrm>
            <a:off x="566928" y="5212080"/>
            <a:ext cx="11064240" cy="640080"/>
          </a:xfrm>
          <a:prstGeom prst="roundRect">
            <a:avLst>
              <a:gd name="adj" fmla="val 12000"/>
            </a:avLst>
          </a:prstGeom>
          <a:solidFill>
            <a:srgbClr val="FAE5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66928" y="5212080"/>
            <a:ext cx="82296" cy="64008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212080"/>
            <a:ext cx="10607040" cy="640080"/>
          </a:xfrm>
          <a:prstGeom prst="rect">
            <a:avLst/>
          </a:prstGeom>
          <a:noFill/>
        </p:spPr>
        <p:txBody>
          <a:bodyPr wrap="square" anchor="ctr" lIns="0" rIns="0" tIns="0" bIns="0">
            <a:spAutoFit/>
          </a:bodyPr>
          <a:lstStyle/>
          <a:p>
            <a:pPr algn="l">
              <a:lnSpc>
                <a:spcPct val="102000"/>
              </a:lnSpc>
            </a:pPr>
            <a:r>
              <a:rPr sz="1400" b="0" i="1">
                <a:solidFill>
                  <a:srgbClr val="14252E"/>
                </a:solidFill>
                <a:latin typeface="Segoe UI"/>
              </a:rPr>
              <a:t>Example scaffold only - write your OWN completed version before checking with a partner.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2B6CB2">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2B6CB2"/>
                </a:solidFill>
                <a:latin typeface="Segoe UI"/>
              </a:rPr>
              <a:t>PART 2 - SYNTHESIZING LITERATURE</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Structuring a Quantitative Literature Review</a:t>
            </a:r>
          </a:p>
        </p:txBody>
      </p:sp>
      <p:sp>
        <p:nvSpPr>
          <p:cNvPr id="7" name="Rectangle 6"/>
          <p:cNvSpPr/>
          <p:nvPr/>
        </p:nvSpPr>
        <p:spPr>
          <a:xfrm>
            <a:off x="576072" y="1572768"/>
            <a:ext cx="1554480" cy="50292"/>
          </a:xfrm>
          <a:prstGeom prst="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759391" y="420624"/>
            <a:ext cx="1883664" cy="310896"/>
          </a:xfrm>
          <a:prstGeom prst="roundRect">
            <a:avLst>
              <a:gd name="adj" fmla="val 50000"/>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59391" y="420624"/>
            <a:ext cx="1883664" cy="310896"/>
          </a:xfrm>
          <a:prstGeom prst="rect">
            <a:avLst/>
          </a:prstGeom>
          <a:noFill/>
        </p:spPr>
        <p:txBody>
          <a:bodyPr wrap="square" anchor="ctr" lIns="0" rIns="0" tIns="0" bIns="0">
            <a:spAutoFit/>
          </a:bodyPr>
          <a:lstStyle/>
          <a:p>
            <a:pPr algn="ctr"/>
            <a:r>
              <a:rPr sz="1050" b="1" i="0">
                <a:solidFill>
                  <a:srgbClr val="FFFFFF"/>
                </a:solidFill>
                <a:latin typeface="Segoe UI"/>
              </a:rPr>
              <a:t>TEXTBOOK-BASED</a:t>
            </a:r>
          </a:p>
        </p:txBody>
      </p:sp>
      <p:sp>
        <p:nvSpPr>
          <p:cNvPr id="10" name="TextBox 9"/>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13  /  51</a:t>
            </a:r>
          </a:p>
        </p:txBody>
      </p:sp>
      <p:sp>
        <p:nvSpPr>
          <p:cNvPr id="11" name="TextBox 10"/>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2" name="TextBox 11"/>
          <p:cNvSpPr txBox="1"/>
          <p:nvPr/>
        </p:nvSpPr>
        <p:spPr>
          <a:xfrm>
            <a:off x="566928" y="1783080"/>
            <a:ext cx="10972800" cy="502920"/>
          </a:xfrm>
          <a:prstGeom prst="rect">
            <a:avLst/>
          </a:prstGeom>
          <a:noFill/>
        </p:spPr>
        <p:txBody>
          <a:bodyPr wrap="square" anchor="t" lIns="0" rIns="0" tIns="0" bIns="0">
            <a:spAutoFit/>
          </a:bodyPr>
          <a:lstStyle/>
          <a:p>
            <a:pPr algn="l">
              <a:lnSpc>
                <a:spcPct val="100000"/>
              </a:lnSpc>
            </a:pPr>
            <a:r>
              <a:rPr sz="1400" b="0" i="1">
                <a:solidFill>
                  <a:srgbClr val="3A4B54"/>
                </a:solidFill>
                <a:latin typeface="Segoe UI"/>
              </a:rPr>
              <a:t>A synthesis matrix organizes your notes. A literature review organizes your writing. The textbook recommends five parts:</a:t>
            </a:r>
          </a:p>
        </p:txBody>
      </p:sp>
      <p:sp>
        <p:nvSpPr>
          <p:cNvPr id="13" name="Rounded Rectangle 12"/>
          <p:cNvSpPr/>
          <p:nvPr/>
        </p:nvSpPr>
        <p:spPr>
          <a:xfrm>
            <a:off x="3383280" y="2377440"/>
            <a:ext cx="5486400" cy="623620"/>
          </a:xfrm>
          <a:prstGeom prst="roundRect">
            <a:avLst/>
          </a:prstGeom>
          <a:solidFill>
            <a:srgbClr val="2B6CB2"/>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2377440"/>
            <a:ext cx="5120640" cy="623620"/>
          </a:xfrm>
          <a:prstGeom prst="rect">
            <a:avLst/>
          </a:prstGeom>
          <a:noFill/>
        </p:spPr>
        <p:txBody>
          <a:bodyPr wrap="square" anchor="ctr" lIns="0" rIns="0" tIns="0" bIns="0">
            <a:spAutoFit/>
          </a:bodyPr>
          <a:lstStyle/>
          <a:p>
            <a:pPr algn="ctr">
              <a:lnSpc>
                <a:spcPct val="95000"/>
              </a:lnSpc>
              <a:spcAft>
                <a:spcPts val="200"/>
              </a:spcAft>
            </a:pPr>
            <a:r>
              <a:rPr sz="1500" b="1" i="0">
                <a:solidFill>
                  <a:srgbClr val="FFFFFF"/>
                </a:solidFill>
                <a:latin typeface="Segoe UI"/>
              </a:rPr>
              <a:t>1  Introduction</a:t>
            </a:r>
          </a:p>
          <a:p>
            <a:pPr algn="ctr">
              <a:lnSpc>
                <a:spcPct val="95000"/>
              </a:lnSpc>
            </a:pPr>
            <a:r>
              <a:rPr sz="1150" b="0" i="0">
                <a:solidFill>
                  <a:srgbClr val="FFFFFF"/>
                </a:solidFill>
                <a:latin typeface="Segoe UI"/>
              </a:rPr>
              <a:t>tells the reader what sections follow</a:t>
            </a:r>
          </a:p>
        </p:txBody>
      </p:sp>
      <p:sp>
        <p:nvSpPr>
          <p:cNvPr id="15" name="Rounded Rectangle 14"/>
          <p:cNvSpPr/>
          <p:nvPr/>
        </p:nvSpPr>
        <p:spPr>
          <a:xfrm>
            <a:off x="3680460" y="3147364"/>
            <a:ext cx="4892040" cy="623620"/>
          </a:xfrm>
          <a:prstGeom prst="roundRect">
            <a:avLst/>
          </a:prstGeom>
          <a:solidFill>
            <a:srgbClr val="467FBC"/>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63340" y="3147364"/>
            <a:ext cx="4526279" cy="623620"/>
          </a:xfrm>
          <a:prstGeom prst="rect">
            <a:avLst/>
          </a:prstGeom>
          <a:noFill/>
        </p:spPr>
        <p:txBody>
          <a:bodyPr wrap="square" anchor="ctr" lIns="0" rIns="0" tIns="0" bIns="0">
            <a:spAutoFit/>
          </a:bodyPr>
          <a:lstStyle/>
          <a:p>
            <a:pPr algn="ctr">
              <a:lnSpc>
                <a:spcPct val="95000"/>
              </a:lnSpc>
              <a:spcAft>
                <a:spcPts val="200"/>
              </a:spcAft>
            </a:pPr>
            <a:r>
              <a:rPr sz="1500" b="1" i="0">
                <a:solidFill>
                  <a:srgbClr val="FFFFFF"/>
                </a:solidFill>
                <a:latin typeface="Segoe UI"/>
              </a:rPr>
              <a:t>2  Topic 1</a:t>
            </a:r>
          </a:p>
          <a:p>
            <a:pPr algn="ctr">
              <a:lnSpc>
                <a:spcPct val="95000"/>
              </a:lnSpc>
            </a:pPr>
            <a:r>
              <a:rPr sz="1150" b="0" i="0">
                <a:solidFill>
                  <a:srgbClr val="FFFFFF"/>
                </a:solidFill>
                <a:latin typeface="Segoe UI"/>
              </a:rPr>
              <a:t>literature on the independent / predictor variable(s)</a:t>
            </a:r>
          </a:p>
        </p:txBody>
      </p:sp>
      <p:sp>
        <p:nvSpPr>
          <p:cNvPr id="17" name="Rounded Rectangle 16"/>
          <p:cNvSpPr/>
          <p:nvPr/>
        </p:nvSpPr>
        <p:spPr>
          <a:xfrm>
            <a:off x="3977639" y="3917289"/>
            <a:ext cx="4297680" cy="623620"/>
          </a:xfrm>
          <a:prstGeom prst="roundRect">
            <a:avLst/>
          </a:prstGeom>
          <a:solidFill>
            <a:srgbClr val="6292C6"/>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60520" y="3917289"/>
            <a:ext cx="3931920" cy="623620"/>
          </a:xfrm>
          <a:prstGeom prst="rect">
            <a:avLst/>
          </a:prstGeom>
          <a:noFill/>
        </p:spPr>
        <p:txBody>
          <a:bodyPr wrap="square" anchor="ctr" lIns="0" rIns="0" tIns="0" bIns="0">
            <a:spAutoFit/>
          </a:bodyPr>
          <a:lstStyle/>
          <a:p>
            <a:pPr algn="ctr">
              <a:lnSpc>
                <a:spcPct val="95000"/>
              </a:lnSpc>
              <a:spcAft>
                <a:spcPts val="200"/>
              </a:spcAft>
            </a:pPr>
            <a:r>
              <a:rPr sz="1500" b="1" i="0">
                <a:solidFill>
                  <a:srgbClr val="FFFFFF"/>
                </a:solidFill>
                <a:latin typeface="Segoe UI"/>
              </a:rPr>
              <a:t>3  Topic 2</a:t>
            </a:r>
          </a:p>
          <a:p>
            <a:pPr algn="ctr">
              <a:lnSpc>
                <a:spcPct val="95000"/>
              </a:lnSpc>
            </a:pPr>
            <a:r>
              <a:rPr sz="1150" b="0" i="0">
                <a:solidFill>
                  <a:srgbClr val="FFFFFF"/>
                </a:solidFill>
                <a:latin typeface="Segoe UI"/>
              </a:rPr>
              <a:t>literature on the dependent / outcome variable(s)</a:t>
            </a:r>
          </a:p>
        </p:txBody>
      </p:sp>
      <p:sp>
        <p:nvSpPr>
          <p:cNvPr id="19" name="Rounded Rectangle 18"/>
          <p:cNvSpPr/>
          <p:nvPr/>
        </p:nvSpPr>
        <p:spPr>
          <a:xfrm>
            <a:off x="4274820" y="4687214"/>
            <a:ext cx="3703320" cy="623620"/>
          </a:xfrm>
          <a:prstGeom prst="roundRect">
            <a:avLst/>
          </a:prstGeom>
          <a:solidFill>
            <a:srgbClr val="7DA5D0"/>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57700" y="4687214"/>
            <a:ext cx="3337560" cy="623620"/>
          </a:xfrm>
          <a:prstGeom prst="rect">
            <a:avLst/>
          </a:prstGeom>
          <a:noFill/>
        </p:spPr>
        <p:txBody>
          <a:bodyPr wrap="square" anchor="ctr" lIns="0" rIns="0" tIns="0" bIns="0">
            <a:spAutoFit/>
          </a:bodyPr>
          <a:lstStyle/>
          <a:p>
            <a:pPr algn="ctr">
              <a:lnSpc>
                <a:spcPct val="95000"/>
              </a:lnSpc>
              <a:spcAft>
                <a:spcPts val="200"/>
              </a:spcAft>
            </a:pPr>
            <a:r>
              <a:rPr sz="1500" b="1" i="0">
                <a:solidFill>
                  <a:srgbClr val="FFFFFF"/>
                </a:solidFill>
                <a:latin typeface="Segoe UI"/>
              </a:rPr>
              <a:t>4  Topic 3</a:t>
            </a:r>
          </a:p>
          <a:p>
            <a:pPr algn="ctr">
              <a:lnSpc>
                <a:spcPct val="95000"/>
              </a:lnSpc>
            </a:pPr>
            <a:r>
              <a:rPr sz="1150" b="0" i="0">
                <a:solidFill>
                  <a:srgbClr val="FFFFFF"/>
                </a:solidFill>
                <a:latin typeface="Segoe UI"/>
              </a:rPr>
              <a:t>studies relating both variables (closest studies to yours)</a:t>
            </a:r>
          </a:p>
        </p:txBody>
      </p:sp>
      <p:sp>
        <p:nvSpPr>
          <p:cNvPr id="21" name="Rounded Rectangle 20"/>
          <p:cNvSpPr/>
          <p:nvPr/>
        </p:nvSpPr>
        <p:spPr>
          <a:xfrm>
            <a:off x="4572000" y="5457139"/>
            <a:ext cx="3108960" cy="623620"/>
          </a:xfrm>
          <a:prstGeom prst="roundRect">
            <a:avLst/>
          </a:prstGeom>
          <a:solidFill>
            <a:srgbClr val="99B8DA"/>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0" y="5457139"/>
            <a:ext cx="2743200" cy="623620"/>
          </a:xfrm>
          <a:prstGeom prst="rect">
            <a:avLst/>
          </a:prstGeom>
          <a:noFill/>
        </p:spPr>
        <p:txBody>
          <a:bodyPr wrap="square" anchor="ctr" lIns="0" rIns="0" tIns="0" bIns="0">
            <a:spAutoFit/>
          </a:bodyPr>
          <a:lstStyle/>
          <a:p>
            <a:pPr algn="ctr">
              <a:lnSpc>
                <a:spcPct val="95000"/>
              </a:lnSpc>
              <a:spcAft>
                <a:spcPts val="200"/>
              </a:spcAft>
            </a:pPr>
            <a:r>
              <a:rPr sz="1500" b="1" i="0">
                <a:solidFill>
                  <a:srgbClr val="FFFFFF"/>
                </a:solidFill>
                <a:latin typeface="Segoe UI"/>
              </a:rPr>
              <a:t>5  Summary</a:t>
            </a:r>
          </a:p>
          <a:p>
            <a:pPr algn="ctr">
              <a:lnSpc>
                <a:spcPct val="95000"/>
              </a:lnSpc>
            </a:pPr>
            <a:r>
              <a:rPr sz="1150" b="0" i="0">
                <a:solidFill>
                  <a:srgbClr val="FFFFFF"/>
                </a:solidFill>
                <a:latin typeface="Segoe UI"/>
              </a:rPr>
              <a:t>key themes, why more research is needed, how your study fills the need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2B6CB2">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2B6CB2"/>
                </a:solidFill>
                <a:latin typeface="Segoe UI"/>
              </a:rPr>
              <a:t>PART 2 - SYNTHESIZING LITERATURE</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The Five-Part Structure Applied</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Annotated example</a:t>
            </a:r>
          </a:p>
        </p:txBody>
      </p:sp>
      <p:sp>
        <p:nvSpPr>
          <p:cNvPr id="8" name="Rectangle 7"/>
          <p:cNvSpPr/>
          <p:nvPr/>
        </p:nvSpPr>
        <p:spPr>
          <a:xfrm>
            <a:off x="576072" y="1572768"/>
            <a:ext cx="1554480" cy="50292"/>
          </a:xfrm>
          <a:prstGeom prst="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14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1874519"/>
            <a:ext cx="11064240" cy="566928"/>
          </a:xfrm>
          <a:prstGeom prst="roundRect">
            <a:avLst>
              <a:gd name="adj" fmla="val 12000"/>
            </a:avLst>
          </a:prstGeom>
          <a:solidFill>
            <a:srgbClr val="D8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1874519"/>
            <a:ext cx="82296" cy="566928"/>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1874519"/>
            <a:ext cx="10607040" cy="566928"/>
          </a:xfrm>
          <a:prstGeom prst="rect">
            <a:avLst/>
          </a:prstGeom>
          <a:noFill/>
        </p:spPr>
        <p:txBody>
          <a:bodyPr wrap="square" anchor="ctr" lIns="0" rIns="0" tIns="0" bIns="0">
            <a:spAutoFit/>
          </a:bodyPr>
          <a:lstStyle/>
          <a:p>
            <a:pPr algn="l">
              <a:lnSpc>
                <a:spcPct val="102000"/>
              </a:lnSpc>
            </a:pPr>
            <a:r>
              <a:rPr sz="1350" b="0" i="0">
                <a:solidFill>
                  <a:srgbClr val="14252E"/>
                </a:solidFill>
                <a:latin typeface="Segoe UI"/>
              </a:rPr>
              <a:t>Variables: predictor = peer-led education program exposure;  outcome = plastic-segregation compliance</a:t>
            </a:r>
          </a:p>
        </p:txBody>
      </p:sp>
      <p:sp>
        <p:nvSpPr>
          <p:cNvPr id="16" name="Rounded Rectangle 15"/>
          <p:cNvSpPr/>
          <p:nvPr/>
        </p:nvSpPr>
        <p:spPr>
          <a:xfrm>
            <a:off x="566928" y="2606040"/>
            <a:ext cx="3553968" cy="1613916"/>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66928" y="2606040"/>
            <a:ext cx="82296" cy="1613916"/>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68096" y="2788920"/>
            <a:ext cx="402336" cy="402336"/>
          </a:xfrm>
          <a:prstGeom prst="ellipse">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788920"/>
            <a:ext cx="402336" cy="402336"/>
          </a:xfrm>
          <a:prstGeom prst="rect">
            <a:avLst/>
          </a:prstGeom>
          <a:noFill/>
        </p:spPr>
        <p:txBody>
          <a:bodyPr wrap="square" anchor="ctr" lIns="0" rIns="0" tIns="0" bIns="0">
            <a:spAutoFit/>
          </a:bodyPr>
          <a:lstStyle/>
          <a:p>
            <a:pPr algn="ctr"/>
            <a:r>
              <a:rPr sz="1700" b="1" i="0">
                <a:solidFill>
                  <a:srgbClr val="FFFFFF"/>
                </a:solidFill>
                <a:latin typeface="Segoe UI"/>
              </a:rPr>
              <a:t>1</a:t>
            </a:r>
          </a:p>
        </p:txBody>
      </p:sp>
      <p:sp>
        <p:nvSpPr>
          <p:cNvPr id="20" name="TextBox 19"/>
          <p:cNvSpPr txBox="1"/>
          <p:nvPr/>
        </p:nvSpPr>
        <p:spPr>
          <a:xfrm>
            <a:off x="1280160" y="2752344"/>
            <a:ext cx="2685288" cy="1339595"/>
          </a:xfrm>
          <a:prstGeom prst="rect">
            <a:avLst/>
          </a:prstGeom>
          <a:noFill/>
        </p:spPr>
        <p:txBody>
          <a:bodyPr wrap="square" anchor="ctr" lIns="0" rIns="0" tIns="0" bIns="0">
            <a:spAutoFit/>
          </a:bodyPr>
          <a:lstStyle/>
          <a:p>
            <a:pPr algn="l">
              <a:lnSpc>
                <a:spcPct val="98000"/>
              </a:lnSpc>
              <a:spcAft>
                <a:spcPts val="400"/>
              </a:spcAft>
            </a:pPr>
            <a:r>
              <a:rPr sz="1300" b="1" i="0">
                <a:solidFill>
                  <a:srgbClr val="14252E"/>
                </a:solidFill>
                <a:latin typeface="Segoe UI"/>
              </a:rPr>
              <a:t>Introduction</a:t>
            </a:r>
          </a:p>
          <a:p>
            <a:pPr algn="l">
              <a:lnSpc>
                <a:spcPct val="100000"/>
              </a:lnSpc>
            </a:pPr>
            <a:r>
              <a:rPr sz="1100" b="0" i="0">
                <a:solidFill>
                  <a:srgbClr val="3A4B54"/>
                </a:solidFill>
                <a:latin typeface="Segoe UI"/>
              </a:rPr>
              <a:t>Previews that the review covers education interventions, segregation behavior, and studies linking the two</a:t>
            </a:r>
          </a:p>
        </p:txBody>
      </p:sp>
      <p:sp>
        <p:nvSpPr>
          <p:cNvPr id="21" name="Rounded Rectangle 20"/>
          <p:cNvSpPr/>
          <p:nvPr/>
        </p:nvSpPr>
        <p:spPr>
          <a:xfrm>
            <a:off x="4322064" y="2606040"/>
            <a:ext cx="3553968" cy="1613916"/>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322064" y="2606040"/>
            <a:ext cx="82296" cy="1613916"/>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523232" y="2788920"/>
            <a:ext cx="402336" cy="402336"/>
          </a:xfrm>
          <a:prstGeom prst="ellipse">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23232" y="2788920"/>
            <a:ext cx="402336" cy="402336"/>
          </a:xfrm>
          <a:prstGeom prst="rect">
            <a:avLst/>
          </a:prstGeom>
          <a:noFill/>
        </p:spPr>
        <p:txBody>
          <a:bodyPr wrap="square" anchor="ctr" lIns="0" rIns="0" tIns="0" bIns="0">
            <a:spAutoFit/>
          </a:bodyPr>
          <a:lstStyle/>
          <a:p>
            <a:pPr algn="ctr"/>
            <a:r>
              <a:rPr sz="1700" b="1" i="0">
                <a:solidFill>
                  <a:srgbClr val="FFFFFF"/>
                </a:solidFill>
                <a:latin typeface="Segoe UI"/>
              </a:rPr>
              <a:t>2</a:t>
            </a:r>
          </a:p>
        </p:txBody>
      </p:sp>
      <p:sp>
        <p:nvSpPr>
          <p:cNvPr id="25" name="TextBox 24"/>
          <p:cNvSpPr txBox="1"/>
          <p:nvPr/>
        </p:nvSpPr>
        <p:spPr>
          <a:xfrm>
            <a:off x="5035296" y="2752344"/>
            <a:ext cx="2685288" cy="1339595"/>
          </a:xfrm>
          <a:prstGeom prst="rect">
            <a:avLst/>
          </a:prstGeom>
          <a:noFill/>
        </p:spPr>
        <p:txBody>
          <a:bodyPr wrap="square" anchor="ctr" lIns="0" rIns="0" tIns="0" bIns="0">
            <a:spAutoFit/>
          </a:bodyPr>
          <a:lstStyle/>
          <a:p>
            <a:pPr algn="l">
              <a:lnSpc>
                <a:spcPct val="98000"/>
              </a:lnSpc>
              <a:spcAft>
                <a:spcPts val="400"/>
              </a:spcAft>
            </a:pPr>
            <a:r>
              <a:rPr sz="1300" b="1" i="0">
                <a:solidFill>
                  <a:srgbClr val="14252E"/>
                </a:solidFill>
                <a:latin typeface="Segoe UI"/>
              </a:rPr>
              <a:t>Topic 1 (predictor)</a:t>
            </a:r>
          </a:p>
          <a:p>
            <a:pPr algn="l">
              <a:lnSpc>
                <a:spcPct val="100000"/>
              </a:lnSpc>
            </a:pPr>
            <a:r>
              <a:rPr sz="1100" b="0" i="0">
                <a:solidFill>
                  <a:srgbClr val="3A4B54"/>
                </a:solidFill>
                <a:latin typeface="Segoe UI"/>
              </a:rPr>
              <a:t>Summarizes studies on community / peer education program effectiveness in general</a:t>
            </a:r>
          </a:p>
        </p:txBody>
      </p:sp>
      <p:sp>
        <p:nvSpPr>
          <p:cNvPr id="26" name="Rounded Rectangle 25"/>
          <p:cNvSpPr/>
          <p:nvPr/>
        </p:nvSpPr>
        <p:spPr>
          <a:xfrm>
            <a:off x="8077199" y="2606040"/>
            <a:ext cx="3553968" cy="1613916"/>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077199" y="2606040"/>
            <a:ext cx="82296" cy="1613916"/>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78367" y="2788920"/>
            <a:ext cx="402336" cy="402336"/>
          </a:xfrm>
          <a:prstGeom prst="ellipse">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78367" y="2788920"/>
            <a:ext cx="402336" cy="402336"/>
          </a:xfrm>
          <a:prstGeom prst="rect">
            <a:avLst/>
          </a:prstGeom>
          <a:noFill/>
        </p:spPr>
        <p:txBody>
          <a:bodyPr wrap="square" anchor="ctr" lIns="0" rIns="0" tIns="0" bIns="0">
            <a:spAutoFit/>
          </a:bodyPr>
          <a:lstStyle/>
          <a:p>
            <a:pPr algn="ctr"/>
            <a:r>
              <a:rPr sz="1700" b="1" i="0">
                <a:solidFill>
                  <a:srgbClr val="FFFFFF"/>
                </a:solidFill>
                <a:latin typeface="Segoe UI"/>
              </a:rPr>
              <a:t>3</a:t>
            </a:r>
          </a:p>
        </p:txBody>
      </p:sp>
      <p:sp>
        <p:nvSpPr>
          <p:cNvPr id="30" name="TextBox 29"/>
          <p:cNvSpPr txBox="1"/>
          <p:nvPr/>
        </p:nvSpPr>
        <p:spPr>
          <a:xfrm>
            <a:off x="8790431" y="2752344"/>
            <a:ext cx="2685288" cy="1339595"/>
          </a:xfrm>
          <a:prstGeom prst="rect">
            <a:avLst/>
          </a:prstGeom>
          <a:noFill/>
        </p:spPr>
        <p:txBody>
          <a:bodyPr wrap="square" anchor="ctr" lIns="0" rIns="0" tIns="0" bIns="0">
            <a:spAutoFit/>
          </a:bodyPr>
          <a:lstStyle/>
          <a:p>
            <a:pPr algn="l">
              <a:lnSpc>
                <a:spcPct val="98000"/>
              </a:lnSpc>
              <a:spcAft>
                <a:spcPts val="400"/>
              </a:spcAft>
            </a:pPr>
            <a:r>
              <a:rPr sz="1300" b="1" i="0">
                <a:solidFill>
                  <a:srgbClr val="14252E"/>
                </a:solidFill>
                <a:latin typeface="Segoe UI"/>
              </a:rPr>
              <a:t>Topic 2 (outcome)</a:t>
            </a:r>
          </a:p>
          <a:p>
            <a:pPr algn="l">
              <a:lnSpc>
                <a:spcPct val="100000"/>
              </a:lnSpc>
            </a:pPr>
            <a:r>
              <a:rPr sz="1100" b="0" i="0">
                <a:solidFill>
                  <a:srgbClr val="3A4B54"/>
                </a:solidFill>
                <a:latin typeface="Segoe UI"/>
              </a:rPr>
              <a:t>Summarizes studies on household waste-segregation behavior and its typical determinants</a:t>
            </a:r>
          </a:p>
        </p:txBody>
      </p:sp>
      <p:sp>
        <p:nvSpPr>
          <p:cNvPr id="31" name="Rounded Rectangle 30"/>
          <p:cNvSpPr/>
          <p:nvPr/>
        </p:nvSpPr>
        <p:spPr>
          <a:xfrm>
            <a:off x="566928" y="4421124"/>
            <a:ext cx="3553968" cy="1613916"/>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66928" y="4421124"/>
            <a:ext cx="82296" cy="1613916"/>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8096" y="4604004"/>
            <a:ext cx="402336" cy="402336"/>
          </a:xfrm>
          <a:prstGeom prst="ellipse">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 y="4604004"/>
            <a:ext cx="402336" cy="402336"/>
          </a:xfrm>
          <a:prstGeom prst="rect">
            <a:avLst/>
          </a:prstGeom>
          <a:noFill/>
        </p:spPr>
        <p:txBody>
          <a:bodyPr wrap="square" anchor="ctr" lIns="0" rIns="0" tIns="0" bIns="0">
            <a:spAutoFit/>
          </a:bodyPr>
          <a:lstStyle/>
          <a:p>
            <a:pPr algn="ctr"/>
            <a:r>
              <a:rPr sz="1700" b="1" i="0">
                <a:solidFill>
                  <a:srgbClr val="FFFFFF"/>
                </a:solidFill>
                <a:latin typeface="Segoe UI"/>
              </a:rPr>
              <a:t>4</a:t>
            </a:r>
          </a:p>
        </p:txBody>
      </p:sp>
      <p:sp>
        <p:nvSpPr>
          <p:cNvPr id="35" name="TextBox 34"/>
          <p:cNvSpPr txBox="1"/>
          <p:nvPr/>
        </p:nvSpPr>
        <p:spPr>
          <a:xfrm>
            <a:off x="1280160" y="4567428"/>
            <a:ext cx="2685288" cy="1339595"/>
          </a:xfrm>
          <a:prstGeom prst="rect">
            <a:avLst/>
          </a:prstGeom>
          <a:noFill/>
        </p:spPr>
        <p:txBody>
          <a:bodyPr wrap="square" anchor="ctr" lIns="0" rIns="0" tIns="0" bIns="0">
            <a:spAutoFit/>
          </a:bodyPr>
          <a:lstStyle/>
          <a:p>
            <a:pPr algn="l">
              <a:lnSpc>
                <a:spcPct val="98000"/>
              </a:lnSpc>
              <a:spcAft>
                <a:spcPts val="400"/>
              </a:spcAft>
            </a:pPr>
            <a:r>
              <a:rPr sz="1300" b="1" i="0">
                <a:solidFill>
                  <a:srgbClr val="14252E"/>
                </a:solidFill>
                <a:latin typeface="Segoe UI"/>
              </a:rPr>
              <a:t>Topic 3 (both together)</a:t>
            </a:r>
          </a:p>
          <a:p>
            <a:pPr algn="l">
              <a:lnSpc>
                <a:spcPct val="100000"/>
              </a:lnSpc>
            </a:pPr>
            <a:r>
              <a:rPr sz="1100" b="0" i="0">
                <a:solidFill>
                  <a:srgbClr val="3A4B54"/>
                </a:solidFill>
                <a:latin typeface="Segoe UI"/>
              </a:rPr>
              <a:t>Notes that almost no studies connect education exposure to segregation compliance in coastal households - the gap</a:t>
            </a:r>
          </a:p>
        </p:txBody>
      </p:sp>
      <p:sp>
        <p:nvSpPr>
          <p:cNvPr id="36" name="Rounded Rectangle 35"/>
          <p:cNvSpPr/>
          <p:nvPr/>
        </p:nvSpPr>
        <p:spPr>
          <a:xfrm>
            <a:off x="4322064" y="4421124"/>
            <a:ext cx="3553968" cy="1613916"/>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322064" y="4421124"/>
            <a:ext cx="82296" cy="1613916"/>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523232" y="4604004"/>
            <a:ext cx="402336" cy="402336"/>
          </a:xfrm>
          <a:prstGeom prst="ellipse">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23232" y="4604004"/>
            <a:ext cx="402336" cy="402336"/>
          </a:xfrm>
          <a:prstGeom prst="rect">
            <a:avLst/>
          </a:prstGeom>
          <a:noFill/>
        </p:spPr>
        <p:txBody>
          <a:bodyPr wrap="square" anchor="ctr" lIns="0" rIns="0" tIns="0" bIns="0">
            <a:spAutoFit/>
          </a:bodyPr>
          <a:lstStyle/>
          <a:p>
            <a:pPr algn="ctr"/>
            <a:r>
              <a:rPr sz="1700" b="1" i="0">
                <a:solidFill>
                  <a:srgbClr val="FFFFFF"/>
                </a:solidFill>
                <a:latin typeface="Segoe UI"/>
              </a:rPr>
              <a:t>5</a:t>
            </a:r>
          </a:p>
        </p:txBody>
      </p:sp>
      <p:sp>
        <p:nvSpPr>
          <p:cNvPr id="40" name="TextBox 39"/>
          <p:cNvSpPr txBox="1"/>
          <p:nvPr/>
        </p:nvSpPr>
        <p:spPr>
          <a:xfrm>
            <a:off x="5035296" y="4567428"/>
            <a:ext cx="2685288" cy="1339595"/>
          </a:xfrm>
          <a:prstGeom prst="rect">
            <a:avLst/>
          </a:prstGeom>
          <a:noFill/>
        </p:spPr>
        <p:txBody>
          <a:bodyPr wrap="square" anchor="ctr" lIns="0" rIns="0" tIns="0" bIns="0">
            <a:spAutoFit/>
          </a:bodyPr>
          <a:lstStyle/>
          <a:p>
            <a:pPr algn="l">
              <a:lnSpc>
                <a:spcPct val="98000"/>
              </a:lnSpc>
              <a:spcAft>
                <a:spcPts val="400"/>
              </a:spcAft>
            </a:pPr>
            <a:r>
              <a:rPr sz="1300" b="1" i="0">
                <a:solidFill>
                  <a:srgbClr val="14252E"/>
                </a:solidFill>
                <a:latin typeface="Segoe UI"/>
              </a:rPr>
              <a:t>Summary</a:t>
            </a:r>
          </a:p>
          <a:p>
            <a:pPr algn="l">
              <a:lnSpc>
                <a:spcPct val="100000"/>
              </a:lnSpc>
            </a:pPr>
            <a:r>
              <a:rPr sz="1100" b="0" i="0">
                <a:solidFill>
                  <a:srgbClr val="3A4B54"/>
                </a:solidFill>
                <a:latin typeface="Segoe UI"/>
              </a:rPr>
              <a:t>States the theme, names the gap, and previews how this study will address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2B6CB2">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2B6CB2"/>
                </a:solidFill>
                <a:latin typeface="Segoe UI"/>
              </a:rPr>
              <a:t>PART 2 - SYNTHESIZING LITERATURE</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Practice: Sketch Your Review Structure</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Activity</a:t>
            </a:r>
          </a:p>
        </p:txBody>
      </p:sp>
      <p:sp>
        <p:nvSpPr>
          <p:cNvPr id="8" name="Rectangle 7"/>
          <p:cNvSpPr/>
          <p:nvPr/>
        </p:nvSpPr>
        <p:spPr>
          <a:xfrm>
            <a:off x="576072" y="1572768"/>
            <a:ext cx="1554480" cy="50292"/>
          </a:xfrm>
          <a:prstGeom prst="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15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1965960"/>
            <a:ext cx="11064240" cy="1234440"/>
          </a:xfrm>
          <a:prstGeom prst="roundRect">
            <a:avLst>
              <a:gd name="adj" fmla="val 8000"/>
            </a:avLst>
          </a:prstGeom>
          <a:solidFill>
            <a:srgbClr val="DFE8F3"/>
          </a:solidFill>
          <a:ln w="12700">
            <a:solidFill>
              <a:srgbClr val="95B5D8"/>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1965960"/>
            <a:ext cx="100584" cy="1234440"/>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084831"/>
            <a:ext cx="10515600" cy="1005840"/>
          </a:xfrm>
          <a:prstGeom prst="rect">
            <a:avLst/>
          </a:prstGeom>
          <a:noFill/>
        </p:spPr>
        <p:txBody>
          <a:bodyPr wrap="square" anchor="ctr" lIns="0" rIns="0" tIns="0" bIns="0">
            <a:spAutoFit/>
          </a:bodyPr>
          <a:lstStyle/>
          <a:p>
            <a:pPr algn="l">
              <a:spcAft>
                <a:spcPts val="300"/>
              </a:spcAft>
            </a:pPr>
            <a:r>
              <a:rPr sz="1300" b="1" i="0">
                <a:solidFill>
                  <a:srgbClr val="2B6CB2"/>
                </a:solidFill>
                <a:latin typeface="Segoe UI"/>
              </a:rPr>
              <a:t>Scenario</a:t>
            </a:r>
          </a:p>
          <a:p>
            <a:pPr algn="l">
              <a:lnSpc>
                <a:spcPct val="105000"/>
              </a:lnSpc>
            </a:pPr>
            <a:r>
              <a:rPr sz="1450" b="0" i="0">
                <a:solidFill>
                  <a:srgbClr val="14252E"/>
                </a:solidFill>
                <a:latin typeface="Segoe UI"/>
              </a:rPr>
              <a:t>A group studies whether </a:t>
            </a:r>
            <a:r>
              <a:rPr sz="1450" b="0" i="1">
                <a:solidFill>
                  <a:srgbClr val="14252E"/>
                </a:solidFill>
                <a:latin typeface="Segoe UI"/>
              </a:rPr>
              <a:t>exposure to vector-control education campaigns</a:t>
            </a:r>
            <a:r>
              <a:rPr sz="1450" b="0" i="0">
                <a:solidFill>
                  <a:srgbClr val="14252E"/>
                </a:solidFill>
                <a:latin typeface="Segoe UI"/>
              </a:rPr>
              <a:t> (predictor) affects </a:t>
            </a:r>
            <a:r>
              <a:rPr sz="1450" b="0" i="1">
                <a:solidFill>
                  <a:srgbClr val="14252E"/>
                </a:solidFill>
                <a:latin typeface="Segoe UI"/>
              </a:rPr>
              <a:t>household mosquito-breeding-site elimination behavior</a:t>
            </a:r>
            <a:r>
              <a:rPr sz="1450" b="0" i="0">
                <a:solidFill>
                  <a:srgbClr val="14252E"/>
                </a:solidFill>
                <a:latin typeface="Segoe UI"/>
              </a:rPr>
              <a:t> (outcome) in an urban barangay.</a:t>
            </a:r>
          </a:p>
        </p:txBody>
      </p:sp>
      <p:sp>
        <p:nvSpPr>
          <p:cNvPr id="16" name="Rounded Rectangle 15"/>
          <p:cNvSpPr/>
          <p:nvPr/>
        </p:nvSpPr>
        <p:spPr>
          <a:xfrm>
            <a:off x="566928" y="3566160"/>
            <a:ext cx="2029967" cy="201168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66928" y="3566160"/>
            <a:ext cx="2029967" cy="457200"/>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3566160"/>
            <a:ext cx="2029967" cy="457200"/>
          </a:xfrm>
          <a:prstGeom prst="rect">
            <a:avLst/>
          </a:prstGeom>
          <a:noFill/>
        </p:spPr>
        <p:txBody>
          <a:bodyPr wrap="square" anchor="ctr" lIns="0" rIns="0" tIns="0" bIns="0">
            <a:spAutoFit/>
          </a:bodyPr>
          <a:lstStyle/>
          <a:p>
            <a:pPr algn="ctr"/>
            <a:r>
              <a:rPr sz="1250" b="1" i="0">
                <a:solidFill>
                  <a:srgbClr val="FFFFFF"/>
                </a:solidFill>
                <a:latin typeface="Segoe UI"/>
              </a:rPr>
              <a:t>Introduction</a:t>
            </a:r>
          </a:p>
        </p:txBody>
      </p:sp>
      <p:sp>
        <p:nvSpPr>
          <p:cNvPr id="19" name="Rectangle 18"/>
          <p:cNvSpPr/>
          <p:nvPr/>
        </p:nvSpPr>
        <p:spPr>
          <a:xfrm>
            <a:off x="704088" y="4297680"/>
            <a:ext cx="1755647"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4088" y="4681728"/>
            <a:ext cx="1755647"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04088" y="5065776"/>
            <a:ext cx="1755647"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825496" y="3566160"/>
            <a:ext cx="2029967" cy="201168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825496" y="3566160"/>
            <a:ext cx="2029967" cy="457200"/>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25496" y="3566160"/>
            <a:ext cx="2029967" cy="457200"/>
          </a:xfrm>
          <a:prstGeom prst="rect">
            <a:avLst/>
          </a:prstGeom>
          <a:noFill/>
        </p:spPr>
        <p:txBody>
          <a:bodyPr wrap="square" anchor="ctr" lIns="0" rIns="0" tIns="0" bIns="0">
            <a:spAutoFit/>
          </a:bodyPr>
          <a:lstStyle/>
          <a:p>
            <a:pPr algn="ctr"/>
            <a:r>
              <a:rPr sz="1250" b="1" i="0">
                <a:solidFill>
                  <a:srgbClr val="FFFFFF"/>
                </a:solidFill>
                <a:latin typeface="Segoe UI"/>
              </a:rPr>
              <a:t>Topic 1</a:t>
            </a:r>
          </a:p>
        </p:txBody>
      </p:sp>
      <p:sp>
        <p:nvSpPr>
          <p:cNvPr id="25" name="Rectangle 24"/>
          <p:cNvSpPr/>
          <p:nvPr/>
        </p:nvSpPr>
        <p:spPr>
          <a:xfrm>
            <a:off x="2962656" y="4297680"/>
            <a:ext cx="1755647"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62656" y="4681728"/>
            <a:ext cx="1755647"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962656" y="5065776"/>
            <a:ext cx="1755647"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084064" y="3566160"/>
            <a:ext cx="2029967" cy="201168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084064" y="3566160"/>
            <a:ext cx="2029967" cy="457200"/>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84064" y="3566160"/>
            <a:ext cx="2029967" cy="457200"/>
          </a:xfrm>
          <a:prstGeom prst="rect">
            <a:avLst/>
          </a:prstGeom>
          <a:noFill/>
        </p:spPr>
        <p:txBody>
          <a:bodyPr wrap="square" anchor="ctr" lIns="0" rIns="0" tIns="0" bIns="0">
            <a:spAutoFit/>
          </a:bodyPr>
          <a:lstStyle/>
          <a:p>
            <a:pPr algn="ctr"/>
            <a:r>
              <a:rPr sz="1250" b="1" i="0">
                <a:solidFill>
                  <a:srgbClr val="FFFFFF"/>
                </a:solidFill>
                <a:latin typeface="Segoe UI"/>
              </a:rPr>
              <a:t>Topic 2</a:t>
            </a:r>
          </a:p>
        </p:txBody>
      </p:sp>
      <p:sp>
        <p:nvSpPr>
          <p:cNvPr id="31" name="Rectangle 30"/>
          <p:cNvSpPr/>
          <p:nvPr/>
        </p:nvSpPr>
        <p:spPr>
          <a:xfrm>
            <a:off x="5221224" y="4297680"/>
            <a:ext cx="1755647"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221224" y="4681728"/>
            <a:ext cx="1755647"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21224" y="5065776"/>
            <a:ext cx="1755647"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342631" y="3566160"/>
            <a:ext cx="2029967" cy="201168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342631" y="3566160"/>
            <a:ext cx="2029967" cy="45720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42631" y="3566160"/>
            <a:ext cx="2029967" cy="457200"/>
          </a:xfrm>
          <a:prstGeom prst="rect">
            <a:avLst/>
          </a:prstGeom>
          <a:noFill/>
        </p:spPr>
        <p:txBody>
          <a:bodyPr wrap="square" anchor="ctr" lIns="0" rIns="0" tIns="0" bIns="0">
            <a:spAutoFit/>
          </a:bodyPr>
          <a:lstStyle/>
          <a:p>
            <a:pPr algn="ctr"/>
            <a:r>
              <a:rPr sz="1250" b="1" i="0">
                <a:solidFill>
                  <a:srgbClr val="FFFFFF"/>
                </a:solidFill>
                <a:latin typeface="Segoe UI"/>
              </a:rPr>
              <a:t>Topic 3</a:t>
            </a:r>
          </a:p>
        </p:txBody>
      </p:sp>
      <p:sp>
        <p:nvSpPr>
          <p:cNvPr id="37" name="Rectangle 36"/>
          <p:cNvSpPr/>
          <p:nvPr/>
        </p:nvSpPr>
        <p:spPr>
          <a:xfrm>
            <a:off x="7479792" y="4297680"/>
            <a:ext cx="1755647"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479792" y="4681728"/>
            <a:ext cx="1755647"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479792" y="5065776"/>
            <a:ext cx="1755647"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601199" y="3566160"/>
            <a:ext cx="2029967" cy="201168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601199" y="3566160"/>
            <a:ext cx="2029967" cy="457200"/>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01199" y="3566160"/>
            <a:ext cx="2029967" cy="457200"/>
          </a:xfrm>
          <a:prstGeom prst="rect">
            <a:avLst/>
          </a:prstGeom>
          <a:noFill/>
        </p:spPr>
        <p:txBody>
          <a:bodyPr wrap="square" anchor="ctr" lIns="0" rIns="0" tIns="0" bIns="0">
            <a:spAutoFit/>
          </a:bodyPr>
          <a:lstStyle/>
          <a:p>
            <a:pPr algn="ctr"/>
            <a:r>
              <a:rPr sz="1250" b="1" i="0">
                <a:solidFill>
                  <a:srgbClr val="FFFFFF"/>
                </a:solidFill>
                <a:latin typeface="Segoe UI"/>
              </a:rPr>
              <a:t>Summary</a:t>
            </a:r>
          </a:p>
        </p:txBody>
      </p:sp>
      <p:sp>
        <p:nvSpPr>
          <p:cNvPr id="43" name="Rectangle 42"/>
          <p:cNvSpPr/>
          <p:nvPr/>
        </p:nvSpPr>
        <p:spPr>
          <a:xfrm>
            <a:off x="9738359" y="4297680"/>
            <a:ext cx="1755647"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738359" y="4681728"/>
            <a:ext cx="1755647"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738359" y="5065776"/>
            <a:ext cx="1755647"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566928" y="5806440"/>
            <a:ext cx="11064240" cy="566928"/>
          </a:xfrm>
          <a:prstGeom prst="roundRect">
            <a:avLst>
              <a:gd name="adj" fmla="val 12000"/>
            </a:avLst>
          </a:prstGeom>
          <a:solidFill>
            <a:srgbClr val="FAE5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66928" y="5806440"/>
            <a:ext cx="82296" cy="56692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806440"/>
            <a:ext cx="10607040" cy="566928"/>
          </a:xfrm>
          <a:prstGeom prst="rect">
            <a:avLst/>
          </a:prstGeom>
          <a:noFill/>
        </p:spPr>
        <p:txBody>
          <a:bodyPr wrap="square" anchor="ctr" lIns="0" rIns="0" tIns="0" bIns="0">
            <a:spAutoFit/>
          </a:bodyPr>
          <a:lstStyle/>
          <a:p>
            <a:pPr algn="l">
              <a:lnSpc>
                <a:spcPct val="102000"/>
              </a:lnSpc>
            </a:pPr>
            <a:r>
              <a:rPr sz="1400" b="0" i="1">
                <a:solidFill>
                  <a:srgbClr val="14252E"/>
                </a:solidFill>
                <a:latin typeface="Segoe UI"/>
              </a:rPr>
              <a:t>In pairs, write ONE sentence per part - just the skeleton, not the full review.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76F5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76F51"/>
                </a:solidFill>
                <a:latin typeface="Segoe UI"/>
              </a:rPr>
              <a:t>PART 3 - THE PROBLEM STATEMENT</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From Research Gap to Problem</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Transition</a:t>
            </a:r>
          </a:p>
        </p:txBody>
      </p:sp>
      <p:sp>
        <p:nvSpPr>
          <p:cNvPr id="8" name="Rectangle 7"/>
          <p:cNvSpPr/>
          <p:nvPr/>
        </p:nvSpPr>
        <p:spPr>
          <a:xfrm>
            <a:off x="576072" y="1572768"/>
            <a:ext cx="1554480" cy="502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16  /  51</a:t>
            </a:r>
          </a:p>
        </p:txBody>
      </p:sp>
      <p:sp>
        <p:nvSpPr>
          <p:cNvPr id="10" name="TextBox 9"/>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1" name="Rounded Rectangle 10"/>
          <p:cNvSpPr/>
          <p:nvPr/>
        </p:nvSpPr>
        <p:spPr>
          <a:xfrm>
            <a:off x="566928" y="2148840"/>
            <a:ext cx="11064240" cy="1051560"/>
          </a:xfrm>
          <a:prstGeom prst="roundRect">
            <a:avLst>
              <a:gd name="adj" fmla="val 8000"/>
            </a:avLst>
          </a:prstGeom>
          <a:solidFill>
            <a:srgbClr val="DFE8F3"/>
          </a:solidFill>
          <a:ln w="12700">
            <a:solidFill>
              <a:srgbClr val="95B5D8"/>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8" y="2148840"/>
            <a:ext cx="100584" cy="1051560"/>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148840"/>
            <a:ext cx="10515600" cy="1051560"/>
          </a:xfrm>
          <a:prstGeom prst="rect">
            <a:avLst/>
          </a:prstGeom>
          <a:noFill/>
        </p:spPr>
        <p:txBody>
          <a:bodyPr wrap="square" anchor="ctr" lIns="0" rIns="0" tIns="0" bIns="0">
            <a:spAutoFit/>
          </a:bodyPr>
          <a:lstStyle/>
          <a:p>
            <a:pPr algn="l">
              <a:spcAft>
                <a:spcPts val="300"/>
              </a:spcAft>
            </a:pPr>
            <a:r>
              <a:rPr sz="1250" b="1" i="0">
                <a:solidFill>
                  <a:srgbClr val="2B6CB2"/>
                </a:solidFill>
                <a:latin typeface="Segoe UI"/>
              </a:rPr>
              <a:t>The group's gap statement</a:t>
            </a:r>
          </a:p>
          <a:p>
            <a:pPr algn="l">
              <a:lnSpc>
                <a:spcPct val="105000"/>
              </a:lnSpc>
            </a:pPr>
            <a:r>
              <a:rPr sz="1550" b="0" i="1">
                <a:solidFill>
                  <a:srgbClr val="14252E"/>
                </a:solidFill>
                <a:latin typeface="Segoe UI"/>
              </a:rPr>
              <a:t>“Few studies examine why coastal barangay households under-segregate plastic waste despite high reported volumes.”</a:t>
            </a:r>
          </a:p>
        </p:txBody>
      </p:sp>
      <p:sp>
        <p:nvSpPr>
          <p:cNvPr id="14" name="Rounded Rectangle 13"/>
          <p:cNvSpPr/>
          <p:nvPr/>
        </p:nvSpPr>
        <p:spPr>
          <a:xfrm>
            <a:off x="566928" y="3520440"/>
            <a:ext cx="5440680" cy="237744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6928" y="3520440"/>
            <a:ext cx="5440680" cy="502920"/>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3520440"/>
            <a:ext cx="5440680" cy="502920"/>
          </a:xfrm>
          <a:prstGeom prst="rect">
            <a:avLst/>
          </a:prstGeom>
          <a:noFill/>
        </p:spPr>
        <p:txBody>
          <a:bodyPr wrap="square" anchor="ctr" lIns="0" rIns="0" tIns="0" bIns="0">
            <a:spAutoFit/>
          </a:bodyPr>
          <a:lstStyle/>
          <a:p>
            <a:pPr algn="ctr"/>
            <a:r>
              <a:rPr sz="1500" b="1" i="0">
                <a:solidFill>
                  <a:srgbClr val="FFFFFF"/>
                </a:solidFill>
                <a:latin typeface="Segoe UI"/>
              </a:rPr>
              <a:t>Gap statement</a:t>
            </a:r>
          </a:p>
        </p:txBody>
      </p:sp>
      <p:sp>
        <p:nvSpPr>
          <p:cNvPr id="17" name="TextBox 16"/>
          <p:cNvSpPr txBox="1"/>
          <p:nvPr/>
        </p:nvSpPr>
        <p:spPr>
          <a:xfrm>
            <a:off x="822960" y="4206240"/>
            <a:ext cx="4937760" cy="1554480"/>
          </a:xfrm>
          <a:prstGeom prst="rect">
            <a:avLst/>
          </a:prstGeom>
          <a:noFill/>
        </p:spPr>
        <p:txBody>
          <a:bodyPr wrap="square" anchor="ctr" lIns="0" rIns="0" tIns="0" bIns="0">
            <a:spAutoFit/>
          </a:bodyPr>
          <a:lstStyle/>
          <a:p>
            <a:pPr algn="l">
              <a:lnSpc>
                <a:spcPct val="110000"/>
              </a:lnSpc>
            </a:pPr>
            <a:r>
              <a:rPr sz="1500" b="0" i="0">
                <a:solidFill>
                  <a:srgbClr val="14252E"/>
                </a:solidFill>
                <a:latin typeface="Segoe UI"/>
              </a:rPr>
              <a:t>Describes what's </a:t>
            </a:r>
            <a:r>
              <a:rPr sz="1500" b="0" i="1">
                <a:solidFill>
                  <a:srgbClr val="14252E"/>
                </a:solidFill>
                <a:latin typeface="Segoe UI"/>
              </a:rPr>
              <a:t>missing in the literature.</a:t>
            </a:r>
            <a:r>
              <a:rPr sz="1500" b="0" i="0">
                <a:solidFill>
                  <a:srgbClr val="14252E"/>
                </a:solidFill>
                <a:latin typeface="Segoe UI"/>
              </a:rPr>
              <a:t>  It is diagnostic - about the literature.</a:t>
            </a:r>
          </a:p>
        </p:txBody>
      </p:sp>
      <p:sp>
        <p:nvSpPr>
          <p:cNvPr id="18" name="Rounded Rectangle 17"/>
          <p:cNvSpPr/>
          <p:nvPr/>
        </p:nvSpPr>
        <p:spPr>
          <a:xfrm>
            <a:off x="6190488" y="3520440"/>
            <a:ext cx="5440680" cy="237744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90488" y="3520440"/>
            <a:ext cx="5440680" cy="50292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0488" y="3520440"/>
            <a:ext cx="5440680" cy="502920"/>
          </a:xfrm>
          <a:prstGeom prst="rect">
            <a:avLst/>
          </a:prstGeom>
          <a:noFill/>
        </p:spPr>
        <p:txBody>
          <a:bodyPr wrap="square" anchor="ctr" lIns="0" rIns="0" tIns="0" bIns="0">
            <a:spAutoFit/>
          </a:bodyPr>
          <a:lstStyle/>
          <a:p>
            <a:pPr algn="ctr"/>
            <a:r>
              <a:rPr sz="1500" b="1" i="0">
                <a:solidFill>
                  <a:srgbClr val="FFFFFF"/>
                </a:solidFill>
                <a:latin typeface="Segoe UI"/>
              </a:rPr>
              <a:t>Problem statement</a:t>
            </a:r>
          </a:p>
        </p:txBody>
      </p:sp>
      <p:sp>
        <p:nvSpPr>
          <p:cNvPr id="21" name="TextBox 20"/>
          <p:cNvSpPr txBox="1"/>
          <p:nvPr/>
        </p:nvSpPr>
        <p:spPr>
          <a:xfrm>
            <a:off x="6446520" y="4206240"/>
            <a:ext cx="4937760" cy="1554480"/>
          </a:xfrm>
          <a:prstGeom prst="rect">
            <a:avLst/>
          </a:prstGeom>
          <a:noFill/>
        </p:spPr>
        <p:txBody>
          <a:bodyPr wrap="square" anchor="ctr" lIns="0" rIns="0" tIns="0" bIns="0">
            <a:spAutoFit/>
          </a:bodyPr>
          <a:lstStyle/>
          <a:p>
            <a:pPr algn="l">
              <a:lnSpc>
                <a:spcPct val="110000"/>
              </a:lnSpc>
            </a:pPr>
            <a:r>
              <a:rPr sz="1500" b="0" i="0">
                <a:solidFill>
                  <a:srgbClr val="14252E"/>
                </a:solidFill>
                <a:latin typeface="Segoe UI"/>
              </a:rPr>
              <a:t>Goes one step further - it </a:t>
            </a:r>
            <a:r>
              <a:rPr sz="1500" b="0" i="1">
                <a:solidFill>
                  <a:srgbClr val="14252E"/>
                </a:solidFill>
                <a:latin typeface="Segoe UI"/>
              </a:rPr>
              <a:t>commits to studying that gap directly,</a:t>
            </a:r>
            <a:r>
              <a:rPr sz="1500" b="0" i="0">
                <a:solidFill>
                  <a:srgbClr val="14252E"/>
                </a:solidFill>
                <a:latin typeface="Segoe UI"/>
              </a:rPr>
              <a:t> and defends why it deserves attention.</a:t>
            </a:r>
          </a:p>
        </p:txBody>
      </p:sp>
      <p:sp>
        <p:nvSpPr>
          <p:cNvPr id="22" name="Right Arrow 21"/>
          <p:cNvSpPr/>
          <p:nvPr/>
        </p:nvSpPr>
        <p:spPr>
          <a:xfrm>
            <a:off x="5852160" y="4434840"/>
            <a:ext cx="457200" cy="502920"/>
          </a:xfrm>
          <a:prstGeom prst="rightArrow">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76F5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76F51"/>
                </a:solidFill>
                <a:latin typeface="Segoe UI"/>
              </a:rPr>
              <a:t>PART 3 - THE PROBLEM STATEMENT</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Topic, Problem, and Question</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A narrowing funnel</a:t>
            </a:r>
          </a:p>
        </p:txBody>
      </p:sp>
      <p:sp>
        <p:nvSpPr>
          <p:cNvPr id="8" name="Rectangle 7"/>
          <p:cNvSpPr/>
          <p:nvPr/>
        </p:nvSpPr>
        <p:spPr>
          <a:xfrm>
            <a:off x="576072" y="1572768"/>
            <a:ext cx="1554480" cy="502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17  /  51</a:t>
            </a:r>
          </a:p>
        </p:txBody>
      </p:sp>
      <p:sp>
        <p:nvSpPr>
          <p:cNvPr id="10" name="TextBox 9"/>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1" name="Rounded Rectangle 10"/>
          <p:cNvSpPr/>
          <p:nvPr/>
        </p:nvSpPr>
        <p:spPr>
          <a:xfrm>
            <a:off x="2468880" y="2148840"/>
            <a:ext cx="7315200" cy="1091184"/>
          </a:xfrm>
          <a:prstGeom prst="roundRect">
            <a:avLst/>
          </a:prstGeom>
          <a:solidFill>
            <a:srgbClr val="E76F51"/>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51760" y="2148840"/>
            <a:ext cx="6949440" cy="1091184"/>
          </a:xfrm>
          <a:prstGeom prst="rect">
            <a:avLst/>
          </a:prstGeom>
          <a:noFill/>
        </p:spPr>
        <p:txBody>
          <a:bodyPr wrap="square" anchor="ctr" lIns="0" rIns="0" tIns="0" bIns="0">
            <a:spAutoFit/>
          </a:bodyPr>
          <a:lstStyle/>
          <a:p>
            <a:pPr algn="ctr">
              <a:lnSpc>
                <a:spcPct val="95000"/>
              </a:lnSpc>
              <a:spcAft>
                <a:spcPts val="200"/>
              </a:spcAft>
            </a:pPr>
            <a:r>
              <a:rPr sz="1500" b="1" i="0">
                <a:solidFill>
                  <a:srgbClr val="FFFFFF"/>
                </a:solidFill>
                <a:latin typeface="Segoe UI"/>
              </a:rPr>
              <a:t>TOPIC</a:t>
            </a:r>
          </a:p>
          <a:p>
            <a:pPr algn="ctr">
              <a:lnSpc>
                <a:spcPct val="95000"/>
              </a:lnSpc>
            </a:pPr>
            <a:r>
              <a:rPr sz="1150" b="0" i="0">
                <a:solidFill>
                  <a:srgbClr val="FFFFFF"/>
                </a:solidFill>
                <a:latin typeface="Segoe UI"/>
              </a:rPr>
              <a:t>“Plastic waste in coastal communities” - the general subject area</a:t>
            </a:r>
          </a:p>
        </p:txBody>
      </p:sp>
      <p:sp>
        <p:nvSpPr>
          <p:cNvPr id="13" name="Rounded Rectangle 12"/>
          <p:cNvSpPr/>
          <p:nvPr/>
        </p:nvSpPr>
        <p:spPr>
          <a:xfrm>
            <a:off x="3520440" y="3386328"/>
            <a:ext cx="5212080" cy="1091184"/>
          </a:xfrm>
          <a:prstGeom prst="roundRect">
            <a:avLst/>
          </a:prstGeom>
          <a:solidFill>
            <a:srgbClr val="EA8167"/>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03320" y="3386328"/>
            <a:ext cx="4846320" cy="1091184"/>
          </a:xfrm>
          <a:prstGeom prst="rect">
            <a:avLst/>
          </a:prstGeom>
          <a:noFill/>
        </p:spPr>
        <p:txBody>
          <a:bodyPr wrap="square" anchor="ctr" lIns="0" rIns="0" tIns="0" bIns="0">
            <a:spAutoFit/>
          </a:bodyPr>
          <a:lstStyle/>
          <a:p>
            <a:pPr algn="ctr">
              <a:lnSpc>
                <a:spcPct val="95000"/>
              </a:lnSpc>
              <a:spcAft>
                <a:spcPts val="200"/>
              </a:spcAft>
            </a:pPr>
            <a:r>
              <a:rPr sz="1500" b="1" i="0">
                <a:solidFill>
                  <a:srgbClr val="FFFFFF"/>
                </a:solidFill>
                <a:latin typeface="Segoe UI"/>
              </a:rPr>
              <a:t>PROBLEM</a:t>
            </a:r>
          </a:p>
          <a:p>
            <a:pPr algn="ctr">
              <a:lnSpc>
                <a:spcPct val="95000"/>
              </a:lnSpc>
            </a:pPr>
            <a:r>
              <a:rPr sz="1150" b="0" i="0">
                <a:solidFill>
                  <a:srgbClr val="FFFFFF"/>
                </a:solidFill>
                <a:latin typeface="Segoe UI"/>
              </a:rPr>
              <a:t>“Coastal barangay households under-segregate plastic waste despite high volumes”</a:t>
            </a:r>
          </a:p>
        </p:txBody>
      </p:sp>
      <p:sp>
        <p:nvSpPr>
          <p:cNvPr id="15" name="Rounded Rectangle 14"/>
          <p:cNvSpPr/>
          <p:nvPr/>
        </p:nvSpPr>
        <p:spPr>
          <a:xfrm>
            <a:off x="4572000" y="4623816"/>
            <a:ext cx="3108960" cy="1091184"/>
          </a:xfrm>
          <a:prstGeom prst="roundRect">
            <a:avLst/>
          </a:prstGeom>
          <a:solidFill>
            <a:srgbClr val="ED947E"/>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0" y="4623816"/>
            <a:ext cx="2743200" cy="1091184"/>
          </a:xfrm>
          <a:prstGeom prst="rect">
            <a:avLst/>
          </a:prstGeom>
          <a:noFill/>
        </p:spPr>
        <p:txBody>
          <a:bodyPr wrap="square" anchor="ctr" lIns="0" rIns="0" tIns="0" bIns="0">
            <a:spAutoFit/>
          </a:bodyPr>
          <a:lstStyle/>
          <a:p>
            <a:pPr algn="ctr">
              <a:lnSpc>
                <a:spcPct val="95000"/>
              </a:lnSpc>
              <a:spcAft>
                <a:spcPts val="200"/>
              </a:spcAft>
            </a:pPr>
            <a:r>
              <a:rPr sz="1500" b="1" i="0">
                <a:solidFill>
                  <a:srgbClr val="FFFFFF"/>
                </a:solidFill>
                <a:latin typeface="Segoe UI"/>
              </a:rPr>
              <a:t>QUESTION</a:t>
            </a:r>
          </a:p>
          <a:p>
            <a:pPr algn="ctr">
              <a:lnSpc>
                <a:spcPct val="95000"/>
              </a:lnSpc>
            </a:pPr>
            <a:r>
              <a:rPr sz="1150" b="0" i="0">
                <a:solidFill>
                  <a:srgbClr val="FFFFFF"/>
                </a:solidFill>
                <a:latin typeface="Segoe UI"/>
              </a:rPr>
              <a:t>“What factors influence plastic-segregation behavior among coastal barangay households?”</a:t>
            </a:r>
          </a:p>
        </p:txBody>
      </p:sp>
      <p:sp>
        <p:nvSpPr>
          <p:cNvPr id="17" name="Rounded Rectangle 16"/>
          <p:cNvSpPr/>
          <p:nvPr/>
        </p:nvSpPr>
        <p:spPr>
          <a:xfrm>
            <a:off x="566928" y="5943600"/>
            <a:ext cx="11064240" cy="566928"/>
          </a:xfrm>
          <a:prstGeom prst="roundRect">
            <a:avLst>
              <a:gd name="adj" fmla="val 12000"/>
            </a:avLst>
          </a:prstGeom>
          <a:solidFill>
            <a:srgbClr val="FAE5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6928" y="5943600"/>
            <a:ext cx="82296" cy="56692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943600"/>
            <a:ext cx="10607040" cy="566928"/>
          </a:xfrm>
          <a:prstGeom prst="rect">
            <a:avLst/>
          </a:prstGeom>
          <a:noFill/>
        </p:spPr>
        <p:txBody>
          <a:bodyPr wrap="square" anchor="ctr" lIns="0" rIns="0" tIns="0" bIns="0">
            <a:spAutoFit/>
          </a:bodyPr>
          <a:lstStyle/>
          <a:p>
            <a:pPr algn="l">
              <a:lnSpc>
                <a:spcPct val="102000"/>
              </a:lnSpc>
            </a:pPr>
            <a:r>
              <a:rPr sz="1500" b="0" i="1">
                <a:solidFill>
                  <a:srgbClr val="14252E"/>
                </a:solidFill>
                <a:latin typeface="Segoe UI"/>
              </a:rPr>
              <a:t>Each level is narrower than the one before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76F5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76F51"/>
                </a:solidFill>
                <a:latin typeface="Segoe UI"/>
              </a:rPr>
              <a:t>PART 3 - THE PROBLEM STATEMENT</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The Four Elements of a Problem Statement</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Checklist / matrix</a:t>
            </a:r>
          </a:p>
        </p:txBody>
      </p:sp>
      <p:sp>
        <p:nvSpPr>
          <p:cNvPr id="8" name="Rectangle 7"/>
          <p:cNvSpPr/>
          <p:nvPr/>
        </p:nvSpPr>
        <p:spPr>
          <a:xfrm>
            <a:off x="576072" y="1572768"/>
            <a:ext cx="1554480" cy="502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074859" y="420624"/>
            <a:ext cx="1568196" cy="310896"/>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74859" y="420624"/>
            <a:ext cx="1568196" cy="310896"/>
          </a:xfrm>
          <a:prstGeom prst="rect">
            <a:avLst/>
          </a:prstGeom>
          <a:noFill/>
        </p:spPr>
        <p:txBody>
          <a:bodyPr wrap="square" anchor="ctr" lIns="0" rIns="0" tIns="0" bIns="0">
            <a:spAutoFit/>
          </a:bodyPr>
          <a:lstStyle/>
          <a:p>
            <a:pPr algn="ctr"/>
            <a:r>
              <a:rPr sz="1050" b="1" i="0">
                <a:solidFill>
                  <a:srgbClr val="FFFFFF"/>
                </a:solidFill>
                <a:latin typeface="Segoe UI"/>
              </a:rPr>
              <a:t>GUIDE-BASED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18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1965960"/>
            <a:ext cx="5440680" cy="1760219"/>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1965960"/>
            <a:ext cx="5440680" cy="109728"/>
          </a:xfrm>
          <a:prstGeom prst="roundRect">
            <a:avLst/>
          </a:prstGeom>
          <a:solidFill>
            <a:srgbClr val="C64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2221991"/>
            <a:ext cx="5038344" cy="1357884"/>
          </a:xfrm>
          <a:prstGeom prst="rect">
            <a:avLst/>
          </a:prstGeom>
          <a:noFill/>
        </p:spPr>
        <p:txBody>
          <a:bodyPr wrap="square" anchor="ctr" lIns="0" rIns="0" tIns="0" bIns="0">
            <a:spAutoFit/>
          </a:bodyPr>
          <a:lstStyle/>
          <a:p>
            <a:pPr algn="l">
              <a:lnSpc>
                <a:spcPct val="98000"/>
              </a:lnSpc>
              <a:spcAft>
                <a:spcPts val="500"/>
              </a:spcAft>
            </a:pPr>
            <a:r>
              <a:rPr sz="1550" b="1" i="0">
                <a:solidFill>
                  <a:srgbClr val="C64A3F"/>
                </a:solidFill>
                <a:latin typeface="Segoe UI"/>
              </a:rPr>
              <a:t>Gap  -  “What's going wrong?”</a:t>
            </a:r>
          </a:p>
          <a:p>
            <a:pPr algn="l">
              <a:lnSpc>
                <a:spcPct val="102000"/>
              </a:lnSpc>
            </a:pPr>
            <a:r>
              <a:rPr sz="1250" b="0" i="0">
                <a:solidFill>
                  <a:srgbClr val="3A4B54"/>
                </a:solidFill>
                <a:latin typeface="Segoe UI"/>
              </a:rPr>
              <a:t>The core issue itself: what's not working, or what's missing between what's happening and what should be happening.</a:t>
            </a:r>
          </a:p>
        </p:txBody>
      </p:sp>
      <p:sp>
        <p:nvSpPr>
          <p:cNvPr id="16" name="Rounded Rectangle 15"/>
          <p:cNvSpPr/>
          <p:nvPr/>
        </p:nvSpPr>
        <p:spPr>
          <a:xfrm>
            <a:off x="6190488" y="1965960"/>
            <a:ext cx="5440680" cy="1760219"/>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90488" y="1965960"/>
            <a:ext cx="5440680" cy="109728"/>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9944" y="2221991"/>
            <a:ext cx="5038344" cy="1357884"/>
          </a:xfrm>
          <a:prstGeom prst="rect">
            <a:avLst/>
          </a:prstGeom>
          <a:noFill/>
        </p:spPr>
        <p:txBody>
          <a:bodyPr wrap="square" anchor="ctr" lIns="0" rIns="0" tIns="0" bIns="0">
            <a:spAutoFit/>
          </a:bodyPr>
          <a:lstStyle/>
          <a:p>
            <a:pPr algn="l">
              <a:lnSpc>
                <a:spcPct val="98000"/>
              </a:lnSpc>
              <a:spcAft>
                <a:spcPts val="500"/>
              </a:spcAft>
            </a:pPr>
            <a:r>
              <a:rPr sz="1550" b="1" i="0">
                <a:solidFill>
                  <a:srgbClr val="2B6CB2"/>
                </a:solidFill>
                <a:latin typeface="Segoe UI"/>
              </a:rPr>
              <a:t>Orientation  -  “When, where, how?”</a:t>
            </a:r>
          </a:p>
          <a:p>
            <a:pPr algn="l">
              <a:lnSpc>
                <a:spcPct val="102000"/>
              </a:lnSpc>
            </a:pPr>
            <a:r>
              <a:rPr sz="1250" b="0" i="0">
                <a:solidFill>
                  <a:srgbClr val="3A4B54"/>
                </a:solidFill>
                <a:latin typeface="Segoe UI"/>
              </a:rPr>
              <a:t>The when, where, and how: places the problem in its broader context.</a:t>
            </a:r>
          </a:p>
        </p:txBody>
      </p:sp>
      <p:sp>
        <p:nvSpPr>
          <p:cNvPr id="19" name="Rounded Rectangle 18"/>
          <p:cNvSpPr/>
          <p:nvPr/>
        </p:nvSpPr>
        <p:spPr>
          <a:xfrm>
            <a:off x="566928" y="3909060"/>
            <a:ext cx="5440680" cy="1760219"/>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66928" y="3909060"/>
            <a:ext cx="5440680" cy="10972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4165092"/>
            <a:ext cx="5038344" cy="1357884"/>
          </a:xfrm>
          <a:prstGeom prst="rect">
            <a:avLst/>
          </a:prstGeom>
          <a:noFill/>
        </p:spPr>
        <p:txBody>
          <a:bodyPr wrap="square" anchor="ctr" lIns="0" rIns="0" tIns="0" bIns="0">
            <a:spAutoFit/>
          </a:bodyPr>
          <a:lstStyle/>
          <a:p>
            <a:pPr algn="l">
              <a:lnSpc>
                <a:spcPct val="98000"/>
              </a:lnSpc>
              <a:spcAft>
                <a:spcPts val="500"/>
              </a:spcAft>
            </a:pPr>
            <a:r>
              <a:rPr sz="1550" b="1" i="0">
                <a:solidFill>
                  <a:srgbClr val="E76F51"/>
                </a:solidFill>
                <a:latin typeface="Segoe UI"/>
              </a:rPr>
              <a:t>Impact  -  “Who's affected, how much?”</a:t>
            </a:r>
          </a:p>
          <a:p>
            <a:pPr algn="l">
              <a:lnSpc>
                <a:spcPct val="102000"/>
              </a:lnSpc>
            </a:pPr>
            <a:r>
              <a:rPr sz="1250" b="0" i="0">
                <a:solidFill>
                  <a:srgbClr val="3A4B54"/>
                </a:solidFill>
                <a:latin typeface="Segoe UI"/>
              </a:rPr>
              <a:t>The measurable effects or consequences: who or what is harmed, and how much.</a:t>
            </a:r>
          </a:p>
        </p:txBody>
      </p:sp>
      <p:sp>
        <p:nvSpPr>
          <p:cNvPr id="22" name="Rounded Rectangle 21"/>
          <p:cNvSpPr/>
          <p:nvPr/>
        </p:nvSpPr>
        <p:spPr>
          <a:xfrm>
            <a:off x="6190488" y="3909060"/>
            <a:ext cx="5440680" cy="1760219"/>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190488" y="3909060"/>
            <a:ext cx="5440680" cy="109728"/>
          </a:xfrm>
          <a:prstGeom prst="round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9944" y="4165092"/>
            <a:ext cx="5038344" cy="1357884"/>
          </a:xfrm>
          <a:prstGeom prst="rect">
            <a:avLst/>
          </a:prstGeom>
          <a:noFill/>
        </p:spPr>
        <p:txBody>
          <a:bodyPr wrap="square" anchor="ctr" lIns="0" rIns="0" tIns="0" bIns="0">
            <a:spAutoFit/>
          </a:bodyPr>
          <a:lstStyle/>
          <a:p>
            <a:pPr algn="l">
              <a:lnSpc>
                <a:spcPct val="98000"/>
              </a:lnSpc>
              <a:spcAft>
                <a:spcPts val="500"/>
              </a:spcAft>
            </a:pPr>
            <a:r>
              <a:rPr sz="1550" b="1" i="0">
                <a:solidFill>
                  <a:srgbClr val="438A5E"/>
                </a:solidFill>
                <a:latin typeface="Segoe UI"/>
              </a:rPr>
              <a:t>Significance  -  “Why does it matter now?”</a:t>
            </a:r>
          </a:p>
          <a:p>
            <a:pPr algn="l">
              <a:lnSpc>
                <a:spcPct val="102000"/>
              </a:lnSpc>
            </a:pPr>
            <a:r>
              <a:rPr sz="1250" b="0" i="0">
                <a:solidFill>
                  <a:srgbClr val="3A4B54"/>
                </a:solidFill>
                <a:latin typeface="Segoe UI"/>
              </a:rPr>
              <a:t>Why solving it matters to the people or institutions involved, and why it deserves attention now.</a:t>
            </a:r>
          </a:p>
        </p:txBody>
      </p:sp>
      <p:sp>
        <p:nvSpPr>
          <p:cNvPr id="25" name="Rounded Rectangle 24"/>
          <p:cNvSpPr/>
          <p:nvPr/>
        </p:nvSpPr>
        <p:spPr>
          <a:xfrm>
            <a:off x="566928" y="5806440"/>
            <a:ext cx="11064240" cy="566928"/>
          </a:xfrm>
          <a:prstGeom prst="roundRect">
            <a:avLst>
              <a:gd name="adj" fmla="val 12000"/>
            </a:avLst>
          </a:prstGeom>
          <a:solidFill>
            <a:srgbClr val="FAE5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66928" y="5806440"/>
            <a:ext cx="82296" cy="56692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806440"/>
            <a:ext cx="10607040" cy="566928"/>
          </a:xfrm>
          <a:prstGeom prst="rect">
            <a:avLst/>
          </a:prstGeom>
          <a:noFill/>
        </p:spPr>
        <p:txBody>
          <a:bodyPr wrap="square" anchor="ctr" lIns="0" rIns="0" tIns="0" bIns="0">
            <a:spAutoFit/>
          </a:bodyPr>
          <a:lstStyle/>
          <a:p>
            <a:pPr algn="l">
              <a:lnSpc>
                <a:spcPct val="102000"/>
              </a:lnSpc>
            </a:pPr>
            <a:r>
              <a:rPr sz="1300" b="0" i="1">
                <a:solidFill>
                  <a:srgbClr val="14252E"/>
                </a:solidFill>
                <a:latin typeface="Segoe UI"/>
              </a:rPr>
              <a:t>A strong problem statement usually touches all four - not necessarily in this order, and not always in four separate sentences.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76F5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76F51"/>
                </a:solidFill>
                <a:latin typeface="Segoe UI"/>
              </a:rPr>
              <a:t>PART 3 - THE PROBLEM STATEMENT</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GOIS Applied to Plastic Waste</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Annotated example</a:t>
            </a:r>
          </a:p>
        </p:txBody>
      </p:sp>
      <p:sp>
        <p:nvSpPr>
          <p:cNvPr id="8" name="Rectangle 7"/>
          <p:cNvSpPr/>
          <p:nvPr/>
        </p:nvSpPr>
        <p:spPr>
          <a:xfrm>
            <a:off x="576072" y="1572768"/>
            <a:ext cx="1554480" cy="502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19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2011680"/>
            <a:ext cx="11064240" cy="932688"/>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2011680"/>
            <a:ext cx="2148840" cy="932688"/>
          </a:xfrm>
          <a:prstGeom prst="roundRect">
            <a:avLst/>
          </a:prstGeom>
          <a:solidFill>
            <a:srgbClr val="C64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011680"/>
            <a:ext cx="2148840" cy="932688"/>
          </a:xfrm>
          <a:prstGeom prst="rect">
            <a:avLst/>
          </a:prstGeom>
          <a:noFill/>
        </p:spPr>
        <p:txBody>
          <a:bodyPr wrap="square" anchor="ctr" lIns="0" rIns="0" tIns="0" bIns="0">
            <a:spAutoFit/>
          </a:bodyPr>
          <a:lstStyle/>
          <a:p>
            <a:pPr algn="ctr"/>
            <a:r>
              <a:rPr sz="1600" b="1" i="0">
                <a:solidFill>
                  <a:srgbClr val="FFFFFF"/>
                </a:solidFill>
                <a:latin typeface="Segoe UI"/>
              </a:rPr>
              <a:t>Gap</a:t>
            </a:r>
          </a:p>
        </p:txBody>
      </p:sp>
      <p:sp>
        <p:nvSpPr>
          <p:cNvPr id="16" name="TextBox 15"/>
          <p:cNvSpPr txBox="1"/>
          <p:nvPr/>
        </p:nvSpPr>
        <p:spPr>
          <a:xfrm>
            <a:off x="2880360" y="2011680"/>
            <a:ext cx="8549640" cy="932688"/>
          </a:xfrm>
          <a:prstGeom prst="rect">
            <a:avLst/>
          </a:prstGeom>
          <a:noFill/>
        </p:spPr>
        <p:txBody>
          <a:bodyPr wrap="square" anchor="ctr" lIns="0" rIns="0" tIns="0" bIns="0">
            <a:spAutoFit/>
          </a:bodyPr>
          <a:lstStyle/>
          <a:p>
            <a:pPr algn="l">
              <a:lnSpc>
                <a:spcPct val="103000"/>
              </a:lnSpc>
            </a:pPr>
            <a:r>
              <a:rPr sz="1350" b="0" i="0">
                <a:solidFill>
                  <a:srgbClr val="14252E"/>
                </a:solidFill>
                <a:latin typeface="Segoe UI"/>
              </a:rPr>
              <a:t>Coastal barangay households continue to under-segregate plastic waste despite general awareness of the problem.</a:t>
            </a:r>
          </a:p>
        </p:txBody>
      </p:sp>
      <p:sp>
        <p:nvSpPr>
          <p:cNvPr id="17" name="Rounded Rectangle 16"/>
          <p:cNvSpPr/>
          <p:nvPr/>
        </p:nvSpPr>
        <p:spPr>
          <a:xfrm>
            <a:off x="566928" y="3035808"/>
            <a:ext cx="11064240" cy="932688"/>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6928" y="3035808"/>
            <a:ext cx="2148840" cy="932688"/>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035808"/>
            <a:ext cx="2148840" cy="932688"/>
          </a:xfrm>
          <a:prstGeom prst="rect">
            <a:avLst/>
          </a:prstGeom>
          <a:noFill/>
        </p:spPr>
        <p:txBody>
          <a:bodyPr wrap="square" anchor="ctr" lIns="0" rIns="0" tIns="0" bIns="0">
            <a:spAutoFit/>
          </a:bodyPr>
          <a:lstStyle/>
          <a:p>
            <a:pPr algn="ctr"/>
            <a:r>
              <a:rPr sz="1600" b="1" i="0">
                <a:solidFill>
                  <a:srgbClr val="FFFFFF"/>
                </a:solidFill>
                <a:latin typeface="Segoe UI"/>
              </a:rPr>
              <a:t>Orientation</a:t>
            </a:r>
          </a:p>
        </p:txBody>
      </p:sp>
      <p:sp>
        <p:nvSpPr>
          <p:cNvPr id="20" name="TextBox 19"/>
          <p:cNvSpPr txBox="1"/>
          <p:nvPr/>
        </p:nvSpPr>
        <p:spPr>
          <a:xfrm>
            <a:off x="2880360" y="3035808"/>
            <a:ext cx="8549640" cy="932688"/>
          </a:xfrm>
          <a:prstGeom prst="rect">
            <a:avLst/>
          </a:prstGeom>
          <a:noFill/>
        </p:spPr>
        <p:txBody>
          <a:bodyPr wrap="square" anchor="ctr" lIns="0" rIns="0" tIns="0" bIns="0">
            <a:spAutoFit/>
          </a:bodyPr>
          <a:lstStyle/>
          <a:p>
            <a:pPr algn="l">
              <a:lnSpc>
                <a:spcPct val="103000"/>
              </a:lnSpc>
            </a:pPr>
            <a:r>
              <a:rPr sz="1350" b="0" i="0">
                <a:solidFill>
                  <a:srgbClr val="14252E"/>
                </a:solidFill>
                <a:latin typeface="Segoe UI"/>
              </a:rPr>
              <a:t>This pattern has grown alongside rising population and consumption in the barangay, with recent waste audits showing increasing volumes even after a past one-time awareness campaign.</a:t>
            </a:r>
          </a:p>
        </p:txBody>
      </p:sp>
      <p:sp>
        <p:nvSpPr>
          <p:cNvPr id="21" name="Rounded Rectangle 20"/>
          <p:cNvSpPr/>
          <p:nvPr/>
        </p:nvSpPr>
        <p:spPr>
          <a:xfrm>
            <a:off x="566928" y="4059936"/>
            <a:ext cx="11064240" cy="932688"/>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66928" y="4059936"/>
            <a:ext cx="2148840" cy="93268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059936"/>
            <a:ext cx="2148840" cy="932688"/>
          </a:xfrm>
          <a:prstGeom prst="rect">
            <a:avLst/>
          </a:prstGeom>
          <a:noFill/>
        </p:spPr>
        <p:txBody>
          <a:bodyPr wrap="square" anchor="ctr" lIns="0" rIns="0" tIns="0" bIns="0">
            <a:spAutoFit/>
          </a:bodyPr>
          <a:lstStyle/>
          <a:p>
            <a:pPr algn="ctr"/>
            <a:r>
              <a:rPr sz="1600" b="1" i="0">
                <a:solidFill>
                  <a:srgbClr val="FFFFFF"/>
                </a:solidFill>
                <a:latin typeface="Segoe UI"/>
              </a:rPr>
              <a:t>Impact</a:t>
            </a:r>
          </a:p>
        </p:txBody>
      </p:sp>
      <p:sp>
        <p:nvSpPr>
          <p:cNvPr id="24" name="TextBox 23"/>
          <p:cNvSpPr txBox="1"/>
          <p:nvPr/>
        </p:nvSpPr>
        <p:spPr>
          <a:xfrm>
            <a:off x="2880360" y="4059936"/>
            <a:ext cx="8549640" cy="932688"/>
          </a:xfrm>
          <a:prstGeom prst="rect">
            <a:avLst/>
          </a:prstGeom>
          <a:noFill/>
        </p:spPr>
        <p:txBody>
          <a:bodyPr wrap="square" anchor="ctr" lIns="0" rIns="0" tIns="0" bIns="0">
            <a:spAutoFit/>
          </a:bodyPr>
          <a:lstStyle/>
          <a:p>
            <a:pPr algn="l">
              <a:lnSpc>
                <a:spcPct val="103000"/>
              </a:lnSpc>
            </a:pPr>
            <a:r>
              <a:rPr sz="1350" b="0" i="0">
                <a:solidFill>
                  <a:srgbClr val="14252E"/>
                </a:solidFill>
                <a:latin typeface="Segoe UI"/>
              </a:rPr>
              <a:t>Unsorted plastic contributes to clogged waterways, coastal pollution, and rising costs for local waste management.</a:t>
            </a:r>
          </a:p>
        </p:txBody>
      </p:sp>
      <p:sp>
        <p:nvSpPr>
          <p:cNvPr id="25" name="Rounded Rectangle 24"/>
          <p:cNvSpPr/>
          <p:nvPr/>
        </p:nvSpPr>
        <p:spPr>
          <a:xfrm>
            <a:off x="566928" y="5084064"/>
            <a:ext cx="11064240" cy="932688"/>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66928" y="5084064"/>
            <a:ext cx="2148840" cy="932688"/>
          </a:xfrm>
          <a:prstGeom prst="round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5084064"/>
            <a:ext cx="2148840" cy="932688"/>
          </a:xfrm>
          <a:prstGeom prst="rect">
            <a:avLst/>
          </a:prstGeom>
          <a:noFill/>
        </p:spPr>
        <p:txBody>
          <a:bodyPr wrap="square" anchor="ctr" lIns="0" rIns="0" tIns="0" bIns="0">
            <a:spAutoFit/>
          </a:bodyPr>
          <a:lstStyle/>
          <a:p>
            <a:pPr algn="ctr"/>
            <a:r>
              <a:rPr sz="1600" b="1" i="0">
                <a:solidFill>
                  <a:srgbClr val="FFFFFF"/>
                </a:solidFill>
                <a:latin typeface="Segoe UI"/>
              </a:rPr>
              <a:t>Significance</a:t>
            </a:r>
          </a:p>
        </p:txBody>
      </p:sp>
      <p:sp>
        <p:nvSpPr>
          <p:cNvPr id="28" name="TextBox 27"/>
          <p:cNvSpPr txBox="1"/>
          <p:nvPr/>
        </p:nvSpPr>
        <p:spPr>
          <a:xfrm>
            <a:off x="2880360" y="5084064"/>
            <a:ext cx="8549640" cy="932688"/>
          </a:xfrm>
          <a:prstGeom prst="rect">
            <a:avLst/>
          </a:prstGeom>
          <a:noFill/>
        </p:spPr>
        <p:txBody>
          <a:bodyPr wrap="square" anchor="ctr" lIns="0" rIns="0" tIns="0" bIns="0">
            <a:spAutoFit/>
          </a:bodyPr>
          <a:lstStyle/>
          <a:p>
            <a:pPr algn="l">
              <a:lnSpc>
                <a:spcPct val="103000"/>
              </a:lnSpc>
            </a:pPr>
            <a:r>
              <a:rPr sz="1350" b="0" i="0">
                <a:solidFill>
                  <a:srgbClr val="14252E"/>
                </a:solidFill>
                <a:latin typeface="Segoe UI"/>
              </a:rPr>
              <a:t>Understanding the household-level reasons behind this gap matters to barangay officials designing future waste-education programs, and to the coastal ecosystem the community depends 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76F5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76F51"/>
                </a:solidFill>
                <a:latin typeface="Segoe UI"/>
              </a:rPr>
              <a:t>PART 3 - THE PROBLEM STATEMENT</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Practice: Spot the Four Elements</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Activity</a:t>
            </a:r>
          </a:p>
        </p:txBody>
      </p:sp>
      <p:sp>
        <p:nvSpPr>
          <p:cNvPr id="8" name="Rectangle 7"/>
          <p:cNvSpPr/>
          <p:nvPr/>
        </p:nvSpPr>
        <p:spPr>
          <a:xfrm>
            <a:off x="576072" y="1572768"/>
            <a:ext cx="1554480" cy="502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20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2011680"/>
            <a:ext cx="11064240" cy="269748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2011680"/>
            <a:ext cx="100584" cy="269748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057400"/>
            <a:ext cx="548640" cy="640080"/>
          </a:xfrm>
          <a:prstGeom prst="rect">
            <a:avLst/>
          </a:prstGeom>
          <a:noFill/>
        </p:spPr>
        <p:txBody>
          <a:bodyPr wrap="square" anchor="t" lIns="0" rIns="0" tIns="0" bIns="0">
            <a:spAutoFit/>
          </a:bodyPr>
          <a:lstStyle/>
          <a:p>
            <a:pPr algn="l"/>
            <a:r>
              <a:rPr sz="4400" b="1" i="0">
                <a:solidFill>
                  <a:srgbClr val="EFA18D"/>
                </a:solidFill>
                <a:latin typeface="Segoe UI"/>
              </a:rPr>
              <a:t>“</a:t>
            </a:r>
          </a:p>
        </p:txBody>
      </p:sp>
      <p:sp>
        <p:nvSpPr>
          <p:cNvPr id="16" name="TextBox 15"/>
          <p:cNvSpPr txBox="1"/>
          <p:nvPr/>
        </p:nvSpPr>
        <p:spPr>
          <a:xfrm>
            <a:off x="950976" y="2578608"/>
            <a:ext cx="10378440" cy="1920240"/>
          </a:xfrm>
          <a:prstGeom prst="rect">
            <a:avLst/>
          </a:prstGeom>
          <a:noFill/>
        </p:spPr>
        <p:txBody>
          <a:bodyPr wrap="square" anchor="t" lIns="0" rIns="0" tIns="0" bIns="0">
            <a:spAutoFit/>
          </a:bodyPr>
          <a:lstStyle/>
          <a:p>
            <a:pPr algn="l">
              <a:lnSpc>
                <a:spcPct val="114000"/>
              </a:lnSpc>
            </a:pPr>
            <a:r>
              <a:rPr sz="1500" b="0" i="1">
                <a:solidFill>
                  <a:srgbClr val="14252E"/>
                </a:solidFill>
                <a:latin typeface="Segoe UI"/>
              </a:rPr>
              <a:t>E-waste from discarded electronics has risen sharply in Philippine cities over the past five years as device turnover has accelerated. Improperly discarded devices leak heavy metals into soil and water, posing health risks to nearby residents and waste workers. Few local ordinances currently regulate household e-waste disposal, leaving local governments without clear tools to address a growing public health concern.</a:t>
            </a:r>
          </a:p>
        </p:txBody>
      </p:sp>
      <p:sp>
        <p:nvSpPr>
          <p:cNvPr id="17" name="Rounded Rectangle 16"/>
          <p:cNvSpPr/>
          <p:nvPr/>
        </p:nvSpPr>
        <p:spPr>
          <a:xfrm>
            <a:off x="566928" y="4937760"/>
            <a:ext cx="11064240" cy="1005840"/>
          </a:xfrm>
          <a:prstGeom prst="roundRect">
            <a:avLst>
              <a:gd name="adj" fmla="val 12000"/>
            </a:avLst>
          </a:prstGeom>
          <a:solidFill>
            <a:srgbClr val="FAE5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6928" y="4937760"/>
            <a:ext cx="82296" cy="100584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937760"/>
            <a:ext cx="10607040" cy="1005840"/>
          </a:xfrm>
          <a:prstGeom prst="rect">
            <a:avLst/>
          </a:prstGeom>
          <a:noFill/>
        </p:spPr>
        <p:txBody>
          <a:bodyPr wrap="square" anchor="ctr" lIns="0" rIns="0" tIns="0" bIns="0">
            <a:spAutoFit/>
          </a:bodyPr>
          <a:lstStyle/>
          <a:p>
            <a:pPr algn="l">
              <a:lnSpc>
                <a:spcPct val="102000"/>
              </a:lnSpc>
            </a:pPr>
            <a:r>
              <a:rPr sz="1500" b="0" i="0">
                <a:solidFill>
                  <a:srgbClr val="14252E"/>
                </a:solidFill>
                <a:latin typeface="Segoe UI"/>
              </a:rPr>
              <a:t>In pairs, label which sentence(s) reflect Gap, Orientation, Impact, and Significance.</a:t>
            </a:r>
          </a:p>
        </p:txBody>
      </p:sp>
      <p:sp>
        <p:nvSpPr>
          <p:cNvPr id="20" name="Rounded Rectangle 19"/>
          <p:cNvSpPr/>
          <p:nvPr/>
        </p:nvSpPr>
        <p:spPr>
          <a:xfrm>
            <a:off x="2743200" y="5440680"/>
            <a:ext cx="1600200" cy="384048"/>
          </a:xfrm>
          <a:prstGeom prst="roundRect">
            <a:avLst/>
          </a:prstGeom>
          <a:solidFill>
            <a:srgbClr val="C64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0" y="5431536"/>
            <a:ext cx="1600200" cy="384048"/>
          </a:xfrm>
          <a:prstGeom prst="rect">
            <a:avLst/>
          </a:prstGeom>
          <a:noFill/>
        </p:spPr>
        <p:txBody>
          <a:bodyPr wrap="square" anchor="ctr" lIns="0" rIns="0" tIns="0" bIns="0">
            <a:spAutoFit/>
          </a:bodyPr>
          <a:lstStyle/>
          <a:p>
            <a:pPr algn="ctr"/>
            <a:r>
              <a:rPr sz="1200" b="1" i="0">
                <a:solidFill>
                  <a:srgbClr val="FFFFFF"/>
                </a:solidFill>
                <a:latin typeface="Segoe UI"/>
              </a:rPr>
              <a:t>Gap</a:t>
            </a:r>
          </a:p>
        </p:txBody>
      </p:sp>
      <p:sp>
        <p:nvSpPr>
          <p:cNvPr id="22" name="Rounded Rectangle 21"/>
          <p:cNvSpPr/>
          <p:nvPr/>
        </p:nvSpPr>
        <p:spPr>
          <a:xfrm>
            <a:off x="4480560" y="5440680"/>
            <a:ext cx="1600200" cy="384048"/>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0560" y="5431536"/>
            <a:ext cx="1600200" cy="384048"/>
          </a:xfrm>
          <a:prstGeom prst="rect">
            <a:avLst/>
          </a:prstGeom>
          <a:noFill/>
        </p:spPr>
        <p:txBody>
          <a:bodyPr wrap="square" anchor="ctr" lIns="0" rIns="0" tIns="0" bIns="0">
            <a:spAutoFit/>
          </a:bodyPr>
          <a:lstStyle/>
          <a:p>
            <a:pPr algn="ctr"/>
            <a:r>
              <a:rPr sz="1200" b="1" i="0">
                <a:solidFill>
                  <a:srgbClr val="FFFFFF"/>
                </a:solidFill>
                <a:latin typeface="Segoe UI"/>
              </a:rPr>
              <a:t>Orientation</a:t>
            </a:r>
          </a:p>
        </p:txBody>
      </p:sp>
      <p:sp>
        <p:nvSpPr>
          <p:cNvPr id="24" name="Rounded Rectangle 23"/>
          <p:cNvSpPr/>
          <p:nvPr/>
        </p:nvSpPr>
        <p:spPr>
          <a:xfrm>
            <a:off x="6217920" y="5440680"/>
            <a:ext cx="1600200" cy="38404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0" y="5431536"/>
            <a:ext cx="1600200" cy="384048"/>
          </a:xfrm>
          <a:prstGeom prst="rect">
            <a:avLst/>
          </a:prstGeom>
          <a:noFill/>
        </p:spPr>
        <p:txBody>
          <a:bodyPr wrap="square" anchor="ctr" lIns="0" rIns="0" tIns="0" bIns="0">
            <a:spAutoFit/>
          </a:bodyPr>
          <a:lstStyle/>
          <a:p>
            <a:pPr algn="ctr"/>
            <a:r>
              <a:rPr sz="1200" b="1" i="0">
                <a:solidFill>
                  <a:srgbClr val="FFFFFF"/>
                </a:solidFill>
                <a:latin typeface="Segoe UI"/>
              </a:rPr>
              <a:t>Impact</a:t>
            </a:r>
          </a:p>
        </p:txBody>
      </p:sp>
      <p:sp>
        <p:nvSpPr>
          <p:cNvPr id="26" name="Rounded Rectangle 25"/>
          <p:cNvSpPr/>
          <p:nvPr/>
        </p:nvSpPr>
        <p:spPr>
          <a:xfrm>
            <a:off x="7955280" y="5440680"/>
            <a:ext cx="1600200" cy="384048"/>
          </a:xfrm>
          <a:prstGeom prst="round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80" y="5431536"/>
            <a:ext cx="1600200" cy="384048"/>
          </a:xfrm>
          <a:prstGeom prst="rect">
            <a:avLst/>
          </a:prstGeom>
          <a:noFill/>
        </p:spPr>
        <p:txBody>
          <a:bodyPr wrap="square" anchor="ctr" lIns="0" rIns="0" tIns="0" bIns="0">
            <a:spAutoFit/>
          </a:bodyPr>
          <a:lstStyle/>
          <a:p>
            <a:pPr algn="ctr"/>
            <a:r>
              <a:rPr sz="1200" b="1" i="0">
                <a:solidFill>
                  <a:srgbClr val="FFFFFF"/>
                </a:solidFill>
                <a:latin typeface="Segoe UI"/>
              </a:rPr>
              <a:t>Significance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76F5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76F51"/>
                </a:solidFill>
                <a:latin typeface="Segoe UI"/>
              </a:rPr>
              <a:t>PART 3 - THE PROBLEM STATEMENT</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Providing Context Without Overload</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Orientation - two failure modes</a:t>
            </a:r>
          </a:p>
        </p:txBody>
      </p:sp>
      <p:sp>
        <p:nvSpPr>
          <p:cNvPr id="8" name="Rectangle 7"/>
          <p:cNvSpPr/>
          <p:nvPr/>
        </p:nvSpPr>
        <p:spPr>
          <a:xfrm>
            <a:off x="576072" y="1572768"/>
            <a:ext cx="1554480" cy="502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074859" y="420624"/>
            <a:ext cx="1568196" cy="310896"/>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74859" y="420624"/>
            <a:ext cx="1568196" cy="310896"/>
          </a:xfrm>
          <a:prstGeom prst="rect">
            <a:avLst/>
          </a:prstGeom>
          <a:noFill/>
        </p:spPr>
        <p:txBody>
          <a:bodyPr wrap="square" anchor="ctr" lIns="0" rIns="0" tIns="0" bIns="0">
            <a:spAutoFit/>
          </a:bodyPr>
          <a:lstStyle/>
          <a:p>
            <a:pPr algn="ctr"/>
            <a:r>
              <a:rPr sz="1050" b="1" i="0">
                <a:solidFill>
                  <a:srgbClr val="FFFFFF"/>
                </a:solidFill>
                <a:latin typeface="Segoe UI"/>
              </a:rPr>
              <a:t>GUIDE-BASED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21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1965960"/>
            <a:ext cx="5440680" cy="1371600"/>
          </a:xfrm>
          <a:prstGeom prst="roundRect">
            <a:avLst>
              <a:gd name="adj" fmla="val 8000"/>
            </a:avLst>
          </a:prstGeom>
          <a:solidFill>
            <a:srgbClr val="FBE9E4"/>
          </a:solidFill>
          <a:ln w="12700">
            <a:solidFill>
              <a:srgbClr val="F3B7A8"/>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084831"/>
            <a:ext cx="4937760" cy="1143000"/>
          </a:xfrm>
          <a:prstGeom prst="rect">
            <a:avLst/>
          </a:prstGeom>
          <a:noFill/>
        </p:spPr>
        <p:txBody>
          <a:bodyPr wrap="square" anchor="ctr" lIns="0" rIns="0" tIns="0" bIns="0">
            <a:spAutoFit/>
          </a:bodyPr>
          <a:lstStyle/>
          <a:p>
            <a:pPr algn="l">
              <a:spcAft>
                <a:spcPts val="300"/>
              </a:spcAft>
            </a:pPr>
            <a:r>
              <a:rPr sz="1450" b="1" i="0">
                <a:solidFill>
                  <a:srgbClr val="E76F51"/>
                </a:solidFill>
                <a:latin typeface="Segoe UI"/>
              </a:rPr>
              <a:t>Too little context</a:t>
            </a:r>
          </a:p>
          <a:p>
            <a:pPr algn="l">
              <a:lnSpc>
                <a:spcPct val="102000"/>
              </a:lnSpc>
            </a:pPr>
            <a:r>
              <a:rPr sz="1300" b="0" i="0">
                <a:solidFill>
                  <a:srgbClr val="14252E"/>
                </a:solidFill>
                <a:latin typeface="Segoe UI"/>
              </a:rPr>
              <a:t>Reader doesn't understand why the problem matters.</a:t>
            </a:r>
          </a:p>
        </p:txBody>
      </p:sp>
      <p:sp>
        <p:nvSpPr>
          <p:cNvPr id="15" name="Rounded Rectangle 14"/>
          <p:cNvSpPr/>
          <p:nvPr/>
        </p:nvSpPr>
        <p:spPr>
          <a:xfrm>
            <a:off x="6190488" y="1965960"/>
            <a:ext cx="5440680" cy="1371600"/>
          </a:xfrm>
          <a:prstGeom prst="roundRect">
            <a:avLst>
              <a:gd name="adj" fmla="val 8000"/>
            </a:avLst>
          </a:prstGeom>
          <a:solidFill>
            <a:srgbClr val="FBE9E4"/>
          </a:solidFill>
          <a:ln w="12700">
            <a:solidFill>
              <a:srgbClr val="F3B7A8"/>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084831"/>
            <a:ext cx="4937760" cy="1143000"/>
          </a:xfrm>
          <a:prstGeom prst="rect">
            <a:avLst/>
          </a:prstGeom>
          <a:noFill/>
        </p:spPr>
        <p:txBody>
          <a:bodyPr wrap="square" anchor="ctr" lIns="0" rIns="0" tIns="0" bIns="0">
            <a:spAutoFit/>
          </a:bodyPr>
          <a:lstStyle/>
          <a:p>
            <a:pPr algn="l">
              <a:spcAft>
                <a:spcPts val="300"/>
              </a:spcAft>
            </a:pPr>
            <a:r>
              <a:rPr sz="1450" b="1" i="0">
                <a:solidFill>
                  <a:srgbClr val="E76F51"/>
                </a:solidFill>
                <a:latin typeface="Segoe UI"/>
              </a:rPr>
              <a:t>Too much context</a:t>
            </a:r>
          </a:p>
          <a:p>
            <a:pPr algn="l">
              <a:lnSpc>
                <a:spcPct val="102000"/>
              </a:lnSpc>
            </a:pPr>
            <a:r>
              <a:rPr sz="1300" b="0" i="0">
                <a:solidFill>
                  <a:srgbClr val="14252E"/>
                </a:solidFill>
                <a:latin typeface="Segoe UI"/>
              </a:rPr>
              <a:t>Reader loses the actual problem in unrelated background.</a:t>
            </a:r>
          </a:p>
        </p:txBody>
      </p:sp>
      <p:sp>
        <p:nvSpPr>
          <p:cNvPr id="17" name="Rounded Rectangle 16"/>
          <p:cNvSpPr/>
          <p:nvPr/>
        </p:nvSpPr>
        <p:spPr>
          <a:xfrm>
            <a:off x="566928" y="3520440"/>
            <a:ext cx="11064240" cy="566928"/>
          </a:xfrm>
          <a:prstGeom prst="roundRect">
            <a:avLst>
              <a:gd name="adj" fmla="val 12000"/>
            </a:avLst>
          </a:prstGeom>
          <a:solidFill>
            <a:srgbClr val="FAE5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6928" y="3520440"/>
            <a:ext cx="82296" cy="56692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520440"/>
            <a:ext cx="10607040" cy="566928"/>
          </a:xfrm>
          <a:prstGeom prst="rect">
            <a:avLst/>
          </a:prstGeom>
          <a:noFill/>
        </p:spPr>
        <p:txBody>
          <a:bodyPr wrap="square" anchor="ctr" lIns="0" rIns="0" tIns="0" bIns="0">
            <a:spAutoFit/>
          </a:bodyPr>
          <a:lstStyle/>
          <a:p>
            <a:pPr algn="l">
              <a:lnSpc>
                <a:spcPct val="102000"/>
              </a:lnSpc>
            </a:pPr>
            <a:r>
              <a:rPr sz="1350" b="0" i="1">
                <a:solidFill>
                  <a:srgbClr val="14252E"/>
                </a:solidFill>
                <a:latin typeface="Segoe UI"/>
              </a:rPr>
              <a:t>Ask: Does this detail help explain why the problem exists - or is it just extra information?</a:t>
            </a:r>
          </a:p>
        </p:txBody>
      </p:sp>
      <p:sp>
        <p:nvSpPr>
          <p:cNvPr id="20" name="Rounded Rectangle 19"/>
          <p:cNvSpPr/>
          <p:nvPr/>
        </p:nvSpPr>
        <p:spPr>
          <a:xfrm>
            <a:off x="566928" y="4251960"/>
            <a:ext cx="5440680" cy="160020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66928" y="4251960"/>
            <a:ext cx="5440680" cy="411480"/>
          </a:xfrm>
          <a:prstGeom prst="roundRect">
            <a:avLst/>
          </a:prstGeom>
          <a:solidFill>
            <a:srgbClr val="C64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251960"/>
            <a:ext cx="5440680" cy="411480"/>
          </a:xfrm>
          <a:prstGeom prst="rect">
            <a:avLst/>
          </a:prstGeom>
          <a:noFill/>
        </p:spPr>
        <p:txBody>
          <a:bodyPr wrap="square" anchor="ctr" lIns="0" rIns="0" tIns="0" bIns="0">
            <a:spAutoFit/>
          </a:bodyPr>
          <a:lstStyle/>
          <a:p>
            <a:pPr algn="ctr"/>
            <a:r>
              <a:rPr sz="1300" b="1" i="0">
                <a:solidFill>
                  <a:srgbClr val="FFFFFF"/>
                </a:solidFill>
                <a:latin typeface="Segoe UI"/>
              </a:rPr>
              <a:t>Too broad</a:t>
            </a:r>
          </a:p>
        </p:txBody>
      </p:sp>
      <p:sp>
        <p:nvSpPr>
          <p:cNvPr id="23" name="TextBox 22"/>
          <p:cNvSpPr txBox="1"/>
          <p:nvPr/>
        </p:nvSpPr>
        <p:spPr>
          <a:xfrm>
            <a:off x="822960" y="4754880"/>
            <a:ext cx="4937760" cy="1005840"/>
          </a:xfrm>
          <a:prstGeom prst="rect">
            <a:avLst/>
          </a:prstGeom>
          <a:noFill/>
        </p:spPr>
        <p:txBody>
          <a:bodyPr wrap="square" anchor="ctr" lIns="0" rIns="0" tIns="0" bIns="0">
            <a:spAutoFit/>
          </a:bodyPr>
          <a:lstStyle/>
          <a:p>
            <a:pPr algn="l">
              <a:lnSpc>
                <a:spcPct val="105000"/>
              </a:lnSpc>
            </a:pPr>
            <a:r>
              <a:rPr sz="1300" b="0" i="1">
                <a:solidFill>
                  <a:srgbClr val="14252E"/>
                </a:solidFill>
                <a:latin typeface="Segoe UI"/>
              </a:rPr>
              <a:t>“Low engagement is caused by technology access, family support, and curriculum design.”</a:t>
            </a:r>
          </a:p>
        </p:txBody>
      </p:sp>
      <p:sp>
        <p:nvSpPr>
          <p:cNvPr id="24" name="Rounded Rectangle 23"/>
          <p:cNvSpPr/>
          <p:nvPr/>
        </p:nvSpPr>
        <p:spPr>
          <a:xfrm>
            <a:off x="6190488" y="4251960"/>
            <a:ext cx="5440680" cy="160020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90488" y="4251960"/>
            <a:ext cx="5440680" cy="411480"/>
          </a:xfrm>
          <a:prstGeom prst="round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90488" y="4251960"/>
            <a:ext cx="5440680" cy="411480"/>
          </a:xfrm>
          <a:prstGeom prst="rect">
            <a:avLst/>
          </a:prstGeom>
          <a:noFill/>
        </p:spPr>
        <p:txBody>
          <a:bodyPr wrap="square" anchor="ctr" lIns="0" rIns="0" tIns="0" bIns="0">
            <a:spAutoFit/>
          </a:bodyPr>
          <a:lstStyle/>
          <a:p>
            <a:pPr algn="ctr"/>
            <a:r>
              <a:rPr sz="1300" b="1" i="0">
                <a:solidFill>
                  <a:srgbClr val="FFFFFF"/>
                </a:solidFill>
                <a:latin typeface="Segoe UI"/>
              </a:rPr>
              <a:t>Narrowed</a:t>
            </a:r>
          </a:p>
        </p:txBody>
      </p:sp>
      <p:sp>
        <p:nvSpPr>
          <p:cNvPr id="27" name="TextBox 26"/>
          <p:cNvSpPr txBox="1"/>
          <p:nvPr/>
        </p:nvSpPr>
        <p:spPr>
          <a:xfrm>
            <a:off x="6446520" y="4754880"/>
            <a:ext cx="4937760" cy="1005840"/>
          </a:xfrm>
          <a:prstGeom prst="rect">
            <a:avLst/>
          </a:prstGeom>
          <a:noFill/>
        </p:spPr>
        <p:txBody>
          <a:bodyPr wrap="square" anchor="ctr" lIns="0" rIns="0" tIns="0" bIns="0">
            <a:spAutoFit/>
          </a:bodyPr>
          <a:lstStyle/>
          <a:p>
            <a:pPr algn="l">
              <a:lnSpc>
                <a:spcPct val="102000"/>
              </a:lnSpc>
            </a:pPr>
            <a:r>
              <a:rPr sz="1250" b="0" i="1">
                <a:solidFill>
                  <a:srgbClr val="14252E"/>
                </a:solidFill>
                <a:latin typeface="Segoe UI"/>
              </a:rPr>
              <a:t>Focus on just one contributing factor - e.g., how a lack of interactive activities in the curriculum affects student engagement in a specific grade level and subject.</a:t>
            </a:r>
          </a:p>
        </p:txBody>
      </p:sp>
      <p:sp>
        <p:nvSpPr>
          <p:cNvPr id="28" name="Right Arrow 27"/>
          <p:cNvSpPr/>
          <p:nvPr/>
        </p:nvSpPr>
        <p:spPr>
          <a:xfrm>
            <a:off x="5852160" y="4800600"/>
            <a:ext cx="457200" cy="502920"/>
          </a:xfrm>
          <a:prstGeom prst="rightArrow">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76F5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76F51"/>
                </a:solidFill>
                <a:latin typeface="Segoe UI"/>
              </a:rPr>
              <a:t>PART 3 - THE PROBLEM STATEMENT</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Practice: Narrow an Overly Broad Scope</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Activity  -  dengue thread begins</a:t>
            </a:r>
          </a:p>
        </p:txBody>
      </p:sp>
      <p:sp>
        <p:nvSpPr>
          <p:cNvPr id="8" name="Rectangle 7"/>
          <p:cNvSpPr/>
          <p:nvPr/>
        </p:nvSpPr>
        <p:spPr>
          <a:xfrm>
            <a:off x="576072" y="1572768"/>
            <a:ext cx="1554480" cy="502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22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1371600" y="2194560"/>
            <a:ext cx="9418320" cy="118872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371600" y="2194560"/>
            <a:ext cx="100584" cy="1188720"/>
          </a:xfrm>
          <a:prstGeom prst="roundRect">
            <a:avLst/>
          </a:prstGeom>
          <a:solidFill>
            <a:srgbClr val="C64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91640" y="2194560"/>
            <a:ext cx="8869680" cy="1188720"/>
          </a:xfrm>
          <a:prstGeom prst="rect">
            <a:avLst/>
          </a:prstGeom>
          <a:noFill/>
        </p:spPr>
        <p:txBody>
          <a:bodyPr wrap="square" anchor="ctr" lIns="0" rIns="0" tIns="0" bIns="0">
            <a:spAutoFit/>
          </a:bodyPr>
          <a:lstStyle/>
          <a:p>
            <a:pPr algn="l">
              <a:spcAft>
                <a:spcPts val="400"/>
              </a:spcAft>
            </a:pPr>
            <a:r>
              <a:rPr sz="1250" b="1" i="0">
                <a:solidFill>
                  <a:srgbClr val="C64A3F"/>
                </a:solidFill>
                <a:latin typeface="Segoe UI"/>
              </a:rPr>
              <a:t>Broad starting point</a:t>
            </a:r>
          </a:p>
          <a:p>
            <a:pPr algn="l">
              <a:lnSpc>
                <a:spcPct val="105000"/>
              </a:lnSpc>
            </a:pPr>
            <a:r>
              <a:rPr sz="1700" b="0" i="1">
                <a:solidFill>
                  <a:srgbClr val="14252E"/>
                </a:solidFill>
                <a:latin typeface="Segoe UI"/>
              </a:rPr>
              <a:t>“Dengue cases keep increasing in our city, and something needs to be done.”</a:t>
            </a:r>
          </a:p>
        </p:txBody>
      </p:sp>
      <p:sp>
        <p:nvSpPr>
          <p:cNvPr id="16" name="Rounded Rectangle 15"/>
          <p:cNvSpPr/>
          <p:nvPr/>
        </p:nvSpPr>
        <p:spPr>
          <a:xfrm>
            <a:off x="1691640" y="3749039"/>
            <a:ext cx="2743200" cy="502920"/>
          </a:xfrm>
          <a:prstGeom prst="roundRect">
            <a:avLst/>
          </a:prstGeom>
          <a:solidFill>
            <a:srgbClr val="EA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91640" y="3739896"/>
            <a:ext cx="2743200" cy="502920"/>
          </a:xfrm>
          <a:prstGeom prst="rect">
            <a:avLst/>
          </a:prstGeom>
          <a:noFill/>
        </p:spPr>
        <p:txBody>
          <a:bodyPr wrap="square" anchor="ctr" lIns="0" rIns="0" tIns="0" bIns="0">
            <a:spAutoFit/>
          </a:bodyPr>
          <a:lstStyle/>
          <a:p>
            <a:pPr algn="ctr"/>
            <a:r>
              <a:rPr sz="1350" b="1" i="0">
                <a:solidFill>
                  <a:srgbClr val="FFFFFF"/>
                </a:solidFill>
                <a:latin typeface="Segoe UI"/>
              </a:rPr>
              <a:t>one contributing factor</a:t>
            </a:r>
          </a:p>
        </p:txBody>
      </p:sp>
      <p:sp>
        <p:nvSpPr>
          <p:cNvPr id="18" name="Right Arrow 17"/>
          <p:cNvSpPr/>
          <p:nvPr/>
        </p:nvSpPr>
        <p:spPr>
          <a:xfrm>
            <a:off x="4480560" y="3794760"/>
            <a:ext cx="274320" cy="384048"/>
          </a:xfrm>
          <a:prstGeom prst="rightArrow">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800600" y="3749039"/>
            <a:ext cx="2743200" cy="502920"/>
          </a:xfrm>
          <a:prstGeom prst="roundRect">
            <a:avLst/>
          </a:prstGeom>
          <a:solidFill>
            <a:srgbClr val="4A8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3739896"/>
            <a:ext cx="2743200" cy="502920"/>
          </a:xfrm>
          <a:prstGeom prst="rect">
            <a:avLst/>
          </a:prstGeom>
          <a:noFill/>
        </p:spPr>
        <p:txBody>
          <a:bodyPr wrap="square" anchor="ctr" lIns="0" rIns="0" tIns="0" bIns="0">
            <a:spAutoFit/>
          </a:bodyPr>
          <a:lstStyle/>
          <a:p>
            <a:pPr algn="ctr"/>
            <a:r>
              <a:rPr sz="1350" b="1" i="0">
                <a:solidFill>
                  <a:srgbClr val="FFFFFF"/>
                </a:solidFill>
                <a:latin typeface="Segoe UI"/>
              </a:rPr>
              <a:t>one population</a:t>
            </a:r>
          </a:p>
        </p:txBody>
      </p:sp>
      <p:sp>
        <p:nvSpPr>
          <p:cNvPr id="21" name="Right Arrow 20"/>
          <p:cNvSpPr/>
          <p:nvPr/>
        </p:nvSpPr>
        <p:spPr>
          <a:xfrm>
            <a:off x="7589520" y="3794760"/>
            <a:ext cx="274320" cy="384048"/>
          </a:xfrm>
          <a:prstGeom prst="rightArrow">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909560" y="3749039"/>
            <a:ext cx="2743200" cy="502920"/>
          </a:xfrm>
          <a:prstGeom prst="roundRect">
            <a:avLst/>
          </a:prstGeom>
          <a:solidFill>
            <a:srgbClr val="49AB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9560" y="3739896"/>
            <a:ext cx="2743200" cy="502920"/>
          </a:xfrm>
          <a:prstGeom prst="rect">
            <a:avLst/>
          </a:prstGeom>
          <a:noFill/>
        </p:spPr>
        <p:txBody>
          <a:bodyPr wrap="square" anchor="ctr" lIns="0" rIns="0" tIns="0" bIns="0">
            <a:spAutoFit/>
          </a:bodyPr>
          <a:lstStyle/>
          <a:p>
            <a:pPr algn="ctr"/>
            <a:r>
              <a:rPr sz="1350" b="1" i="0">
                <a:solidFill>
                  <a:srgbClr val="FFFFFF"/>
                </a:solidFill>
                <a:latin typeface="Segoe UI"/>
              </a:rPr>
              <a:t>one setting</a:t>
            </a:r>
          </a:p>
        </p:txBody>
      </p:sp>
      <p:sp>
        <p:nvSpPr>
          <p:cNvPr id="24" name="Rounded Rectangle 23"/>
          <p:cNvSpPr/>
          <p:nvPr/>
        </p:nvSpPr>
        <p:spPr>
          <a:xfrm>
            <a:off x="566928" y="4572000"/>
            <a:ext cx="11064240" cy="658368"/>
          </a:xfrm>
          <a:prstGeom prst="roundRect">
            <a:avLst>
              <a:gd name="adj" fmla="val 12000"/>
            </a:avLst>
          </a:prstGeom>
          <a:solidFill>
            <a:srgbClr val="FAE5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66928" y="4572000"/>
            <a:ext cx="82296" cy="65836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572000"/>
            <a:ext cx="10607040" cy="658368"/>
          </a:xfrm>
          <a:prstGeom prst="rect">
            <a:avLst/>
          </a:prstGeom>
          <a:noFill/>
        </p:spPr>
        <p:txBody>
          <a:bodyPr wrap="square" anchor="ctr" lIns="0" rIns="0" tIns="0" bIns="0">
            <a:spAutoFit/>
          </a:bodyPr>
          <a:lstStyle/>
          <a:p>
            <a:pPr algn="l">
              <a:lnSpc>
                <a:spcPct val="102000"/>
              </a:lnSpc>
            </a:pPr>
            <a:r>
              <a:rPr sz="1400" b="0" i="0">
                <a:solidFill>
                  <a:srgbClr val="14252E"/>
                </a:solidFill>
                <a:latin typeface="Segoe UI"/>
              </a:rPr>
              <a:t>In pairs, narrow this to ONE specific contributing factor, population, and setting - following the model from Slide 21.</a:t>
            </a:r>
          </a:p>
        </p:txBody>
      </p:sp>
      <p:sp>
        <p:nvSpPr>
          <p:cNvPr id="27" name="Rounded Rectangle 26"/>
          <p:cNvSpPr/>
          <p:nvPr/>
        </p:nvSpPr>
        <p:spPr>
          <a:xfrm>
            <a:off x="566928" y="5440680"/>
            <a:ext cx="11064240" cy="640080"/>
          </a:xfrm>
          <a:prstGeom prst="roundRect">
            <a:avLst>
              <a:gd name="adj" fmla="val 12000"/>
            </a:avLst>
          </a:prstGeom>
          <a:solidFill>
            <a:srgbClr val="FAE5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66928" y="5440680"/>
            <a:ext cx="82296" cy="64008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440680"/>
            <a:ext cx="10607040" cy="640080"/>
          </a:xfrm>
          <a:prstGeom prst="rect">
            <a:avLst/>
          </a:prstGeom>
          <a:noFill/>
        </p:spPr>
        <p:txBody>
          <a:bodyPr wrap="square" anchor="ctr" lIns="0" rIns="0" tIns="0" bIns="0">
            <a:spAutoFit/>
          </a:bodyPr>
          <a:lstStyle/>
          <a:p>
            <a:pPr algn="l">
              <a:lnSpc>
                <a:spcPct val="102000"/>
              </a:lnSpc>
            </a:pPr>
            <a:r>
              <a:rPr sz="1400" b="0" i="1">
                <a:solidFill>
                  <a:srgbClr val="14252E"/>
                </a:solidFill>
                <a:latin typeface="Segoe UI"/>
              </a:rPr>
              <a:t>Keep your narrowed version - you'll build on it for the next several slides.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76F5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76F51"/>
                </a:solidFill>
                <a:latin typeface="Segoe UI"/>
              </a:rPr>
              <a:t>PART 3 - THE PROBLEM STATEMENT</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Symptoms vs. Root Cause</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Concept map</a:t>
            </a:r>
          </a:p>
        </p:txBody>
      </p:sp>
      <p:sp>
        <p:nvSpPr>
          <p:cNvPr id="8" name="Rectangle 7"/>
          <p:cNvSpPr/>
          <p:nvPr/>
        </p:nvSpPr>
        <p:spPr>
          <a:xfrm>
            <a:off x="576072" y="1572768"/>
            <a:ext cx="1554480" cy="502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074859" y="420624"/>
            <a:ext cx="1568196" cy="310896"/>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74859" y="420624"/>
            <a:ext cx="1568196" cy="310896"/>
          </a:xfrm>
          <a:prstGeom prst="rect">
            <a:avLst/>
          </a:prstGeom>
          <a:noFill/>
        </p:spPr>
        <p:txBody>
          <a:bodyPr wrap="square" anchor="ctr" lIns="0" rIns="0" tIns="0" bIns="0">
            <a:spAutoFit/>
          </a:bodyPr>
          <a:lstStyle/>
          <a:p>
            <a:pPr algn="ctr"/>
            <a:r>
              <a:rPr sz="1050" b="1" i="0">
                <a:solidFill>
                  <a:srgbClr val="FFFFFF"/>
                </a:solidFill>
                <a:latin typeface="Segoe UI"/>
              </a:rPr>
              <a:t>GUIDE-BASED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23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ectangle 12"/>
          <p:cNvSpPr/>
          <p:nvPr/>
        </p:nvSpPr>
        <p:spPr>
          <a:xfrm>
            <a:off x="7178040" y="3657600"/>
            <a:ext cx="4572000" cy="45720"/>
          </a:xfrm>
          <a:prstGeom prst="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7406640" y="2194560"/>
            <a:ext cx="2743200" cy="1417320"/>
          </a:xfrm>
          <a:prstGeom prst="triangle">
            <a:avLst/>
          </a:prstGeom>
          <a:solidFill>
            <a:srgbClr val="5589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6675120" y="3703320"/>
            <a:ext cx="4206240" cy="2194560"/>
          </a:xfrm>
          <a:prstGeom prst="triangle">
            <a:avLst/>
          </a:prstGeom>
          <a:solidFill>
            <a:srgbClr val="0C3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514600"/>
            <a:ext cx="2743200" cy="822960"/>
          </a:xfrm>
          <a:prstGeom prst="rect">
            <a:avLst/>
          </a:prstGeom>
          <a:noFill/>
        </p:spPr>
        <p:txBody>
          <a:bodyPr wrap="square" anchor="t" lIns="0" rIns="0" tIns="0" bIns="0">
            <a:spAutoFit/>
          </a:bodyPr>
          <a:lstStyle/>
          <a:p>
            <a:pPr algn="ctr">
              <a:spcAft>
                <a:spcPts val="200"/>
              </a:spcAft>
            </a:pPr>
            <a:r>
              <a:rPr sz="1400" b="1" i="0">
                <a:solidFill>
                  <a:srgbClr val="0C3B47"/>
                </a:solidFill>
                <a:latin typeface="Segoe UI"/>
              </a:rPr>
              <a:t>Symptoms</a:t>
            </a:r>
          </a:p>
          <a:p>
            <a:pPr algn="ctr"/>
            <a:r>
              <a:rPr sz="1000" b="0" i="0">
                <a:solidFill>
                  <a:srgbClr val="3A4B54"/>
                </a:solidFill>
                <a:latin typeface="Segoe UI"/>
              </a:rPr>
              <a:t>visible above</a:t>
            </a:r>
          </a:p>
        </p:txBody>
      </p:sp>
      <p:sp>
        <p:nvSpPr>
          <p:cNvPr id="17" name="TextBox 16"/>
          <p:cNvSpPr txBox="1"/>
          <p:nvPr/>
        </p:nvSpPr>
        <p:spPr>
          <a:xfrm>
            <a:off x="6675120" y="4160520"/>
            <a:ext cx="4206240" cy="1280160"/>
          </a:xfrm>
          <a:prstGeom prst="rect">
            <a:avLst/>
          </a:prstGeom>
          <a:noFill/>
        </p:spPr>
        <p:txBody>
          <a:bodyPr wrap="square" anchor="ctr" lIns="0" rIns="0" tIns="0" bIns="0">
            <a:spAutoFit/>
          </a:bodyPr>
          <a:lstStyle/>
          <a:p>
            <a:pPr algn="ctr">
              <a:spcAft>
                <a:spcPts val="200"/>
              </a:spcAft>
            </a:pPr>
            <a:r>
              <a:rPr sz="1400" b="1" i="0">
                <a:solidFill>
                  <a:srgbClr val="FFFFFF"/>
                </a:solidFill>
                <a:latin typeface="Segoe UI"/>
              </a:rPr>
              <a:t>Root cause</a:t>
            </a:r>
          </a:p>
          <a:p>
            <a:pPr algn="ctr"/>
            <a:r>
              <a:rPr sz="1000" b="0" i="0">
                <a:solidFill>
                  <a:srgbClr val="BFD2E7"/>
                </a:solidFill>
                <a:latin typeface="Segoe UI"/>
              </a:rPr>
              <a:t>hidden beneath</a:t>
            </a:r>
          </a:p>
        </p:txBody>
      </p:sp>
      <p:sp>
        <p:nvSpPr>
          <p:cNvPr id="18" name="TextBox 17"/>
          <p:cNvSpPr txBox="1"/>
          <p:nvPr/>
        </p:nvSpPr>
        <p:spPr>
          <a:xfrm>
            <a:off x="566928" y="2011680"/>
            <a:ext cx="6400800" cy="3931920"/>
          </a:xfrm>
          <a:prstGeom prst="rect">
            <a:avLst/>
          </a:prstGeom>
          <a:noFill/>
        </p:spPr>
        <p:txBody>
          <a:bodyPr wrap="square" lIns="0" rIns="0" tIns="0" bIns="0">
            <a:spAutoFit/>
          </a:bodyPr>
          <a:lstStyle/>
          <a:p>
            <a:pPr>
              <a:lnSpc>
                <a:spcPct val="104000"/>
              </a:lnSpc>
              <a:spcAft>
                <a:spcPts val="1200"/>
              </a:spcAft>
            </a:pPr>
            <a:r>
              <a:rPr sz="1000">
                <a:solidFill>
                  <a:srgbClr val="E76F51"/>
                </a:solidFill>
              </a:rPr>
              <a:t>■  </a:t>
            </a:r>
            <a:r>
              <a:rPr sz="1400" b="1" i="0">
                <a:solidFill>
                  <a:srgbClr val="14252E"/>
                </a:solidFill>
                <a:latin typeface="Segoe UI"/>
              </a:rPr>
              <a:t>Symptoms</a:t>
            </a:r>
            <a:r>
              <a:rPr sz="1400" b="0" i="0">
                <a:solidFill>
                  <a:srgbClr val="14252E"/>
                </a:solidFill>
                <a:latin typeface="Segoe UI"/>
              </a:rPr>
              <a:t> - the observable, surface-level effects; visible, but don't explain </a:t>
            </a:r>
            <a:r>
              <a:rPr sz="1400" b="0" i="1">
                <a:solidFill>
                  <a:srgbClr val="14252E"/>
                </a:solidFill>
                <a:latin typeface="Segoe UI"/>
              </a:rPr>
              <a:t>why</a:t>
            </a:r>
            <a:r>
              <a:rPr sz="1400" b="0" i="0">
                <a:solidFill>
                  <a:srgbClr val="14252E"/>
                </a:solidFill>
                <a:latin typeface="Segoe UI"/>
              </a:rPr>
              <a:t> it's happening.</a:t>
            </a:r>
          </a:p>
          <a:p>
            <a:pPr>
              <a:lnSpc>
                <a:spcPct val="104000"/>
              </a:lnSpc>
              <a:spcAft>
                <a:spcPts val="1200"/>
              </a:spcAft>
            </a:pPr>
            <a:r>
              <a:rPr sz="1000">
                <a:solidFill>
                  <a:srgbClr val="E76F51"/>
                </a:solidFill>
              </a:rPr>
              <a:t>■  </a:t>
            </a:r>
            <a:r>
              <a:rPr sz="1400" b="1" i="0">
                <a:solidFill>
                  <a:srgbClr val="14252E"/>
                </a:solidFill>
                <a:latin typeface="Segoe UI"/>
              </a:rPr>
              <a:t>Root cause</a:t>
            </a:r>
            <a:r>
              <a:rPr sz="1400" b="0" i="0">
                <a:solidFill>
                  <a:srgbClr val="14252E"/>
                </a:solidFill>
                <a:latin typeface="Segoe UI"/>
              </a:rPr>
              <a:t> - the underlying reason that gives rise to the symptoms; addressing it produces a lasting solution.</a:t>
            </a:r>
          </a:p>
          <a:p>
            <a:pPr>
              <a:lnSpc>
                <a:spcPct val="104000"/>
              </a:lnSpc>
              <a:spcAft>
                <a:spcPts val="1200"/>
              </a:spcAft>
            </a:pPr>
            <a:r>
              <a:rPr sz="1000">
                <a:solidFill>
                  <a:srgbClr val="E76F51"/>
                </a:solidFill>
              </a:rPr>
              <a:t>■  </a:t>
            </a:r>
            <a:r>
              <a:rPr sz="1400" b="0" i="0">
                <a:solidFill>
                  <a:srgbClr val="14252E"/>
                </a:solidFill>
                <a:latin typeface="Segoe UI"/>
              </a:rPr>
              <a:t>A single symptom rarely points to one clear cause - like a headache that could point to dozens of conditions. It's usually a </a:t>
            </a:r>
            <a:r>
              <a:rPr sz="1400" b="0" i="1">
                <a:solidFill>
                  <a:srgbClr val="14252E"/>
                </a:solidFill>
                <a:latin typeface="Segoe UI"/>
              </a:rPr>
              <a:t>pattern</a:t>
            </a:r>
            <a:r>
              <a:rPr sz="1400" b="0" i="0">
                <a:solidFill>
                  <a:srgbClr val="14252E"/>
                </a:solidFill>
                <a:latin typeface="Segoe UI"/>
              </a:rPr>
              <a:t> of symptoms, examined together, that narrows down the real explanation.</a:t>
            </a:r>
          </a:p>
          <a:p>
            <a:pPr>
              <a:lnSpc>
                <a:spcPct val="104000"/>
              </a:lnSpc>
              <a:spcAft>
                <a:spcPts val="800"/>
              </a:spcAft>
            </a:pPr>
            <a:r>
              <a:rPr sz="1000">
                <a:solidFill>
                  <a:srgbClr val="E76F51"/>
                </a:solidFill>
              </a:rPr>
              <a:t>■  </a:t>
            </a:r>
            <a:r>
              <a:rPr sz="1400" b="0" i="0">
                <a:solidFill>
                  <a:srgbClr val="14252E"/>
                </a:solidFill>
                <a:latin typeface="Segoe UI"/>
              </a:rPr>
              <a:t>Mistaking a symptom for the root cause leads to solutions that only provide temporary relief.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76F5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76F51"/>
                </a:solidFill>
                <a:latin typeface="Segoe UI"/>
              </a:rPr>
              <a:t>PART 3 - THE PROBLEM STATEMENT</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The 5 Whys Method</a:t>
            </a:r>
          </a:p>
        </p:txBody>
      </p:sp>
      <p:sp>
        <p:nvSpPr>
          <p:cNvPr id="7" name="Rectangle 6"/>
          <p:cNvSpPr/>
          <p:nvPr/>
        </p:nvSpPr>
        <p:spPr>
          <a:xfrm>
            <a:off x="576072" y="1572768"/>
            <a:ext cx="1554480" cy="502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074859" y="420624"/>
            <a:ext cx="1568196" cy="310896"/>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74859" y="420624"/>
            <a:ext cx="1568196" cy="310896"/>
          </a:xfrm>
          <a:prstGeom prst="rect">
            <a:avLst/>
          </a:prstGeom>
          <a:noFill/>
        </p:spPr>
        <p:txBody>
          <a:bodyPr wrap="square" anchor="ctr" lIns="0" rIns="0" tIns="0" bIns="0">
            <a:spAutoFit/>
          </a:bodyPr>
          <a:lstStyle/>
          <a:p>
            <a:pPr algn="ctr"/>
            <a:r>
              <a:rPr sz="1050" b="1" i="0">
                <a:solidFill>
                  <a:srgbClr val="FFFFFF"/>
                </a:solidFill>
                <a:latin typeface="Segoe UI"/>
              </a:rPr>
              <a:t>GUIDE-BASED</a:t>
            </a:r>
          </a:p>
        </p:txBody>
      </p:sp>
      <p:sp>
        <p:nvSpPr>
          <p:cNvPr id="10" name="TextBox 9"/>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24  /  51</a:t>
            </a:r>
          </a:p>
        </p:txBody>
      </p:sp>
      <p:sp>
        <p:nvSpPr>
          <p:cNvPr id="11" name="TextBox 10"/>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2" name="TextBox 11"/>
          <p:cNvSpPr txBox="1"/>
          <p:nvPr/>
        </p:nvSpPr>
        <p:spPr>
          <a:xfrm>
            <a:off x="566928" y="1783080"/>
            <a:ext cx="10972800" cy="457200"/>
          </a:xfrm>
          <a:prstGeom prst="rect">
            <a:avLst/>
          </a:prstGeom>
          <a:noFill/>
        </p:spPr>
        <p:txBody>
          <a:bodyPr wrap="square" anchor="t" lIns="0" rIns="0" tIns="0" bIns="0">
            <a:spAutoFit/>
          </a:bodyPr>
          <a:lstStyle/>
          <a:p>
            <a:pPr algn="l">
              <a:lnSpc>
                <a:spcPct val="100000"/>
              </a:lnSpc>
            </a:pPr>
            <a:r>
              <a:rPr sz="1300" b="0" i="1">
                <a:solidFill>
                  <a:srgbClr val="3A4B54"/>
                </a:solidFill>
                <a:latin typeface="Segoe UI"/>
              </a:rPr>
              <a:t>Chain diagram - low engagement in online learning:  ask </a:t>
            </a:r>
            <a:r>
              <a:rPr sz="1300" b="0" i="1">
                <a:solidFill>
                  <a:srgbClr val="3A4B54"/>
                </a:solidFill>
                <a:latin typeface="Segoe UI"/>
              </a:rPr>
              <a:t>“why?”</a:t>
            </a:r>
            <a:r>
              <a:rPr sz="1300" b="0" i="1">
                <a:solidFill>
                  <a:srgbClr val="3A4B54"/>
                </a:solidFill>
                <a:latin typeface="Segoe UI"/>
              </a:rPr>
              <a:t> repeatedly, usually about five times, until you reach a real underlying cause, not another symptom.</a:t>
            </a:r>
          </a:p>
        </p:txBody>
      </p:sp>
      <p:sp>
        <p:nvSpPr>
          <p:cNvPr id="13" name="Rounded Rectangle 12"/>
          <p:cNvSpPr/>
          <p:nvPr/>
        </p:nvSpPr>
        <p:spPr>
          <a:xfrm>
            <a:off x="1737360" y="2331720"/>
            <a:ext cx="8686800" cy="566928"/>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737360" y="2331720"/>
            <a:ext cx="2468880" cy="56692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37360" y="2331720"/>
            <a:ext cx="2468880" cy="566928"/>
          </a:xfrm>
          <a:prstGeom prst="rect">
            <a:avLst/>
          </a:prstGeom>
          <a:noFill/>
        </p:spPr>
        <p:txBody>
          <a:bodyPr wrap="square" anchor="ctr" lIns="0" rIns="0" tIns="0" bIns="0">
            <a:spAutoFit/>
          </a:bodyPr>
          <a:lstStyle/>
          <a:p>
            <a:pPr algn="ctr">
              <a:lnSpc>
                <a:spcPct val="95000"/>
              </a:lnSpc>
            </a:pPr>
            <a:r>
              <a:rPr sz="1250" b="1" i="0">
                <a:solidFill>
                  <a:srgbClr val="FFFFFF"/>
                </a:solidFill>
                <a:latin typeface="Segoe UI"/>
              </a:rPr>
              <a:t>Why is there high missing work?</a:t>
            </a:r>
          </a:p>
        </p:txBody>
      </p:sp>
      <p:sp>
        <p:nvSpPr>
          <p:cNvPr id="16" name="TextBox 15"/>
          <p:cNvSpPr txBox="1"/>
          <p:nvPr/>
        </p:nvSpPr>
        <p:spPr>
          <a:xfrm>
            <a:off x="4370831" y="2331720"/>
            <a:ext cx="5907024" cy="566928"/>
          </a:xfrm>
          <a:prstGeom prst="rect">
            <a:avLst/>
          </a:prstGeom>
          <a:noFill/>
        </p:spPr>
        <p:txBody>
          <a:bodyPr wrap="square" anchor="ctr" lIns="0" rIns="0" tIns="0" bIns="0">
            <a:spAutoFit/>
          </a:bodyPr>
          <a:lstStyle/>
          <a:p>
            <a:pPr algn="l">
              <a:lnSpc>
                <a:spcPct val="97000"/>
              </a:lnSpc>
            </a:pPr>
            <a:r>
              <a:rPr sz="1200" b="0" i="0">
                <a:solidFill>
                  <a:srgbClr val="14252E"/>
                </a:solidFill>
                <a:latin typeface="Segoe UI"/>
              </a:rPr>
              <a:t>Students aren't participating in discussions.</a:t>
            </a:r>
          </a:p>
        </p:txBody>
      </p:sp>
      <p:sp>
        <p:nvSpPr>
          <p:cNvPr id="17" name="Down Arrow 16"/>
          <p:cNvSpPr/>
          <p:nvPr/>
        </p:nvSpPr>
        <p:spPr>
          <a:xfrm>
            <a:off x="5980176" y="2907791"/>
            <a:ext cx="201168" cy="91439"/>
          </a:xfrm>
          <a:prstGeom prst="downArrow">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737360" y="3008376"/>
            <a:ext cx="8686800" cy="566928"/>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737360" y="3008376"/>
            <a:ext cx="2468880" cy="56692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37360" y="3008376"/>
            <a:ext cx="2468880" cy="566928"/>
          </a:xfrm>
          <a:prstGeom prst="rect">
            <a:avLst/>
          </a:prstGeom>
          <a:noFill/>
        </p:spPr>
        <p:txBody>
          <a:bodyPr wrap="square" anchor="ctr" lIns="0" rIns="0" tIns="0" bIns="0">
            <a:spAutoFit/>
          </a:bodyPr>
          <a:lstStyle/>
          <a:p>
            <a:pPr algn="ctr">
              <a:lnSpc>
                <a:spcPct val="95000"/>
              </a:lnSpc>
            </a:pPr>
            <a:r>
              <a:rPr sz="1250" b="1" i="0">
                <a:solidFill>
                  <a:srgbClr val="FFFFFF"/>
                </a:solidFill>
                <a:latin typeface="Segoe UI"/>
              </a:rPr>
              <a:t>Why aren't they participating?</a:t>
            </a:r>
          </a:p>
        </p:txBody>
      </p:sp>
      <p:sp>
        <p:nvSpPr>
          <p:cNvPr id="21" name="TextBox 20"/>
          <p:cNvSpPr txBox="1"/>
          <p:nvPr/>
        </p:nvSpPr>
        <p:spPr>
          <a:xfrm>
            <a:off x="4370831" y="3008376"/>
            <a:ext cx="5907024" cy="566928"/>
          </a:xfrm>
          <a:prstGeom prst="rect">
            <a:avLst/>
          </a:prstGeom>
          <a:noFill/>
        </p:spPr>
        <p:txBody>
          <a:bodyPr wrap="square" anchor="ctr" lIns="0" rIns="0" tIns="0" bIns="0">
            <a:spAutoFit/>
          </a:bodyPr>
          <a:lstStyle/>
          <a:p>
            <a:pPr algn="l">
              <a:lnSpc>
                <a:spcPct val="97000"/>
              </a:lnSpc>
            </a:pPr>
            <a:r>
              <a:rPr sz="1200" b="0" i="0">
                <a:solidFill>
                  <a:srgbClr val="14252E"/>
                </a:solidFill>
                <a:latin typeface="Segoe UI"/>
              </a:rPr>
              <a:t>They don't feel comfortable speaking up online.</a:t>
            </a:r>
          </a:p>
        </p:txBody>
      </p:sp>
      <p:sp>
        <p:nvSpPr>
          <p:cNvPr id="22" name="Down Arrow 21"/>
          <p:cNvSpPr/>
          <p:nvPr/>
        </p:nvSpPr>
        <p:spPr>
          <a:xfrm>
            <a:off x="5980176" y="3584448"/>
            <a:ext cx="201168" cy="91439"/>
          </a:xfrm>
          <a:prstGeom prst="downArrow">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737360" y="3685032"/>
            <a:ext cx="8686800" cy="566928"/>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737360" y="3685032"/>
            <a:ext cx="2468880" cy="56692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737360" y="3685032"/>
            <a:ext cx="2468880" cy="566928"/>
          </a:xfrm>
          <a:prstGeom prst="rect">
            <a:avLst/>
          </a:prstGeom>
          <a:noFill/>
        </p:spPr>
        <p:txBody>
          <a:bodyPr wrap="square" anchor="ctr" lIns="0" rIns="0" tIns="0" bIns="0">
            <a:spAutoFit/>
          </a:bodyPr>
          <a:lstStyle/>
          <a:p>
            <a:pPr algn="ctr">
              <a:lnSpc>
                <a:spcPct val="95000"/>
              </a:lnSpc>
            </a:pPr>
            <a:r>
              <a:rPr sz="1250" b="1" i="0">
                <a:solidFill>
                  <a:srgbClr val="FFFFFF"/>
                </a:solidFill>
                <a:latin typeface="Segoe UI"/>
              </a:rPr>
              <a:t>Why not?</a:t>
            </a:r>
          </a:p>
        </p:txBody>
      </p:sp>
      <p:sp>
        <p:nvSpPr>
          <p:cNvPr id="26" name="TextBox 25"/>
          <p:cNvSpPr txBox="1"/>
          <p:nvPr/>
        </p:nvSpPr>
        <p:spPr>
          <a:xfrm>
            <a:off x="4370831" y="3685032"/>
            <a:ext cx="5907024" cy="566928"/>
          </a:xfrm>
          <a:prstGeom prst="rect">
            <a:avLst/>
          </a:prstGeom>
          <a:noFill/>
        </p:spPr>
        <p:txBody>
          <a:bodyPr wrap="square" anchor="ctr" lIns="0" rIns="0" tIns="0" bIns="0">
            <a:spAutoFit/>
          </a:bodyPr>
          <a:lstStyle/>
          <a:p>
            <a:pPr algn="l">
              <a:lnSpc>
                <a:spcPct val="97000"/>
              </a:lnSpc>
            </a:pPr>
            <a:r>
              <a:rPr sz="1200" b="0" i="0">
                <a:solidFill>
                  <a:srgbClr val="14252E"/>
                </a:solidFill>
                <a:latin typeface="Segoe UI"/>
              </a:rPr>
              <a:t>They're unsure of the material and feel disconnected from the instructor.</a:t>
            </a:r>
          </a:p>
        </p:txBody>
      </p:sp>
      <p:sp>
        <p:nvSpPr>
          <p:cNvPr id="27" name="Down Arrow 26"/>
          <p:cNvSpPr/>
          <p:nvPr/>
        </p:nvSpPr>
        <p:spPr>
          <a:xfrm>
            <a:off x="5980176" y="4261104"/>
            <a:ext cx="201168" cy="91439"/>
          </a:xfrm>
          <a:prstGeom prst="downArrow">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737360" y="4361688"/>
            <a:ext cx="8686800" cy="566928"/>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737360" y="4361688"/>
            <a:ext cx="2468880" cy="56692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737360" y="4361688"/>
            <a:ext cx="2468880" cy="566928"/>
          </a:xfrm>
          <a:prstGeom prst="rect">
            <a:avLst/>
          </a:prstGeom>
          <a:noFill/>
        </p:spPr>
        <p:txBody>
          <a:bodyPr wrap="square" anchor="ctr" lIns="0" rIns="0" tIns="0" bIns="0">
            <a:spAutoFit/>
          </a:bodyPr>
          <a:lstStyle/>
          <a:p>
            <a:pPr algn="ctr">
              <a:lnSpc>
                <a:spcPct val="95000"/>
              </a:lnSpc>
            </a:pPr>
            <a:r>
              <a:rPr sz="1250" b="1" i="0">
                <a:solidFill>
                  <a:srgbClr val="FFFFFF"/>
                </a:solidFill>
                <a:latin typeface="Segoe UI"/>
              </a:rPr>
              <a:t>Why?</a:t>
            </a:r>
          </a:p>
        </p:txBody>
      </p:sp>
      <p:sp>
        <p:nvSpPr>
          <p:cNvPr id="31" name="TextBox 30"/>
          <p:cNvSpPr txBox="1"/>
          <p:nvPr/>
        </p:nvSpPr>
        <p:spPr>
          <a:xfrm>
            <a:off x="4370831" y="4361688"/>
            <a:ext cx="5907024" cy="566928"/>
          </a:xfrm>
          <a:prstGeom prst="rect">
            <a:avLst/>
          </a:prstGeom>
          <a:noFill/>
        </p:spPr>
        <p:txBody>
          <a:bodyPr wrap="square" anchor="ctr" lIns="0" rIns="0" tIns="0" bIns="0">
            <a:spAutoFit/>
          </a:bodyPr>
          <a:lstStyle/>
          <a:p>
            <a:pPr algn="l">
              <a:lnSpc>
                <a:spcPct val="97000"/>
              </a:lnSpc>
            </a:pPr>
            <a:r>
              <a:rPr sz="1200" b="0" i="0">
                <a:solidFill>
                  <a:srgbClr val="14252E"/>
                </a:solidFill>
                <a:latin typeface="Segoe UI"/>
              </a:rPr>
              <a:t>Lessons are lecture-heavy with little room for feedback.</a:t>
            </a:r>
          </a:p>
        </p:txBody>
      </p:sp>
      <p:sp>
        <p:nvSpPr>
          <p:cNvPr id="32" name="Down Arrow 31"/>
          <p:cNvSpPr/>
          <p:nvPr/>
        </p:nvSpPr>
        <p:spPr>
          <a:xfrm>
            <a:off x="5980176" y="4937760"/>
            <a:ext cx="201168" cy="91439"/>
          </a:xfrm>
          <a:prstGeom prst="downArrow">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737360" y="5038344"/>
            <a:ext cx="8686800" cy="566928"/>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737360" y="5038344"/>
            <a:ext cx="2468880" cy="56692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737360" y="5038344"/>
            <a:ext cx="2468880" cy="566928"/>
          </a:xfrm>
          <a:prstGeom prst="rect">
            <a:avLst/>
          </a:prstGeom>
          <a:noFill/>
        </p:spPr>
        <p:txBody>
          <a:bodyPr wrap="square" anchor="ctr" lIns="0" rIns="0" tIns="0" bIns="0">
            <a:spAutoFit/>
          </a:bodyPr>
          <a:lstStyle/>
          <a:p>
            <a:pPr algn="ctr">
              <a:lnSpc>
                <a:spcPct val="95000"/>
              </a:lnSpc>
            </a:pPr>
            <a:r>
              <a:rPr sz="1250" b="1" i="0">
                <a:solidFill>
                  <a:srgbClr val="FFFFFF"/>
                </a:solidFill>
                <a:latin typeface="Segoe UI"/>
              </a:rPr>
              <a:t>Why?</a:t>
            </a:r>
          </a:p>
        </p:txBody>
      </p:sp>
      <p:sp>
        <p:nvSpPr>
          <p:cNvPr id="36" name="TextBox 35"/>
          <p:cNvSpPr txBox="1"/>
          <p:nvPr/>
        </p:nvSpPr>
        <p:spPr>
          <a:xfrm>
            <a:off x="4370831" y="5038344"/>
            <a:ext cx="5907024" cy="566928"/>
          </a:xfrm>
          <a:prstGeom prst="rect">
            <a:avLst/>
          </a:prstGeom>
          <a:noFill/>
        </p:spPr>
        <p:txBody>
          <a:bodyPr wrap="square" anchor="ctr" lIns="0" rIns="0" tIns="0" bIns="0">
            <a:spAutoFit/>
          </a:bodyPr>
          <a:lstStyle/>
          <a:p>
            <a:pPr algn="l">
              <a:lnSpc>
                <a:spcPct val="97000"/>
              </a:lnSpc>
            </a:pPr>
            <a:r>
              <a:rPr sz="1200" b="0" i="0">
                <a:solidFill>
                  <a:srgbClr val="14252E"/>
                </a:solidFill>
                <a:latin typeface="Segoe UI"/>
              </a:rPr>
              <a:t>Course design emphasizes content delivery over interaction; instructors may lack training in online engagement.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76F5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76F51"/>
                </a:solidFill>
                <a:latin typeface="Segoe UI"/>
              </a:rPr>
              <a:t>PART 3 - THE PROBLEM STATEMENT</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Root-Cause Digging for Plastic Waste</a:t>
            </a:r>
          </a:p>
        </p:txBody>
      </p:sp>
      <p:sp>
        <p:nvSpPr>
          <p:cNvPr id="7" name="Rectangle 6"/>
          <p:cNvSpPr/>
          <p:nvPr/>
        </p:nvSpPr>
        <p:spPr>
          <a:xfrm>
            <a:off x="576072" y="1572768"/>
            <a:ext cx="1554480" cy="502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0" name="TextBox 9"/>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25  /  51</a:t>
            </a:r>
          </a:p>
        </p:txBody>
      </p:sp>
      <p:sp>
        <p:nvSpPr>
          <p:cNvPr id="11" name="TextBox 10"/>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2" name="Rounded Rectangle 11"/>
          <p:cNvSpPr/>
          <p:nvPr/>
        </p:nvSpPr>
        <p:spPr>
          <a:xfrm>
            <a:off x="566928" y="1783080"/>
            <a:ext cx="11064240" cy="566928"/>
          </a:xfrm>
          <a:prstGeom prst="roundRect">
            <a:avLst>
              <a:gd name="adj" fmla="val 8000"/>
            </a:avLst>
          </a:prstGeom>
          <a:solidFill>
            <a:srgbClr val="FBE9E4"/>
          </a:solidFill>
          <a:ln w="12700">
            <a:solidFill>
              <a:srgbClr val="F3B7A8"/>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783080"/>
            <a:ext cx="10607040" cy="566928"/>
          </a:xfrm>
          <a:prstGeom prst="rect">
            <a:avLst/>
          </a:prstGeom>
          <a:noFill/>
        </p:spPr>
        <p:txBody>
          <a:bodyPr wrap="square" anchor="ctr" lIns="0" rIns="0" tIns="0" bIns="0">
            <a:spAutoFit/>
          </a:bodyPr>
          <a:lstStyle/>
          <a:p>
            <a:pPr algn="l"/>
            <a:r>
              <a:rPr sz="1300" b="1" i="0">
                <a:solidFill>
                  <a:srgbClr val="14252E"/>
                </a:solidFill>
                <a:latin typeface="Segoe UI"/>
              </a:rPr>
              <a:t>Symptom:  High volumes of uncollected, improperly segregated plastic waste despite past awareness campaigns.</a:t>
            </a:r>
          </a:p>
        </p:txBody>
      </p:sp>
      <p:sp>
        <p:nvSpPr>
          <p:cNvPr id="14" name="Rounded Rectangle 13"/>
          <p:cNvSpPr/>
          <p:nvPr/>
        </p:nvSpPr>
        <p:spPr>
          <a:xfrm>
            <a:off x="2011680" y="2514600"/>
            <a:ext cx="8138160" cy="54864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011680" y="2514600"/>
            <a:ext cx="1280160" cy="54864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11680" y="2514600"/>
            <a:ext cx="1280160" cy="548640"/>
          </a:xfrm>
          <a:prstGeom prst="rect">
            <a:avLst/>
          </a:prstGeom>
          <a:noFill/>
        </p:spPr>
        <p:txBody>
          <a:bodyPr wrap="square" anchor="ctr" lIns="0" rIns="0" tIns="0" bIns="0">
            <a:spAutoFit/>
          </a:bodyPr>
          <a:lstStyle/>
          <a:p>
            <a:pPr algn="ctr">
              <a:lnSpc>
                <a:spcPct val="95000"/>
              </a:lnSpc>
            </a:pPr>
            <a:r>
              <a:rPr sz="1250" b="1" i="0">
                <a:solidFill>
                  <a:srgbClr val="FFFFFF"/>
                </a:solidFill>
                <a:latin typeface="Segoe UI"/>
              </a:rPr>
              <a:t>Why?</a:t>
            </a:r>
          </a:p>
        </p:txBody>
      </p:sp>
      <p:sp>
        <p:nvSpPr>
          <p:cNvPr id="17" name="TextBox 16"/>
          <p:cNvSpPr txBox="1"/>
          <p:nvPr/>
        </p:nvSpPr>
        <p:spPr>
          <a:xfrm>
            <a:off x="3456432" y="2514600"/>
            <a:ext cx="6547104" cy="548640"/>
          </a:xfrm>
          <a:prstGeom prst="rect">
            <a:avLst/>
          </a:prstGeom>
          <a:noFill/>
        </p:spPr>
        <p:txBody>
          <a:bodyPr wrap="square" anchor="ctr" lIns="0" rIns="0" tIns="0" bIns="0">
            <a:spAutoFit/>
          </a:bodyPr>
          <a:lstStyle/>
          <a:p>
            <a:pPr algn="l">
              <a:lnSpc>
                <a:spcPct val="97000"/>
              </a:lnSpc>
            </a:pPr>
            <a:r>
              <a:rPr sz="1250" b="0" i="0">
                <a:solidFill>
                  <a:srgbClr val="14252E"/>
                </a:solidFill>
                <a:latin typeface="Segoe UI"/>
              </a:rPr>
              <a:t>Households aren't consistently sorting plastic waste at the source.</a:t>
            </a:r>
          </a:p>
        </p:txBody>
      </p:sp>
      <p:sp>
        <p:nvSpPr>
          <p:cNvPr id="18" name="Down Arrow 17"/>
          <p:cNvSpPr/>
          <p:nvPr/>
        </p:nvSpPr>
        <p:spPr>
          <a:xfrm>
            <a:off x="5980176" y="3072384"/>
            <a:ext cx="201168" cy="100584"/>
          </a:xfrm>
          <a:prstGeom prst="downArrow">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011680" y="3182112"/>
            <a:ext cx="8138160" cy="54864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011680" y="3182112"/>
            <a:ext cx="1280160" cy="54864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11680" y="3182112"/>
            <a:ext cx="1280160" cy="548640"/>
          </a:xfrm>
          <a:prstGeom prst="rect">
            <a:avLst/>
          </a:prstGeom>
          <a:noFill/>
        </p:spPr>
        <p:txBody>
          <a:bodyPr wrap="square" anchor="ctr" lIns="0" rIns="0" tIns="0" bIns="0">
            <a:spAutoFit/>
          </a:bodyPr>
          <a:lstStyle/>
          <a:p>
            <a:pPr algn="ctr">
              <a:lnSpc>
                <a:spcPct val="95000"/>
              </a:lnSpc>
            </a:pPr>
            <a:r>
              <a:rPr sz="1250" b="1" i="0">
                <a:solidFill>
                  <a:srgbClr val="FFFFFF"/>
                </a:solidFill>
                <a:latin typeface="Segoe UI"/>
              </a:rPr>
              <a:t>Why?</a:t>
            </a:r>
          </a:p>
        </p:txBody>
      </p:sp>
      <p:sp>
        <p:nvSpPr>
          <p:cNvPr id="22" name="TextBox 21"/>
          <p:cNvSpPr txBox="1"/>
          <p:nvPr/>
        </p:nvSpPr>
        <p:spPr>
          <a:xfrm>
            <a:off x="3456432" y="3182112"/>
            <a:ext cx="6547104" cy="548640"/>
          </a:xfrm>
          <a:prstGeom prst="rect">
            <a:avLst/>
          </a:prstGeom>
          <a:noFill/>
        </p:spPr>
        <p:txBody>
          <a:bodyPr wrap="square" anchor="ctr" lIns="0" rIns="0" tIns="0" bIns="0">
            <a:spAutoFit/>
          </a:bodyPr>
          <a:lstStyle/>
          <a:p>
            <a:pPr algn="l">
              <a:lnSpc>
                <a:spcPct val="97000"/>
              </a:lnSpc>
            </a:pPr>
            <a:r>
              <a:rPr sz="1250" b="0" i="0">
                <a:solidFill>
                  <a:srgbClr val="14252E"/>
                </a:solidFill>
                <a:latin typeface="Segoe UI"/>
              </a:rPr>
              <a:t>Many find sorting inconvenient or are unclear on which bin or schedule to use.</a:t>
            </a:r>
          </a:p>
        </p:txBody>
      </p:sp>
      <p:sp>
        <p:nvSpPr>
          <p:cNvPr id="23" name="Down Arrow 22"/>
          <p:cNvSpPr/>
          <p:nvPr/>
        </p:nvSpPr>
        <p:spPr>
          <a:xfrm>
            <a:off x="5980176" y="3739896"/>
            <a:ext cx="201168" cy="100584"/>
          </a:xfrm>
          <a:prstGeom prst="downArrow">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011680" y="3849624"/>
            <a:ext cx="8138160" cy="54864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011680" y="3849624"/>
            <a:ext cx="1280160" cy="54864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11680" y="3849624"/>
            <a:ext cx="1280160" cy="548640"/>
          </a:xfrm>
          <a:prstGeom prst="rect">
            <a:avLst/>
          </a:prstGeom>
          <a:noFill/>
        </p:spPr>
        <p:txBody>
          <a:bodyPr wrap="square" anchor="ctr" lIns="0" rIns="0" tIns="0" bIns="0">
            <a:spAutoFit/>
          </a:bodyPr>
          <a:lstStyle/>
          <a:p>
            <a:pPr algn="ctr">
              <a:lnSpc>
                <a:spcPct val="95000"/>
              </a:lnSpc>
            </a:pPr>
            <a:r>
              <a:rPr sz="1250" b="1" i="0">
                <a:solidFill>
                  <a:srgbClr val="FFFFFF"/>
                </a:solidFill>
                <a:latin typeface="Segoe UI"/>
              </a:rPr>
              <a:t>Why?</a:t>
            </a:r>
          </a:p>
        </p:txBody>
      </p:sp>
      <p:sp>
        <p:nvSpPr>
          <p:cNvPr id="27" name="TextBox 26"/>
          <p:cNvSpPr txBox="1"/>
          <p:nvPr/>
        </p:nvSpPr>
        <p:spPr>
          <a:xfrm>
            <a:off x="3456432" y="3849624"/>
            <a:ext cx="6547104" cy="548640"/>
          </a:xfrm>
          <a:prstGeom prst="rect">
            <a:avLst/>
          </a:prstGeom>
          <a:noFill/>
        </p:spPr>
        <p:txBody>
          <a:bodyPr wrap="square" anchor="ctr" lIns="0" rIns="0" tIns="0" bIns="0">
            <a:spAutoFit/>
          </a:bodyPr>
          <a:lstStyle/>
          <a:p>
            <a:pPr algn="l">
              <a:lnSpc>
                <a:spcPct val="97000"/>
              </a:lnSpc>
            </a:pPr>
            <a:r>
              <a:rPr sz="1250" b="0" i="0">
                <a:solidFill>
                  <a:srgbClr val="14252E"/>
                </a:solidFill>
                <a:latin typeface="Segoe UI"/>
              </a:rPr>
              <a:t>Collection schedules and bin systems are inconsistently applied at the household level.</a:t>
            </a:r>
          </a:p>
        </p:txBody>
      </p:sp>
      <p:sp>
        <p:nvSpPr>
          <p:cNvPr id="28" name="Down Arrow 27"/>
          <p:cNvSpPr/>
          <p:nvPr/>
        </p:nvSpPr>
        <p:spPr>
          <a:xfrm>
            <a:off x="5980176" y="4407407"/>
            <a:ext cx="201168" cy="100584"/>
          </a:xfrm>
          <a:prstGeom prst="downArrow">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011680" y="4517136"/>
            <a:ext cx="8138160" cy="54864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011680" y="4517136"/>
            <a:ext cx="1280160" cy="54864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011680" y="4517136"/>
            <a:ext cx="1280160" cy="548640"/>
          </a:xfrm>
          <a:prstGeom prst="rect">
            <a:avLst/>
          </a:prstGeom>
          <a:noFill/>
        </p:spPr>
        <p:txBody>
          <a:bodyPr wrap="square" anchor="ctr" lIns="0" rIns="0" tIns="0" bIns="0">
            <a:spAutoFit/>
          </a:bodyPr>
          <a:lstStyle/>
          <a:p>
            <a:pPr algn="ctr">
              <a:lnSpc>
                <a:spcPct val="95000"/>
              </a:lnSpc>
            </a:pPr>
            <a:r>
              <a:rPr sz="1250" b="1" i="0">
                <a:solidFill>
                  <a:srgbClr val="FFFFFF"/>
                </a:solidFill>
                <a:latin typeface="Segoe UI"/>
              </a:rPr>
              <a:t>Why?</a:t>
            </a:r>
          </a:p>
        </p:txBody>
      </p:sp>
      <p:sp>
        <p:nvSpPr>
          <p:cNvPr id="32" name="TextBox 31"/>
          <p:cNvSpPr txBox="1"/>
          <p:nvPr/>
        </p:nvSpPr>
        <p:spPr>
          <a:xfrm>
            <a:off x="3456432" y="4517136"/>
            <a:ext cx="6547104" cy="548640"/>
          </a:xfrm>
          <a:prstGeom prst="rect">
            <a:avLst/>
          </a:prstGeom>
          <a:noFill/>
        </p:spPr>
        <p:txBody>
          <a:bodyPr wrap="square" anchor="ctr" lIns="0" rIns="0" tIns="0" bIns="0">
            <a:spAutoFit/>
          </a:bodyPr>
          <a:lstStyle/>
          <a:p>
            <a:pPr algn="l">
              <a:lnSpc>
                <a:spcPct val="97000"/>
              </a:lnSpc>
            </a:pPr>
            <a:r>
              <a:rPr sz="1250" b="0" i="0">
                <a:solidFill>
                  <a:srgbClr val="14252E"/>
                </a:solidFill>
                <a:latin typeface="Segoe UI"/>
              </a:rPr>
              <a:t>There's been little ongoing, community-level reinforcement beyond a single initial campaign.</a:t>
            </a:r>
          </a:p>
        </p:txBody>
      </p:sp>
      <p:sp>
        <p:nvSpPr>
          <p:cNvPr id="33" name="Down Arrow 32"/>
          <p:cNvSpPr/>
          <p:nvPr/>
        </p:nvSpPr>
        <p:spPr>
          <a:xfrm>
            <a:off x="5980176" y="5074919"/>
            <a:ext cx="201168" cy="100584"/>
          </a:xfrm>
          <a:prstGeom prst="downArrow">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011680" y="5184647"/>
            <a:ext cx="8138160" cy="603503"/>
          </a:xfrm>
          <a:prstGeom prst="roundRect">
            <a:avLst/>
          </a:prstGeom>
          <a:solidFill>
            <a:srgbClr val="E76F51"/>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194560" y="5184647"/>
            <a:ext cx="7772400" cy="603503"/>
          </a:xfrm>
          <a:prstGeom prst="rect">
            <a:avLst/>
          </a:prstGeom>
          <a:noFill/>
        </p:spPr>
        <p:txBody>
          <a:bodyPr wrap="square" anchor="ctr" lIns="0" rIns="0" tIns="0" bIns="0">
            <a:spAutoFit/>
          </a:bodyPr>
          <a:lstStyle/>
          <a:p>
            <a:pPr algn="ctr">
              <a:lnSpc>
                <a:spcPct val="95000"/>
              </a:lnSpc>
            </a:pPr>
            <a:r>
              <a:rPr sz="1300" b="1" i="0">
                <a:solidFill>
                  <a:srgbClr val="FFFFFF"/>
                </a:solidFill>
                <a:latin typeface="Segoe UI"/>
              </a:rPr>
              <a:t>Plausible root cause: absence of sustained, peer-reinforced education and a convenient household sorting system - NOT simply “low awareness.”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76F5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76F51"/>
                </a:solidFill>
                <a:latin typeface="Segoe UI"/>
              </a:rPr>
              <a:t>PART 3 - THE PROBLEM STATEMENT</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Practice: Run Your Own 5 Whys</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Activity  -  dengue thread continues</a:t>
            </a:r>
          </a:p>
        </p:txBody>
      </p:sp>
      <p:sp>
        <p:nvSpPr>
          <p:cNvPr id="8" name="Rectangle 7"/>
          <p:cNvSpPr/>
          <p:nvPr/>
        </p:nvSpPr>
        <p:spPr>
          <a:xfrm>
            <a:off x="576072" y="1572768"/>
            <a:ext cx="1554480" cy="502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26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TextBox 12"/>
          <p:cNvSpPr txBox="1"/>
          <p:nvPr/>
        </p:nvSpPr>
        <p:spPr>
          <a:xfrm>
            <a:off x="566928" y="2103120"/>
            <a:ext cx="6492240" cy="3657600"/>
          </a:xfrm>
          <a:prstGeom prst="rect">
            <a:avLst/>
          </a:prstGeom>
          <a:noFill/>
        </p:spPr>
        <p:txBody>
          <a:bodyPr wrap="square" lIns="0" rIns="0" tIns="0" bIns="0">
            <a:spAutoFit/>
          </a:bodyPr>
          <a:lstStyle/>
          <a:p>
            <a:pPr>
              <a:lnSpc>
                <a:spcPct val="104000"/>
              </a:lnSpc>
              <a:spcAft>
                <a:spcPts val="1200"/>
              </a:spcAft>
            </a:pPr>
            <a:r>
              <a:rPr sz="1100">
                <a:solidFill>
                  <a:srgbClr val="E76F51"/>
                </a:solidFill>
              </a:rPr>
              <a:t>■  </a:t>
            </a:r>
            <a:r>
              <a:rPr sz="1500" b="0" i="0">
                <a:solidFill>
                  <a:srgbClr val="14252E"/>
                </a:solidFill>
                <a:latin typeface="Segoe UI"/>
              </a:rPr>
              <a:t>Return to your narrowed dengue scenario from Slide 22.</a:t>
            </a:r>
          </a:p>
          <a:p>
            <a:pPr>
              <a:lnSpc>
                <a:spcPct val="104000"/>
              </a:lnSpc>
              <a:spcAft>
                <a:spcPts val="1200"/>
              </a:spcAft>
            </a:pPr>
            <a:r>
              <a:rPr sz="1100">
                <a:solidFill>
                  <a:srgbClr val="E76F51"/>
                </a:solidFill>
              </a:rPr>
              <a:t>■  </a:t>
            </a:r>
            <a:r>
              <a:rPr sz="1500" b="1" i="0">
                <a:solidFill>
                  <a:srgbClr val="14252E"/>
                </a:solidFill>
                <a:latin typeface="Segoe UI"/>
              </a:rPr>
              <a:t>Starting symptom:</a:t>
            </a:r>
            <a:r>
              <a:rPr sz="1500" b="0" i="0">
                <a:solidFill>
                  <a:srgbClr val="14252E"/>
                </a:solidFill>
                <a:latin typeface="Segoe UI"/>
              </a:rPr>
              <a:t> low household compliance with mosquito-breeding-site elimination.</a:t>
            </a:r>
          </a:p>
          <a:p>
            <a:pPr>
              <a:lnSpc>
                <a:spcPct val="104000"/>
              </a:lnSpc>
              <a:spcAft>
                <a:spcPts val="1200"/>
              </a:spcAft>
            </a:pPr>
            <a:r>
              <a:rPr sz="1100">
                <a:solidFill>
                  <a:srgbClr val="E76F51"/>
                </a:solidFill>
              </a:rPr>
              <a:t>■  </a:t>
            </a:r>
            <a:r>
              <a:rPr sz="1500" b="0" i="0">
                <a:solidFill>
                  <a:srgbClr val="14252E"/>
                </a:solidFill>
                <a:latin typeface="Segoe UI"/>
              </a:rPr>
              <a:t>In pairs, run your own “why” chain - </a:t>
            </a:r>
            <a:r>
              <a:rPr sz="1500" b="1" i="0">
                <a:solidFill>
                  <a:srgbClr val="14252E"/>
                </a:solidFill>
                <a:latin typeface="Segoe UI"/>
              </a:rPr>
              <a:t>at least three levels deep</a:t>
            </a:r>
            <a:r>
              <a:rPr sz="1500" b="0" i="0">
                <a:solidFill>
                  <a:srgbClr val="14252E"/>
                </a:solidFill>
                <a:latin typeface="Segoe UI"/>
              </a:rPr>
              <a:t> - to propose a plausible root cause.</a:t>
            </a:r>
          </a:p>
        </p:txBody>
      </p:sp>
      <p:sp>
        <p:nvSpPr>
          <p:cNvPr id="14" name="Rounded Rectangle 13"/>
          <p:cNvSpPr/>
          <p:nvPr/>
        </p:nvSpPr>
        <p:spPr>
          <a:xfrm>
            <a:off x="566928" y="4892040"/>
            <a:ext cx="11064240" cy="1051560"/>
          </a:xfrm>
          <a:prstGeom prst="roundRect">
            <a:avLst>
              <a:gd name="adj" fmla="val 8000"/>
            </a:avLst>
          </a:prstGeom>
          <a:solidFill>
            <a:srgbClr val="FBE9E4"/>
          </a:solidFill>
          <a:ln w="12700">
            <a:solidFill>
              <a:srgbClr val="F3B7A8"/>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6928" y="4892040"/>
            <a:ext cx="100584" cy="105156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892040"/>
            <a:ext cx="10515600" cy="1051560"/>
          </a:xfrm>
          <a:prstGeom prst="rect">
            <a:avLst/>
          </a:prstGeom>
          <a:noFill/>
        </p:spPr>
        <p:txBody>
          <a:bodyPr wrap="square" anchor="ctr" lIns="0" rIns="0" tIns="0" bIns="0">
            <a:spAutoFit/>
          </a:bodyPr>
          <a:lstStyle/>
          <a:p>
            <a:pPr algn="l">
              <a:spcAft>
                <a:spcPts val="300"/>
              </a:spcAft>
            </a:pPr>
            <a:r>
              <a:rPr sz="1250" b="1" i="0">
                <a:solidFill>
                  <a:srgbClr val="E76F51"/>
                </a:solidFill>
                <a:latin typeface="Segoe UI"/>
              </a:rPr>
              <a:t>If stuck, consider:</a:t>
            </a:r>
          </a:p>
          <a:p>
            <a:pPr algn="l">
              <a:lnSpc>
                <a:spcPct val="103000"/>
              </a:lnSpc>
            </a:pPr>
            <a:r>
              <a:rPr sz="1350" b="0" i="0">
                <a:solidFill>
                  <a:srgbClr val="14252E"/>
                </a:solidFill>
                <a:latin typeface="Segoe UI"/>
              </a:rPr>
              <a:t>awareness of specific breeding sites  -  convenience of disposal / container-cleaning routines  -  trust in local health campaigns.</a:t>
            </a:r>
          </a:p>
        </p:txBody>
      </p:sp>
      <p:sp>
        <p:nvSpPr>
          <p:cNvPr id="17" name="Rounded Rectangle 16"/>
          <p:cNvSpPr/>
          <p:nvPr/>
        </p:nvSpPr>
        <p:spPr>
          <a:xfrm>
            <a:off x="7315200" y="2148840"/>
            <a:ext cx="4297680" cy="658368"/>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0" y="2148840"/>
            <a:ext cx="1097280" cy="65836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2148840"/>
            <a:ext cx="1097280" cy="658368"/>
          </a:xfrm>
          <a:prstGeom prst="rect">
            <a:avLst/>
          </a:prstGeom>
          <a:noFill/>
        </p:spPr>
        <p:txBody>
          <a:bodyPr wrap="square" anchor="ctr" lIns="0" rIns="0" tIns="0" bIns="0">
            <a:spAutoFit/>
          </a:bodyPr>
          <a:lstStyle/>
          <a:p>
            <a:pPr algn="ctr"/>
            <a:r>
              <a:rPr sz="1200" b="1" i="0">
                <a:solidFill>
                  <a:srgbClr val="FFFFFF"/>
                </a:solidFill>
                <a:latin typeface="Segoe UI"/>
              </a:rPr>
              <a:t>Why?</a:t>
            </a:r>
          </a:p>
        </p:txBody>
      </p:sp>
      <p:sp>
        <p:nvSpPr>
          <p:cNvPr id="20" name="Rectangle 19"/>
          <p:cNvSpPr/>
          <p:nvPr/>
        </p:nvSpPr>
        <p:spPr>
          <a:xfrm>
            <a:off x="8641080" y="2468880"/>
            <a:ext cx="2743200"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own Arrow 20"/>
          <p:cNvSpPr/>
          <p:nvPr/>
        </p:nvSpPr>
        <p:spPr>
          <a:xfrm>
            <a:off x="9235440" y="2807208"/>
            <a:ext cx="182880" cy="164592"/>
          </a:xfrm>
          <a:prstGeom prst="downArrow">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15200" y="2971800"/>
            <a:ext cx="4297680" cy="658368"/>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15200" y="2971800"/>
            <a:ext cx="1097280" cy="65836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0" y="2971800"/>
            <a:ext cx="1097280" cy="658368"/>
          </a:xfrm>
          <a:prstGeom prst="rect">
            <a:avLst/>
          </a:prstGeom>
          <a:noFill/>
        </p:spPr>
        <p:txBody>
          <a:bodyPr wrap="square" anchor="ctr" lIns="0" rIns="0" tIns="0" bIns="0">
            <a:spAutoFit/>
          </a:bodyPr>
          <a:lstStyle/>
          <a:p>
            <a:pPr algn="ctr"/>
            <a:r>
              <a:rPr sz="1200" b="1" i="0">
                <a:solidFill>
                  <a:srgbClr val="FFFFFF"/>
                </a:solidFill>
                <a:latin typeface="Segoe UI"/>
              </a:rPr>
              <a:t>Why?</a:t>
            </a:r>
          </a:p>
        </p:txBody>
      </p:sp>
      <p:sp>
        <p:nvSpPr>
          <p:cNvPr id="25" name="Rectangle 24"/>
          <p:cNvSpPr/>
          <p:nvPr/>
        </p:nvSpPr>
        <p:spPr>
          <a:xfrm>
            <a:off x="8641080" y="3291840"/>
            <a:ext cx="2743200"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wn Arrow 25"/>
          <p:cNvSpPr/>
          <p:nvPr/>
        </p:nvSpPr>
        <p:spPr>
          <a:xfrm>
            <a:off x="9235440" y="3630168"/>
            <a:ext cx="182880" cy="164592"/>
          </a:xfrm>
          <a:prstGeom prst="downArrow">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315200" y="3794760"/>
            <a:ext cx="4297680" cy="658368"/>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315200" y="3794760"/>
            <a:ext cx="1097280" cy="65836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0" y="3794760"/>
            <a:ext cx="1097280" cy="658368"/>
          </a:xfrm>
          <a:prstGeom prst="rect">
            <a:avLst/>
          </a:prstGeom>
          <a:noFill/>
        </p:spPr>
        <p:txBody>
          <a:bodyPr wrap="square" anchor="ctr" lIns="0" rIns="0" tIns="0" bIns="0">
            <a:spAutoFit/>
          </a:bodyPr>
          <a:lstStyle/>
          <a:p>
            <a:pPr algn="ctr"/>
            <a:r>
              <a:rPr sz="1200" b="1" i="0">
                <a:solidFill>
                  <a:srgbClr val="FFFFFF"/>
                </a:solidFill>
                <a:latin typeface="Segoe UI"/>
              </a:rPr>
              <a:t>Why?</a:t>
            </a:r>
          </a:p>
        </p:txBody>
      </p:sp>
      <p:sp>
        <p:nvSpPr>
          <p:cNvPr id="30" name="Rectangle 29"/>
          <p:cNvSpPr/>
          <p:nvPr/>
        </p:nvSpPr>
        <p:spPr>
          <a:xfrm>
            <a:off x="8641080" y="4114800"/>
            <a:ext cx="2743200"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76F5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76F51"/>
                </a:solidFill>
                <a:latin typeface="Segoe UI"/>
              </a:rPr>
              <a:t>PART 3 - THE PROBLEM STATEMENT</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Bringing the Criteria Together</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Textbook- and guide-based, reconciled</a:t>
            </a:r>
          </a:p>
        </p:txBody>
      </p:sp>
      <p:sp>
        <p:nvSpPr>
          <p:cNvPr id="8" name="Rectangle 7"/>
          <p:cNvSpPr/>
          <p:nvPr/>
        </p:nvSpPr>
        <p:spPr>
          <a:xfrm>
            <a:off x="576072" y="1572768"/>
            <a:ext cx="1554480" cy="502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49079" y="420624"/>
            <a:ext cx="2093976" cy="310896"/>
          </a:xfrm>
          <a:prstGeom prst="roundRect">
            <a:avLst>
              <a:gd name="adj" fmla="val 50000"/>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49079" y="420624"/>
            <a:ext cx="2093976" cy="310896"/>
          </a:xfrm>
          <a:prstGeom prst="rect">
            <a:avLst/>
          </a:prstGeom>
          <a:noFill/>
        </p:spPr>
        <p:txBody>
          <a:bodyPr wrap="square" anchor="ctr" lIns="0" rIns="0" tIns="0" bIns="0">
            <a:spAutoFit/>
          </a:bodyPr>
          <a:lstStyle/>
          <a:p>
            <a:pPr algn="ctr"/>
            <a:r>
              <a:rPr sz="1050" b="1" i="0">
                <a:solidFill>
                  <a:srgbClr val="FFFFFF"/>
                </a:solidFill>
                <a:latin typeface="Segoe UI"/>
              </a:rPr>
              <a:t>TEXTBOOK + GUIDE</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27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graphicFrame>
        <p:nvGraphicFramePr>
          <p:cNvPr id="13" name="Table 12"/>
          <p:cNvGraphicFramePr>
            <a:graphicFrameLocks noGrp="1"/>
          </p:cNvGraphicFramePr>
          <p:nvPr/>
        </p:nvGraphicFramePr>
        <p:xfrm>
          <a:off x="566928" y="2148840"/>
          <a:ext cx="11064240" cy="3822192"/>
        </p:xfrm>
        <a:graphic>
          <a:graphicData uri="http://schemas.openxmlformats.org/drawingml/2006/table">
            <a:tbl>
              <a:tblPr>
                <a:tableStyleId>{5C22544A-7EE6-4342-B048-85BDC9FD1C3A}</a:tableStyleId>
              </a:tblPr>
              <a:tblGrid>
                <a:gridCol w="5486400"/>
                <a:gridCol w="5577840"/>
              </a:tblGrid>
              <a:tr h="457200">
                <a:tc>
                  <a:txBody>
                    <a:bodyPr wrap="square"/>
                    <a:lstStyle/>
                    <a:p>
                      <a:pPr algn="l"/>
                      <a:r>
                        <a:rPr sz="1400" b="1" i="0">
                          <a:solidFill>
                            <a:srgbClr val="FFFFFF"/>
                          </a:solidFill>
                          <a:latin typeface="Segoe UI"/>
                        </a:rPr>
                        <a:t>Lecture 1 Checklist</a:t>
                      </a:r>
                    </a:p>
                  </a:txBody>
                  <a:tcPr marL="100584" marR="82296" marT="45720" marB="45720" anchor="ctr">
                    <a:solidFill>
                      <a:srgbClr val="E76F51"/>
                    </a:solidFill>
                  </a:tcPr>
                </a:tc>
                <a:tc>
                  <a:txBody>
                    <a:bodyPr wrap="square"/>
                    <a:lstStyle/>
                    <a:p>
                      <a:pPr algn="l"/>
                      <a:r>
                        <a:rPr sz="1400" b="1" i="0">
                          <a:solidFill>
                            <a:srgbClr val="FFFFFF"/>
                          </a:solidFill>
                          <a:latin typeface="Segoe UI"/>
                        </a:rPr>
                        <a:t>Problem Statement Element (Slide 18)</a:t>
                      </a:r>
                    </a:p>
                  </a:txBody>
                  <a:tcPr marL="100584" marR="82296" marT="45720" marB="45720" anchor="ctr">
                    <a:solidFill>
                      <a:srgbClr val="E76F51"/>
                    </a:solidFill>
                  </a:tcPr>
                </a:tc>
              </a:tr>
              <a:tr h="841248">
                <a:tc>
                  <a:txBody>
                    <a:bodyPr wrap="square"/>
                    <a:lstStyle/>
                    <a:p>
                      <a:pPr algn="l"/>
                      <a:r>
                        <a:rPr sz="1350" b="1" i="1">
                          <a:solidFill>
                            <a:srgbClr val="14252E"/>
                          </a:solidFill>
                          <a:latin typeface="Segoe UI"/>
                        </a:rPr>
                        <a:t>Clear</a:t>
                      </a:r>
                      <a:r>
                        <a:rPr sz="1350" b="0" i="0">
                          <a:solidFill>
                            <a:srgbClr val="14252E"/>
                          </a:solidFill>
                          <a:latin typeface="Segoe UI"/>
                        </a:rPr>
                        <a:t> - plain, specific language</a:t>
                      </a:r>
                    </a:p>
                  </a:txBody>
                  <a:tcPr marL="100584" marR="82296" marT="45720" marB="45720" anchor="ctr">
                    <a:solidFill>
                      <a:srgbClr val="FFFFFF"/>
                    </a:solidFill>
                  </a:tcPr>
                </a:tc>
                <a:tc>
                  <a:txBody>
                    <a:bodyPr wrap="square"/>
                    <a:lstStyle/>
                    <a:p>
                      <a:pPr algn="l"/>
                      <a:r>
                        <a:rPr sz="1350" b="0" i="0">
                          <a:solidFill>
                            <a:srgbClr val="3A4B54"/>
                          </a:solidFill>
                          <a:latin typeface="Segoe UI"/>
                        </a:rPr>
                        <a:t>Supports precise </a:t>
                      </a:r>
                      <a:r>
                        <a:rPr sz="1350" b="0" i="1">
                          <a:solidFill>
                            <a:srgbClr val="3A4B54"/>
                          </a:solidFill>
                          <a:latin typeface="Segoe UI"/>
                        </a:rPr>
                        <a:t>Gap</a:t>
                      </a:r>
                      <a:r>
                        <a:rPr sz="1350" b="0" i="0">
                          <a:solidFill>
                            <a:srgbClr val="3A4B54"/>
                          </a:solidFill>
                          <a:latin typeface="Segoe UI"/>
                        </a:rPr>
                        <a:t> and </a:t>
                      </a:r>
                      <a:r>
                        <a:rPr sz="1350" b="0" i="1">
                          <a:solidFill>
                            <a:srgbClr val="3A4B54"/>
                          </a:solidFill>
                          <a:latin typeface="Segoe UI"/>
                        </a:rPr>
                        <a:t>Orientation</a:t>
                      </a:r>
                    </a:p>
                  </a:txBody>
                  <a:tcPr marL="100584" marR="82296" marT="45720" marB="45720" anchor="ctr">
                    <a:solidFill>
                      <a:srgbClr val="FFFFFF"/>
                    </a:solidFill>
                  </a:tcPr>
                </a:tc>
              </a:tr>
              <a:tr h="841248">
                <a:tc>
                  <a:txBody>
                    <a:bodyPr wrap="square"/>
                    <a:lstStyle/>
                    <a:p>
                      <a:pPr algn="l"/>
                      <a:r>
                        <a:rPr sz="1350" b="1" i="1">
                          <a:solidFill>
                            <a:srgbClr val="14252E"/>
                          </a:solidFill>
                          <a:latin typeface="Segoe UI"/>
                        </a:rPr>
                        <a:t>Specific</a:t>
                      </a:r>
                      <a:r>
                        <a:rPr sz="1350" b="0" i="0">
                          <a:solidFill>
                            <a:srgbClr val="14252E"/>
                          </a:solidFill>
                          <a:latin typeface="Segoe UI"/>
                        </a:rPr>
                        <a:t> - names population, context, issue</a:t>
                      </a:r>
                    </a:p>
                  </a:txBody>
                  <a:tcPr marL="100584" marR="82296" marT="45720" marB="45720" anchor="ctr">
                    <a:solidFill>
                      <a:srgbClr val="ECF2F3"/>
                    </a:solidFill>
                  </a:tcPr>
                </a:tc>
                <a:tc>
                  <a:txBody>
                    <a:bodyPr wrap="square"/>
                    <a:lstStyle/>
                    <a:p>
                      <a:pPr algn="l"/>
                      <a:r>
                        <a:rPr sz="1350" b="0" i="0">
                          <a:solidFill>
                            <a:srgbClr val="3A4B54"/>
                          </a:solidFill>
                          <a:latin typeface="Segoe UI"/>
                        </a:rPr>
                        <a:t>Supports </a:t>
                      </a:r>
                      <a:r>
                        <a:rPr sz="1350" b="0" i="1">
                          <a:solidFill>
                            <a:srgbClr val="3A4B54"/>
                          </a:solidFill>
                          <a:latin typeface="Segoe UI"/>
                        </a:rPr>
                        <a:t>Orientation</a:t>
                      </a:r>
                    </a:p>
                  </a:txBody>
                  <a:tcPr marL="100584" marR="82296" marT="45720" marB="45720" anchor="ctr">
                    <a:solidFill>
                      <a:srgbClr val="ECF2F3"/>
                    </a:solidFill>
                  </a:tcPr>
                </a:tc>
              </a:tr>
              <a:tr h="841248">
                <a:tc>
                  <a:txBody>
                    <a:bodyPr wrap="square"/>
                    <a:lstStyle/>
                    <a:p>
                      <a:pPr algn="l"/>
                      <a:r>
                        <a:rPr sz="1350" b="1" i="1">
                          <a:solidFill>
                            <a:srgbClr val="14252E"/>
                          </a:solidFill>
                          <a:latin typeface="Segoe UI"/>
                        </a:rPr>
                        <a:t>Researchable</a:t>
                      </a:r>
                      <a:r>
                        <a:rPr sz="1350" b="0" i="0">
                          <a:solidFill>
                            <a:srgbClr val="14252E"/>
                          </a:solidFill>
                          <a:latin typeface="Segoe UI"/>
                        </a:rPr>
                        <a:t> - can realistically be studied</a:t>
                      </a:r>
                    </a:p>
                  </a:txBody>
                  <a:tcPr marL="100584" marR="82296" marT="45720" marB="45720" anchor="ctr">
                    <a:solidFill>
                      <a:srgbClr val="FFFFFF"/>
                    </a:solidFill>
                  </a:tcPr>
                </a:tc>
                <a:tc>
                  <a:txBody>
                    <a:bodyPr wrap="square"/>
                    <a:lstStyle/>
                    <a:p>
                      <a:pPr algn="l"/>
                      <a:r>
                        <a:rPr sz="1350" b="0" i="0">
                          <a:solidFill>
                            <a:srgbClr val="3A4B54"/>
                          </a:solidFill>
                          <a:latin typeface="Segoe UI"/>
                        </a:rPr>
                        <a:t>Supports a well-scoped </a:t>
                      </a:r>
                      <a:r>
                        <a:rPr sz="1350" b="0" i="1">
                          <a:solidFill>
                            <a:srgbClr val="3A4B54"/>
                          </a:solidFill>
                          <a:latin typeface="Segoe UI"/>
                        </a:rPr>
                        <a:t>Gap</a:t>
                      </a:r>
                    </a:p>
                  </a:txBody>
                  <a:tcPr marL="100584" marR="82296" marT="45720" marB="45720" anchor="ctr">
                    <a:solidFill>
                      <a:srgbClr val="FFFFFF"/>
                    </a:solidFill>
                  </a:tcPr>
                </a:tc>
              </a:tr>
              <a:tr h="841248">
                <a:tc>
                  <a:txBody>
                    <a:bodyPr wrap="square"/>
                    <a:lstStyle/>
                    <a:p>
                      <a:pPr algn="l"/>
                      <a:r>
                        <a:rPr sz="1350" b="1" i="1">
                          <a:solidFill>
                            <a:srgbClr val="14252E"/>
                          </a:solidFill>
                          <a:latin typeface="Segoe UI"/>
                        </a:rPr>
                        <a:t>Significant</a:t>
                      </a:r>
                      <a:r>
                        <a:rPr sz="1350" b="0" i="0">
                          <a:solidFill>
                            <a:srgbClr val="14252E"/>
                          </a:solidFill>
                          <a:latin typeface="Segoe UI"/>
                        </a:rPr>
                        <a:t> - matters to a real audience</a:t>
                      </a:r>
                    </a:p>
                  </a:txBody>
                  <a:tcPr marL="100584" marR="82296" marT="45720" marB="45720" anchor="ctr">
                    <a:solidFill>
                      <a:srgbClr val="ECF2F3"/>
                    </a:solidFill>
                  </a:tcPr>
                </a:tc>
                <a:tc>
                  <a:txBody>
                    <a:bodyPr wrap="square"/>
                    <a:lstStyle/>
                    <a:p>
                      <a:pPr algn="l"/>
                      <a:r>
                        <a:rPr sz="1350" b="0" i="0">
                          <a:solidFill>
                            <a:srgbClr val="3A4B54"/>
                          </a:solidFill>
                          <a:latin typeface="Segoe UI"/>
                        </a:rPr>
                        <a:t>Supports </a:t>
                      </a:r>
                      <a:r>
                        <a:rPr sz="1350" b="0" i="1">
                          <a:solidFill>
                            <a:srgbClr val="3A4B54"/>
                          </a:solidFill>
                          <a:latin typeface="Segoe UI"/>
                        </a:rPr>
                        <a:t>Impact</a:t>
                      </a:r>
                      <a:r>
                        <a:rPr sz="1350" b="0" i="0">
                          <a:solidFill>
                            <a:srgbClr val="3A4B54"/>
                          </a:solidFill>
                          <a:latin typeface="Segoe UI"/>
                        </a:rPr>
                        <a:t> and </a:t>
                      </a:r>
                      <a:r>
                        <a:rPr sz="1350" b="0" i="1">
                          <a:solidFill>
                            <a:srgbClr val="3A4B54"/>
                          </a:solidFill>
                          <a:latin typeface="Segoe UI"/>
                        </a:rPr>
                        <a:t>Significance</a:t>
                      </a:r>
                    </a:p>
                  </a:txBody>
                  <a:tcPr marL="100584" marR="82296" marT="45720" marB="45720" anchor="ctr">
                    <a:solidFill>
                      <a:srgbClr val="ECF2F3"/>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76F5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76F51"/>
                </a:solidFill>
                <a:latin typeface="Segoe UI"/>
              </a:rPr>
              <a:t>PART 3 - THE PROBLEM STATEMENT</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The Full Problem Statement, Written Out</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Annotated example</a:t>
            </a:r>
          </a:p>
        </p:txBody>
      </p:sp>
      <p:sp>
        <p:nvSpPr>
          <p:cNvPr id="8" name="Rectangle 7"/>
          <p:cNvSpPr/>
          <p:nvPr/>
        </p:nvSpPr>
        <p:spPr>
          <a:xfrm>
            <a:off x="576072" y="1572768"/>
            <a:ext cx="1554480" cy="502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28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1965960"/>
            <a:ext cx="11064240" cy="342900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1965960"/>
            <a:ext cx="100584" cy="342900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011679"/>
            <a:ext cx="548640" cy="640080"/>
          </a:xfrm>
          <a:prstGeom prst="rect">
            <a:avLst/>
          </a:prstGeom>
          <a:noFill/>
        </p:spPr>
        <p:txBody>
          <a:bodyPr wrap="square" anchor="t" lIns="0" rIns="0" tIns="0" bIns="0">
            <a:spAutoFit/>
          </a:bodyPr>
          <a:lstStyle/>
          <a:p>
            <a:pPr algn="l"/>
            <a:r>
              <a:rPr sz="4400" b="1" i="0">
                <a:solidFill>
                  <a:srgbClr val="EFA18D"/>
                </a:solidFill>
                <a:latin typeface="Segoe UI"/>
              </a:rPr>
              <a:t>“</a:t>
            </a:r>
          </a:p>
        </p:txBody>
      </p:sp>
      <p:sp>
        <p:nvSpPr>
          <p:cNvPr id="16" name="TextBox 15"/>
          <p:cNvSpPr txBox="1"/>
          <p:nvPr/>
        </p:nvSpPr>
        <p:spPr>
          <a:xfrm>
            <a:off x="950976" y="2532888"/>
            <a:ext cx="10378440" cy="2651760"/>
          </a:xfrm>
          <a:prstGeom prst="rect">
            <a:avLst/>
          </a:prstGeom>
          <a:noFill/>
        </p:spPr>
        <p:txBody>
          <a:bodyPr wrap="square" anchor="t" lIns="0" rIns="0" tIns="0" bIns="0">
            <a:spAutoFit/>
          </a:bodyPr>
          <a:lstStyle/>
          <a:p>
            <a:pPr algn="l">
              <a:lnSpc>
                <a:spcPct val="114000"/>
              </a:lnSpc>
            </a:pPr>
            <a:r>
              <a:rPr sz="1350" b="0" i="1">
                <a:solidFill>
                  <a:srgbClr val="14252E"/>
                </a:solidFill>
                <a:latin typeface="Segoe UI"/>
              </a:rPr>
              <a:t>In a coastal barangay in the Philippines, despite general community awareness of plastic pollution, households continue to under-segregate plastic waste, resulting in high volumes of uncollected and improperly sorted plastic entering local waterways. This pattern has intensified as the barangay's population and consumption have grown, with waste audits showing rising volumes even after a past one-time awareness campaign. Left unaddressed, continued improper segregation contributes to clogged waterways, coastal pollution, and rising costs for local waste management. Understanding the household-level, systemic reasons behind this gap - beyond simple awareness - is significant for barangay officials designing sustainable, peer-reinforced waste-education programs rather than one-time campaigns.</a:t>
            </a:r>
          </a:p>
        </p:txBody>
      </p:sp>
      <p:sp>
        <p:nvSpPr>
          <p:cNvPr id="17" name="Rounded Rectangle 16"/>
          <p:cNvSpPr/>
          <p:nvPr/>
        </p:nvSpPr>
        <p:spPr>
          <a:xfrm>
            <a:off x="566928" y="5577840"/>
            <a:ext cx="11064240" cy="658368"/>
          </a:xfrm>
          <a:prstGeom prst="roundRect">
            <a:avLst>
              <a:gd name="adj" fmla="val 12000"/>
            </a:avLst>
          </a:prstGeom>
          <a:solidFill>
            <a:srgbClr val="FAE5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6928" y="5577840"/>
            <a:ext cx="82296" cy="65836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577840"/>
            <a:ext cx="10607040" cy="658368"/>
          </a:xfrm>
          <a:prstGeom prst="rect">
            <a:avLst/>
          </a:prstGeom>
          <a:noFill/>
        </p:spPr>
        <p:txBody>
          <a:bodyPr wrap="square" anchor="ctr" lIns="0" rIns="0" tIns="0" bIns="0">
            <a:spAutoFit/>
          </a:bodyPr>
          <a:lstStyle/>
          <a:p>
            <a:pPr algn="l">
              <a:lnSpc>
                <a:spcPct val="102000"/>
              </a:lnSpc>
            </a:pPr>
            <a:r>
              <a:rPr sz="1400" b="0" i="1">
                <a:solidFill>
                  <a:srgbClr val="14252E"/>
                </a:solidFill>
                <a:latin typeface="Segoe UI"/>
              </a:rPr>
              <a:t>Built from: the gap (Part 2), the root-cause insight (Slide 25), and all four elements (Slide 18).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76F5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76F51"/>
                </a:solidFill>
                <a:latin typeface="Segoe UI"/>
              </a:rPr>
              <a:t>PART 3 - THE PROBLEM STATEMENT</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Practice: Write the Full Statement</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Activity  -  dengue thread payoff</a:t>
            </a:r>
          </a:p>
        </p:txBody>
      </p:sp>
      <p:sp>
        <p:nvSpPr>
          <p:cNvPr id="8" name="Rectangle 7"/>
          <p:cNvSpPr/>
          <p:nvPr/>
        </p:nvSpPr>
        <p:spPr>
          <a:xfrm>
            <a:off x="576072" y="1572768"/>
            <a:ext cx="1554480" cy="502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29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1463040" y="2286000"/>
            <a:ext cx="3383280" cy="109728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463040" y="2286000"/>
            <a:ext cx="3383280" cy="38404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2286000"/>
            <a:ext cx="3383280" cy="384048"/>
          </a:xfrm>
          <a:prstGeom prst="rect">
            <a:avLst/>
          </a:prstGeom>
          <a:noFill/>
        </p:spPr>
        <p:txBody>
          <a:bodyPr wrap="square" anchor="ctr" lIns="0" rIns="0" tIns="0" bIns="0">
            <a:spAutoFit/>
          </a:bodyPr>
          <a:lstStyle/>
          <a:p>
            <a:pPr algn="ctr"/>
            <a:r>
              <a:rPr sz="1250" b="1" i="0">
                <a:solidFill>
                  <a:srgbClr val="FFFFFF"/>
                </a:solidFill>
                <a:latin typeface="Segoe UI"/>
              </a:rPr>
              <a:t>Slide 22</a:t>
            </a:r>
          </a:p>
        </p:txBody>
      </p:sp>
      <p:sp>
        <p:nvSpPr>
          <p:cNvPr id="16" name="TextBox 15"/>
          <p:cNvSpPr txBox="1"/>
          <p:nvPr/>
        </p:nvSpPr>
        <p:spPr>
          <a:xfrm>
            <a:off x="1463040" y="2697480"/>
            <a:ext cx="3383280" cy="640080"/>
          </a:xfrm>
          <a:prstGeom prst="rect">
            <a:avLst/>
          </a:prstGeom>
          <a:noFill/>
        </p:spPr>
        <p:txBody>
          <a:bodyPr wrap="square" anchor="ctr" lIns="0" rIns="0" tIns="0" bIns="0">
            <a:spAutoFit/>
          </a:bodyPr>
          <a:lstStyle/>
          <a:p>
            <a:pPr algn="ctr"/>
            <a:r>
              <a:rPr sz="1400" b="1" i="0">
                <a:solidFill>
                  <a:srgbClr val="14252E"/>
                </a:solidFill>
                <a:latin typeface="Segoe UI"/>
              </a:rPr>
              <a:t>narrowed scope</a:t>
            </a:r>
          </a:p>
        </p:txBody>
      </p:sp>
      <p:sp>
        <p:nvSpPr>
          <p:cNvPr id="17" name="Rounded Rectangle 16"/>
          <p:cNvSpPr/>
          <p:nvPr/>
        </p:nvSpPr>
        <p:spPr>
          <a:xfrm>
            <a:off x="5577840" y="2286000"/>
            <a:ext cx="3383280" cy="109728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577840" y="2286000"/>
            <a:ext cx="3383280" cy="384048"/>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77840" y="2286000"/>
            <a:ext cx="3383280" cy="384048"/>
          </a:xfrm>
          <a:prstGeom prst="rect">
            <a:avLst/>
          </a:prstGeom>
          <a:noFill/>
        </p:spPr>
        <p:txBody>
          <a:bodyPr wrap="square" anchor="ctr" lIns="0" rIns="0" tIns="0" bIns="0">
            <a:spAutoFit/>
          </a:bodyPr>
          <a:lstStyle/>
          <a:p>
            <a:pPr algn="ctr"/>
            <a:r>
              <a:rPr sz="1250" b="1" i="0">
                <a:solidFill>
                  <a:srgbClr val="FFFFFF"/>
                </a:solidFill>
                <a:latin typeface="Segoe UI"/>
              </a:rPr>
              <a:t>Slide 26</a:t>
            </a:r>
          </a:p>
        </p:txBody>
      </p:sp>
      <p:sp>
        <p:nvSpPr>
          <p:cNvPr id="20" name="TextBox 19"/>
          <p:cNvSpPr txBox="1"/>
          <p:nvPr/>
        </p:nvSpPr>
        <p:spPr>
          <a:xfrm>
            <a:off x="5577840" y="2697480"/>
            <a:ext cx="3383280" cy="640080"/>
          </a:xfrm>
          <a:prstGeom prst="rect">
            <a:avLst/>
          </a:prstGeom>
          <a:noFill/>
        </p:spPr>
        <p:txBody>
          <a:bodyPr wrap="square" anchor="ctr" lIns="0" rIns="0" tIns="0" bIns="0">
            <a:spAutoFit/>
          </a:bodyPr>
          <a:lstStyle/>
          <a:p>
            <a:pPr algn="ctr"/>
            <a:r>
              <a:rPr sz="1400" b="1" i="0">
                <a:solidFill>
                  <a:srgbClr val="14252E"/>
                </a:solidFill>
                <a:latin typeface="Segoe UI"/>
              </a:rPr>
              <a:t>root cause</a:t>
            </a:r>
          </a:p>
        </p:txBody>
      </p:sp>
      <p:sp>
        <p:nvSpPr>
          <p:cNvPr id="21" name="TextBox 20"/>
          <p:cNvSpPr txBox="1"/>
          <p:nvPr/>
        </p:nvSpPr>
        <p:spPr>
          <a:xfrm>
            <a:off x="4846320" y="2606040"/>
            <a:ext cx="822960" cy="457200"/>
          </a:xfrm>
          <a:prstGeom prst="rect">
            <a:avLst/>
          </a:prstGeom>
          <a:noFill/>
        </p:spPr>
        <p:txBody>
          <a:bodyPr wrap="square" anchor="t" lIns="0" rIns="0" tIns="0" bIns="0">
            <a:spAutoFit/>
          </a:bodyPr>
          <a:lstStyle/>
          <a:p>
            <a:pPr algn="ctr"/>
            <a:r>
              <a:rPr sz="3000" b="1" i="0">
                <a:solidFill>
                  <a:srgbClr val="E76F51"/>
                </a:solidFill>
                <a:latin typeface="Segoe UI"/>
              </a:rPr>
              <a:t>+</a:t>
            </a:r>
          </a:p>
        </p:txBody>
      </p:sp>
      <p:sp>
        <p:nvSpPr>
          <p:cNvPr id="22" name="Rounded Rectangle 21"/>
          <p:cNvSpPr/>
          <p:nvPr/>
        </p:nvSpPr>
        <p:spPr>
          <a:xfrm>
            <a:off x="1463040" y="3794760"/>
            <a:ext cx="9235440" cy="960120"/>
          </a:xfrm>
          <a:prstGeom prst="roundRect">
            <a:avLst>
              <a:gd name="adj" fmla="val 8000"/>
            </a:avLst>
          </a:prstGeom>
          <a:solidFill>
            <a:srgbClr val="FBE9E4"/>
          </a:solidFill>
          <a:ln w="12700">
            <a:solidFill>
              <a:srgbClr val="F3B7A8"/>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37360" y="3794760"/>
            <a:ext cx="8686800" cy="960120"/>
          </a:xfrm>
          <a:prstGeom prst="rect">
            <a:avLst/>
          </a:prstGeom>
          <a:noFill/>
        </p:spPr>
        <p:txBody>
          <a:bodyPr wrap="square" anchor="ctr" lIns="0" rIns="0" tIns="0" bIns="0">
            <a:spAutoFit/>
          </a:bodyPr>
          <a:lstStyle/>
          <a:p>
            <a:pPr algn="ctr">
              <a:lnSpc>
                <a:spcPct val="100000"/>
              </a:lnSpc>
            </a:pPr>
            <a:r>
              <a:rPr sz="1600" b="1" i="0">
                <a:solidFill>
                  <a:srgbClr val="14252E"/>
                </a:solidFill>
                <a:latin typeface="Segoe UI"/>
              </a:rPr>
              <a:t>One full problem-statement paragraph for the dengue scenario</a:t>
            </a:r>
          </a:p>
        </p:txBody>
      </p:sp>
      <p:sp>
        <p:nvSpPr>
          <p:cNvPr id="24" name="Down Arrow 23"/>
          <p:cNvSpPr/>
          <p:nvPr/>
        </p:nvSpPr>
        <p:spPr>
          <a:xfrm>
            <a:off x="5852160" y="3429000"/>
            <a:ext cx="457200" cy="320040"/>
          </a:xfrm>
          <a:prstGeom prst="downArrow">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66928" y="5074920"/>
            <a:ext cx="11064240" cy="822960"/>
          </a:xfrm>
          <a:prstGeom prst="roundRect">
            <a:avLst>
              <a:gd name="adj" fmla="val 12000"/>
            </a:avLst>
          </a:prstGeom>
          <a:solidFill>
            <a:srgbClr val="FAE5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66928" y="5074920"/>
            <a:ext cx="82296" cy="82296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074920"/>
            <a:ext cx="10607040" cy="822960"/>
          </a:xfrm>
          <a:prstGeom prst="rect">
            <a:avLst/>
          </a:prstGeom>
          <a:noFill/>
        </p:spPr>
        <p:txBody>
          <a:bodyPr wrap="square" anchor="ctr" lIns="0" rIns="0" tIns="0" bIns="0">
            <a:spAutoFit/>
          </a:bodyPr>
          <a:lstStyle/>
          <a:p>
            <a:pPr algn="l">
              <a:lnSpc>
                <a:spcPct val="102000"/>
              </a:lnSpc>
            </a:pPr>
            <a:r>
              <a:rPr sz="1450" b="0" i="1">
                <a:solidFill>
                  <a:srgbClr val="14252E"/>
                </a:solidFill>
                <a:latin typeface="Segoe UI"/>
              </a:rPr>
              <a:t>Combine your work from Slide 22 + Slide 26. Check it against BOTH columns from Slide 27 before sharing with another pair.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7B4E8C">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7B4E8C"/>
                </a:solidFill>
                <a:latin typeface="Segoe UI"/>
              </a:rPr>
              <a:t>PART 4 - QUESTIONS &amp; HYPOTHESES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From Problem to Guiding Questions</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Transition</a:t>
            </a:r>
          </a:p>
        </p:txBody>
      </p:sp>
      <p:sp>
        <p:nvSpPr>
          <p:cNvPr id="8" name="Rectangle 7"/>
          <p:cNvSpPr/>
          <p:nvPr/>
        </p:nvSpPr>
        <p:spPr>
          <a:xfrm>
            <a:off x="576072" y="1572768"/>
            <a:ext cx="1554480" cy="50292"/>
          </a:xfrm>
          <a:prstGeom prst="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30  /  51</a:t>
            </a:r>
          </a:p>
        </p:txBody>
      </p:sp>
      <p:sp>
        <p:nvSpPr>
          <p:cNvPr id="10" name="TextBox 9"/>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1" name="Rounded Rectangle 10"/>
          <p:cNvSpPr/>
          <p:nvPr/>
        </p:nvSpPr>
        <p:spPr>
          <a:xfrm>
            <a:off x="1463040" y="2468880"/>
            <a:ext cx="9235440" cy="96012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463040" y="2468880"/>
            <a:ext cx="3108960" cy="960120"/>
          </a:xfrm>
          <a:prstGeom prst="round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00200" y="2468880"/>
            <a:ext cx="2834640" cy="960120"/>
          </a:xfrm>
          <a:prstGeom prst="rect">
            <a:avLst/>
          </a:prstGeom>
          <a:noFill/>
        </p:spPr>
        <p:txBody>
          <a:bodyPr wrap="square" anchor="ctr" lIns="0" rIns="0" tIns="0" bIns="0">
            <a:spAutoFit/>
          </a:bodyPr>
          <a:lstStyle/>
          <a:p>
            <a:pPr algn="l">
              <a:lnSpc>
                <a:spcPct val="95000"/>
              </a:lnSpc>
            </a:pPr>
            <a:r>
              <a:rPr sz="1500" b="1" i="0">
                <a:solidFill>
                  <a:srgbClr val="FFFFFF"/>
                </a:solidFill>
                <a:latin typeface="Segoe UI"/>
              </a:rPr>
              <a:t>Problem statement</a:t>
            </a:r>
          </a:p>
        </p:txBody>
      </p:sp>
      <p:sp>
        <p:nvSpPr>
          <p:cNvPr id="14" name="TextBox 13"/>
          <p:cNvSpPr txBox="1"/>
          <p:nvPr/>
        </p:nvSpPr>
        <p:spPr>
          <a:xfrm>
            <a:off x="4754880" y="2468880"/>
            <a:ext cx="5760720" cy="960120"/>
          </a:xfrm>
          <a:prstGeom prst="rect">
            <a:avLst/>
          </a:prstGeom>
          <a:noFill/>
        </p:spPr>
        <p:txBody>
          <a:bodyPr wrap="square" anchor="ctr" lIns="0" rIns="0" tIns="0" bIns="0">
            <a:spAutoFit/>
          </a:bodyPr>
          <a:lstStyle/>
          <a:p>
            <a:pPr algn="l">
              <a:lnSpc>
                <a:spcPct val="103000"/>
              </a:lnSpc>
            </a:pPr>
            <a:r>
              <a:rPr sz="1400" b="0" i="0">
                <a:solidFill>
                  <a:srgbClr val="14252E"/>
                </a:solidFill>
                <a:latin typeface="Segoe UI"/>
              </a:rPr>
              <a:t>tells the reader WHAT is wrong or unknown.</a:t>
            </a:r>
          </a:p>
        </p:txBody>
      </p:sp>
      <p:sp>
        <p:nvSpPr>
          <p:cNvPr id="15" name="Down Arrow 14"/>
          <p:cNvSpPr/>
          <p:nvPr/>
        </p:nvSpPr>
        <p:spPr>
          <a:xfrm>
            <a:off x="5852160" y="3401568"/>
            <a:ext cx="365760" cy="137160"/>
          </a:xfrm>
          <a:prstGeom prst="downArrow">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463040" y="3520440"/>
            <a:ext cx="9235440" cy="96012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63040" y="3520440"/>
            <a:ext cx="3108960" cy="960120"/>
          </a:xfrm>
          <a:prstGeom prst="roundRect">
            <a:avLst/>
          </a:prstGeom>
          <a:solidFill>
            <a:srgbClr val="674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00200" y="3520440"/>
            <a:ext cx="2834640" cy="960120"/>
          </a:xfrm>
          <a:prstGeom prst="rect">
            <a:avLst/>
          </a:prstGeom>
          <a:noFill/>
        </p:spPr>
        <p:txBody>
          <a:bodyPr wrap="square" anchor="ctr" lIns="0" rIns="0" tIns="0" bIns="0">
            <a:spAutoFit/>
          </a:bodyPr>
          <a:lstStyle/>
          <a:p>
            <a:pPr algn="l">
              <a:lnSpc>
                <a:spcPct val="95000"/>
              </a:lnSpc>
            </a:pPr>
            <a:r>
              <a:rPr sz="1500" b="1" i="0">
                <a:solidFill>
                  <a:srgbClr val="FFFFFF"/>
                </a:solidFill>
                <a:latin typeface="Segoe UI"/>
              </a:rPr>
              <a:t>...but not yet actionable</a:t>
            </a:r>
          </a:p>
        </p:txBody>
      </p:sp>
      <p:sp>
        <p:nvSpPr>
          <p:cNvPr id="19" name="TextBox 18"/>
          <p:cNvSpPr txBox="1"/>
          <p:nvPr/>
        </p:nvSpPr>
        <p:spPr>
          <a:xfrm>
            <a:off x="4754880" y="3520440"/>
            <a:ext cx="5760720" cy="960120"/>
          </a:xfrm>
          <a:prstGeom prst="rect">
            <a:avLst/>
          </a:prstGeom>
          <a:noFill/>
        </p:spPr>
        <p:txBody>
          <a:bodyPr wrap="square" anchor="ctr" lIns="0" rIns="0" tIns="0" bIns="0">
            <a:spAutoFit/>
          </a:bodyPr>
          <a:lstStyle/>
          <a:p>
            <a:pPr algn="l">
              <a:lnSpc>
                <a:spcPct val="103000"/>
              </a:lnSpc>
            </a:pPr>
            <a:r>
              <a:rPr sz="1400" b="0" i="0">
                <a:solidFill>
                  <a:srgbClr val="14252E"/>
                </a:solidFill>
                <a:latin typeface="Segoe UI"/>
              </a:rPr>
              <a:t>It doesn't tell the researcher WHAT to actually go out and ask or measure.</a:t>
            </a:r>
          </a:p>
        </p:txBody>
      </p:sp>
      <p:sp>
        <p:nvSpPr>
          <p:cNvPr id="20" name="Down Arrow 19"/>
          <p:cNvSpPr/>
          <p:nvPr/>
        </p:nvSpPr>
        <p:spPr>
          <a:xfrm>
            <a:off x="5852160" y="4453128"/>
            <a:ext cx="365760" cy="137160"/>
          </a:xfrm>
          <a:prstGeom prst="downArrow">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463040" y="4572000"/>
            <a:ext cx="9235440" cy="96012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463040" y="4572000"/>
            <a:ext cx="3108960" cy="960120"/>
          </a:xfrm>
          <a:prstGeom prst="round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00200" y="4572000"/>
            <a:ext cx="2834640" cy="960120"/>
          </a:xfrm>
          <a:prstGeom prst="rect">
            <a:avLst/>
          </a:prstGeom>
          <a:noFill/>
        </p:spPr>
        <p:txBody>
          <a:bodyPr wrap="square" anchor="ctr" lIns="0" rIns="0" tIns="0" bIns="0">
            <a:spAutoFit/>
          </a:bodyPr>
          <a:lstStyle/>
          <a:p>
            <a:pPr algn="l">
              <a:lnSpc>
                <a:spcPct val="95000"/>
              </a:lnSpc>
            </a:pPr>
            <a:r>
              <a:rPr sz="1500" b="1" i="0">
                <a:solidFill>
                  <a:srgbClr val="FFFFFF"/>
                </a:solidFill>
                <a:latin typeface="Segoe UI"/>
              </a:rPr>
              <a:t>Quantitative move</a:t>
            </a:r>
          </a:p>
        </p:txBody>
      </p:sp>
      <p:sp>
        <p:nvSpPr>
          <p:cNvPr id="24" name="TextBox 23"/>
          <p:cNvSpPr txBox="1"/>
          <p:nvPr/>
        </p:nvSpPr>
        <p:spPr>
          <a:xfrm>
            <a:off x="4754880" y="4572000"/>
            <a:ext cx="5760720" cy="960120"/>
          </a:xfrm>
          <a:prstGeom prst="rect">
            <a:avLst/>
          </a:prstGeom>
          <a:noFill/>
        </p:spPr>
        <p:txBody>
          <a:bodyPr wrap="square" anchor="ctr" lIns="0" rIns="0" tIns="0" bIns="0">
            <a:spAutoFit/>
          </a:bodyPr>
          <a:lstStyle/>
          <a:p>
            <a:pPr algn="l">
              <a:lnSpc>
                <a:spcPct val="103000"/>
              </a:lnSpc>
            </a:pPr>
            <a:r>
              <a:rPr sz="1400" b="0" i="0">
                <a:solidFill>
                  <a:srgbClr val="14252E"/>
                </a:solidFill>
                <a:latin typeface="Segoe UI"/>
              </a:rPr>
              <a:t>turn the problem into a precise question - or a testable prediction - about specific variables.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7B4E8C">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7B4E8C"/>
                </a:solidFill>
                <a:latin typeface="Segoe UI"/>
              </a:rPr>
              <a:t>PART 4 - QUESTIONS &amp; HYPOTHESES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Two Types of Quantitative Questions</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Fill-in-the-blank templates</a:t>
            </a:r>
          </a:p>
        </p:txBody>
      </p:sp>
      <p:sp>
        <p:nvSpPr>
          <p:cNvPr id="8" name="Rectangle 7"/>
          <p:cNvSpPr/>
          <p:nvPr/>
        </p:nvSpPr>
        <p:spPr>
          <a:xfrm>
            <a:off x="576072" y="1572768"/>
            <a:ext cx="1554480" cy="50292"/>
          </a:xfrm>
          <a:prstGeom prst="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759391" y="420624"/>
            <a:ext cx="1883664" cy="310896"/>
          </a:xfrm>
          <a:prstGeom prst="roundRect">
            <a:avLst>
              <a:gd name="adj" fmla="val 50000"/>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9391" y="420624"/>
            <a:ext cx="1883664" cy="310896"/>
          </a:xfrm>
          <a:prstGeom prst="rect">
            <a:avLst/>
          </a:prstGeom>
          <a:noFill/>
        </p:spPr>
        <p:txBody>
          <a:bodyPr wrap="square" anchor="ctr" lIns="0" rIns="0" tIns="0" bIns="0">
            <a:spAutoFit/>
          </a:bodyPr>
          <a:lstStyle/>
          <a:p>
            <a:pPr algn="ctr"/>
            <a:r>
              <a:rPr sz="1050" b="1" i="0">
                <a:solidFill>
                  <a:srgbClr val="FFFFFF"/>
                </a:solidFill>
                <a:latin typeface="Segoe UI"/>
              </a:rPr>
              <a:t>TEXTBOOK-BASED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31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1965960"/>
            <a:ext cx="11064240" cy="123444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1965960"/>
            <a:ext cx="3017520" cy="1234440"/>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1965960"/>
            <a:ext cx="3017520" cy="1234440"/>
          </a:xfrm>
          <a:prstGeom prst="rect">
            <a:avLst/>
          </a:prstGeom>
          <a:noFill/>
        </p:spPr>
        <p:txBody>
          <a:bodyPr wrap="square" anchor="ctr" lIns="0" rIns="0" tIns="0" bIns="0">
            <a:spAutoFit/>
          </a:bodyPr>
          <a:lstStyle/>
          <a:p>
            <a:pPr algn="ctr">
              <a:spcAft>
                <a:spcPts val="300"/>
              </a:spcAft>
            </a:pPr>
            <a:r>
              <a:rPr sz="1500" b="1" i="0">
                <a:solidFill>
                  <a:srgbClr val="FFFFFF"/>
                </a:solidFill>
                <a:latin typeface="Segoe UI"/>
              </a:rPr>
              <a:t>Descriptive question</a:t>
            </a:r>
          </a:p>
          <a:p>
            <a:pPr algn="ctr"/>
            <a:r>
              <a:rPr sz="1150" b="0" i="1">
                <a:solidFill>
                  <a:srgbClr val="FFFFFF"/>
                </a:solidFill>
                <a:latin typeface="Segoe UI"/>
              </a:rPr>
              <a:t>describes a single variable</a:t>
            </a:r>
          </a:p>
        </p:txBody>
      </p:sp>
      <p:sp>
        <p:nvSpPr>
          <p:cNvPr id="16" name="TextBox 15"/>
          <p:cNvSpPr txBox="1"/>
          <p:nvPr/>
        </p:nvSpPr>
        <p:spPr>
          <a:xfrm>
            <a:off x="3749039" y="2103120"/>
            <a:ext cx="7680960" cy="960120"/>
          </a:xfrm>
          <a:prstGeom prst="rect">
            <a:avLst/>
          </a:prstGeom>
          <a:noFill/>
        </p:spPr>
        <p:txBody>
          <a:bodyPr wrap="square" anchor="ctr" lIns="0" rIns="0" tIns="0" bIns="0">
            <a:spAutoFit/>
          </a:bodyPr>
          <a:lstStyle/>
          <a:p>
            <a:pPr algn="l">
              <a:lnSpc>
                <a:spcPct val="108000"/>
              </a:lnSpc>
            </a:pPr>
            <a:r>
              <a:rPr sz="1450" b="0" i="1">
                <a:solidFill>
                  <a:srgbClr val="14252E"/>
                </a:solidFill>
                <a:latin typeface="Segoe UI"/>
              </a:rPr>
              <a:t>“What is the frequency and variation of scores on ____ (variable) for ____ (participants)?”</a:t>
            </a:r>
          </a:p>
        </p:txBody>
      </p:sp>
      <p:sp>
        <p:nvSpPr>
          <p:cNvPr id="17" name="Rounded Rectangle 16"/>
          <p:cNvSpPr/>
          <p:nvPr/>
        </p:nvSpPr>
        <p:spPr>
          <a:xfrm>
            <a:off x="566928" y="3383280"/>
            <a:ext cx="11064240" cy="155448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6928" y="3383280"/>
            <a:ext cx="3017520" cy="155448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83280"/>
            <a:ext cx="3017520" cy="1554480"/>
          </a:xfrm>
          <a:prstGeom prst="rect">
            <a:avLst/>
          </a:prstGeom>
          <a:noFill/>
        </p:spPr>
        <p:txBody>
          <a:bodyPr wrap="square" anchor="ctr" lIns="0" rIns="0" tIns="0" bIns="0">
            <a:spAutoFit/>
          </a:bodyPr>
          <a:lstStyle/>
          <a:p>
            <a:pPr algn="ctr">
              <a:spcAft>
                <a:spcPts val="300"/>
              </a:spcAft>
            </a:pPr>
            <a:r>
              <a:rPr sz="1500" b="1" i="0">
                <a:solidFill>
                  <a:srgbClr val="FFFFFF"/>
                </a:solidFill>
                <a:latin typeface="Segoe UI"/>
              </a:rPr>
              <a:t>Relationship / inferential question</a:t>
            </a:r>
          </a:p>
          <a:p>
            <a:pPr algn="ctr">
              <a:lnSpc>
                <a:spcPct val="95000"/>
              </a:lnSpc>
            </a:pPr>
            <a:r>
              <a:rPr sz="1100" b="0" i="1">
                <a:solidFill>
                  <a:srgbClr val="FFFFFF"/>
                </a:solidFill>
                <a:latin typeface="Segoe UI"/>
              </a:rPr>
              <a:t>how two or more variables relate, often grounded in a theory</a:t>
            </a:r>
          </a:p>
        </p:txBody>
      </p:sp>
      <p:sp>
        <p:nvSpPr>
          <p:cNvPr id="20" name="TextBox 19"/>
          <p:cNvSpPr txBox="1"/>
          <p:nvPr/>
        </p:nvSpPr>
        <p:spPr>
          <a:xfrm>
            <a:off x="3749039" y="3493008"/>
            <a:ext cx="7680960" cy="1371600"/>
          </a:xfrm>
          <a:prstGeom prst="rect">
            <a:avLst/>
          </a:prstGeom>
          <a:noFill/>
        </p:spPr>
        <p:txBody>
          <a:bodyPr wrap="square" anchor="ctr" lIns="0" rIns="0" tIns="0" bIns="0">
            <a:spAutoFit/>
          </a:bodyPr>
          <a:lstStyle/>
          <a:p>
            <a:pPr algn="l">
              <a:lnSpc>
                <a:spcPct val="110000"/>
              </a:lnSpc>
            </a:pPr>
            <a:r>
              <a:rPr sz="1350" b="0" i="1">
                <a:solidFill>
                  <a:srgbClr val="14252E"/>
                </a:solidFill>
                <a:latin typeface="Segoe UI"/>
              </a:rPr>
              <a:t>“____ (theory) suggests ____ (relationship). It is predicted that there will be a relationship between ____ (predictor) and ____ (outcome), such that ____ (direction of effect).”</a:t>
            </a:r>
          </a:p>
        </p:txBody>
      </p:sp>
      <p:sp>
        <p:nvSpPr>
          <p:cNvPr id="21" name="Rounded Rectangle 20"/>
          <p:cNvSpPr/>
          <p:nvPr/>
        </p:nvSpPr>
        <p:spPr>
          <a:xfrm>
            <a:off x="566928" y="5120640"/>
            <a:ext cx="11064240" cy="777240"/>
          </a:xfrm>
          <a:prstGeom prst="roundRect">
            <a:avLst>
              <a:gd name="adj" fmla="val 12000"/>
            </a:avLst>
          </a:prstGeom>
          <a:solidFill>
            <a:srgbClr val="E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66928" y="5120640"/>
            <a:ext cx="82296" cy="777240"/>
          </a:xfrm>
          <a:prstGeom prst="round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120640"/>
            <a:ext cx="10607040" cy="777240"/>
          </a:xfrm>
          <a:prstGeom prst="rect">
            <a:avLst/>
          </a:prstGeom>
          <a:noFill/>
        </p:spPr>
        <p:txBody>
          <a:bodyPr wrap="square" anchor="ctr" lIns="0" rIns="0" tIns="0" bIns="0">
            <a:spAutoFit/>
          </a:bodyPr>
          <a:lstStyle/>
          <a:p>
            <a:pPr algn="l">
              <a:lnSpc>
                <a:spcPct val="102000"/>
              </a:lnSpc>
            </a:pPr>
            <a:r>
              <a:rPr sz="1400" b="0" i="1">
                <a:solidFill>
                  <a:srgbClr val="14252E"/>
                </a:solidFill>
                <a:latin typeface="Segoe UI"/>
              </a:rPr>
              <a:t>Descriptive questions come first in most quantitative studies - you need to know what your data even looks like before you can test relationships within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7B4E8C">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7B4E8C"/>
                </a:solidFill>
                <a:latin typeface="Segoe UI"/>
              </a:rPr>
              <a:t>PART 4 - QUESTIONS &amp; HYPOTHESES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Naming Your Variables</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The building blocks of a quantitative study</a:t>
            </a:r>
          </a:p>
        </p:txBody>
      </p:sp>
      <p:sp>
        <p:nvSpPr>
          <p:cNvPr id="8" name="Rectangle 7"/>
          <p:cNvSpPr/>
          <p:nvPr/>
        </p:nvSpPr>
        <p:spPr>
          <a:xfrm>
            <a:off x="576072" y="1572768"/>
            <a:ext cx="1554480" cy="50292"/>
          </a:xfrm>
          <a:prstGeom prst="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759391" y="420624"/>
            <a:ext cx="1883664" cy="310896"/>
          </a:xfrm>
          <a:prstGeom prst="roundRect">
            <a:avLst>
              <a:gd name="adj" fmla="val 50000"/>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9391" y="420624"/>
            <a:ext cx="1883664" cy="310896"/>
          </a:xfrm>
          <a:prstGeom prst="rect">
            <a:avLst/>
          </a:prstGeom>
          <a:noFill/>
        </p:spPr>
        <p:txBody>
          <a:bodyPr wrap="square" anchor="ctr" lIns="0" rIns="0" tIns="0" bIns="0">
            <a:spAutoFit/>
          </a:bodyPr>
          <a:lstStyle/>
          <a:p>
            <a:pPr algn="ctr"/>
            <a:r>
              <a:rPr sz="1050" b="1" i="0">
                <a:solidFill>
                  <a:srgbClr val="FFFFFF"/>
                </a:solidFill>
                <a:latin typeface="Segoe UI"/>
              </a:rPr>
              <a:t>TEXTBOOK-BASED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32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TextBox 12"/>
          <p:cNvSpPr txBox="1"/>
          <p:nvPr/>
        </p:nvSpPr>
        <p:spPr>
          <a:xfrm>
            <a:off x="566928" y="2057400"/>
            <a:ext cx="6126480" cy="3108960"/>
          </a:xfrm>
          <a:prstGeom prst="rect">
            <a:avLst/>
          </a:prstGeom>
          <a:noFill/>
        </p:spPr>
        <p:txBody>
          <a:bodyPr wrap="square" lIns="0" rIns="0" tIns="0" bIns="0">
            <a:spAutoFit/>
          </a:bodyPr>
          <a:lstStyle/>
          <a:p>
            <a:pPr>
              <a:lnSpc>
                <a:spcPct val="104000"/>
              </a:lnSpc>
              <a:spcAft>
                <a:spcPts val="1200"/>
              </a:spcAft>
            </a:pPr>
            <a:r>
              <a:rPr sz="1050">
                <a:solidFill>
                  <a:srgbClr val="7B4E8C"/>
                </a:solidFill>
              </a:rPr>
              <a:t>■  </a:t>
            </a:r>
            <a:r>
              <a:rPr sz="1450" b="1" i="0">
                <a:solidFill>
                  <a:srgbClr val="14252E"/>
                </a:solidFill>
                <a:latin typeface="Segoe UI"/>
              </a:rPr>
              <a:t>Independent / predictor variable</a:t>
            </a:r>
            <a:r>
              <a:rPr sz="1450" b="0" i="0">
                <a:solidFill>
                  <a:srgbClr val="14252E"/>
                </a:solidFill>
                <a:latin typeface="Segoe UI"/>
              </a:rPr>
              <a:t> - the variable thought to influence or predict an outcome.</a:t>
            </a:r>
          </a:p>
          <a:p>
            <a:pPr>
              <a:lnSpc>
                <a:spcPct val="104000"/>
              </a:lnSpc>
              <a:spcAft>
                <a:spcPts val="1200"/>
              </a:spcAft>
            </a:pPr>
            <a:r>
              <a:rPr sz="1050">
                <a:solidFill>
                  <a:srgbClr val="7B4E8C"/>
                </a:solidFill>
              </a:rPr>
              <a:t>■  </a:t>
            </a:r>
            <a:r>
              <a:rPr sz="1450" b="1" i="0">
                <a:solidFill>
                  <a:srgbClr val="14252E"/>
                </a:solidFill>
                <a:latin typeface="Segoe UI"/>
              </a:rPr>
              <a:t>Dependent / outcome variable</a:t>
            </a:r>
            <a:r>
              <a:rPr sz="1450" b="0" i="0">
                <a:solidFill>
                  <a:srgbClr val="14252E"/>
                </a:solidFill>
                <a:latin typeface="Segoe UI"/>
              </a:rPr>
              <a:t> - the variable being affected or predicted.</a:t>
            </a:r>
          </a:p>
          <a:p>
            <a:pPr>
              <a:lnSpc>
                <a:spcPct val="104000"/>
              </a:lnSpc>
              <a:spcAft>
                <a:spcPts val="1200"/>
              </a:spcAft>
            </a:pPr>
            <a:r>
              <a:rPr sz="1050">
                <a:solidFill>
                  <a:srgbClr val="7B4E8C"/>
                </a:solidFill>
              </a:rPr>
              <a:t>■  </a:t>
            </a:r>
            <a:r>
              <a:rPr sz="1450" b="1" i="0">
                <a:solidFill>
                  <a:srgbClr val="14252E"/>
                </a:solidFill>
                <a:latin typeface="Segoe UI"/>
              </a:rPr>
              <a:t>Mediating variable</a:t>
            </a:r>
            <a:r>
              <a:rPr sz="1450" b="0" i="0">
                <a:solidFill>
                  <a:srgbClr val="14252E"/>
                </a:solidFill>
                <a:latin typeface="Segoe UI"/>
              </a:rPr>
              <a:t> - a variable that might explain </a:t>
            </a:r>
            <a:r>
              <a:rPr sz="1450" b="0" i="1">
                <a:solidFill>
                  <a:srgbClr val="14252E"/>
                </a:solidFill>
                <a:latin typeface="Segoe UI"/>
              </a:rPr>
              <a:t>how</a:t>
            </a:r>
            <a:r>
              <a:rPr sz="1450" b="0" i="0">
                <a:solidFill>
                  <a:srgbClr val="14252E"/>
                </a:solidFill>
                <a:latin typeface="Segoe UI"/>
              </a:rPr>
              <a:t> or </a:t>
            </a:r>
            <a:r>
              <a:rPr sz="1450" b="0" i="1">
                <a:solidFill>
                  <a:srgbClr val="14252E"/>
                </a:solidFill>
                <a:latin typeface="Segoe UI"/>
              </a:rPr>
              <a:t>why</a:t>
            </a:r>
            <a:r>
              <a:rPr sz="1450" b="0" i="0">
                <a:solidFill>
                  <a:srgbClr val="14252E"/>
                </a:solidFill>
                <a:latin typeface="Segoe UI"/>
              </a:rPr>
              <a:t> the predictor affects the outcome, even if it isn't the main focus.</a:t>
            </a:r>
          </a:p>
        </p:txBody>
      </p:sp>
      <p:sp>
        <p:nvSpPr>
          <p:cNvPr id="14" name="Rounded Rectangle 13"/>
          <p:cNvSpPr/>
          <p:nvPr/>
        </p:nvSpPr>
        <p:spPr>
          <a:xfrm>
            <a:off x="7315200" y="2286000"/>
            <a:ext cx="1828800" cy="777240"/>
          </a:xfrm>
          <a:prstGeom prst="roundRect">
            <a:avLst/>
          </a:prstGeom>
          <a:solidFill>
            <a:srgbClr val="2B6CB2"/>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0" y="2286000"/>
            <a:ext cx="1828800" cy="777240"/>
          </a:xfrm>
          <a:prstGeom prst="rect">
            <a:avLst/>
          </a:prstGeom>
          <a:noFill/>
        </p:spPr>
        <p:txBody>
          <a:bodyPr wrap="square" anchor="ctr" lIns="0" rIns="0" tIns="0" bIns="0">
            <a:spAutoFit/>
          </a:bodyPr>
          <a:lstStyle/>
          <a:p>
            <a:pPr algn="ctr">
              <a:lnSpc>
                <a:spcPct val="95000"/>
              </a:lnSpc>
            </a:pPr>
            <a:r>
              <a:rPr sz="1250" b="1" i="0">
                <a:solidFill>
                  <a:srgbClr val="FFFFFF"/>
                </a:solidFill>
                <a:latin typeface="Segoe UI"/>
              </a:rPr>
              <a:t>Predictor
variable</a:t>
            </a:r>
          </a:p>
        </p:txBody>
      </p:sp>
      <p:sp>
        <p:nvSpPr>
          <p:cNvPr id="16" name="Rounded Rectangle 15"/>
          <p:cNvSpPr/>
          <p:nvPr/>
        </p:nvSpPr>
        <p:spPr>
          <a:xfrm>
            <a:off x="9738360" y="2286000"/>
            <a:ext cx="1828800" cy="777240"/>
          </a:xfrm>
          <a:prstGeom prst="roundRect">
            <a:avLst/>
          </a:prstGeom>
          <a:solidFill>
            <a:srgbClr val="2A9D8F"/>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8360" y="2286000"/>
            <a:ext cx="1828800" cy="777240"/>
          </a:xfrm>
          <a:prstGeom prst="rect">
            <a:avLst/>
          </a:prstGeom>
          <a:noFill/>
        </p:spPr>
        <p:txBody>
          <a:bodyPr wrap="square" anchor="ctr" lIns="0" rIns="0" tIns="0" bIns="0">
            <a:spAutoFit/>
          </a:bodyPr>
          <a:lstStyle/>
          <a:p>
            <a:pPr algn="ctr">
              <a:lnSpc>
                <a:spcPct val="95000"/>
              </a:lnSpc>
            </a:pPr>
            <a:r>
              <a:rPr sz="1250" b="1" i="0">
                <a:solidFill>
                  <a:srgbClr val="FFFFFF"/>
                </a:solidFill>
                <a:latin typeface="Segoe UI"/>
              </a:rPr>
              <a:t>Outcome
variable</a:t>
            </a:r>
          </a:p>
        </p:txBody>
      </p:sp>
      <p:sp>
        <p:nvSpPr>
          <p:cNvPr id="18" name="Right Arrow 17"/>
          <p:cNvSpPr/>
          <p:nvPr/>
        </p:nvSpPr>
        <p:spPr>
          <a:xfrm>
            <a:off x="9189720" y="2542032"/>
            <a:ext cx="502920" cy="274320"/>
          </a:xfrm>
          <a:prstGeom prst="rightArrow">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503920" y="3520440"/>
            <a:ext cx="1874519" cy="731520"/>
          </a:xfrm>
          <a:prstGeom prst="roundRect">
            <a:avLst/>
          </a:prstGeom>
          <a:solidFill>
            <a:srgbClr val="7B4E8C"/>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0" y="3520440"/>
            <a:ext cx="1874519" cy="731520"/>
          </a:xfrm>
          <a:prstGeom prst="rect">
            <a:avLst/>
          </a:prstGeom>
          <a:noFill/>
        </p:spPr>
        <p:txBody>
          <a:bodyPr wrap="square" anchor="ctr" lIns="0" rIns="0" tIns="0" bIns="0">
            <a:spAutoFit/>
          </a:bodyPr>
          <a:lstStyle/>
          <a:p>
            <a:pPr algn="ctr">
              <a:lnSpc>
                <a:spcPct val="95000"/>
              </a:lnSpc>
            </a:pPr>
            <a:r>
              <a:rPr sz="1200" b="1" i="0">
                <a:solidFill>
                  <a:srgbClr val="FFFFFF"/>
                </a:solidFill>
                <a:latin typeface="Segoe UI"/>
              </a:rPr>
              <a:t>Mediating
variable</a:t>
            </a:r>
          </a:p>
        </p:txBody>
      </p:sp>
      <p:sp>
        <p:nvSpPr>
          <p:cNvPr id="21" name="Down Arrow 20"/>
          <p:cNvSpPr/>
          <p:nvPr/>
        </p:nvSpPr>
        <p:spPr>
          <a:xfrm>
            <a:off x="9372600" y="3108960"/>
            <a:ext cx="164592" cy="457200"/>
          </a:xfrm>
          <a:prstGeom prst="downArrow">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66928" y="5349240"/>
            <a:ext cx="11064240" cy="777240"/>
          </a:xfrm>
          <a:prstGeom prst="roundRect">
            <a:avLst>
              <a:gd name="adj" fmla="val 12000"/>
            </a:avLst>
          </a:prstGeom>
          <a:solidFill>
            <a:srgbClr val="E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66928" y="5349240"/>
            <a:ext cx="82296" cy="777240"/>
          </a:xfrm>
          <a:prstGeom prst="round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349240"/>
            <a:ext cx="10607040" cy="777240"/>
          </a:xfrm>
          <a:prstGeom prst="rect">
            <a:avLst/>
          </a:prstGeom>
          <a:noFill/>
        </p:spPr>
        <p:txBody>
          <a:bodyPr wrap="square" anchor="ctr" lIns="0" rIns="0" tIns="0" bIns="0">
            <a:spAutoFit/>
          </a:bodyPr>
          <a:lstStyle/>
          <a:p>
            <a:pPr algn="l">
              <a:lnSpc>
                <a:spcPct val="102000"/>
              </a:lnSpc>
            </a:pPr>
            <a:r>
              <a:rPr sz="1400" b="0" i="1">
                <a:solidFill>
                  <a:srgbClr val="14252E"/>
                </a:solidFill>
                <a:latin typeface="Segoe UI"/>
              </a:rPr>
              <a:t>The strongest quantitative studies ground their variable relationships in an existing theory - a theory gives you a reason to predict the relationship, not just a hunch.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7B4E8C">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7B4E8C"/>
                </a:solidFill>
                <a:latin typeface="Segoe UI"/>
              </a:rPr>
              <a:t>PART 4 - QUESTIONS &amp; HYPOTHESES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Descriptive vs. Relationship Questions Applied</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Annotated example</a:t>
            </a:r>
          </a:p>
        </p:txBody>
      </p:sp>
      <p:sp>
        <p:nvSpPr>
          <p:cNvPr id="8" name="Rectangle 7"/>
          <p:cNvSpPr/>
          <p:nvPr/>
        </p:nvSpPr>
        <p:spPr>
          <a:xfrm>
            <a:off x="576072" y="1572768"/>
            <a:ext cx="1554480" cy="50292"/>
          </a:xfrm>
          <a:prstGeom prst="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33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1965960"/>
            <a:ext cx="11064240" cy="105156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1965960"/>
            <a:ext cx="2377440" cy="1051560"/>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1965960"/>
            <a:ext cx="2377440" cy="1051560"/>
          </a:xfrm>
          <a:prstGeom prst="rect">
            <a:avLst/>
          </a:prstGeom>
          <a:noFill/>
        </p:spPr>
        <p:txBody>
          <a:bodyPr wrap="square" anchor="ctr" lIns="0" rIns="0" tIns="0" bIns="0">
            <a:spAutoFit/>
          </a:bodyPr>
          <a:lstStyle/>
          <a:p>
            <a:pPr algn="ctr"/>
            <a:r>
              <a:rPr sz="1400" b="1" i="0">
                <a:solidFill>
                  <a:srgbClr val="FFFFFF"/>
                </a:solidFill>
                <a:latin typeface="Segoe UI"/>
              </a:rPr>
              <a:t>Descriptive RQ</a:t>
            </a:r>
          </a:p>
        </p:txBody>
      </p:sp>
      <p:sp>
        <p:nvSpPr>
          <p:cNvPr id="16" name="TextBox 15"/>
          <p:cNvSpPr txBox="1"/>
          <p:nvPr/>
        </p:nvSpPr>
        <p:spPr>
          <a:xfrm>
            <a:off x="3108960" y="1965960"/>
            <a:ext cx="8321040" cy="1051560"/>
          </a:xfrm>
          <a:prstGeom prst="rect">
            <a:avLst/>
          </a:prstGeom>
          <a:noFill/>
        </p:spPr>
        <p:txBody>
          <a:bodyPr wrap="square" anchor="ctr" lIns="0" rIns="0" tIns="0" bIns="0">
            <a:spAutoFit/>
          </a:bodyPr>
          <a:lstStyle/>
          <a:p>
            <a:pPr algn="l">
              <a:lnSpc>
                <a:spcPct val="105000"/>
              </a:lnSpc>
            </a:pPr>
            <a:r>
              <a:rPr sz="1400" b="0" i="1">
                <a:solidFill>
                  <a:srgbClr val="14252E"/>
                </a:solidFill>
                <a:latin typeface="Segoe UI"/>
              </a:rPr>
              <a:t>“What is the frequency and variation of plastic-segregation compliance scores among households in the coastal barangay?”</a:t>
            </a:r>
          </a:p>
        </p:txBody>
      </p:sp>
      <p:sp>
        <p:nvSpPr>
          <p:cNvPr id="17" name="Rounded Rectangle 16"/>
          <p:cNvSpPr/>
          <p:nvPr/>
        </p:nvSpPr>
        <p:spPr>
          <a:xfrm>
            <a:off x="566928" y="3154680"/>
            <a:ext cx="11064240" cy="182880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6928" y="3154680"/>
            <a:ext cx="2377440" cy="182880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54680"/>
            <a:ext cx="2377440" cy="1828800"/>
          </a:xfrm>
          <a:prstGeom prst="rect">
            <a:avLst/>
          </a:prstGeom>
          <a:noFill/>
        </p:spPr>
        <p:txBody>
          <a:bodyPr wrap="square" anchor="ctr" lIns="0" rIns="0" tIns="0" bIns="0">
            <a:spAutoFit/>
          </a:bodyPr>
          <a:lstStyle/>
          <a:p>
            <a:pPr algn="ctr">
              <a:spcAft>
                <a:spcPts val="200"/>
              </a:spcAft>
            </a:pPr>
            <a:r>
              <a:rPr sz="1400" b="1" i="0">
                <a:solidFill>
                  <a:srgbClr val="FFFFFF"/>
                </a:solidFill>
                <a:latin typeface="Segoe UI"/>
              </a:rPr>
              <a:t>Relationship RQ</a:t>
            </a:r>
          </a:p>
          <a:p>
            <a:pPr algn="ctr"/>
            <a:r>
              <a:rPr sz="1100" b="0" i="1">
                <a:solidFill>
                  <a:srgbClr val="FFFFFF"/>
                </a:solidFill>
                <a:latin typeface="Segoe UI"/>
              </a:rPr>
              <a:t>theory-grounded</a:t>
            </a:r>
          </a:p>
        </p:txBody>
      </p:sp>
      <p:sp>
        <p:nvSpPr>
          <p:cNvPr id="20" name="TextBox 19"/>
          <p:cNvSpPr txBox="1"/>
          <p:nvPr/>
        </p:nvSpPr>
        <p:spPr>
          <a:xfrm>
            <a:off x="3108960" y="3246120"/>
            <a:ext cx="8321040" cy="1645920"/>
          </a:xfrm>
          <a:prstGeom prst="rect">
            <a:avLst/>
          </a:prstGeom>
          <a:noFill/>
        </p:spPr>
        <p:txBody>
          <a:bodyPr wrap="square" anchor="ctr" lIns="0" rIns="0" tIns="0" bIns="0">
            <a:spAutoFit/>
          </a:bodyPr>
          <a:lstStyle/>
          <a:p>
            <a:pPr algn="l">
              <a:lnSpc>
                <a:spcPct val="108000"/>
              </a:lnSpc>
            </a:pPr>
            <a:r>
              <a:rPr sz="1250" b="0" i="1">
                <a:solidFill>
                  <a:srgbClr val="14252E"/>
                </a:solidFill>
                <a:latin typeface="Segoe UI"/>
              </a:rPr>
              <a:t>“Social Learning Theory suggests that behavior is shaped through observing and interacting with role models and community norms. It is predicted that there will be a relationship between household exposure to peer-led education programs (predictor) and plastic-segregation compliance (outcome), such that greater exposure is associated with higher compliance.”</a:t>
            </a:r>
          </a:p>
        </p:txBody>
      </p:sp>
      <p:sp>
        <p:nvSpPr>
          <p:cNvPr id="21" name="Rounded Rectangle 20"/>
          <p:cNvSpPr/>
          <p:nvPr/>
        </p:nvSpPr>
        <p:spPr>
          <a:xfrm>
            <a:off x="566928" y="5166360"/>
            <a:ext cx="11064240" cy="658368"/>
          </a:xfrm>
          <a:prstGeom prst="roundRect">
            <a:avLst>
              <a:gd name="adj" fmla="val 12000"/>
            </a:avLst>
          </a:prstGeom>
          <a:solidFill>
            <a:srgbClr val="E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66928" y="5166360"/>
            <a:ext cx="82296" cy="658368"/>
          </a:xfrm>
          <a:prstGeom prst="round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166360"/>
            <a:ext cx="10607040" cy="658368"/>
          </a:xfrm>
          <a:prstGeom prst="rect">
            <a:avLst/>
          </a:prstGeom>
          <a:noFill/>
        </p:spPr>
        <p:txBody>
          <a:bodyPr wrap="square" anchor="ctr" lIns="0" rIns="0" tIns="0" bIns="0">
            <a:spAutoFit/>
          </a:bodyPr>
          <a:lstStyle/>
          <a:p>
            <a:pPr algn="l">
              <a:lnSpc>
                <a:spcPct val="102000"/>
              </a:lnSpc>
            </a:pPr>
            <a:r>
              <a:rPr sz="1400" b="0" i="0">
                <a:solidFill>
                  <a:srgbClr val="14252E"/>
                </a:solidFill>
                <a:latin typeface="Segoe UI"/>
              </a:rPr>
              <a:t>Variables named:  predictor = peer-education program exposure;  outcome = segregation compliance.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7B4E8C">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7B4E8C"/>
                </a:solidFill>
                <a:latin typeface="Segoe UI"/>
              </a:rPr>
              <a:t>PART 4 - QUESTIONS &amp; HYPOTHESES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Qualities of a Good Question</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Checklist</a:t>
            </a:r>
          </a:p>
        </p:txBody>
      </p:sp>
      <p:sp>
        <p:nvSpPr>
          <p:cNvPr id="8" name="Rectangle 7"/>
          <p:cNvSpPr/>
          <p:nvPr/>
        </p:nvSpPr>
        <p:spPr>
          <a:xfrm>
            <a:off x="576072" y="1572768"/>
            <a:ext cx="1554480" cy="50292"/>
          </a:xfrm>
          <a:prstGeom prst="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759391" y="420624"/>
            <a:ext cx="1883664" cy="310896"/>
          </a:xfrm>
          <a:prstGeom prst="roundRect">
            <a:avLst>
              <a:gd name="adj" fmla="val 50000"/>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9391" y="420624"/>
            <a:ext cx="1883664" cy="310896"/>
          </a:xfrm>
          <a:prstGeom prst="rect">
            <a:avLst/>
          </a:prstGeom>
          <a:noFill/>
        </p:spPr>
        <p:txBody>
          <a:bodyPr wrap="square" anchor="ctr" lIns="0" rIns="0" tIns="0" bIns="0">
            <a:spAutoFit/>
          </a:bodyPr>
          <a:lstStyle/>
          <a:p>
            <a:pPr algn="ctr"/>
            <a:r>
              <a:rPr sz="1050" b="1" i="0">
                <a:solidFill>
                  <a:srgbClr val="FFFFFF"/>
                </a:solidFill>
                <a:latin typeface="Segoe UI"/>
              </a:rPr>
              <a:t>TEXTBOOK-BASED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34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2057400"/>
            <a:ext cx="6492240" cy="96012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3232" y="2290572"/>
            <a:ext cx="493776" cy="493776"/>
          </a:xfrm>
          <a:prstGeom prst="ellipse">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2272284"/>
            <a:ext cx="493776" cy="493776"/>
          </a:xfrm>
          <a:prstGeom prst="rect">
            <a:avLst/>
          </a:prstGeom>
          <a:noFill/>
        </p:spPr>
        <p:txBody>
          <a:bodyPr wrap="square" anchor="ctr" lIns="0" rIns="0" tIns="0" bIns="0">
            <a:spAutoFit/>
          </a:bodyPr>
          <a:lstStyle/>
          <a:p>
            <a:pPr algn="ctr"/>
            <a:r>
              <a:rPr sz="1700" b="1" i="0">
                <a:solidFill>
                  <a:srgbClr val="FFFFFF"/>
                </a:solidFill>
                <a:latin typeface="Segoe UI"/>
              </a:rPr>
              <a:t>◎</a:t>
            </a:r>
          </a:p>
        </p:txBody>
      </p:sp>
      <p:sp>
        <p:nvSpPr>
          <p:cNvPr id="16" name="TextBox 15"/>
          <p:cNvSpPr txBox="1"/>
          <p:nvPr/>
        </p:nvSpPr>
        <p:spPr>
          <a:xfrm>
            <a:off x="1353312" y="2148840"/>
            <a:ext cx="5532120" cy="777240"/>
          </a:xfrm>
          <a:prstGeom prst="rect">
            <a:avLst/>
          </a:prstGeom>
          <a:noFill/>
        </p:spPr>
        <p:txBody>
          <a:bodyPr wrap="square" anchor="ctr" lIns="0" rIns="0" tIns="0" bIns="0">
            <a:spAutoFit/>
          </a:bodyPr>
          <a:lstStyle/>
          <a:p>
            <a:pPr algn="l">
              <a:lnSpc>
                <a:spcPct val="95000"/>
              </a:lnSpc>
              <a:spcAft>
                <a:spcPts val="200"/>
              </a:spcAft>
            </a:pPr>
            <a:r>
              <a:rPr sz="1500" b="1" i="0">
                <a:solidFill>
                  <a:srgbClr val="14252E"/>
                </a:solidFill>
                <a:latin typeface="Segoe UI"/>
              </a:rPr>
              <a:t>Specific</a:t>
            </a:r>
          </a:p>
          <a:p>
            <a:pPr algn="l">
              <a:lnSpc>
                <a:spcPct val="98000"/>
              </a:lnSpc>
            </a:pPr>
            <a:r>
              <a:rPr sz="1200" b="0" i="0">
                <a:solidFill>
                  <a:srgbClr val="3A4B54"/>
                </a:solidFill>
                <a:latin typeface="Segoe UI"/>
              </a:rPr>
              <a:t>Names the variable(s) or phenomenon clearly.</a:t>
            </a:r>
          </a:p>
        </p:txBody>
      </p:sp>
      <p:sp>
        <p:nvSpPr>
          <p:cNvPr id="17" name="Rounded Rectangle 16"/>
          <p:cNvSpPr/>
          <p:nvPr/>
        </p:nvSpPr>
        <p:spPr>
          <a:xfrm>
            <a:off x="566928" y="3182112"/>
            <a:ext cx="6492240" cy="96012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415284"/>
            <a:ext cx="493776" cy="493776"/>
          </a:xfrm>
          <a:prstGeom prst="ellipse">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396996"/>
            <a:ext cx="493776" cy="493776"/>
          </a:xfrm>
          <a:prstGeom prst="rect">
            <a:avLst/>
          </a:prstGeom>
          <a:noFill/>
        </p:spPr>
        <p:txBody>
          <a:bodyPr wrap="square" anchor="ctr" lIns="0" rIns="0" tIns="0" bIns="0">
            <a:spAutoFit/>
          </a:bodyPr>
          <a:lstStyle/>
          <a:p>
            <a:pPr algn="ctr"/>
            <a:r>
              <a:rPr sz="1700" b="1" i="0">
                <a:solidFill>
                  <a:srgbClr val="FFFFFF"/>
                </a:solidFill>
                <a:latin typeface="Segoe UI"/>
              </a:rPr>
              <a:t>✓</a:t>
            </a:r>
          </a:p>
        </p:txBody>
      </p:sp>
      <p:sp>
        <p:nvSpPr>
          <p:cNvPr id="20" name="TextBox 19"/>
          <p:cNvSpPr txBox="1"/>
          <p:nvPr/>
        </p:nvSpPr>
        <p:spPr>
          <a:xfrm>
            <a:off x="1353312" y="3273552"/>
            <a:ext cx="5532120" cy="777240"/>
          </a:xfrm>
          <a:prstGeom prst="rect">
            <a:avLst/>
          </a:prstGeom>
          <a:noFill/>
        </p:spPr>
        <p:txBody>
          <a:bodyPr wrap="square" anchor="ctr" lIns="0" rIns="0" tIns="0" bIns="0">
            <a:spAutoFit/>
          </a:bodyPr>
          <a:lstStyle/>
          <a:p>
            <a:pPr algn="l">
              <a:lnSpc>
                <a:spcPct val="95000"/>
              </a:lnSpc>
              <a:spcAft>
                <a:spcPts val="200"/>
              </a:spcAft>
            </a:pPr>
            <a:r>
              <a:rPr sz="1500" b="1" i="0">
                <a:solidFill>
                  <a:srgbClr val="14252E"/>
                </a:solidFill>
                <a:latin typeface="Segoe UI"/>
              </a:rPr>
              <a:t>Researchable</a:t>
            </a:r>
          </a:p>
          <a:p>
            <a:pPr algn="l">
              <a:lnSpc>
                <a:spcPct val="98000"/>
              </a:lnSpc>
            </a:pPr>
            <a:r>
              <a:rPr sz="1200" b="0" i="0">
                <a:solidFill>
                  <a:srgbClr val="3A4B54"/>
                </a:solidFill>
                <a:latin typeface="Segoe UI"/>
              </a:rPr>
              <a:t>Can be answered using data the group can realistically collect.</a:t>
            </a:r>
          </a:p>
        </p:txBody>
      </p:sp>
      <p:sp>
        <p:nvSpPr>
          <p:cNvPr id="21" name="Rounded Rectangle 20"/>
          <p:cNvSpPr/>
          <p:nvPr/>
        </p:nvSpPr>
        <p:spPr>
          <a:xfrm>
            <a:off x="566928" y="4306824"/>
            <a:ext cx="6492240" cy="96012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3232" y="4539996"/>
            <a:ext cx="493776" cy="493776"/>
          </a:xfrm>
          <a:prstGeom prst="ellipse">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4521708"/>
            <a:ext cx="493776" cy="493776"/>
          </a:xfrm>
          <a:prstGeom prst="rect">
            <a:avLst/>
          </a:prstGeom>
          <a:noFill/>
        </p:spPr>
        <p:txBody>
          <a:bodyPr wrap="square" anchor="ctr" lIns="0" rIns="0" tIns="0" bIns="0">
            <a:spAutoFit/>
          </a:bodyPr>
          <a:lstStyle/>
          <a:p>
            <a:pPr algn="ctr"/>
            <a:r>
              <a:rPr sz="1700" b="1" i="0">
                <a:solidFill>
                  <a:srgbClr val="FFFFFF"/>
                </a:solidFill>
                <a:latin typeface="Segoe UI"/>
              </a:rPr>
              <a:t>↔</a:t>
            </a:r>
          </a:p>
        </p:txBody>
      </p:sp>
      <p:sp>
        <p:nvSpPr>
          <p:cNvPr id="24" name="TextBox 23"/>
          <p:cNvSpPr txBox="1"/>
          <p:nvPr/>
        </p:nvSpPr>
        <p:spPr>
          <a:xfrm>
            <a:off x="1353312" y="4398264"/>
            <a:ext cx="5532120" cy="777240"/>
          </a:xfrm>
          <a:prstGeom prst="rect">
            <a:avLst/>
          </a:prstGeom>
          <a:noFill/>
        </p:spPr>
        <p:txBody>
          <a:bodyPr wrap="square" anchor="ctr" lIns="0" rIns="0" tIns="0" bIns="0">
            <a:spAutoFit/>
          </a:bodyPr>
          <a:lstStyle/>
          <a:p>
            <a:pPr algn="l">
              <a:lnSpc>
                <a:spcPct val="95000"/>
              </a:lnSpc>
              <a:spcAft>
                <a:spcPts val="200"/>
              </a:spcAft>
            </a:pPr>
            <a:r>
              <a:rPr sz="1500" b="1" i="0">
                <a:solidFill>
                  <a:srgbClr val="14252E"/>
                </a:solidFill>
                <a:latin typeface="Segoe UI"/>
              </a:rPr>
              <a:t>Aligned</a:t>
            </a:r>
          </a:p>
          <a:p>
            <a:pPr algn="l">
              <a:lnSpc>
                <a:spcPct val="98000"/>
              </a:lnSpc>
            </a:pPr>
            <a:r>
              <a:rPr sz="1200" b="0" i="0">
                <a:solidFill>
                  <a:srgbClr val="3A4B54"/>
                </a:solidFill>
                <a:latin typeface="Segoe UI"/>
              </a:rPr>
              <a:t>Connects directly back to the problem statement, not a tangent.</a:t>
            </a:r>
          </a:p>
        </p:txBody>
      </p:sp>
      <p:sp>
        <p:nvSpPr>
          <p:cNvPr id="25" name="Rounded Rectangle 24"/>
          <p:cNvSpPr/>
          <p:nvPr/>
        </p:nvSpPr>
        <p:spPr>
          <a:xfrm>
            <a:off x="7863840" y="2240280"/>
            <a:ext cx="3108960" cy="777240"/>
          </a:xfrm>
          <a:prstGeom prst="roundRect">
            <a:avLst/>
          </a:prstGeom>
          <a:solidFill>
            <a:srgbClr val="7B4E8C"/>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0" y="2240280"/>
            <a:ext cx="3108960" cy="777240"/>
          </a:xfrm>
          <a:prstGeom prst="rect">
            <a:avLst/>
          </a:prstGeom>
          <a:noFill/>
        </p:spPr>
        <p:txBody>
          <a:bodyPr wrap="square" anchor="ctr" lIns="0" rIns="0" tIns="0" bIns="0">
            <a:spAutoFit/>
          </a:bodyPr>
          <a:lstStyle/>
          <a:p>
            <a:pPr algn="ctr">
              <a:lnSpc>
                <a:spcPct val="95000"/>
              </a:lnSpc>
            </a:pPr>
            <a:r>
              <a:rPr sz="1400" b="1" i="0">
                <a:solidFill>
                  <a:srgbClr val="FFFFFF"/>
                </a:solidFill>
                <a:latin typeface="Segoe UI"/>
              </a:rPr>
              <a:t>Problem
Statement</a:t>
            </a:r>
          </a:p>
        </p:txBody>
      </p:sp>
      <p:sp>
        <p:nvSpPr>
          <p:cNvPr id="27" name="Down Arrow 26"/>
          <p:cNvSpPr/>
          <p:nvPr/>
        </p:nvSpPr>
        <p:spPr>
          <a:xfrm>
            <a:off x="9281160" y="3017520"/>
            <a:ext cx="274320" cy="320040"/>
          </a:xfrm>
          <a:prstGeom prst="downArrow">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863840" y="3337560"/>
            <a:ext cx="3108960" cy="777240"/>
          </a:xfrm>
          <a:prstGeom prst="roundRect">
            <a:avLst/>
          </a:prstGeom>
          <a:solidFill>
            <a:srgbClr val="2A9D8F"/>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0" y="3337560"/>
            <a:ext cx="3108960" cy="777240"/>
          </a:xfrm>
          <a:prstGeom prst="rect">
            <a:avLst/>
          </a:prstGeom>
          <a:noFill/>
        </p:spPr>
        <p:txBody>
          <a:bodyPr wrap="square" anchor="ctr" lIns="0" rIns="0" tIns="0" bIns="0">
            <a:spAutoFit/>
          </a:bodyPr>
          <a:lstStyle/>
          <a:p>
            <a:pPr algn="ctr">
              <a:lnSpc>
                <a:spcPct val="95000"/>
              </a:lnSpc>
            </a:pPr>
            <a:r>
              <a:rPr sz="1400" b="1" i="0">
                <a:solidFill>
                  <a:srgbClr val="FFFFFF"/>
                </a:solidFill>
                <a:latin typeface="Segoe UI"/>
              </a:rPr>
              <a:t>Research
Question</a:t>
            </a:r>
          </a:p>
        </p:txBody>
      </p:sp>
      <p:sp>
        <p:nvSpPr>
          <p:cNvPr id="30" name="Down Arrow 29"/>
          <p:cNvSpPr/>
          <p:nvPr/>
        </p:nvSpPr>
        <p:spPr>
          <a:xfrm>
            <a:off x="9281160" y="4114800"/>
            <a:ext cx="274320" cy="320040"/>
          </a:xfrm>
          <a:prstGeom prst="downArrow">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863840" y="4434840"/>
            <a:ext cx="3108960" cy="777240"/>
          </a:xfrm>
          <a:prstGeom prst="roundRect">
            <a:avLst/>
          </a:prstGeom>
          <a:solidFill>
            <a:srgbClr val="2B6CB2"/>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0" y="4434840"/>
            <a:ext cx="3108960" cy="777240"/>
          </a:xfrm>
          <a:prstGeom prst="rect">
            <a:avLst/>
          </a:prstGeom>
          <a:noFill/>
        </p:spPr>
        <p:txBody>
          <a:bodyPr wrap="square" anchor="ctr" lIns="0" rIns="0" tIns="0" bIns="0">
            <a:spAutoFit/>
          </a:bodyPr>
          <a:lstStyle/>
          <a:p>
            <a:pPr algn="ctr">
              <a:lnSpc>
                <a:spcPct val="95000"/>
              </a:lnSpc>
            </a:pPr>
            <a:r>
              <a:rPr sz="1400" b="1" i="0">
                <a:solidFill>
                  <a:srgbClr val="FFFFFF"/>
                </a:solidFill>
                <a:latin typeface="Segoe UI"/>
              </a:rPr>
              <a:t>Data
Collection</a:t>
            </a:r>
          </a:p>
        </p:txBody>
      </p:sp>
      <p:sp>
        <p:nvSpPr>
          <p:cNvPr id="33" name="TextBox 32"/>
          <p:cNvSpPr txBox="1"/>
          <p:nvPr/>
        </p:nvSpPr>
        <p:spPr>
          <a:xfrm>
            <a:off x="7863840" y="5029200"/>
            <a:ext cx="3108960" cy="365760"/>
          </a:xfrm>
          <a:prstGeom prst="rect">
            <a:avLst/>
          </a:prstGeom>
          <a:noFill/>
        </p:spPr>
        <p:txBody>
          <a:bodyPr wrap="square" anchor="t" lIns="0" rIns="0" tIns="0" bIns="0">
            <a:spAutoFit/>
          </a:bodyPr>
          <a:lstStyle/>
          <a:p>
            <a:pPr algn="ctr"/>
            <a:r>
              <a:rPr sz="1100" b="1" i="1">
                <a:solidFill>
                  <a:srgbClr val="7B4E8C"/>
                </a:solidFill>
                <a:latin typeface="Segoe UI"/>
              </a:rPr>
              <a:t>alignment = link strength</a:t>
            </a:r>
          </a:p>
        </p:txBody>
      </p:sp>
      <p:sp>
        <p:nvSpPr>
          <p:cNvPr id="34" name="Rounded Rectangle 33"/>
          <p:cNvSpPr/>
          <p:nvPr/>
        </p:nvSpPr>
        <p:spPr>
          <a:xfrm>
            <a:off x="566928" y="5806440"/>
            <a:ext cx="11064240" cy="640080"/>
          </a:xfrm>
          <a:prstGeom prst="roundRect">
            <a:avLst>
              <a:gd name="adj" fmla="val 12000"/>
            </a:avLst>
          </a:prstGeom>
          <a:solidFill>
            <a:srgbClr val="E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66928" y="5806440"/>
            <a:ext cx="82296" cy="640080"/>
          </a:xfrm>
          <a:prstGeom prst="round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5806440"/>
            <a:ext cx="10607040" cy="640080"/>
          </a:xfrm>
          <a:prstGeom prst="rect">
            <a:avLst/>
          </a:prstGeom>
          <a:noFill/>
        </p:spPr>
        <p:txBody>
          <a:bodyPr wrap="square" anchor="ctr" lIns="0" rIns="0" tIns="0" bIns="0">
            <a:spAutoFit/>
          </a:bodyPr>
          <a:lstStyle/>
          <a:p>
            <a:pPr algn="l">
              <a:lnSpc>
                <a:spcPct val="102000"/>
              </a:lnSpc>
            </a:pPr>
            <a:r>
              <a:rPr sz="1350" b="0" i="1">
                <a:solidFill>
                  <a:srgbClr val="14252E"/>
                </a:solidFill>
                <a:latin typeface="Segoe UI"/>
              </a:rPr>
              <a:t>A question can be well-written and still fail this checklist if it doesn't actually answer the problem the group identified.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7B4E8C">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7B4E8C"/>
                </a:solidFill>
                <a:latin typeface="Segoe UI"/>
              </a:rPr>
              <a:t>PART 4 - QUESTIONS &amp; HYPOTHESES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Questions vs. Hypotheses</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Comparison table</a:t>
            </a:r>
          </a:p>
        </p:txBody>
      </p:sp>
      <p:sp>
        <p:nvSpPr>
          <p:cNvPr id="8" name="Rectangle 7"/>
          <p:cNvSpPr/>
          <p:nvPr/>
        </p:nvSpPr>
        <p:spPr>
          <a:xfrm>
            <a:off x="576072" y="1572768"/>
            <a:ext cx="1554480" cy="50292"/>
          </a:xfrm>
          <a:prstGeom prst="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759391" y="420624"/>
            <a:ext cx="1883664" cy="310896"/>
          </a:xfrm>
          <a:prstGeom prst="roundRect">
            <a:avLst>
              <a:gd name="adj" fmla="val 50000"/>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9391" y="420624"/>
            <a:ext cx="1883664" cy="310896"/>
          </a:xfrm>
          <a:prstGeom prst="rect">
            <a:avLst/>
          </a:prstGeom>
          <a:noFill/>
        </p:spPr>
        <p:txBody>
          <a:bodyPr wrap="square" anchor="ctr" lIns="0" rIns="0" tIns="0" bIns="0">
            <a:spAutoFit/>
          </a:bodyPr>
          <a:lstStyle/>
          <a:p>
            <a:pPr algn="ctr"/>
            <a:r>
              <a:rPr sz="1050" b="1" i="0">
                <a:solidFill>
                  <a:srgbClr val="FFFFFF"/>
                </a:solidFill>
                <a:latin typeface="Segoe UI"/>
              </a:rPr>
              <a:t>TEXTBOOK-BASED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35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graphicFrame>
        <p:nvGraphicFramePr>
          <p:cNvPr id="13" name="Table 12"/>
          <p:cNvGraphicFramePr>
            <a:graphicFrameLocks noGrp="1"/>
          </p:cNvGraphicFramePr>
          <p:nvPr/>
        </p:nvGraphicFramePr>
        <p:xfrm>
          <a:off x="566928" y="1965960"/>
          <a:ext cx="11064240" cy="3931920"/>
        </p:xfrm>
        <a:graphic>
          <a:graphicData uri="http://schemas.openxmlformats.org/drawingml/2006/table">
            <a:tbl>
              <a:tblPr>
                <a:tableStyleId>{5C22544A-7EE6-4342-B048-85BDC9FD1C3A}</a:tableStyleId>
              </a:tblPr>
              <a:tblGrid>
                <a:gridCol w="1463040"/>
                <a:gridCol w="4800600"/>
                <a:gridCol w="4800600"/>
              </a:tblGrid>
              <a:tr h="457200">
                <a:tc>
                  <a:txBody>
                    <a:bodyPr wrap="square"/>
                    <a:lstStyle/>
                    <a:p>
                      <a:pPr algn="l"/>
                    </a:p>
                  </a:txBody>
                  <a:tcPr marL="100584" marR="82296" marT="45720" marB="45720" anchor="ctr">
                    <a:solidFill>
                      <a:srgbClr val="7B4E8C"/>
                    </a:solidFill>
                  </a:tcPr>
                </a:tc>
                <a:tc>
                  <a:txBody>
                    <a:bodyPr wrap="square"/>
                    <a:lstStyle/>
                    <a:p>
                      <a:pPr algn="l"/>
                      <a:r>
                        <a:rPr sz="1400" b="1" i="1">
                          <a:solidFill>
                            <a:srgbClr val="FFFFFF"/>
                          </a:solidFill>
                          <a:latin typeface="Segoe UI"/>
                        </a:rPr>
                        <a:t>Qualitative</a:t>
                      </a:r>
                    </a:p>
                  </a:txBody>
                  <a:tcPr marL="100584" marR="82296" marT="45720" marB="45720" anchor="ctr">
                    <a:solidFill>
                      <a:srgbClr val="7B4E8C"/>
                    </a:solidFill>
                  </a:tcPr>
                </a:tc>
                <a:tc>
                  <a:txBody>
                    <a:bodyPr wrap="square"/>
                    <a:lstStyle/>
                    <a:p>
                      <a:pPr algn="l"/>
                      <a:r>
                        <a:rPr sz="1400" b="1" i="1">
                          <a:solidFill>
                            <a:srgbClr val="FFFFFF"/>
                          </a:solidFill>
                          <a:latin typeface="Segoe UI"/>
                        </a:rPr>
                        <a:t>Quantitative</a:t>
                      </a:r>
                    </a:p>
                  </a:txBody>
                  <a:tcPr marL="100584" marR="82296" marT="45720" marB="45720" anchor="ctr">
                    <a:solidFill>
                      <a:srgbClr val="7B4E8C"/>
                    </a:solidFill>
                  </a:tcPr>
                </a:tc>
              </a:tr>
              <a:tr h="868680">
                <a:tc>
                  <a:txBody>
                    <a:bodyPr wrap="square"/>
                    <a:lstStyle/>
                    <a:p>
                      <a:pPr algn="l"/>
                      <a:r>
                        <a:rPr sz="1250" b="1" i="0">
                          <a:solidFill>
                            <a:srgbClr val="14252E"/>
                          </a:solidFill>
                          <a:latin typeface="Segoe UI"/>
                        </a:rPr>
                        <a:t>Uses</a:t>
                      </a:r>
                    </a:p>
                  </a:txBody>
                  <a:tcPr marL="100584" marR="82296" marT="45720" marB="45720" anchor="ctr">
                    <a:solidFill>
                      <a:srgbClr val="FFFFFF"/>
                    </a:solidFill>
                  </a:tcPr>
                </a:tc>
                <a:tc>
                  <a:txBody>
                    <a:bodyPr wrap="square"/>
                    <a:lstStyle/>
                    <a:p>
                      <a:pPr algn="l"/>
                      <a:r>
                        <a:rPr sz="1250" b="0" i="0">
                          <a:solidFill>
                            <a:srgbClr val="3A4B54"/>
                          </a:solidFill>
                          <a:latin typeface="Segoe UI"/>
                        </a:rPr>
                        <a:t>Research questions (central question + sub-questions)</a:t>
                      </a:r>
                    </a:p>
                  </a:txBody>
                  <a:tcPr marL="100584" marR="82296" marT="45720" marB="45720" anchor="ctr">
                    <a:solidFill>
                      <a:srgbClr val="FFFFFF"/>
                    </a:solidFill>
                  </a:tcPr>
                </a:tc>
                <a:tc>
                  <a:txBody>
                    <a:bodyPr wrap="square"/>
                    <a:lstStyle/>
                    <a:p>
                      <a:pPr algn="l"/>
                      <a:r>
                        <a:rPr sz="1250" b="0" i="0">
                          <a:solidFill>
                            <a:srgbClr val="3A4B54"/>
                          </a:solidFill>
                          <a:latin typeface="Segoe UI"/>
                        </a:rPr>
                        <a:t>Research questions </a:t>
                      </a:r>
                      <a:r>
                        <a:rPr sz="1250" b="1" i="0">
                          <a:solidFill>
                            <a:srgbClr val="3A4B54"/>
                          </a:solidFill>
                          <a:latin typeface="Segoe UI"/>
                        </a:rPr>
                        <a:t>or</a:t>
                      </a:r>
                      <a:r>
                        <a:rPr sz="1250" b="0" i="0">
                          <a:solidFill>
                            <a:srgbClr val="3A4B54"/>
                          </a:solidFill>
                          <a:latin typeface="Segoe UI"/>
                        </a:rPr>
                        <a:t> hypotheses</a:t>
                      </a:r>
                    </a:p>
                  </a:txBody>
                  <a:tcPr marL="100584" marR="82296" marT="45720" marB="45720" anchor="ctr">
                    <a:solidFill>
                      <a:srgbClr val="FFFFFF"/>
                    </a:solidFill>
                  </a:tcPr>
                </a:tc>
              </a:tr>
              <a:tr h="868680">
                <a:tc>
                  <a:txBody>
                    <a:bodyPr wrap="square"/>
                    <a:lstStyle/>
                    <a:p>
                      <a:pPr algn="l"/>
                      <a:r>
                        <a:rPr sz="1250" b="1" i="0">
                          <a:solidFill>
                            <a:srgbClr val="14252E"/>
                          </a:solidFill>
                          <a:latin typeface="Segoe UI"/>
                        </a:rPr>
                        <a:t>Wording</a:t>
                      </a:r>
                    </a:p>
                  </a:txBody>
                  <a:tcPr marL="100584" marR="82296" marT="45720" marB="45720" anchor="ctr">
                    <a:solidFill>
                      <a:srgbClr val="ECF2F3"/>
                    </a:solidFill>
                  </a:tcPr>
                </a:tc>
                <a:tc>
                  <a:txBody>
                    <a:bodyPr wrap="square"/>
                    <a:lstStyle/>
                    <a:p>
                      <a:pPr algn="l"/>
                      <a:r>
                        <a:rPr sz="1250" b="0" i="0">
                          <a:solidFill>
                            <a:srgbClr val="3A4B54"/>
                          </a:solidFill>
                          <a:latin typeface="Segoe UI"/>
                        </a:rPr>
                        <a:t>Begins with </a:t>
                      </a:r>
                      <a:r>
                        <a:rPr sz="1250" b="0" i="1">
                          <a:solidFill>
                            <a:srgbClr val="3A4B54"/>
                          </a:solidFill>
                          <a:latin typeface="Segoe UI"/>
                        </a:rPr>
                        <a:t>what</a:t>
                      </a:r>
                      <a:r>
                        <a:rPr sz="1250" b="0" i="0">
                          <a:solidFill>
                            <a:srgbClr val="3A4B54"/>
                          </a:solidFill>
                          <a:latin typeface="Segoe UI"/>
                        </a:rPr>
                        <a:t> or </a:t>
                      </a:r>
                      <a:r>
                        <a:rPr sz="1250" b="0" i="1">
                          <a:solidFill>
                            <a:srgbClr val="3A4B54"/>
                          </a:solidFill>
                          <a:latin typeface="Segoe UI"/>
                        </a:rPr>
                        <a:t>how</a:t>
                      </a:r>
                      <a:r>
                        <a:rPr sz="1250" b="0" i="0">
                          <a:solidFill>
                            <a:srgbClr val="3A4B54"/>
                          </a:solidFill>
                          <a:latin typeface="Segoe UI"/>
                        </a:rPr>
                        <a:t>; open-ended</a:t>
                      </a:r>
                    </a:p>
                  </a:txBody>
                  <a:tcPr marL="100584" marR="82296" marT="45720" marB="45720" anchor="ctr">
                    <a:solidFill>
                      <a:srgbClr val="ECF2F3"/>
                    </a:solidFill>
                  </a:tcPr>
                </a:tc>
                <a:tc>
                  <a:txBody>
                    <a:bodyPr wrap="square"/>
                    <a:lstStyle/>
                    <a:p>
                      <a:pPr algn="l"/>
                      <a:r>
                        <a:rPr sz="1250" b="0" i="0">
                          <a:solidFill>
                            <a:srgbClr val="3A4B54"/>
                          </a:solidFill>
                          <a:latin typeface="Segoe UI"/>
                        </a:rPr>
                        <a:t>States a predicted relationship between variables</a:t>
                      </a:r>
                    </a:p>
                  </a:txBody>
                  <a:tcPr marL="100584" marR="82296" marT="45720" marB="45720" anchor="ctr">
                    <a:solidFill>
                      <a:srgbClr val="ECF2F3"/>
                    </a:solidFill>
                  </a:tcPr>
                </a:tc>
              </a:tr>
              <a:tr h="868680">
                <a:tc>
                  <a:txBody>
                    <a:bodyPr wrap="square"/>
                    <a:lstStyle/>
                    <a:p>
                      <a:pPr algn="l"/>
                      <a:r>
                        <a:rPr sz="1250" b="1" i="0">
                          <a:solidFill>
                            <a:srgbClr val="14252E"/>
                          </a:solidFill>
                          <a:latin typeface="Segoe UI"/>
                        </a:rPr>
                        <a:t>Intent</a:t>
                      </a:r>
                    </a:p>
                  </a:txBody>
                  <a:tcPr marL="100584" marR="82296" marT="45720" marB="45720" anchor="ctr">
                    <a:solidFill>
                      <a:srgbClr val="FFFFFF"/>
                    </a:solidFill>
                  </a:tcPr>
                </a:tc>
                <a:tc>
                  <a:txBody>
                    <a:bodyPr wrap="square"/>
                    <a:lstStyle/>
                    <a:p>
                      <a:pPr algn="l"/>
                      <a:r>
                        <a:rPr sz="1250" b="0" i="0">
                          <a:solidFill>
                            <a:srgbClr val="3A4B54"/>
                          </a:solidFill>
                          <a:latin typeface="Segoe UI"/>
                        </a:rPr>
                        <a:t>Explore and understand a phenomenon in depth</a:t>
                      </a:r>
                    </a:p>
                  </a:txBody>
                  <a:tcPr marL="100584" marR="82296" marT="45720" marB="45720" anchor="ctr">
                    <a:solidFill>
                      <a:srgbClr val="FFFFFF"/>
                    </a:solidFill>
                  </a:tcPr>
                </a:tc>
                <a:tc>
                  <a:txBody>
                    <a:bodyPr wrap="square"/>
                    <a:lstStyle/>
                    <a:p>
                      <a:pPr algn="l"/>
                      <a:r>
                        <a:rPr sz="1250" b="0" i="0">
                          <a:solidFill>
                            <a:srgbClr val="3A4B54"/>
                          </a:solidFill>
                          <a:latin typeface="Segoe UI"/>
                        </a:rPr>
                        <a:t>Test or predict a relationship</a:t>
                      </a:r>
                    </a:p>
                  </a:txBody>
                  <a:tcPr marL="100584" marR="82296" marT="45720" marB="45720" anchor="ctr">
                    <a:solidFill>
                      <a:srgbClr val="FFFFFF"/>
                    </a:solidFill>
                  </a:tcPr>
                </a:tc>
              </a:tr>
              <a:tr h="868680">
                <a:tc>
                  <a:txBody>
                    <a:bodyPr wrap="square"/>
                    <a:lstStyle/>
                    <a:p>
                      <a:pPr algn="l"/>
                      <a:r>
                        <a:rPr sz="1250" b="1" i="0">
                          <a:solidFill>
                            <a:srgbClr val="14252E"/>
                          </a:solidFill>
                          <a:latin typeface="Segoe UI"/>
                        </a:rPr>
                        <a:t>Example</a:t>
                      </a:r>
                    </a:p>
                  </a:txBody>
                  <a:tcPr marL="100584" marR="82296" marT="45720" marB="45720" anchor="ctr">
                    <a:solidFill>
                      <a:srgbClr val="ECF2F3"/>
                    </a:solidFill>
                  </a:tcPr>
                </a:tc>
                <a:tc>
                  <a:txBody>
                    <a:bodyPr wrap="square"/>
                    <a:lstStyle/>
                    <a:p>
                      <a:pPr algn="l"/>
                      <a:r>
                        <a:rPr sz="1250" b="0" i="0">
                          <a:solidFill>
                            <a:srgbClr val="3A4B54"/>
                          </a:solidFill>
                          <a:latin typeface="Segoe UI"/>
                        </a:rPr>
                        <a:t>“How do coastal barangay residents describe their household waste-sorting habits?”</a:t>
                      </a:r>
                    </a:p>
                  </a:txBody>
                  <a:tcPr marL="100584" marR="82296" marT="45720" marB="45720" anchor="ctr">
                    <a:solidFill>
                      <a:srgbClr val="ECF2F3"/>
                    </a:solidFill>
                  </a:tcPr>
                </a:tc>
                <a:tc>
                  <a:txBody>
                    <a:bodyPr wrap="square"/>
                    <a:lstStyle/>
                    <a:p>
                      <a:pPr algn="l"/>
                      <a:r>
                        <a:rPr sz="1250" b="0" i="0">
                          <a:solidFill>
                            <a:srgbClr val="3A4B54"/>
                          </a:solidFill>
                          <a:latin typeface="Segoe UI"/>
                        </a:rPr>
                        <a:t>“It is predicted that households with active community education programs will show higher plastic-segregation compliance.”</a:t>
                      </a:r>
                    </a:p>
                  </a:txBody>
                  <a:tcPr marL="100584" marR="82296" marT="45720" marB="45720" anchor="ctr">
                    <a:solidFill>
                      <a:srgbClr val="ECF2F3"/>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7B4E8C">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7B4E8C"/>
                </a:solidFill>
                <a:latin typeface="Segoe UI"/>
              </a:rPr>
              <a:t>PART 4 - QUESTIONS &amp; HYPOTHESES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Writing a Directional Hypothesis</a:t>
            </a:r>
          </a:p>
        </p:txBody>
      </p:sp>
      <p:sp>
        <p:nvSpPr>
          <p:cNvPr id="7" name="Rectangle 6"/>
          <p:cNvSpPr/>
          <p:nvPr/>
        </p:nvSpPr>
        <p:spPr>
          <a:xfrm>
            <a:off x="576072" y="1572768"/>
            <a:ext cx="1554480" cy="50292"/>
          </a:xfrm>
          <a:prstGeom prst="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759391" y="420624"/>
            <a:ext cx="1883664" cy="310896"/>
          </a:xfrm>
          <a:prstGeom prst="roundRect">
            <a:avLst>
              <a:gd name="adj" fmla="val 50000"/>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59391" y="420624"/>
            <a:ext cx="1883664" cy="310896"/>
          </a:xfrm>
          <a:prstGeom prst="rect">
            <a:avLst/>
          </a:prstGeom>
          <a:noFill/>
        </p:spPr>
        <p:txBody>
          <a:bodyPr wrap="square" anchor="ctr" lIns="0" rIns="0" tIns="0" bIns="0">
            <a:spAutoFit/>
          </a:bodyPr>
          <a:lstStyle/>
          <a:p>
            <a:pPr algn="ctr"/>
            <a:r>
              <a:rPr sz="1050" b="1" i="0">
                <a:solidFill>
                  <a:srgbClr val="FFFFFF"/>
                </a:solidFill>
                <a:latin typeface="Segoe UI"/>
              </a:rPr>
              <a:t>TEXTBOOK-BASED</a:t>
            </a:r>
          </a:p>
        </p:txBody>
      </p:sp>
      <p:sp>
        <p:nvSpPr>
          <p:cNvPr id="10" name="TextBox 9"/>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36  /  51</a:t>
            </a:r>
          </a:p>
        </p:txBody>
      </p:sp>
      <p:sp>
        <p:nvSpPr>
          <p:cNvPr id="11" name="TextBox 10"/>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2" name="TextBox 11"/>
          <p:cNvSpPr txBox="1"/>
          <p:nvPr/>
        </p:nvSpPr>
        <p:spPr>
          <a:xfrm>
            <a:off x="566928" y="1783080"/>
            <a:ext cx="10972800" cy="822960"/>
          </a:xfrm>
          <a:prstGeom prst="rect">
            <a:avLst/>
          </a:prstGeom>
          <a:noFill/>
        </p:spPr>
        <p:txBody>
          <a:bodyPr wrap="square" anchor="t" lIns="0" rIns="0" tIns="0" bIns="0">
            <a:spAutoFit/>
          </a:bodyPr>
          <a:lstStyle/>
          <a:p>
            <a:pPr algn="l">
              <a:lnSpc>
                <a:spcPct val="103000"/>
              </a:lnSpc>
            </a:pPr>
            <a:r>
              <a:rPr sz="1350" b="0" i="0">
                <a:solidFill>
                  <a:srgbClr val="14252E"/>
                </a:solidFill>
                <a:latin typeface="Segoe UI"/>
              </a:rPr>
              <a:t>A hypothesis is a </a:t>
            </a:r>
            <a:r>
              <a:rPr sz="1350" b="0" i="1">
                <a:solidFill>
                  <a:srgbClr val="14252E"/>
                </a:solidFill>
                <a:latin typeface="Segoe UI"/>
              </a:rPr>
              <a:t>prediction</a:t>
            </a:r>
            <a:r>
              <a:rPr sz="1350" b="0" i="0">
                <a:solidFill>
                  <a:srgbClr val="14252E"/>
                </a:solidFill>
                <a:latin typeface="Segoe UI"/>
              </a:rPr>
              <a:t>, in plain language, about the relationship between variables - using directional words like</a:t>
            </a:r>
          </a:p>
        </p:txBody>
      </p:sp>
      <p:sp>
        <p:nvSpPr>
          <p:cNvPr id="13" name="Rounded Rectangle 12"/>
          <p:cNvSpPr/>
          <p:nvPr/>
        </p:nvSpPr>
        <p:spPr>
          <a:xfrm>
            <a:off x="566928" y="2331720"/>
            <a:ext cx="1197864" cy="365760"/>
          </a:xfrm>
          <a:prstGeom prst="roundRect">
            <a:avLst/>
          </a:prstGeom>
          <a:solidFill>
            <a:srgbClr val="8E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331720"/>
            <a:ext cx="1197864" cy="365760"/>
          </a:xfrm>
          <a:prstGeom prst="rect">
            <a:avLst/>
          </a:prstGeom>
          <a:noFill/>
        </p:spPr>
        <p:txBody>
          <a:bodyPr wrap="square" anchor="ctr" lIns="0" rIns="0" tIns="0" bIns="0">
            <a:spAutoFit/>
          </a:bodyPr>
          <a:lstStyle/>
          <a:p>
            <a:pPr algn="ctr"/>
            <a:r>
              <a:rPr sz="1250" b="1" i="0">
                <a:solidFill>
                  <a:srgbClr val="FFFFFF"/>
                </a:solidFill>
                <a:latin typeface="Segoe UI"/>
              </a:rPr>
              <a:t>affects</a:t>
            </a:r>
          </a:p>
        </p:txBody>
      </p:sp>
      <p:sp>
        <p:nvSpPr>
          <p:cNvPr id="15" name="Rounded Rectangle 14"/>
          <p:cNvSpPr/>
          <p:nvPr/>
        </p:nvSpPr>
        <p:spPr>
          <a:xfrm>
            <a:off x="1929384" y="2331720"/>
            <a:ext cx="1554480" cy="365760"/>
          </a:xfrm>
          <a:prstGeom prst="roundRect">
            <a:avLst/>
          </a:prstGeom>
          <a:solidFill>
            <a:srgbClr val="8E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29384" y="2331720"/>
            <a:ext cx="1554480" cy="365760"/>
          </a:xfrm>
          <a:prstGeom prst="rect">
            <a:avLst/>
          </a:prstGeom>
          <a:noFill/>
        </p:spPr>
        <p:txBody>
          <a:bodyPr wrap="square" anchor="ctr" lIns="0" rIns="0" tIns="0" bIns="0">
            <a:spAutoFit/>
          </a:bodyPr>
          <a:lstStyle/>
          <a:p>
            <a:pPr algn="ctr"/>
            <a:r>
              <a:rPr sz="1250" b="1" i="0">
                <a:solidFill>
                  <a:srgbClr val="FFFFFF"/>
                </a:solidFill>
                <a:latin typeface="Segoe UI"/>
              </a:rPr>
              <a:t>influences</a:t>
            </a:r>
          </a:p>
        </p:txBody>
      </p:sp>
      <p:sp>
        <p:nvSpPr>
          <p:cNvPr id="17" name="Rounded Rectangle 16"/>
          <p:cNvSpPr/>
          <p:nvPr/>
        </p:nvSpPr>
        <p:spPr>
          <a:xfrm>
            <a:off x="3648456" y="2331720"/>
            <a:ext cx="1316736" cy="365760"/>
          </a:xfrm>
          <a:prstGeom prst="roundRect">
            <a:avLst/>
          </a:prstGeom>
          <a:solidFill>
            <a:srgbClr val="8E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48456" y="2331720"/>
            <a:ext cx="1316736" cy="365760"/>
          </a:xfrm>
          <a:prstGeom prst="rect">
            <a:avLst/>
          </a:prstGeom>
          <a:noFill/>
        </p:spPr>
        <p:txBody>
          <a:bodyPr wrap="square" anchor="ctr" lIns="0" rIns="0" tIns="0" bIns="0">
            <a:spAutoFit/>
          </a:bodyPr>
          <a:lstStyle/>
          <a:p>
            <a:pPr algn="ctr"/>
            <a:r>
              <a:rPr sz="1250" b="1" i="0">
                <a:solidFill>
                  <a:srgbClr val="FFFFFF"/>
                </a:solidFill>
                <a:latin typeface="Segoe UI"/>
              </a:rPr>
              <a:t>predicts</a:t>
            </a:r>
          </a:p>
        </p:txBody>
      </p:sp>
      <p:sp>
        <p:nvSpPr>
          <p:cNvPr id="19" name="Rounded Rectangle 18"/>
          <p:cNvSpPr/>
          <p:nvPr/>
        </p:nvSpPr>
        <p:spPr>
          <a:xfrm>
            <a:off x="5129784" y="2331720"/>
            <a:ext cx="1197864" cy="365760"/>
          </a:xfrm>
          <a:prstGeom prst="roundRect">
            <a:avLst/>
          </a:prstGeom>
          <a:solidFill>
            <a:srgbClr val="8E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29784" y="2331720"/>
            <a:ext cx="1197864" cy="365760"/>
          </a:xfrm>
          <a:prstGeom prst="rect">
            <a:avLst/>
          </a:prstGeom>
          <a:noFill/>
        </p:spPr>
        <p:txBody>
          <a:bodyPr wrap="square" anchor="ctr" lIns="0" rIns="0" tIns="0" bIns="0">
            <a:spAutoFit/>
          </a:bodyPr>
          <a:lstStyle/>
          <a:p>
            <a:pPr algn="ctr"/>
            <a:r>
              <a:rPr sz="1250" b="1" i="0">
                <a:solidFill>
                  <a:srgbClr val="FFFFFF"/>
                </a:solidFill>
                <a:latin typeface="Segoe UI"/>
              </a:rPr>
              <a:t>impacts</a:t>
            </a:r>
          </a:p>
        </p:txBody>
      </p:sp>
      <p:sp>
        <p:nvSpPr>
          <p:cNvPr id="21" name="Rounded Rectangle 20"/>
          <p:cNvSpPr/>
          <p:nvPr/>
        </p:nvSpPr>
        <p:spPr>
          <a:xfrm>
            <a:off x="6492240" y="2331720"/>
            <a:ext cx="1554480" cy="365760"/>
          </a:xfrm>
          <a:prstGeom prst="roundRect">
            <a:avLst/>
          </a:prstGeom>
          <a:solidFill>
            <a:srgbClr val="8E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2331720"/>
            <a:ext cx="1554480" cy="365760"/>
          </a:xfrm>
          <a:prstGeom prst="rect">
            <a:avLst/>
          </a:prstGeom>
          <a:noFill/>
        </p:spPr>
        <p:txBody>
          <a:bodyPr wrap="square" anchor="ctr" lIns="0" rIns="0" tIns="0" bIns="0">
            <a:spAutoFit/>
          </a:bodyPr>
          <a:lstStyle/>
          <a:p>
            <a:pPr algn="ctr"/>
            <a:r>
              <a:rPr sz="1250" b="1" i="0">
                <a:solidFill>
                  <a:srgbClr val="FFFFFF"/>
                </a:solidFill>
                <a:latin typeface="Segoe UI"/>
              </a:rPr>
              <a:t>determines</a:t>
            </a:r>
          </a:p>
        </p:txBody>
      </p:sp>
      <p:sp>
        <p:nvSpPr>
          <p:cNvPr id="23" name="Rounded Rectangle 22"/>
          <p:cNvSpPr/>
          <p:nvPr/>
        </p:nvSpPr>
        <p:spPr>
          <a:xfrm>
            <a:off x="8211312" y="2331720"/>
            <a:ext cx="1078992" cy="365760"/>
          </a:xfrm>
          <a:prstGeom prst="roundRect">
            <a:avLst/>
          </a:prstGeom>
          <a:solidFill>
            <a:srgbClr val="8E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11312" y="2331720"/>
            <a:ext cx="1078992" cy="365760"/>
          </a:xfrm>
          <a:prstGeom prst="rect">
            <a:avLst/>
          </a:prstGeom>
          <a:noFill/>
        </p:spPr>
        <p:txBody>
          <a:bodyPr wrap="square" anchor="ctr" lIns="0" rIns="0" tIns="0" bIns="0">
            <a:spAutoFit/>
          </a:bodyPr>
          <a:lstStyle/>
          <a:p>
            <a:pPr algn="ctr"/>
            <a:r>
              <a:rPr sz="1250" b="1" i="0">
                <a:solidFill>
                  <a:srgbClr val="FFFFFF"/>
                </a:solidFill>
                <a:latin typeface="Segoe UI"/>
              </a:rPr>
              <a:t>causes</a:t>
            </a:r>
          </a:p>
        </p:txBody>
      </p:sp>
      <p:sp>
        <p:nvSpPr>
          <p:cNvPr id="25" name="Rounded Rectangle 24"/>
          <p:cNvSpPr/>
          <p:nvPr/>
        </p:nvSpPr>
        <p:spPr>
          <a:xfrm>
            <a:off x="9454896" y="2331720"/>
            <a:ext cx="1911095" cy="365760"/>
          </a:xfrm>
          <a:prstGeom prst="roundRect">
            <a:avLst/>
          </a:prstGeom>
          <a:solidFill>
            <a:srgbClr val="8E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54896" y="2331720"/>
            <a:ext cx="1911095" cy="365760"/>
          </a:xfrm>
          <a:prstGeom prst="rect">
            <a:avLst/>
          </a:prstGeom>
          <a:noFill/>
        </p:spPr>
        <p:txBody>
          <a:bodyPr wrap="square" anchor="ctr" lIns="0" rIns="0" tIns="0" bIns="0">
            <a:spAutoFit/>
          </a:bodyPr>
          <a:lstStyle/>
          <a:p>
            <a:pPr algn="ctr"/>
            <a:r>
              <a:rPr sz="1250" b="1" i="0">
                <a:solidFill>
                  <a:srgbClr val="FFFFFF"/>
                </a:solidFill>
                <a:latin typeface="Segoe UI"/>
              </a:rPr>
              <a:t>is related to</a:t>
            </a:r>
          </a:p>
        </p:txBody>
      </p:sp>
      <p:sp>
        <p:nvSpPr>
          <p:cNvPr id="27" name="TextBox 26"/>
          <p:cNvSpPr txBox="1"/>
          <p:nvPr/>
        </p:nvSpPr>
        <p:spPr>
          <a:xfrm>
            <a:off x="566928" y="2880360"/>
            <a:ext cx="10972800" cy="365760"/>
          </a:xfrm>
          <a:prstGeom prst="rect">
            <a:avLst/>
          </a:prstGeom>
          <a:noFill/>
        </p:spPr>
        <p:txBody>
          <a:bodyPr wrap="square" anchor="t" lIns="0" rIns="0" tIns="0" bIns="0">
            <a:spAutoFit/>
          </a:bodyPr>
          <a:lstStyle/>
          <a:p>
            <a:pPr algn="l"/>
            <a:r>
              <a:rPr sz="1350" b="0" i="1">
                <a:solidFill>
                  <a:srgbClr val="3A4B54"/>
                </a:solidFill>
                <a:latin typeface="Segoe UI"/>
              </a:rPr>
              <a:t>Studies commonly state more than one hypothesis, labeled H1, H2, and so on:</a:t>
            </a:r>
          </a:p>
        </p:txBody>
      </p:sp>
      <p:sp>
        <p:nvSpPr>
          <p:cNvPr id="28" name="Rounded Rectangle 27"/>
          <p:cNvSpPr/>
          <p:nvPr/>
        </p:nvSpPr>
        <p:spPr>
          <a:xfrm>
            <a:off x="566928" y="3337560"/>
            <a:ext cx="11064240" cy="96012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66928" y="3337560"/>
            <a:ext cx="1005840" cy="960120"/>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3337560"/>
            <a:ext cx="1005840" cy="960120"/>
          </a:xfrm>
          <a:prstGeom prst="rect">
            <a:avLst/>
          </a:prstGeom>
          <a:noFill/>
        </p:spPr>
        <p:txBody>
          <a:bodyPr wrap="square" anchor="ctr" lIns="0" rIns="0" tIns="0" bIns="0">
            <a:spAutoFit/>
          </a:bodyPr>
          <a:lstStyle/>
          <a:p>
            <a:pPr algn="ctr"/>
            <a:r>
              <a:rPr sz="2000" b="1" i="0">
                <a:solidFill>
                  <a:srgbClr val="FFFFFF"/>
                </a:solidFill>
                <a:latin typeface="Segoe UI"/>
              </a:rPr>
              <a:t>H1</a:t>
            </a:r>
          </a:p>
        </p:txBody>
      </p:sp>
      <p:sp>
        <p:nvSpPr>
          <p:cNvPr id="31" name="TextBox 30"/>
          <p:cNvSpPr txBox="1"/>
          <p:nvPr/>
        </p:nvSpPr>
        <p:spPr>
          <a:xfrm>
            <a:off x="1783080" y="3337560"/>
            <a:ext cx="9601200" cy="960120"/>
          </a:xfrm>
          <a:prstGeom prst="rect">
            <a:avLst/>
          </a:prstGeom>
          <a:noFill/>
        </p:spPr>
        <p:txBody>
          <a:bodyPr wrap="square" anchor="ctr" lIns="0" rIns="0" tIns="0" bIns="0">
            <a:spAutoFit/>
          </a:bodyPr>
          <a:lstStyle/>
          <a:p>
            <a:pPr algn="l">
              <a:lnSpc>
                <a:spcPct val="105000"/>
              </a:lnSpc>
            </a:pPr>
            <a:r>
              <a:rPr sz="1350" b="0" i="0">
                <a:solidFill>
                  <a:srgbClr val="14252E"/>
                </a:solidFill>
                <a:latin typeface="Segoe UI"/>
              </a:rPr>
              <a:t>Households with access to peer-led education programs will show higher plastic-segregation compliance than households without access.</a:t>
            </a:r>
          </a:p>
        </p:txBody>
      </p:sp>
      <p:sp>
        <p:nvSpPr>
          <p:cNvPr id="32" name="Rounded Rectangle 31"/>
          <p:cNvSpPr/>
          <p:nvPr/>
        </p:nvSpPr>
        <p:spPr>
          <a:xfrm>
            <a:off x="566928" y="4434840"/>
            <a:ext cx="11064240" cy="114300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66928" y="4434840"/>
            <a:ext cx="1005840" cy="114300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4434840"/>
            <a:ext cx="1005840" cy="1143000"/>
          </a:xfrm>
          <a:prstGeom prst="rect">
            <a:avLst/>
          </a:prstGeom>
          <a:noFill/>
        </p:spPr>
        <p:txBody>
          <a:bodyPr wrap="square" anchor="ctr" lIns="0" rIns="0" tIns="0" bIns="0">
            <a:spAutoFit/>
          </a:bodyPr>
          <a:lstStyle/>
          <a:p>
            <a:pPr algn="ctr"/>
            <a:r>
              <a:rPr sz="2000" b="1" i="0">
                <a:solidFill>
                  <a:srgbClr val="FFFFFF"/>
                </a:solidFill>
                <a:latin typeface="Segoe UI"/>
              </a:rPr>
              <a:t>H2</a:t>
            </a:r>
          </a:p>
        </p:txBody>
      </p:sp>
      <p:sp>
        <p:nvSpPr>
          <p:cNvPr id="35" name="TextBox 34"/>
          <p:cNvSpPr txBox="1"/>
          <p:nvPr/>
        </p:nvSpPr>
        <p:spPr>
          <a:xfrm>
            <a:off x="1783080" y="4434840"/>
            <a:ext cx="9601200" cy="1143000"/>
          </a:xfrm>
          <a:prstGeom prst="rect">
            <a:avLst/>
          </a:prstGeom>
          <a:noFill/>
        </p:spPr>
        <p:txBody>
          <a:bodyPr wrap="square" anchor="ctr" lIns="0" rIns="0" tIns="0" bIns="0">
            <a:spAutoFit/>
          </a:bodyPr>
          <a:lstStyle/>
          <a:p>
            <a:pPr algn="l">
              <a:lnSpc>
                <a:spcPct val="105000"/>
              </a:lnSpc>
            </a:pPr>
            <a:r>
              <a:rPr sz="1350" b="0" i="0">
                <a:solidFill>
                  <a:srgbClr val="14252E"/>
                </a:solidFill>
                <a:latin typeface="Segoe UI"/>
              </a:rPr>
              <a:t>The positive relationship between education-program exposure and segregation compliance will be stronger in households with school-aged children than in those without.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7B4E8C">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7B4E8C"/>
                </a:solidFill>
                <a:latin typeface="Segoe UI"/>
              </a:rPr>
              <a:t>PART 4 - QUESTIONS &amp; HYPOTHESES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One Problem, Two Approaches</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Coastal Plastic Waste Study</a:t>
            </a:r>
          </a:p>
        </p:txBody>
      </p:sp>
      <p:sp>
        <p:nvSpPr>
          <p:cNvPr id="8" name="Rectangle 7"/>
          <p:cNvSpPr/>
          <p:nvPr/>
        </p:nvSpPr>
        <p:spPr>
          <a:xfrm>
            <a:off x="576072" y="1572768"/>
            <a:ext cx="1554480" cy="50292"/>
          </a:xfrm>
          <a:prstGeom prst="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37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3657600" y="1920240"/>
            <a:ext cx="4846320" cy="685800"/>
          </a:xfrm>
          <a:prstGeom prst="roundRect">
            <a:avLst>
              <a:gd name="adj" fmla="val 8000"/>
            </a:avLst>
          </a:prstGeom>
          <a:solidFill>
            <a:srgbClr val="8E689D"/>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1920240"/>
            <a:ext cx="4846320" cy="685800"/>
          </a:xfrm>
          <a:prstGeom prst="rect">
            <a:avLst/>
          </a:prstGeom>
          <a:noFill/>
        </p:spPr>
        <p:txBody>
          <a:bodyPr wrap="square" anchor="ctr" lIns="0" rIns="0" tIns="0" bIns="0">
            <a:spAutoFit/>
          </a:bodyPr>
          <a:lstStyle/>
          <a:p>
            <a:pPr algn="ctr"/>
            <a:r>
              <a:rPr sz="1400" b="1" i="0">
                <a:solidFill>
                  <a:srgbClr val="FFFFFF"/>
                </a:solidFill>
                <a:latin typeface="Segoe UI"/>
              </a:rPr>
              <a:t>Coastal plastic waste problem statement</a:t>
            </a:r>
          </a:p>
        </p:txBody>
      </p:sp>
      <p:sp>
        <p:nvSpPr>
          <p:cNvPr id="15" name="Down Arrow 14"/>
          <p:cNvSpPr/>
          <p:nvPr/>
        </p:nvSpPr>
        <p:spPr>
          <a:xfrm>
            <a:off x="2743200" y="2743200"/>
            <a:ext cx="365760" cy="411480"/>
          </a:xfrm>
          <a:prstGeom prst="down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wn Arrow 15"/>
          <p:cNvSpPr/>
          <p:nvPr/>
        </p:nvSpPr>
        <p:spPr>
          <a:xfrm>
            <a:off x="9052560" y="2743200"/>
            <a:ext cx="365760" cy="411480"/>
          </a:xfrm>
          <a:prstGeom prst="downArrow">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66928" y="3291840"/>
            <a:ext cx="5440680" cy="269748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6928" y="3291840"/>
            <a:ext cx="5440680" cy="45720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291840"/>
            <a:ext cx="5440680" cy="457200"/>
          </a:xfrm>
          <a:prstGeom prst="rect">
            <a:avLst/>
          </a:prstGeom>
          <a:noFill/>
        </p:spPr>
        <p:txBody>
          <a:bodyPr wrap="square" anchor="ctr" lIns="0" rIns="0" tIns="0" bIns="0">
            <a:spAutoFit/>
          </a:bodyPr>
          <a:lstStyle/>
          <a:p>
            <a:pPr algn="ctr"/>
            <a:r>
              <a:rPr sz="1400" b="1" i="0">
                <a:solidFill>
                  <a:srgbClr val="FFFFFF"/>
                </a:solidFill>
                <a:latin typeface="Segoe UI"/>
              </a:rPr>
              <a:t>Qualitative path</a:t>
            </a:r>
          </a:p>
        </p:txBody>
      </p:sp>
      <p:sp>
        <p:nvSpPr>
          <p:cNvPr id="20" name="TextBox 19"/>
          <p:cNvSpPr txBox="1"/>
          <p:nvPr/>
        </p:nvSpPr>
        <p:spPr>
          <a:xfrm>
            <a:off x="777240" y="3840480"/>
            <a:ext cx="5029200" cy="2057400"/>
          </a:xfrm>
          <a:prstGeom prst="rect">
            <a:avLst/>
          </a:prstGeom>
          <a:noFill/>
        </p:spPr>
        <p:txBody>
          <a:bodyPr wrap="square" anchor="t" lIns="0" rIns="0" tIns="0" bIns="0">
            <a:spAutoFit/>
          </a:bodyPr>
          <a:lstStyle/>
          <a:p>
            <a:pPr algn="l">
              <a:spcAft>
                <a:spcPts val="200"/>
              </a:spcAft>
            </a:pPr>
            <a:r>
              <a:rPr sz="1150" b="1" i="0">
                <a:solidFill>
                  <a:srgbClr val="2A9D8F"/>
                </a:solidFill>
                <a:latin typeface="Segoe UI"/>
              </a:rPr>
              <a:t>Central question</a:t>
            </a:r>
          </a:p>
          <a:p>
            <a:pPr algn="l">
              <a:lnSpc>
                <a:spcPct val="102000"/>
              </a:lnSpc>
              <a:spcAft>
                <a:spcPts val="700"/>
              </a:spcAft>
            </a:pPr>
            <a:r>
              <a:rPr sz="1200" b="0" i="1">
                <a:solidFill>
                  <a:srgbClr val="14252E"/>
                </a:solidFill>
                <a:latin typeface="Segoe UI"/>
              </a:rPr>
              <a:t>“How do residents of a coastal barangay describe their household plastic-waste-sorting habits?”</a:t>
            </a:r>
          </a:p>
          <a:p>
            <a:pPr algn="l">
              <a:spcAft>
                <a:spcPts val="200"/>
              </a:spcAft>
            </a:pPr>
            <a:r>
              <a:rPr sz="1150" b="1" i="0">
                <a:solidFill>
                  <a:srgbClr val="2A9D8F"/>
                </a:solidFill>
                <a:latin typeface="Segoe UI"/>
              </a:rPr>
              <a:t>Sub-questions</a:t>
            </a:r>
          </a:p>
          <a:p>
            <a:pPr algn="l">
              <a:lnSpc>
                <a:spcPct val="100000"/>
              </a:lnSpc>
              <a:spcAft>
                <a:spcPts val="200"/>
              </a:spcAft>
            </a:pPr>
            <a:r>
              <a:rPr sz="1150" b="0" i="0">
                <a:solidFill>
                  <a:srgbClr val="14252E"/>
                </a:solidFill>
                <a:latin typeface="Segoe UI"/>
              </a:rPr>
              <a:t>1. What barriers do residents describe to consistent sorting?</a:t>
            </a:r>
          </a:p>
          <a:p>
            <a:pPr algn="l">
              <a:lnSpc>
                <a:spcPct val="100000"/>
              </a:lnSpc>
            </a:pPr>
            <a:r>
              <a:rPr sz="1150" b="0" i="0">
                <a:solidFill>
                  <a:srgbClr val="14252E"/>
                </a:solidFill>
                <a:latin typeface="Segoe UI"/>
              </a:rPr>
              <a:t>2. How do residents describe community attitudes toward waste segregation?</a:t>
            </a:r>
          </a:p>
        </p:txBody>
      </p:sp>
      <p:sp>
        <p:nvSpPr>
          <p:cNvPr id="21" name="Rounded Rectangle 20"/>
          <p:cNvSpPr/>
          <p:nvPr/>
        </p:nvSpPr>
        <p:spPr>
          <a:xfrm>
            <a:off x="6190488" y="3291840"/>
            <a:ext cx="5440680" cy="269748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190488" y="3291840"/>
            <a:ext cx="5440680" cy="457200"/>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90488" y="3291840"/>
            <a:ext cx="5440680" cy="457200"/>
          </a:xfrm>
          <a:prstGeom prst="rect">
            <a:avLst/>
          </a:prstGeom>
          <a:noFill/>
        </p:spPr>
        <p:txBody>
          <a:bodyPr wrap="square" anchor="ctr" lIns="0" rIns="0" tIns="0" bIns="0">
            <a:spAutoFit/>
          </a:bodyPr>
          <a:lstStyle/>
          <a:p>
            <a:pPr algn="ctr"/>
            <a:r>
              <a:rPr sz="1400" b="1" i="0">
                <a:solidFill>
                  <a:srgbClr val="FFFFFF"/>
                </a:solidFill>
                <a:latin typeface="Segoe UI"/>
              </a:rPr>
              <a:t>Quantitative path</a:t>
            </a:r>
          </a:p>
        </p:txBody>
      </p:sp>
      <p:sp>
        <p:nvSpPr>
          <p:cNvPr id="24" name="TextBox 23"/>
          <p:cNvSpPr txBox="1"/>
          <p:nvPr/>
        </p:nvSpPr>
        <p:spPr>
          <a:xfrm>
            <a:off x="6400800" y="3840480"/>
            <a:ext cx="5029200" cy="2057400"/>
          </a:xfrm>
          <a:prstGeom prst="rect">
            <a:avLst/>
          </a:prstGeom>
          <a:noFill/>
        </p:spPr>
        <p:txBody>
          <a:bodyPr wrap="square" anchor="t" lIns="0" rIns="0" tIns="0" bIns="0">
            <a:spAutoFit/>
          </a:bodyPr>
          <a:lstStyle/>
          <a:p>
            <a:pPr algn="l">
              <a:spcAft>
                <a:spcPts val="300"/>
              </a:spcAft>
            </a:pPr>
            <a:r>
              <a:rPr sz="1150" b="1" i="0">
                <a:solidFill>
                  <a:srgbClr val="2B6CB2"/>
                </a:solidFill>
                <a:latin typeface="Segoe UI"/>
              </a:rPr>
              <a:t>Hypothesis (H1)</a:t>
            </a:r>
          </a:p>
          <a:p>
            <a:pPr algn="l">
              <a:lnSpc>
                <a:spcPct val="108000"/>
              </a:lnSpc>
            </a:pPr>
            <a:r>
              <a:rPr sz="1250" b="0" i="1">
                <a:solidFill>
                  <a:srgbClr val="14252E"/>
                </a:solidFill>
                <a:latin typeface="Segoe UI"/>
              </a:rPr>
              <a:t>“Households with access to peer-led education programs will show higher plastic-segregation compliance than households without access.”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7B4E8C">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7B4E8C"/>
                </a:solidFill>
                <a:latin typeface="Segoe UI"/>
              </a:rPr>
              <a:t>PART 4 - QUESTIONS &amp; HYPOTHESES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Practice: Draft Your Own Question</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Activity  -  dengue thread continues</a:t>
            </a:r>
          </a:p>
        </p:txBody>
      </p:sp>
      <p:sp>
        <p:nvSpPr>
          <p:cNvPr id="8" name="Rectangle 7"/>
          <p:cNvSpPr/>
          <p:nvPr/>
        </p:nvSpPr>
        <p:spPr>
          <a:xfrm>
            <a:off x="576072" y="1572768"/>
            <a:ext cx="1554480" cy="50292"/>
          </a:xfrm>
          <a:prstGeom prst="rect">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38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TextBox 12"/>
          <p:cNvSpPr txBox="1"/>
          <p:nvPr/>
        </p:nvSpPr>
        <p:spPr>
          <a:xfrm>
            <a:off x="566928" y="2011680"/>
            <a:ext cx="10972800" cy="457200"/>
          </a:xfrm>
          <a:prstGeom prst="rect">
            <a:avLst/>
          </a:prstGeom>
          <a:noFill/>
        </p:spPr>
        <p:txBody>
          <a:bodyPr wrap="square" anchor="t" lIns="0" rIns="0" tIns="0" bIns="0">
            <a:spAutoFit/>
          </a:bodyPr>
          <a:lstStyle/>
          <a:p>
            <a:pPr algn="l">
              <a:lnSpc>
                <a:spcPct val="100000"/>
              </a:lnSpc>
            </a:pPr>
            <a:r>
              <a:rPr sz="1500" b="1" i="0">
                <a:solidFill>
                  <a:srgbClr val="14252E"/>
                </a:solidFill>
                <a:latin typeface="Segoe UI"/>
              </a:rPr>
              <a:t>Use the full dengue problem statement your pair wrote in Slide 29. In pairs, draft either:</a:t>
            </a:r>
          </a:p>
        </p:txBody>
      </p:sp>
      <p:sp>
        <p:nvSpPr>
          <p:cNvPr id="14" name="Rounded Rectangle 13"/>
          <p:cNvSpPr/>
          <p:nvPr/>
        </p:nvSpPr>
        <p:spPr>
          <a:xfrm>
            <a:off x="566928" y="2606040"/>
            <a:ext cx="5440680" cy="214884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6928" y="2606040"/>
            <a:ext cx="5440680" cy="457200"/>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606040"/>
            <a:ext cx="5440680" cy="457200"/>
          </a:xfrm>
          <a:prstGeom prst="rect">
            <a:avLst/>
          </a:prstGeom>
          <a:noFill/>
        </p:spPr>
        <p:txBody>
          <a:bodyPr wrap="square" anchor="ctr" lIns="0" rIns="0" tIns="0" bIns="0">
            <a:spAutoFit/>
          </a:bodyPr>
          <a:lstStyle/>
          <a:p>
            <a:pPr algn="ctr"/>
            <a:r>
              <a:rPr sz="1400" b="1" i="0">
                <a:solidFill>
                  <a:srgbClr val="FFFFFF"/>
                </a:solidFill>
                <a:latin typeface="Segoe UI"/>
              </a:rPr>
              <a:t>(a)  Descriptive question</a:t>
            </a:r>
          </a:p>
        </p:txBody>
      </p:sp>
      <p:sp>
        <p:nvSpPr>
          <p:cNvPr id="17" name="TextBox 16"/>
          <p:cNvSpPr txBox="1"/>
          <p:nvPr/>
        </p:nvSpPr>
        <p:spPr>
          <a:xfrm>
            <a:off x="822960" y="3200400"/>
            <a:ext cx="4937760" cy="1463040"/>
          </a:xfrm>
          <a:prstGeom prst="rect">
            <a:avLst/>
          </a:prstGeom>
          <a:noFill/>
        </p:spPr>
        <p:txBody>
          <a:bodyPr wrap="square" anchor="ctr" lIns="0" rIns="0" tIns="0" bIns="0">
            <a:spAutoFit/>
          </a:bodyPr>
          <a:lstStyle/>
          <a:p>
            <a:pPr algn="l">
              <a:lnSpc>
                <a:spcPct val="108000"/>
              </a:lnSpc>
            </a:pPr>
            <a:r>
              <a:rPr sz="1450" b="0" i="0">
                <a:solidFill>
                  <a:srgbClr val="14252E"/>
                </a:solidFill>
                <a:latin typeface="Segoe UI"/>
              </a:rPr>
              <a:t>A descriptive quantitative question AND name its variable.</a:t>
            </a:r>
          </a:p>
        </p:txBody>
      </p:sp>
      <p:sp>
        <p:nvSpPr>
          <p:cNvPr id="18" name="Rounded Rectangle 17"/>
          <p:cNvSpPr/>
          <p:nvPr/>
        </p:nvSpPr>
        <p:spPr>
          <a:xfrm>
            <a:off x="6190488" y="2606040"/>
            <a:ext cx="5440680" cy="214884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90488" y="2606040"/>
            <a:ext cx="5440680" cy="45720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0488" y="2606040"/>
            <a:ext cx="5440680" cy="457200"/>
          </a:xfrm>
          <a:prstGeom prst="rect">
            <a:avLst/>
          </a:prstGeom>
          <a:noFill/>
        </p:spPr>
        <p:txBody>
          <a:bodyPr wrap="square" anchor="ctr" lIns="0" rIns="0" tIns="0" bIns="0">
            <a:spAutoFit/>
          </a:bodyPr>
          <a:lstStyle/>
          <a:p>
            <a:pPr algn="ctr"/>
            <a:r>
              <a:rPr sz="1400" b="1" i="0">
                <a:solidFill>
                  <a:srgbClr val="FFFFFF"/>
                </a:solidFill>
                <a:latin typeface="Segoe UI"/>
              </a:rPr>
              <a:t>(b)  Directional hypothesis</a:t>
            </a:r>
          </a:p>
        </p:txBody>
      </p:sp>
      <p:sp>
        <p:nvSpPr>
          <p:cNvPr id="21" name="TextBox 20"/>
          <p:cNvSpPr txBox="1"/>
          <p:nvPr/>
        </p:nvSpPr>
        <p:spPr>
          <a:xfrm>
            <a:off x="6446520" y="3200400"/>
            <a:ext cx="4937760" cy="1463040"/>
          </a:xfrm>
          <a:prstGeom prst="rect">
            <a:avLst/>
          </a:prstGeom>
          <a:noFill/>
        </p:spPr>
        <p:txBody>
          <a:bodyPr wrap="square" anchor="ctr" lIns="0" rIns="0" tIns="0" bIns="0">
            <a:spAutoFit/>
          </a:bodyPr>
          <a:lstStyle/>
          <a:p>
            <a:pPr algn="l">
              <a:lnSpc>
                <a:spcPct val="108000"/>
              </a:lnSpc>
            </a:pPr>
            <a:r>
              <a:rPr sz="1450" b="0" i="0">
                <a:solidFill>
                  <a:srgbClr val="14252E"/>
                </a:solidFill>
                <a:latin typeface="Segoe UI"/>
              </a:rPr>
              <a:t>A directional hypothesis (H1) AND name both the predictor and outcome variables.</a:t>
            </a:r>
          </a:p>
        </p:txBody>
      </p:sp>
      <p:sp>
        <p:nvSpPr>
          <p:cNvPr id="22" name="Rounded Rectangle 21"/>
          <p:cNvSpPr/>
          <p:nvPr/>
        </p:nvSpPr>
        <p:spPr>
          <a:xfrm>
            <a:off x="566928" y="5029200"/>
            <a:ext cx="11064240" cy="685800"/>
          </a:xfrm>
          <a:prstGeom prst="roundRect">
            <a:avLst>
              <a:gd name="adj" fmla="val 12000"/>
            </a:avLst>
          </a:prstGeom>
          <a:solidFill>
            <a:srgbClr val="FAE5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66928" y="5029200"/>
            <a:ext cx="82296" cy="68580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029200"/>
            <a:ext cx="10607040" cy="685800"/>
          </a:xfrm>
          <a:prstGeom prst="rect">
            <a:avLst/>
          </a:prstGeom>
          <a:noFill/>
        </p:spPr>
        <p:txBody>
          <a:bodyPr wrap="square" anchor="ctr" lIns="0" rIns="0" tIns="0" bIns="0">
            <a:spAutoFit/>
          </a:bodyPr>
          <a:lstStyle/>
          <a:p>
            <a:pPr algn="l">
              <a:lnSpc>
                <a:spcPct val="102000"/>
              </a:lnSpc>
            </a:pPr>
            <a:r>
              <a:rPr sz="1450" b="0" i="1">
                <a:solidFill>
                  <a:srgbClr val="14252E"/>
                </a:solidFill>
                <a:latin typeface="Segoe UI"/>
              </a:rPr>
              <a:t>Check your draft against the aligned criterion (Slide 34) before sharing.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438A5E">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438A5E"/>
                </a:solidFill>
                <a:latin typeface="Segoe UI"/>
              </a:rPr>
              <a:t>PART 5 - JUSTIFYING WITH CER</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Why Should Anyone Care?</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Scenario framing</a:t>
            </a:r>
          </a:p>
        </p:txBody>
      </p:sp>
      <p:sp>
        <p:nvSpPr>
          <p:cNvPr id="8" name="Rectangle 7"/>
          <p:cNvSpPr/>
          <p:nvPr/>
        </p:nvSpPr>
        <p:spPr>
          <a:xfrm>
            <a:off x="576072" y="1572768"/>
            <a:ext cx="1554480" cy="50292"/>
          </a:xfrm>
          <a:prstGeom prst="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39  /  51</a:t>
            </a:r>
          </a:p>
        </p:txBody>
      </p:sp>
      <p:sp>
        <p:nvSpPr>
          <p:cNvPr id="10" name="TextBox 9"/>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1" name="TextBox 10"/>
          <p:cNvSpPr txBox="1"/>
          <p:nvPr/>
        </p:nvSpPr>
        <p:spPr>
          <a:xfrm>
            <a:off x="566928" y="2286000"/>
            <a:ext cx="6400800" cy="3200400"/>
          </a:xfrm>
          <a:prstGeom prst="rect">
            <a:avLst/>
          </a:prstGeom>
          <a:noFill/>
        </p:spPr>
        <p:txBody>
          <a:bodyPr wrap="square" lIns="0" rIns="0" tIns="0" bIns="0">
            <a:spAutoFit/>
          </a:bodyPr>
          <a:lstStyle/>
          <a:p>
            <a:pPr>
              <a:lnSpc>
                <a:spcPct val="104000"/>
              </a:lnSpc>
              <a:spcAft>
                <a:spcPts val="1600"/>
              </a:spcAft>
            </a:pPr>
            <a:r>
              <a:rPr sz="1300">
                <a:solidFill>
                  <a:srgbClr val="438A5E"/>
                </a:solidFill>
              </a:rPr>
              <a:t>■  </a:t>
            </a:r>
            <a:r>
              <a:rPr sz="1700" b="0" i="0">
                <a:solidFill>
                  <a:srgbClr val="14252E"/>
                </a:solidFill>
                <a:latin typeface="Segoe UI"/>
              </a:rPr>
              <a:t>The group has a strong problem statement and an aligned research question.</a:t>
            </a:r>
          </a:p>
          <a:p>
            <a:pPr>
              <a:lnSpc>
                <a:spcPct val="104000"/>
              </a:lnSpc>
              <a:spcAft>
                <a:spcPts val="1600"/>
              </a:spcAft>
            </a:pPr>
            <a:r>
              <a:rPr sz="1300">
                <a:solidFill>
                  <a:srgbClr val="438A5E"/>
                </a:solidFill>
              </a:rPr>
              <a:t>■  </a:t>
            </a:r>
            <a:r>
              <a:rPr sz="1700" b="0" i="0">
                <a:solidFill>
                  <a:srgbClr val="14252E"/>
                </a:solidFill>
                <a:latin typeface="Segoe UI"/>
              </a:rPr>
              <a:t>A reader - a teacher, a panel, a barangay official - will still ask: </a:t>
            </a:r>
            <a:r>
              <a:rPr sz="1700" b="0" i="1">
                <a:solidFill>
                  <a:srgbClr val="14252E"/>
                </a:solidFill>
                <a:latin typeface="Segoe UI"/>
              </a:rPr>
              <a:t>“So what? Why does this matter enough to study?”</a:t>
            </a:r>
          </a:p>
          <a:p>
            <a:pPr>
              <a:lnSpc>
                <a:spcPct val="104000"/>
              </a:lnSpc>
              <a:spcAft>
                <a:spcPts val="1600"/>
              </a:spcAft>
            </a:pPr>
            <a:r>
              <a:rPr sz="1300">
                <a:solidFill>
                  <a:srgbClr val="438A5E"/>
                </a:solidFill>
              </a:rPr>
              <a:t>■  </a:t>
            </a:r>
            <a:r>
              <a:rPr sz="1700" b="0" i="0">
                <a:solidFill>
                  <a:srgbClr val="14252E"/>
                </a:solidFill>
                <a:latin typeface="Segoe UI"/>
              </a:rPr>
              <a:t>A problem statement alone doesn't answer that. It needs to be </a:t>
            </a:r>
            <a:r>
              <a:rPr sz="1700" b="1" i="0">
                <a:solidFill>
                  <a:srgbClr val="14252E"/>
                </a:solidFill>
                <a:latin typeface="Segoe UI"/>
              </a:rPr>
              <a:t>argued for</a:t>
            </a:r>
            <a:r>
              <a:rPr sz="1700" b="0" i="0">
                <a:solidFill>
                  <a:srgbClr val="14252E"/>
                </a:solidFill>
                <a:latin typeface="Segoe UI"/>
              </a:rPr>
              <a:t>, not just announced.</a:t>
            </a:r>
          </a:p>
        </p:txBody>
      </p:sp>
      <p:sp>
        <p:nvSpPr>
          <p:cNvPr id="12" name="Rounded Rectangle 11"/>
          <p:cNvSpPr/>
          <p:nvPr/>
        </p:nvSpPr>
        <p:spPr>
          <a:xfrm>
            <a:off x="7498079" y="2468880"/>
            <a:ext cx="4023360" cy="2743200"/>
          </a:xfrm>
          <a:prstGeom prst="roundRect">
            <a:avLst/>
          </a:prstGeom>
          <a:solidFill>
            <a:srgbClr val="599871"/>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651760"/>
            <a:ext cx="4023360" cy="1371600"/>
          </a:xfrm>
          <a:prstGeom prst="rect">
            <a:avLst/>
          </a:prstGeom>
          <a:noFill/>
        </p:spPr>
        <p:txBody>
          <a:bodyPr wrap="square" anchor="ctr" lIns="0" rIns="0" tIns="0" bIns="0">
            <a:spAutoFit/>
          </a:bodyPr>
          <a:lstStyle/>
          <a:p>
            <a:pPr algn="ctr"/>
            <a:r>
              <a:rPr sz="3400" b="1" i="0">
                <a:solidFill>
                  <a:srgbClr val="438A5E"/>
                </a:solidFill>
                <a:latin typeface="Segoe UI"/>
              </a:rPr>
              <a:t>“So what?”</a:t>
            </a:r>
          </a:p>
        </p:txBody>
      </p:sp>
      <p:sp>
        <p:nvSpPr>
          <p:cNvPr id="14" name="TextBox 13"/>
          <p:cNvSpPr txBox="1"/>
          <p:nvPr/>
        </p:nvSpPr>
        <p:spPr>
          <a:xfrm>
            <a:off x="7772400" y="4023360"/>
            <a:ext cx="3474720" cy="1005840"/>
          </a:xfrm>
          <a:prstGeom prst="rect">
            <a:avLst/>
          </a:prstGeom>
          <a:noFill/>
        </p:spPr>
        <p:txBody>
          <a:bodyPr wrap="square" anchor="ctr" lIns="0" rIns="0" tIns="0" bIns="0">
            <a:spAutoFit/>
          </a:bodyPr>
          <a:lstStyle/>
          <a:p>
            <a:pPr algn="ctr">
              <a:lnSpc>
                <a:spcPct val="105000"/>
              </a:lnSpc>
            </a:pPr>
            <a:r>
              <a:rPr sz="1350" b="0" i="1">
                <a:solidFill>
                  <a:srgbClr val="14252E"/>
                </a:solidFill>
                <a:latin typeface="Segoe UI"/>
              </a:rPr>
              <a:t>The question every reader silently asks of your research problem.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438A5E">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438A5E"/>
                </a:solidFill>
                <a:latin typeface="Segoe UI"/>
              </a:rPr>
              <a:t>PART 5 - JUSTIFYING WITH CER</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Introducing the CER Framework</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Concept map</a:t>
            </a:r>
          </a:p>
        </p:txBody>
      </p:sp>
      <p:sp>
        <p:nvSpPr>
          <p:cNvPr id="8" name="Rectangle 7"/>
          <p:cNvSpPr/>
          <p:nvPr/>
        </p:nvSpPr>
        <p:spPr>
          <a:xfrm>
            <a:off x="576072" y="1572768"/>
            <a:ext cx="1554480" cy="50292"/>
          </a:xfrm>
          <a:prstGeom prst="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40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2286000"/>
            <a:ext cx="3352800" cy="160020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2286000"/>
            <a:ext cx="3352800" cy="384048"/>
          </a:xfrm>
          <a:prstGeom prst="round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286000"/>
            <a:ext cx="3352800" cy="384048"/>
          </a:xfrm>
          <a:prstGeom prst="rect">
            <a:avLst/>
          </a:prstGeom>
          <a:noFill/>
        </p:spPr>
        <p:txBody>
          <a:bodyPr wrap="square" anchor="ctr" lIns="0" rIns="0" tIns="0" bIns="0">
            <a:spAutoFit/>
          </a:bodyPr>
          <a:lstStyle/>
          <a:p>
            <a:pPr algn="ctr"/>
            <a:r>
              <a:rPr sz="1400" b="1" i="0">
                <a:solidFill>
                  <a:srgbClr val="FFFFFF"/>
                </a:solidFill>
                <a:latin typeface="Segoe UI"/>
              </a:rPr>
              <a:t>Claim</a:t>
            </a:r>
          </a:p>
        </p:txBody>
      </p:sp>
      <p:sp>
        <p:nvSpPr>
          <p:cNvPr id="16" name="TextBox 15"/>
          <p:cNvSpPr txBox="1"/>
          <p:nvPr/>
        </p:nvSpPr>
        <p:spPr>
          <a:xfrm>
            <a:off x="713232" y="2743200"/>
            <a:ext cx="3060192" cy="1051560"/>
          </a:xfrm>
          <a:prstGeom prst="rect">
            <a:avLst/>
          </a:prstGeom>
          <a:noFill/>
        </p:spPr>
        <p:txBody>
          <a:bodyPr wrap="square" anchor="ctr" lIns="0" rIns="0" tIns="0" bIns="0">
            <a:spAutoFit/>
          </a:bodyPr>
          <a:lstStyle/>
          <a:p>
            <a:pPr algn="ctr">
              <a:lnSpc>
                <a:spcPct val="100000"/>
              </a:lnSpc>
            </a:pPr>
            <a:r>
              <a:rPr sz="1150" b="0" i="0">
                <a:solidFill>
                  <a:srgbClr val="3A4B54"/>
                </a:solidFill>
                <a:latin typeface="Segoe UI"/>
              </a:rPr>
              <a:t>the statement you're arguing for (your research problem matters)</a:t>
            </a:r>
          </a:p>
        </p:txBody>
      </p:sp>
      <p:sp>
        <p:nvSpPr>
          <p:cNvPr id="17" name="Right Arrow 16"/>
          <p:cNvSpPr/>
          <p:nvPr/>
        </p:nvSpPr>
        <p:spPr>
          <a:xfrm>
            <a:off x="3947160" y="2958084"/>
            <a:ext cx="448056" cy="256032"/>
          </a:xfrm>
          <a:prstGeom prst="rightArrow">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22648" y="2286000"/>
            <a:ext cx="3352800" cy="160020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22648" y="2286000"/>
            <a:ext cx="3352800" cy="384048"/>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22648" y="2286000"/>
            <a:ext cx="3352800" cy="384048"/>
          </a:xfrm>
          <a:prstGeom prst="rect">
            <a:avLst/>
          </a:prstGeom>
          <a:noFill/>
        </p:spPr>
        <p:txBody>
          <a:bodyPr wrap="square" anchor="ctr" lIns="0" rIns="0" tIns="0" bIns="0">
            <a:spAutoFit/>
          </a:bodyPr>
          <a:lstStyle/>
          <a:p>
            <a:pPr algn="ctr"/>
            <a:r>
              <a:rPr sz="1400" b="1" i="0">
                <a:solidFill>
                  <a:srgbClr val="FFFFFF"/>
                </a:solidFill>
                <a:latin typeface="Segoe UI"/>
              </a:rPr>
              <a:t>Evidence</a:t>
            </a:r>
          </a:p>
        </p:txBody>
      </p:sp>
      <p:sp>
        <p:nvSpPr>
          <p:cNvPr id="21" name="TextBox 20"/>
          <p:cNvSpPr txBox="1"/>
          <p:nvPr/>
        </p:nvSpPr>
        <p:spPr>
          <a:xfrm>
            <a:off x="4568952" y="2743200"/>
            <a:ext cx="3060192" cy="1051560"/>
          </a:xfrm>
          <a:prstGeom prst="rect">
            <a:avLst/>
          </a:prstGeom>
          <a:noFill/>
        </p:spPr>
        <p:txBody>
          <a:bodyPr wrap="square" anchor="ctr" lIns="0" rIns="0" tIns="0" bIns="0">
            <a:spAutoFit/>
          </a:bodyPr>
          <a:lstStyle/>
          <a:p>
            <a:pPr algn="ctr">
              <a:lnSpc>
                <a:spcPct val="100000"/>
              </a:lnSpc>
            </a:pPr>
            <a:r>
              <a:rPr sz="1150" b="0" i="0">
                <a:solidFill>
                  <a:srgbClr val="3A4B54"/>
                </a:solidFill>
                <a:latin typeface="Segoe UI"/>
              </a:rPr>
              <a:t>the data or literature findings that support the claim</a:t>
            </a:r>
          </a:p>
        </p:txBody>
      </p:sp>
      <p:sp>
        <p:nvSpPr>
          <p:cNvPr id="22" name="Right Arrow 21"/>
          <p:cNvSpPr/>
          <p:nvPr/>
        </p:nvSpPr>
        <p:spPr>
          <a:xfrm>
            <a:off x="7802880" y="2958084"/>
            <a:ext cx="448056" cy="256032"/>
          </a:xfrm>
          <a:prstGeom prst="rightArrow">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278367" y="2286000"/>
            <a:ext cx="3352800" cy="160020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78367" y="2286000"/>
            <a:ext cx="3352800" cy="38404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78367" y="2286000"/>
            <a:ext cx="3352800" cy="384048"/>
          </a:xfrm>
          <a:prstGeom prst="rect">
            <a:avLst/>
          </a:prstGeom>
          <a:noFill/>
        </p:spPr>
        <p:txBody>
          <a:bodyPr wrap="square" anchor="ctr" lIns="0" rIns="0" tIns="0" bIns="0">
            <a:spAutoFit/>
          </a:bodyPr>
          <a:lstStyle/>
          <a:p>
            <a:pPr algn="ctr"/>
            <a:r>
              <a:rPr sz="1400" b="1" i="0">
                <a:solidFill>
                  <a:srgbClr val="FFFFFF"/>
                </a:solidFill>
                <a:latin typeface="Segoe UI"/>
              </a:rPr>
              <a:t>Reasoning</a:t>
            </a:r>
          </a:p>
        </p:txBody>
      </p:sp>
      <p:sp>
        <p:nvSpPr>
          <p:cNvPr id="26" name="TextBox 25"/>
          <p:cNvSpPr txBox="1"/>
          <p:nvPr/>
        </p:nvSpPr>
        <p:spPr>
          <a:xfrm>
            <a:off x="8424672" y="2743200"/>
            <a:ext cx="3060192" cy="1051560"/>
          </a:xfrm>
          <a:prstGeom prst="rect">
            <a:avLst/>
          </a:prstGeom>
          <a:noFill/>
        </p:spPr>
        <p:txBody>
          <a:bodyPr wrap="square" anchor="ctr" lIns="0" rIns="0" tIns="0" bIns="0">
            <a:spAutoFit/>
          </a:bodyPr>
          <a:lstStyle/>
          <a:p>
            <a:pPr algn="ctr">
              <a:lnSpc>
                <a:spcPct val="100000"/>
              </a:lnSpc>
            </a:pPr>
            <a:r>
              <a:rPr sz="1150" b="0" i="0">
                <a:solidFill>
                  <a:srgbClr val="3A4B54"/>
                </a:solidFill>
                <a:latin typeface="Segoe UI"/>
              </a:rPr>
              <a:t>the explanation connecting the evidence to the claim</a:t>
            </a:r>
          </a:p>
        </p:txBody>
      </p:sp>
      <p:sp>
        <p:nvSpPr>
          <p:cNvPr id="27" name="Rounded Rectangle 26"/>
          <p:cNvSpPr/>
          <p:nvPr/>
        </p:nvSpPr>
        <p:spPr>
          <a:xfrm>
            <a:off x="566928" y="4343400"/>
            <a:ext cx="11064240" cy="1371600"/>
          </a:xfrm>
          <a:prstGeom prst="roundRect">
            <a:avLst>
              <a:gd name="adj" fmla="val 12000"/>
            </a:avLst>
          </a:prstGeom>
          <a:solidFill>
            <a:srgbClr val="DDE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66928" y="4343400"/>
            <a:ext cx="82296" cy="1371600"/>
          </a:xfrm>
          <a:prstGeom prst="round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343400"/>
            <a:ext cx="10607040" cy="1371600"/>
          </a:xfrm>
          <a:prstGeom prst="rect">
            <a:avLst/>
          </a:prstGeom>
          <a:noFill/>
        </p:spPr>
        <p:txBody>
          <a:bodyPr wrap="square" anchor="ctr" lIns="0" rIns="0" tIns="0" bIns="0">
            <a:spAutoFit/>
          </a:bodyPr>
          <a:lstStyle/>
          <a:p>
            <a:pPr algn="l">
              <a:lnSpc>
                <a:spcPct val="102000"/>
              </a:lnSpc>
            </a:pPr>
            <a:r>
              <a:rPr sz="1400" b="0" i="1">
                <a:solidFill>
                  <a:srgbClr val="14252E"/>
                </a:solidFill>
                <a:latin typeface="Segoe UI"/>
              </a:rPr>
              <a:t>CER is a widely used argumentation framework from science education, applied here to research writing. It is not a term used in the assigned research-methods textbook itself, but it gives us a simple structure for the same task the textbook describes.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438A5E">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438A5E"/>
                </a:solidFill>
                <a:latin typeface="Segoe UI"/>
              </a:rPr>
              <a:t>PART 5 - JUSTIFYING WITH CER</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Building Your CER Argument</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Mapping table</a:t>
            </a:r>
          </a:p>
        </p:txBody>
      </p:sp>
      <p:sp>
        <p:nvSpPr>
          <p:cNvPr id="8" name="Rectangle 7"/>
          <p:cNvSpPr/>
          <p:nvPr/>
        </p:nvSpPr>
        <p:spPr>
          <a:xfrm>
            <a:off x="576072" y="1572768"/>
            <a:ext cx="1554480" cy="50292"/>
          </a:xfrm>
          <a:prstGeom prst="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759391" y="420624"/>
            <a:ext cx="1883664" cy="310896"/>
          </a:xfrm>
          <a:prstGeom prst="roundRect">
            <a:avLst>
              <a:gd name="adj" fmla="val 50000"/>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9391" y="420624"/>
            <a:ext cx="1883664" cy="310896"/>
          </a:xfrm>
          <a:prstGeom prst="rect">
            <a:avLst/>
          </a:prstGeom>
          <a:noFill/>
        </p:spPr>
        <p:txBody>
          <a:bodyPr wrap="square" anchor="ctr" lIns="0" rIns="0" tIns="0" bIns="0">
            <a:spAutoFit/>
          </a:bodyPr>
          <a:lstStyle/>
          <a:p>
            <a:pPr algn="ctr"/>
            <a:r>
              <a:rPr sz="1050" b="1" i="0">
                <a:solidFill>
                  <a:srgbClr val="FFFFFF"/>
                </a:solidFill>
                <a:latin typeface="Segoe UI"/>
              </a:rPr>
              <a:t>TEXTBOOK-BASED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41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2011680"/>
            <a:ext cx="11064240" cy="86868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2011680"/>
            <a:ext cx="2103120" cy="868680"/>
          </a:xfrm>
          <a:prstGeom prst="round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011680"/>
            <a:ext cx="2103120" cy="868680"/>
          </a:xfrm>
          <a:prstGeom prst="rect">
            <a:avLst/>
          </a:prstGeom>
          <a:noFill/>
        </p:spPr>
        <p:txBody>
          <a:bodyPr wrap="square" anchor="ctr" lIns="0" rIns="0" tIns="0" bIns="0">
            <a:spAutoFit/>
          </a:bodyPr>
          <a:lstStyle/>
          <a:p>
            <a:pPr algn="ctr"/>
            <a:r>
              <a:rPr sz="1600" b="1" i="0">
                <a:solidFill>
                  <a:srgbClr val="FFFFFF"/>
                </a:solidFill>
                <a:latin typeface="Segoe UI"/>
              </a:rPr>
              <a:t>Claim</a:t>
            </a:r>
          </a:p>
        </p:txBody>
      </p:sp>
      <p:sp>
        <p:nvSpPr>
          <p:cNvPr id="16" name="TextBox 15"/>
          <p:cNvSpPr txBox="1"/>
          <p:nvPr/>
        </p:nvSpPr>
        <p:spPr>
          <a:xfrm>
            <a:off x="2834640" y="2011680"/>
            <a:ext cx="8595360" cy="868680"/>
          </a:xfrm>
          <a:prstGeom prst="rect">
            <a:avLst/>
          </a:prstGeom>
          <a:noFill/>
        </p:spPr>
        <p:txBody>
          <a:bodyPr wrap="square" anchor="ctr" lIns="0" rIns="0" tIns="0" bIns="0">
            <a:spAutoFit/>
          </a:bodyPr>
          <a:lstStyle/>
          <a:p>
            <a:pPr algn="l">
              <a:lnSpc>
                <a:spcPct val="102000"/>
              </a:lnSpc>
            </a:pPr>
            <a:r>
              <a:rPr sz="1400" b="0" i="0">
                <a:solidFill>
                  <a:srgbClr val="14252E"/>
                </a:solidFill>
                <a:latin typeface="Segoe UI"/>
              </a:rPr>
              <a:t>your problem statement is significant and worth studying</a:t>
            </a:r>
          </a:p>
        </p:txBody>
      </p:sp>
      <p:sp>
        <p:nvSpPr>
          <p:cNvPr id="17" name="Rounded Rectangle 16"/>
          <p:cNvSpPr/>
          <p:nvPr/>
        </p:nvSpPr>
        <p:spPr>
          <a:xfrm>
            <a:off x="566928" y="2971800"/>
            <a:ext cx="11064240" cy="86868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6928" y="2971800"/>
            <a:ext cx="2103120" cy="868680"/>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2971800"/>
            <a:ext cx="2103120" cy="868680"/>
          </a:xfrm>
          <a:prstGeom prst="rect">
            <a:avLst/>
          </a:prstGeom>
          <a:noFill/>
        </p:spPr>
        <p:txBody>
          <a:bodyPr wrap="square" anchor="ctr" lIns="0" rIns="0" tIns="0" bIns="0">
            <a:spAutoFit/>
          </a:bodyPr>
          <a:lstStyle/>
          <a:p>
            <a:pPr algn="ctr"/>
            <a:r>
              <a:rPr sz="1600" b="1" i="0">
                <a:solidFill>
                  <a:srgbClr val="FFFFFF"/>
                </a:solidFill>
                <a:latin typeface="Segoe UI"/>
              </a:rPr>
              <a:t>Evidence</a:t>
            </a:r>
          </a:p>
        </p:txBody>
      </p:sp>
      <p:sp>
        <p:nvSpPr>
          <p:cNvPr id="20" name="TextBox 19"/>
          <p:cNvSpPr txBox="1"/>
          <p:nvPr/>
        </p:nvSpPr>
        <p:spPr>
          <a:xfrm>
            <a:off x="2834640" y="2971800"/>
            <a:ext cx="8595360" cy="868680"/>
          </a:xfrm>
          <a:prstGeom prst="rect">
            <a:avLst/>
          </a:prstGeom>
          <a:noFill/>
        </p:spPr>
        <p:txBody>
          <a:bodyPr wrap="square" anchor="ctr" lIns="0" rIns="0" tIns="0" bIns="0">
            <a:spAutoFit/>
          </a:bodyPr>
          <a:lstStyle/>
          <a:p>
            <a:pPr algn="l">
              <a:lnSpc>
                <a:spcPct val="102000"/>
              </a:lnSpc>
            </a:pPr>
            <a:r>
              <a:rPr sz="1400" b="0" i="0">
                <a:solidFill>
                  <a:srgbClr val="14252E"/>
                </a:solidFill>
                <a:latin typeface="Segoe UI"/>
              </a:rPr>
              <a:t>findings from your literature synthesis and review (Part 2)  +  relevant data or statistics</a:t>
            </a:r>
          </a:p>
        </p:txBody>
      </p:sp>
      <p:sp>
        <p:nvSpPr>
          <p:cNvPr id="21" name="Rounded Rectangle 20"/>
          <p:cNvSpPr/>
          <p:nvPr/>
        </p:nvSpPr>
        <p:spPr>
          <a:xfrm>
            <a:off x="566928" y="3931920"/>
            <a:ext cx="11064240" cy="86868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66928" y="3931920"/>
            <a:ext cx="2103120" cy="86868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31920"/>
            <a:ext cx="2103120" cy="868680"/>
          </a:xfrm>
          <a:prstGeom prst="rect">
            <a:avLst/>
          </a:prstGeom>
          <a:noFill/>
        </p:spPr>
        <p:txBody>
          <a:bodyPr wrap="square" anchor="ctr" lIns="0" rIns="0" tIns="0" bIns="0">
            <a:spAutoFit/>
          </a:bodyPr>
          <a:lstStyle/>
          <a:p>
            <a:pPr algn="ctr"/>
            <a:r>
              <a:rPr sz="1600" b="1" i="0">
                <a:solidFill>
                  <a:srgbClr val="FFFFFF"/>
                </a:solidFill>
                <a:latin typeface="Segoe UI"/>
              </a:rPr>
              <a:t>Reasoning</a:t>
            </a:r>
          </a:p>
        </p:txBody>
      </p:sp>
      <p:sp>
        <p:nvSpPr>
          <p:cNvPr id="24" name="TextBox 23"/>
          <p:cNvSpPr txBox="1"/>
          <p:nvPr/>
        </p:nvSpPr>
        <p:spPr>
          <a:xfrm>
            <a:off x="2834640" y="3931920"/>
            <a:ext cx="8595360" cy="868680"/>
          </a:xfrm>
          <a:prstGeom prst="rect">
            <a:avLst/>
          </a:prstGeom>
          <a:noFill/>
        </p:spPr>
        <p:txBody>
          <a:bodyPr wrap="square" anchor="ctr" lIns="0" rIns="0" tIns="0" bIns="0">
            <a:spAutoFit/>
          </a:bodyPr>
          <a:lstStyle/>
          <a:p>
            <a:pPr algn="l">
              <a:lnSpc>
                <a:spcPct val="102000"/>
              </a:lnSpc>
            </a:pPr>
            <a:r>
              <a:rPr sz="1400" b="0" i="0">
                <a:solidFill>
                  <a:srgbClr val="14252E"/>
                </a:solidFill>
                <a:latin typeface="Segoe UI"/>
              </a:rPr>
              <a:t>why that evidence, taken together, shows this specific gap matters</a:t>
            </a:r>
          </a:p>
        </p:txBody>
      </p:sp>
      <p:sp>
        <p:nvSpPr>
          <p:cNvPr id="25" name="Rounded Rectangle 24"/>
          <p:cNvSpPr/>
          <p:nvPr/>
        </p:nvSpPr>
        <p:spPr>
          <a:xfrm>
            <a:off x="566928" y="5120640"/>
            <a:ext cx="11064240" cy="777240"/>
          </a:xfrm>
          <a:prstGeom prst="roundRect">
            <a:avLst>
              <a:gd name="adj" fmla="val 12000"/>
            </a:avLst>
          </a:prstGeom>
          <a:solidFill>
            <a:srgbClr val="DDE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66928" y="5120640"/>
            <a:ext cx="82296" cy="777240"/>
          </a:xfrm>
          <a:prstGeom prst="round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120640"/>
            <a:ext cx="10607040" cy="777240"/>
          </a:xfrm>
          <a:prstGeom prst="rect">
            <a:avLst/>
          </a:prstGeom>
          <a:noFill/>
        </p:spPr>
        <p:txBody>
          <a:bodyPr wrap="square" anchor="ctr" lIns="0" rIns="0" tIns="0" bIns="0">
            <a:spAutoFit/>
          </a:bodyPr>
          <a:lstStyle/>
          <a:p>
            <a:pPr algn="l">
              <a:lnSpc>
                <a:spcPct val="102000"/>
              </a:lnSpc>
            </a:pPr>
            <a:r>
              <a:rPr sz="1400" b="0" i="1">
                <a:solidFill>
                  <a:srgbClr val="14252E"/>
                </a:solidFill>
                <a:latin typeface="Segoe UI"/>
              </a:rPr>
              <a:t>This mirrors how published research introductions work: state the problem, review supporting evidence, then explain its importance to a specific audience.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438A5E">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438A5E"/>
                </a:solidFill>
                <a:latin typeface="Segoe UI"/>
              </a:rPr>
              <a:t>PART 5 - JUSTIFYING WITH CER</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A Full CER Paragraph</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Annotated example (illustrative figures, not verified statistics)</a:t>
            </a:r>
          </a:p>
        </p:txBody>
      </p:sp>
      <p:sp>
        <p:nvSpPr>
          <p:cNvPr id="8" name="Rectangle 7"/>
          <p:cNvSpPr/>
          <p:nvPr/>
        </p:nvSpPr>
        <p:spPr>
          <a:xfrm>
            <a:off x="576072" y="1572768"/>
            <a:ext cx="1554480" cy="50292"/>
          </a:xfrm>
          <a:prstGeom prst="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42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2148840"/>
            <a:ext cx="11064240" cy="105156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2148840"/>
            <a:ext cx="1920240" cy="1051560"/>
          </a:xfrm>
          <a:prstGeom prst="round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148840"/>
            <a:ext cx="1920240" cy="1051560"/>
          </a:xfrm>
          <a:prstGeom prst="rect">
            <a:avLst/>
          </a:prstGeom>
          <a:noFill/>
        </p:spPr>
        <p:txBody>
          <a:bodyPr wrap="square" anchor="ctr" lIns="0" rIns="0" tIns="0" bIns="0">
            <a:spAutoFit/>
          </a:bodyPr>
          <a:lstStyle/>
          <a:p>
            <a:pPr algn="ctr"/>
            <a:r>
              <a:rPr sz="1500" b="1" i="0">
                <a:solidFill>
                  <a:srgbClr val="FFFFFF"/>
                </a:solidFill>
                <a:latin typeface="Segoe UI"/>
              </a:rPr>
              <a:t>Claim</a:t>
            </a:r>
          </a:p>
        </p:txBody>
      </p:sp>
      <p:sp>
        <p:nvSpPr>
          <p:cNvPr id="16" name="TextBox 15"/>
          <p:cNvSpPr txBox="1"/>
          <p:nvPr/>
        </p:nvSpPr>
        <p:spPr>
          <a:xfrm>
            <a:off x="2651760" y="2148840"/>
            <a:ext cx="8778240" cy="1051560"/>
          </a:xfrm>
          <a:prstGeom prst="rect">
            <a:avLst/>
          </a:prstGeom>
          <a:noFill/>
        </p:spPr>
        <p:txBody>
          <a:bodyPr wrap="square" anchor="ctr" lIns="0" rIns="0" tIns="0" bIns="0">
            <a:spAutoFit/>
          </a:bodyPr>
          <a:lstStyle/>
          <a:p>
            <a:pPr algn="l">
              <a:lnSpc>
                <a:spcPct val="105000"/>
              </a:lnSpc>
            </a:pPr>
            <a:r>
              <a:rPr sz="1300" b="0" i="1">
                <a:solidFill>
                  <a:srgbClr val="14252E"/>
                </a:solidFill>
                <a:latin typeface="Segoe UI"/>
              </a:rPr>
              <a:t>“Understanding why coastal barangay households under-segregate plastic waste is an urgent research problem.”</a:t>
            </a:r>
          </a:p>
        </p:txBody>
      </p:sp>
      <p:sp>
        <p:nvSpPr>
          <p:cNvPr id="17" name="Rounded Rectangle 16"/>
          <p:cNvSpPr/>
          <p:nvPr/>
        </p:nvSpPr>
        <p:spPr>
          <a:xfrm>
            <a:off x="566928" y="3319272"/>
            <a:ext cx="11064240" cy="123444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6928" y="3319272"/>
            <a:ext cx="1920240" cy="1234440"/>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19272"/>
            <a:ext cx="1920240" cy="1234440"/>
          </a:xfrm>
          <a:prstGeom prst="rect">
            <a:avLst/>
          </a:prstGeom>
          <a:noFill/>
        </p:spPr>
        <p:txBody>
          <a:bodyPr wrap="square" anchor="ctr" lIns="0" rIns="0" tIns="0" bIns="0">
            <a:spAutoFit/>
          </a:bodyPr>
          <a:lstStyle/>
          <a:p>
            <a:pPr algn="ctr"/>
            <a:r>
              <a:rPr sz="1500" b="1" i="0">
                <a:solidFill>
                  <a:srgbClr val="FFFFFF"/>
                </a:solidFill>
                <a:latin typeface="Segoe UI"/>
              </a:rPr>
              <a:t>Evidence</a:t>
            </a:r>
          </a:p>
        </p:txBody>
      </p:sp>
      <p:sp>
        <p:nvSpPr>
          <p:cNvPr id="20" name="TextBox 19"/>
          <p:cNvSpPr txBox="1"/>
          <p:nvPr/>
        </p:nvSpPr>
        <p:spPr>
          <a:xfrm>
            <a:off x="2651760" y="3319272"/>
            <a:ext cx="8778240" cy="1234440"/>
          </a:xfrm>
          <a:prstGeom prst="rect">
            <a:avLst/>
          </a:prstGeom>
          <a:noFill/>
        </p:spPr>
        <p:txBody>
          <a:bodyPr wrap="square" anchor="ctr" lIns="0" rIns="0" tIns="0" bIns="0">
            <a:spAutoFit/>
          </a:bodyPr>
          <a:lstStyle/>
          <a:p>
            <a:pPr algn="l">
              <a:lnSpc>
                <a:spcPct val="105000"/>
              </a:lnSpc>
            </a:pPr>
            <a:r>
              <a:rPr sz="1300" b="0" i="1">
                <a:solidFill>
                  <a:srgbClr val="14252E"/>
                </a:solidFill>
                <a:latin typeface="Segoe UI"/>
              </a:rPr>
              <a:t>“Government waste audits report high volumes of uncollected plastic in coastal areas, and while several studies examine urban segregation behavior and youth attitudes toward recycling, none directly examine household-level behavior in coastal barangay contexts.”</a:t>
            </a:r>
          </a:p>
        </p:txBody>
      </p:sp>
      <p:sp>
        <p:nvSpPr>
          <p:cNvPr id="21" name="Rounded Rectangle 20"/>
          <p:cNvSpPr/>
          <p:nvPr/>
        </p:nvSpPr>
        <p:spPr>
          <a:xfrm>
            <a:off x="566928" y="4672583"/>
            <a:ext cx="11064240" cy="105156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66928" y="4672583"/>
            <a:ext cx="1920240" cy="105156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672583"/>
            <a:ext cx="1920240" cy="1051560"/>
          </a:xfrm>
          <a:prstGeom prst="rect">
            <a:avLst/>
          </a:prstGeom>
          <a:noFill/>
        </p:spPr>
        <p:txBody>
          <a:bodyPr wrap="square" anchor="ctr" lIns="0" rIns="0" tIns="0" bIns="0">
            <a:spAutoFit/>
          </a:bodyPr>
          <a:lstStyle/>
          <a:p>
            <a:pPr algn="ctr"/>
            <a:r>
              <a:rPr sz="1500" b="1" i="0">
                <a:solidFill>
                  <a:srgbClr val="FFFFFF"/>
                </a:solidFill>
                <a:latin typeface="Segoe UI"/>
              </a:rPr>
              <a:t>Reasoning</a:t>
            </a:r>
          </a:p>
        </p:txBody>
      </p:sp>
      <p:sp>
        <p:nvSpPr>
          <p:cNvPr id="24" name="TextBox 23"/>
          <p:cNvSpPr txBox="1"/>
          <p:nvPr/>
        </p:nvSpPr>
        <p:spPr>
          <a:xfrm>
            <a:off x="2651760" y="4672583"/>
            <a:ext cx="8778240" cy="1051560"/>
          </a:xfrm>
          <a:prstGeom prst="rect">
            <a:avLst/>
          </a:prstGeom>
          <a:noFill/>
        </p:spPr>
        <p:txBody>
          <a:bodyPr wrap="square" anchor="ctr" lIns="0" rIns="0" tIns="0" bIns="0">
            <a:spAutoFit/>
          </a:bodyPr>
          <a:lstStyle/>
          <a:p>
            <a:pPr algn="l">
              <a:lnSpc>
                <a:spcPct val="105000"/>
              </a:lnSpc>
            </a:pPr>
            <a:r>
              <a:rPr sz="1300" b="0" i="1">
                <a:solidFill>
                  <a:srgbClr val="14252E"/>
                </a:solidFill>
                <a:latin typeface="Segoe UI"/>
              </a:rPr>
              <a:t>“Because coastal communities face unique waste-management challenges - such as tidal debris and limited collection infrastructure - findings from urban studies may not apply, making this a distinct and understudied problem worth investigating directly.”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438A5E">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438A5E"/>
                </a:solidFill>
                <a:latin typeface="Segoe UI"/>
              </a:rPr>
              <a:t>PART 5 - JUSTIFYING WITH CER</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Practice: Build Your Own CER</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Activity  -  dengue thread continues</a:t>
            </a:r>
          </a:p>
        </p:txBody>
      </p:sp>
      <p:sp>
        <p:nvSpPr>
          <p:cNvPr id="8" name="Rectangle 7"/>
          <p:cNvSpPr/>
          <p:nvPr/>
        </p:nvSpPr>
        <p:spPr>
          <a:xfrm>
            <a:off x="576072" y="1572768"/>
            <a:ext cx="1554480" cy="50292"/>
          </a:xfrm>
          <a:prstGeom prst="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43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TextBox 12"/>
          <p:cNvSpPr txBox="1"/>
          <p:nvPr/>
        </p:nvSpPr>
        <p:spPr>
          <a:xfrm>
            <a:off x="566928" y="2011680"/>
            <a:ext cx="10972800" cy="457200"/>
          </a:xfrm>
          <a:prstGeom prst="rect">
            <a:avLst/>
          </a:prstGeom>
          <a:noFill/>
        </p:spPr>
        <p:txBody>
          <a:bodyPr wrap="square" anchor="t" lIns="0" rIns="0" tIns="0" bIns="0">
            <a:spAutoFit/>
          </a:bodyPr>
          <a:lstStyle/>
          <a:p>
            <a:pPr algn="l"/>
            <a:r>
              <a:rPr sz="1500" b="1" i="0">
                <a:solidFill>
                  <a:srgbClr val="14252E"/>
                </a:solidFill>
                <a:latin typeface="Segoe UI"/>
              </a:rPr>
              <a:t>Use your dengue problem statement (Slide 29) and these evidence bullets:</a:t>
            </a:r>
          </a:p>
        </p:txBody>
      </p:sp>
      <p:sp>
        <p:nvSpPr>
          <p:cNvPr id="14" name="TextBox 13"/>
          <p:cNvSpPr txBox="1"/>
          <p:nvPr/>
        </p:nvSpPr>
        <p:spPr>
          <a:xfrm>
            <a:off x="822960" y="2514600"/>
            <a:ext cx="10515600" cy="1188720"/>
          </a:xfrm>
          <a:prstGeom prst="rect">
            <a:avLst/>
          </a:prstGeom>
          <a:noFill/>
        </p:spPr>
        <p:txBody>
          <a:bodyPr wrap="square" lIns="0" rIns="0" tIns="0" bIns="0">
            <a:spAutoFit/>
          </a:bodyPr>
          <a:lstStyle/>
          <a:p>
            <a:pPr>
              <a:lnSpc>
                <a:spcPct val="104000"/>
              </a:lnSpc>
              <a:spcAft>
                <a:spcPts val="600"/>
              </a:spcAft>
            </a:pPr>
            <a:r>
              <a:rPr sz="1000">
                <a:solidFill>
                  <a:srgbClr val="438A5E"/>
                </a:solidFill>
              </a:rPr>
              <a:t>■  </a:t>
            </a:r>
            <a:r>
              <a:rPr sz="1400" b="0" i="0">
                <a:solidFill>
                  <a:srgbClr val="14252E"/>
                </a:solidFill>
                <a:latin typeface="Segoe UI"/>
              </a:rPr>
              <a:t>Local health data show recurring dengue clusters in mosquito-breeding hotspots.</a:t>
            </a:r>
          </a:p>
          <a:p>
            <a:pPr>
              <a:lnSpc>
                <a:spcPct val="104000"/>
              </a:lnSpc>
              <a:spcAft>
                <a:spcPts val="600"/>
              </a:spcAft>
            </a:pPr>
            <a:r>
              <a:rPr sz="1000">
                <a:solidFill>
                  <a:srgbClr val="438A5E"/>
                </a:solidFill>
              </a:rPr>
              <a:t>■  </a:t>
            </a:r>
            <a:r>
              <a:rPr sz="1400" b="0" i="0">
                <a:solidFill>
                  <a:srgbClr val="14252E"/>
                </a:solidFill>
                <a:latin typeface="Segoe UI"/>
              </a:rPr>
              <a:t>Existing studies examine larvicide use and fogging, but few examine household-level elimination behavior.</a:t>
            </a:r>
          </a:p>
        </p:txBody>
      </p:sp>
      <p:sp>
        <p:nvSpPr>
          <p:cNvPr id="15" name="Rounded Rectangle 14"/>
          <p:cNvSpPr/>
          <p:nvPr/>
        </p:nvSpPr>
        <p:spPr>
          <a:xfrm>
            <a:off x="566928" y="3749039"/>
            <a:ext cx="3352800" cy="137160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66928" y="3749039"/>
            <a:ext cx="3352800" cy="384048"/>
          </a:xfrm>
          <a:prstGeom prst="roundRect">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749039"/>
            <a:ext cx="3352800" cy="384048"/>
          </a:xfrm>
          <a:prstGeom prst="rect">
            <a:avLst/>
          </a:prstGeom>
          <a:noFill/>
        </p:spPr>
        <p:txBody>
          <a:bodyPr wrap="square" anchor="ctr" lIns="0" rIns="0" tIns="0" bIns="0">
            <a:spAutoFit/>
          </a:bodyPr>
          <a:lstStyle/>
          <a:p>
            <a:pPr algn="ctr"/>
            <a:r>
              <a:rPr sz="1400" b="1" i="0">
                <a:solidFill>
                  <a:srgbClr val="FFFFFF"/>
                </a:solidFill>
                <a:latin typeface="Segoe UI"/>
              </a:rPr>
              <a:t>Claim</a:t>
            </a:r>
          </a:p>
        </p:txBody>
      </p:sp>
      <p:sp>
        <p:nvSpPr>
          <p:cNvPr id="18" name="TextBox 17"/>
          <p:cNvSpPr txBox="1"/>
          <p:nvPr/>
        </p:nvSpPr>
        <p:spPr>
          <a:xfrm>
            <a:off x="713232" y="4206240"/>
            <a:ext cx="3060192" cy="822960"/>
          </a:xfrm>
          <a:prstGeom prst="rect">
            <a:avLst/>
          </a:prstGeom>
          <a:noFill/>
        </p:spPr>
        <p:txBody>
          <a:bodyPr wrap="square" anchor="ctr" lIns="0" rIns="0" tIns="0" bIns="0">
            <a:spAutoFit/>
          </a:bodyPr>
          <a:lstStyle/>
          <a:p>
            <a:pPr algn="ctr">
              <a:lnSpc>
                <a:spcPct val="100000"/>
              </a:lnSpc>
            </a:pPr>
            <a:r>
              <a:rPr sz="1150" b="0" i="0">
                <a:solidFill>
                  <a:srgbClr val="3A4B54"/>
                </a:solidFill>
                <a:latin typeface="Segoe UI"/>
              </a:rPr>
              <a:t>one sentence</a:t>
            </a:r>
          </a:p>
        </p:txBody>
      </p:sp>
      <p:sp>
        <p:nvSpPr>
          <p:cNvPr id="19" name="Right Arrow 18"/>
          <p:cNvSpPr/>
          <p:nvPr/>
        </p:nvSpPr>
        <p:spPr>
          <a:xfrm>
            <a:off x="3947160" y="4306824"/>
            <a:ext cx="448056" cy="256032"/>
          </a:xfrm>
          <a:prstGeom prst="rightArrow">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22648" y="3749039"/>
            <a:ext cx="3352800" cy="137160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22648" y="3749039"/>
            <a:ext cx="3352800" cy="384048"/>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2648" y="3749039"/>
            <a:ext cx="3352800" cy="384048"/>
          </a:xfrm>
          <a:prstGeom prst="rect">
            <a:avLst/>
          </a:prstGeom>
          <a:noFill/>
        </p:spPr>
        <p:txBody>
          <a:bodyPr wrap="square" anchor="ctr" lIns="0" rIns="0" tIns="0" bIns="0">
            <a:spAutoFit/>
          </a:bodyPr>
          <a:lstStyle/>
          <a:p>
            <a:pPr algn="ctr"/>
            <a:r>
              <a:rPr sz="1400" b="1" i="0">
                <a:solidFill>
                  <a:srgbClr val="FFFFFF"/>
                </a:solidFill>
                <a:latin typeface="Segoe UI"/>
              </a:rPr>
              <a:t>Evidence</a:t>
            </a:r>
          </a:p>
        </p:txBody>
      </p:sp>
      <p:sp>
        <p:nvSpPr>
          <p:cNvPr id="23" name="TextBox 22"/>
          <p:cNvSpPr txBox="1"/>
          <p:nvPr/>
        </p:nvSpPr>
        <p:spPr>
          <a:xfrm>
            <a:off x="4568952" y="4206240"/>
            <a:ext cx="3060192" cy="822960"/>
          </a:xfrm>
          <a:prstGeom prst="rect">
            <a:avLst/>
          </a:prstGeom>
          <a:noFill/>
        </p:spPr>
        <p:txBody>
          <a:bodyPr wrap="square" anchor="ctr" lIns="0" rIns="0" tIns="0" bIns="0">
            <a:spAutoFit/>
          </a:bodyPr>
          <a:lstStyle/>
          <a:p>
            <a:pPr algn="ctr">
              <a:lnSpc>
                <a:spcPct val="100000"/>
              </a:lnSpc>
            </a:pPr>
            <a:r>
              <a:rPr sz="1150" b="0" i="0">
                <a:solidFill>
                  <a:srgbClr val="3A4B54"/>
                </a:solidFill>
                <a:latin typeface="Segoe UI"/>
              </a:rPr>
              <a:t>one sentence</a:t>
            </a:r>
          </a:p>
        </p:txBody>
      </p:sp>
      <p:sp>
        <p:nvSpPr>
          <p:cNvPr id="24" name="Right Arrow 23"/>
          <p:cNvSpPr/>
          <p:nvPr/>
        </p:nvSpPr>
        <p:spPr>
          <a:xfrm>
            <a:off x="7802880" y="4306824"/>
            <a:ext cx="448056" cy="256032"/>
          </a:xfrm>
          <a:prstGeom prst="rightArrow">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278367" y="3749039"/>
            <a:ext cx="3352800" cy="137160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278367" y="3749039"/>
            <a:ext cx="3352800" cy="38404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8367" y="3749039"/>
            <a:ext cx="3352800" cy="384048"/>
          </a:xfrm>
          <a:prstGeom prst="rect">
            <a:avLst/>
          </a:prstGeom>
          <a:noFill/>
        </p:spPr>
        <p:txBody>
          <a:bodyPr wrap="square" anchor="ctr" lIns="0" rIns="0" tIns="0" bIns="0">
            <a:spAutoFit/>
          </a:bodyPr>
          <a:lstStyle/>
          <a:p>
            <a:pPr algn="ctr"/>
            <a:r>
              <a:rPr sz="1400" b="1" i="0">
                <a:solidFill>
                  <a:srgbClr val="FFFFFF"/>
                </a:solidFill>
                <a:latin typeface="Segoe UI"/>
              </a:rPr>
              <a:t>Reasoning</a:t>
            </a:r>
          </a:p>
        </p:txBody>
      </p:sp>
      <p:sp>
        <p:nvSpPr>
          <p:cNvPr id="28" name="TextBox 27"/>
          <p:cNvSpPr txBox="1"/>
          <p:nvPr/>
        </p:nvSpPr>
        <p:spPr>
          <a:xfrm>
            <a:off x="8424672" y="4206240"/>
            <a:ext cx="3060192" cy="822960"/>
          </a:xfrm>
          <a:prstGeom prst="rect">
            <a:avLst/>
          </a:prstGeom>
          <a:noFill/>
        </p:spPr>
        <p:txBody>
          <a:bodyPr wrap="square" anchor="ctr" lIns="0" rIns="0" tIns="0" bIns="0">
            <a:spAutoFit/>
          </a:bodyPr>
          <a:lstStyle/>
          <a:p>
            <a:pPr algn="ctr">
              <a:lnSpc>
                <a:spcPct val="100000"/>
              </a:lnSpc>
            </a:pPr>
            <a:r>
              <a:rPr sz="1150" b="0" i="0">
                <a:solidFill>
                  <a:srgbClr val="3A4B54"/>
                </a:solidFill>
                <a:latin typeface="Segoe UI"/>
              </a:rPr>
              <a:t>one sentence</a:t>
            </a:r>
          </a:p>
        </p:txBody>
      </p:sp>
      <p:sp>
        <p:nvSpPr>
          <p:cNvPr id="29" name="Rounded Rectangle 28"/>
          <p:cNvSpPr/>
          <p:nvPr/>
        </p:nvSpPr>
        <p:spPr>
          <a:xfrm>
            <a:off x="566928" y="5440680"/>
            <a:ext cx="11064240" cy="566928"/>
          </a:xfrm>
          <a:prstGeom prst="roundRect">
            <a:avLst>
              <a:gd name="adj" fmla="val 12000"/>
            </a:avLst>
          </a:prstGeom>
          <a:solidFill>
            <a:srgbClr val="FAE5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66928" y="5440680"/>
            <a:ext cx="82296" cy="566928"/>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440680"/>
            <a:ext cx="10607040" cy="566928"/>
          </a:xfrm>
          <a:prstGeom prst="rect">
            <a:avLst/>
          </a:prstGeom>
          <a:noFill/>
        </p:spPr>
        <p:txBody>
          <a:bodyPr wrap="square" anchor="ctr" lIns="0" rIns="0" tIns="0" bIns="0">
            <a:spAutoFit/>
          </a:bodyPr>
          <a:lstStyle/>
          <a:p>
            <a:pPr algn="l">
              <a:lnSpc>
                <a:spcPct val="102000"/>
              </a:lnSpc>
            </a:pPr>
            <a:r>
              <a:rPr sz="1450" b="0" i="1">
                <a:solidFill>
                  <a:srgbClr val="14252E"/>
                </a:solidFill>
                <a:latin typeface="Segoe UI"/>
              </a:rPr>
              <a:t>In pairs, write one Claim sentence, one Evidence sentence, and one Reasoning sentence.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9C46A">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9C46A"/>
                </a:solidFill>
                <a:latin typeface="Segoe UI"/>
              </a:rPr>
              <a:t>PART 6 - ASSUMPTIONS &amp; LIMITATIONS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No Study Is Perfect</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Scenario framing</a:t>
            </a:r>
          </a:p>
        </p:txBody>
      </p:sp>
      <p:sp>
        <p:nvSpPr>
          <p:cNvPr id="8" name="Rectangle 7"/>
          <p:cNvSpPr/>
          <p:nvPr/>
        </p:nvSpPr>
        <p:spPr>
          <a:xfrm>
            <a:off x="576072" y="1572768"/>
            <a:ext cx="1554480" cy="50292"/>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44  /  51</a:t>
            </a:r>
          </a:p>
        </p:txBody>
      </p:sp>
      <p:sp>
        <p:nvSpPr>
          <p:cNvPr id="10" name="TextBox 9"/>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1" name="TextBox 10"/>
          <p:cNvSpPr txBox="1"/>
          <p:nvPr/>
        </p:nvSpPr>
        <p:spPr>
          <a:xfrm>
            <a:off x="566928" y="2286000"/>
            <a:ext cx="6400800" cy="3200400"/>
          </a:xfrm>
          <a:prstGeom prst="rect">
            <a:avLst/>
          </a:prstGeom>
          <a:noFill/>
        </p:spPr>
        <p:txBody>
          <a:bodyPr wrap="square" lIns="0" rIns="0" tIns="0" bIns="0">
            <a:spAutoFit/>
          </a:bodyPr>
          <a:lstStyle/>
          <a:p>
            <a:pPr>
              <a:lnSpc>
                <a:spcPct val="104000"/>
              </a:lnSpc>
              <a:spcAft>
                <a:spcPts val="1600"/>
              </a:spcAft>
            </a:pPr>
            <a:r>
              <a:rPr sz="1300">
                <a:solidFill>
                  <a:srgbClr val="E9C46A"/>
                </a:solidFill>
              </a:rPr>
              <a:t>■  </a:t>
            </a:r>
            <a:r>
              <a:rPr sz="1700" b="0" i="0">
                <a:solidFill>
                  <a:srgbClr val="14252E"/>
                </a:solidFill>
                <a:latin typeface="Segoe UI"/>
              </a:rPr>
              <a:t>The group now has a problem, a question, and a justified argument for why it matters.</a:t>
            </a:r>
          </a:p>
          <a:p>
            <a:pPr>
              <a:lnSpc>
                <a:spcPct val="104000"/>
              </a:lnSpc>
              <a:spcAft>
                <a:spcPts val="1600"/>
              </a:spcAft>
            </a:pPr>
            <a:r>
              <a:rPr sz="1300">
                <a:solidFill>
                  <a:srgbClr val="E9C46A"/>
                </a:solidFill>
              </a:rPr>
              <a:t>■  </a:t>
            </a:r>
            <a:r>
              <a:rPr sz="1700" b="0" i="0">
                <a:solidFill>
                  <a:srgbClr val="14252E"/>
                </a:solidFill>
                <a:latin typeface="Segoe UI"/>
              </a:rPr>
              <a:t>One task remains: being honest about what the study </a:t>
            </a:r>
            <a:r>
              <a:rPr sz="1700" b="0" i="1">
                <a:solidFill>
                  <a:srgbClr val="14252E"/>
                </a:solidFill>
                <a:latin typeface="Segoe UI"/>
              </a:rPr>
              <a:t>takes for granted</a:t>
            </a:r>
            <a:r>
              <a:rPr sz="1700" b="0" i="0">
                <a:solidFill>
                  <a:srgbClr val="14252E"/>
                </a:solidFill>
                <a:latin typeface="Segoe UI"/>
              </a:rPr>
              <a:t> and what it </a:t>
            </a:r>
            <a:r>
              <a:rPr sz="1700" b="0" i="1">
                <a:solidFill>
                  <a:srgbClr val="14252E"/>
                </a:solidFill>
                <a:latin typeface="Segoe UI"/>
              </a:rPr>
              <a:t>cannot fully cover.</a:t>
            </a:r>
          </a:p>
          <a:p>
            <a:pPr>
              <a:lnSpc>
                <a:spcPct val="104000"/>
              </a:lnSpc>
              <a:spcAft>
                <a:spcPts val="1600"/>
              </a:spcAft>
            </a:pPr>
            <a:r>
              <a:rPr sz="1300">
                <a:solidFill>
                  <a:srgbClr val="E9C46A"/>
                </a:solidFill>
              </a:rPr>
              <a:t>■  </a:t>
            </a:r>
            <a:r>
              <a:rPr sz="1700" b="0" i="0">
                <a:solidFill>
                  <a:srgbClr val="14252E"/>
                </a:solidFill>
                <a:latin typeface="Segoe UI"/>
              </a:rPr>
              <a:t>Every real study - published or student-led - has </a:t>
            </a:r>
            <a:r>
              <a:rPr sz="1700" b="1" i="0">
                <a:solidFill>
                  <a:srgbClr val="14252E"/>
                </a:solidFill>
                <a:latin typeface="Segoe UI"/>
              </a:rPr>
              <a:t>both.</a:t>
            </a:r>
          </a:p>
        </p:txBody>
      </p:sp>
      <p:sp>
        <p:nvSpPr>
          <p:cNvPr id="12" name="Rounded Rectangle 11"/>
          <p:cNvSpPr/>
          <p:nvPr/>
        </p:nvSpPr>
        <p:spPr>
          <a:xfrm>
            <a:off x="7498079" y="2377440"/>
            <a:ext cx="4023360" cy="141732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498079" y="2377440"/>
            <a:ext cx="4023360" cy="438912"/>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79" y="2377440"/>
            <a:ext cx="4023360" cy="438912"/>
          </a:xfrm>
          <a:prstGeom prst="rect">
            <a:avLst/>
          </a:prstGeom>
          <a:noFill/>
        </p:spPr>
        <p:txBody>
          <a:bodyPr wrap="square" anchor="ctr" lIns="0" rIns="0" tIns="0" bIns="0">
            <a:spAutoFit/>
          </a:bodyPr>
          <a:lstStyle/>
          <a:p>
            <a:pPr algn="ctr"/>
            <a:r>
              <a:rPr sz="1300" b="1" i="0">
                <a:solidFill>
                  <a:srgbClr val="FFFFFF"/>
                </a:solidFill>
                <a:latin typeface="Segoe UI"/>
              </a:rPr>
              <a:t>✓  Takes for granted</a:t>
            </a:r>
          </a:p>
        </p:txBody>
      </p:sp>
      <p:sp>
        <p:nvSpPr>
          <p:cNvPr id="15" name="TextBox 14"/>
          <p:cNvSpPr txBox="1"/>
          <p:nvPr/>
        </p:nvSpPr>
        <p:spPr>
          <a:xfrm>
            <a:off x="7726679" y="2926080"/>
            <a:ext cx="3566160" cy="777240"/>
          </a:xfrm>
          <a:prstGeom prst="rect">
            <a:avLst/>
          </a:prstGeom>
          <a:noFill/>
        </p:spPr>
        <p:txBody>
          <a:bodyPr wrap="square" anchor="ctr" lIns="0" rIns="0" tIns="0" bIns="0">
            <a:spAutoFit/>
          </a:bodyPr>
          <a:lstStyle/>
          <a:p>
            <a:pPr algn="ctr"/>
            <a:r>
              <a:rPr sz="1500" b="1" i="0">
                <a:solidFill>
                  <a:srgbClr val="14252E"/>
                </a:solidFill>
                <a:latin typeface="Segoe UI"/>
              </a:rPr>
              <a:t>Assumptions</a:t>
            </a:r>
          </a:p>
        </p:txBody>
      </p:sp>
      <p:sp>
        <p:nvSpPr>
          <p:cNvPr id="16" name="Rounded Rectangle 15"/>
          <p:cNvSpPr/>
          <p:nvPr/>
        </p:nvSpPr>
        <p:spPr>
          <a:xfrm>
            <a:off x="7498079" y="3977639"/>
            <a:ext cx="4023360" cy="141732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98079" y="3977639"/>
            <a:ext cx="4023360" cy="438912"/>
          </a:xfrm>
          <a:prstGeom prst="round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79" y="3977639"/>
            <a:ext cx="4023360" cy="438912"/>
          </a:xfrm>
          <a:prstGeom prst="rect">
            <a:avLst/>
          </a:prstGeom>
          <a:noFill/>
        </p:spPr>
        <p:txBody>
          <a:bodyPr wrap="square" anchor="ctr" lIns="0" rIns="0" tIns="0" bIns="0">
            <a:spAutoFit/>
          </a:bodyPr>
          <a:lstStyle/>
          <a:p>
            <a:pPr algn="ctr"/>
            <a:r>
              <a:rPr sz="1300" b="1" i="0">
                <a:solidFill>
                  <a:srgbClr val="FFFFFF"/>
                </a:solidFill>
                <a:latin typeface="Segoe UI"/>
              </a:rPr>
              <a:t>!  Cannot fully cover</a:t>
            </a:r>
          </a:p>
        </p:txBody>
      </p:sp>
      <p:sp>
        <p:nvSpPr>
          <p:cNvPr id="19" name="TextBox 18"/>
          <p:cNvSpPr txBox="1"/>
          <p:nvPr/>
        </p:nvSpPr>
        <p:spPr>
          <a:xfrm>
            <a:off x="7726679" y="4526280"/>
            <a:ext cx="3566160" cy="777240"/>
          </a:xfrm>
          <a:prstGeom prst="rect">
            <a:avLst/>
          </a:prstGeom>
          <a:noFill/>
        </p:spPr>
        <p:txBody>
          <a:bodyPr wrap="square" anchor="ctr" lIns="0" rIns="0" tIns="0" bIns="0">
            <a:spAutoFit/>
          </a:bodyPr>
          <a:lstStyle/>
          <a:p>
            <a:pPr algn="ctr"/>
            <a:r>
              <a:rPr sz="1500" b="1" i="0">
                <a:solidFill>
                  <a:srgbClr val="14252E"/>
                </a:solidFill>
                <a:latin typeface="Segoe UI"/>
              </a:rPr>
              <a:t>Limitations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9C46A">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9C46A"/>
                </a:solidFill>
                <a:latin typeface="Segoe UI"/>
              </a:rPr>
              <a:t>PART 6 - ASSUMPTIONS &amp; LIMITATIONS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Assumptions vs. Limitations</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Comparison table</a:t>
            </a:r>
          </a:p>
        </p:txBody>
      </p:sp>
      <p:sp>
        <p:nvSpPr>
          <p:cNvPr id="8" name="Rectangle 7"/>
          <p:cNvSpPr/>
          <p:nvPr/>
        </p:nvSpPr>
        <p:spPr>
          <a:xfrm>
            <a:off x="576072" y="1572768"/>
            <a:ext cx="1554480" cy="50292"/>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45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graphicFrame>
        <p:nvGraphicFramePr>
          <p:cNvPr id="13" name="Table 12"/>
          <p:cNvGraphicFramePr>
            <a:graphicFrameLocks noGrp="1"/>
          </p:cNvGraphicFramePr>
          <p:nvPr/>
        </p:nvGraphicFramePr>
        <p:xfrm>
          <a:off x="566928" y="2011680"/>
          <a:ext cx="11064240" cy="3611880"/>
        </p:xfrm>
        <a:graphic>
          <a:graphicData uri="http://schemas.openxmlformats.org/drawingml/2006/table">
            <a:tbl>
              <a:tblPr>
                <a:tableStyleId>{5C22544A-7EE6-4342-B048-85BDC9FD1C3A}</a:tableStyleId>
              </a:tblPr>
              <a:tblGrid>
                <a:gridCol w="1737360"/>
                <a:gridCol w="4663440"/>
                <a:gridCol w="4663440"/>
              </a:tblGrid>
              <a:tr h="457200">
                <a:tc>
                  <a:txBody>
                    <a:bodyPr wrap="square"/>
                    <a:lstStyle/>
                    <a:p>
                      <a:pPr algn="l"/>
                    </a:p>
                  </a:txBody>
                  <a:tcPr marL="100584" marR="82296" marT="45720" marB="45720" anchor="ctr">
                    <a:solidFill>
                      <a:srgbClr val="E9C46A"/>
                    </a:solidFill>
                  </a:tcPr>
                </a:tc>
                <a:tc>
                  <a:txBody>
                    <a:bodyPr wrap="square"/>
                    <a:lstStyle/>
                    <a:p>
                      <a:pPr algn="l"/>
                      <a:r>
                        <a:rPr sz="1400" b="1" i="1">
                          <a:solidFill>
                            <a:srgbClr val="FFFFFF"/>
                          </a:solidFill>
                          <a:latin typeface="Segoe UI"/>
                        </a:rPr>
                        <a:t>Assumption</a:t>
                      </a:r>
                    </a:p>
                  </a:txBody>
                  <a:tcPr marL="100584" marR="82296" marT="45720" marB="45720" anchor="ctr">
                    <a:solidFill>
                      <a:srgbClr val="E9C46A"/>
                    </a:solidFill>
                  </a:tcPr>
                </a:tc>
                <a:tc>
                  <a:txBody>
                    <a:bodyPr wrap="square"/>
                    <a:lstStyle/>
                    <a:p>
                      <a:pPr algn="l"/>
                      <a:r>
                        <a:rPr sz="1400" b="1" i="1">
                          <a:solidFill>
                            <a:srgbClr val="FFFFFF"/>
                          </a:solidFill>
                          <a:latin typeface="Segoe UI"/>
                        </a:rPr>
                        <a:t>Limitation</a:t>
                      </a:r>
                    </a:p>
                  </a:txBody>
                  <a:tcPr marL="100584" marR="82296" marT="45720" marB="45720" anchor="ctr">
                    <a:solidFill>
                      <a:srgbClr val="E9C46A"/>
                    </a:solidFill>
                  </a:tcPr>
                </a:tc>
              </a:tr>
              <a:tr h="1051560">
                <a:tc>
                  <a:txBody>
                    <a:bodyPr wrap="square"/>
                    <a:lstStyle/>
                    <a:p>
                      <a:pPr algn="l"/>
                      <a:r>
                        <a:rPr sz="1250" b="1" i="0">
                          <a:solidFill>
                            <a:srgbClr val="14252E"/>
                          </a:solidFill>
                          <a:latin typeface="Segoe UI"/>
                        </a:rPr>
                        <a:t>Definition</a:t>
                      </a:r>
                    </a:p>
                  </a:txBody>
                  <a:tcPr marL="100584" marR="82296" marT="45720" marB="45720" anchor="ctr">
                    <a:solidFill>
                      <a:srgbClr val="FFFFFF"/>
                    </a:solidFill>
                  </a:tcPr>
                </a:tc>
                <a:tc>
                  <a:txBody>
                    <a:bodyPr wrap="square"/>
                    <a:lstStyle/>
                    <a:p>
                      <a:pPr algn="l"/>
                      <a:r>
                        <a:rPr sz="1250" b="0" i="0">
                          <a:solidFill>
                            <a:srgbClr val="3A4B54"/>
                          </a:solidFill>
                          <a:latin typeface="Segoe UI"/>
                        </a:rPr>
                        <a:t>Something the researcher takes as true, but does not test</a:t>
                      </a:r>
                    </a:p>
                  </a:txBody>
                  <a:tcPr marL="100584" marR="82296" marT="45720" marB="45720" anchor="ctr">
                    <a:solidFill>
                      <a:srgbClr val="FFFFFF"/>
                    </a:solidFill>
                  </a:tcPr>
                </a:tc>
                <a:tc>
                  <a:txBody>
                    <a:bodyPr wrap="square"/>
                    <a:lstStyle/>
                    <a:p>
                      <a:pPr algn="l"/>
                      <a:r>
                        <a:rPr sz="1250" b="0" i="0">
                          <a:solidFill>
                            <a:srgbClr val="3A4B54"/>
                          </a:solidFill>
                          <a:latin typeface="Segoe UI"/>
                        </a:rPr>
                        <a:t>A constraint or weakness that affects the study, often outside the researcher's control</a:t>
                      </a:r>
                    </a:p>
                  </a:txBody>
                  <a:tcPr marL="100584" marR="82296" marT="45720" marB="45720" anchor="ctr">
                    <a:solidFill>
                      <a:srgbClr val="FFFFFF"/>
                    </a:solidFill>
                  </a:tcPr>
                </a:tc>
              </a:tr>
              <a:tr h="1051560">
                <a:tc>
                  <a:txBody>
                    <a:bodyPr wrap="square"/>
                    <a:lstStyle/>
                    <a:p>
                      <a:pPr algn="l"/>
                      <a:r>
                        <a:rPr sz="1250" b="1" i="0">
                          <a:solidFill>
                            <a:srgbClr val="14252E"/>
                          </a:solidFill>
                          <a:latin typeface="Segoe UI"/>
                        </a:rPr>
                        <a:t>Example</a:t>
                      </a:r>
                    </a:p>
                  </a:txBody>
                  <a:tcPr marL="100584" marR="82296" marT="45720" marB="45720" anchor="ctr">
                    <a:solidFill>
                      <a:srgbClr val="ECF2F3"/>
                    </a:solidFill>
                  </a:tcPr>
                </a:tc>
                <a:tc>
                  <a:txBody>
                    <a:bodyPr wrap="square"/>
                    <a:lstStyle/>
                    <a:p>
                      <a:pPr algn="l"/>
                      <a:r>
                        <a:rPr sz="1250" b="0" i="0">
                          <a:solidFill>
                            <a:srgbClr val="3A4B54"/>
                          </a:solidFill>
                          <a:latin typeface="Segoe UI"/>
                        </a:rPr>
                        <a:t>“Survey respondents will answer honestly about their waste habits.”</a:t>
                      </a:r>
                    </a:p>
                  </a:txBody>
                  <a:tcPr marL="100584" marR="82296" marT="45720" marB="45720" anchor="ctr">
                    <a:solidFill>
                      <a:srgbClr val="ECF2F3"/>
                    </a:solidFill>
                  </a:tcPr>
                </a:tc>
                <a:tc>
                  <a:txBody>
                    <a:bodyPr wrap="square"/>
                    <a:lstStyle/>
                    <a:p>
                      <a:pPr algn="l"/>
                      <a:r>
                        <a:rPr sz="1250" b="0" i="0">
                          <a:solidFill>
                            <a:srgbClr val="3A4B54"/>
                          </a:solidFill>
                          <a:latin typeface="Segoe UI"/>
                        </a:rPr>
                        <a:t>“The study covers only one barangay within one semester.”</a:t>
                      </a:r>
                    </a:p>
                  </a:txBody>
                  <a:tcPr marL="100584" marR="82296" marT="45720" marB="45720" anchor="ctr">
                    <a:solidFill>
                      <a:srgbClr val="ECF2F3"/>
                    </a:solidFill>
                  </a:tcPr>
                </a:tc>
              </a:tr>
              <a:tr h="1051560">
                <a:tc>
                  <a:txBody>
                    <a:bodyPr wrap="square"/>
                    <a:lstStyle/>
                    <a:p>
                      <a:pPr algn="l"/>
                      <a:r>
                        <a:rPr sz="1250" b="1" i="0">
                          <a:solidFill>
                            <a:srgbClr val="14252E"/>
                          </a:solidFill>
                          <a:latin typeface="Segoe UI"/>
                        </a:rPr>
                        <a:t>Function</a:t>
                      </a:r>
                    </a:p>
                  </a:txBody>
                  <a:tcPr marL="100584" marR="82296" marT="45720" marB="45720" anchor="ctr">
                    <a:solidFill>
                      <a:srgbClr val="FFFFFF"/>
                    </a:solidFill>
                  </a:tcPr>
                </a:tc>
                <a:tc>
                  <a:txBody>
                    <a:bodyPr wrap="square"/>
                    <a:lstStyle/>
                    <a:p>
                      <a:pPr algn="l"/>
                      <a:r>
                        <a:rPr sz="1250" b="0" i="0">
                          <a:solidFill>
                            <a:srgbClr val="3A4B54"/>
                          </a:solidFill>
                          <a:latin typeface="Segoe UI"/>
                        </a:rPr>
                        <a:t>Lets the study proceed without re-proving every basic condition</a:t>
                      </a:r>
                    </a:p>
                  </a:txBody>
                  <a:tcPr marL="100584" marR="82296" marT="45720" marB="45720" anchor="ctr">
                    <a:solidFill>
                      <a:srgbClr val="FFFFFF"/>
                    </a:solidFill>
                  </a:tcPr>
                </a:tc>
                <a:tc>
                  <a:txBody>
                    <a:bodyPr wrap="square"/>
                    <a:lstStyle/>
                    <a:p>
                      <a:pPr algn="l"/>
                      <a:r>
                        <a:rPr sz="1250" b="0" i="0">
                          <a:solidFill>
                            <a:srgbClr val="3A4B54"/>
                          </a:solidFill>
                          <a:latin typeface="Segoe UI"/>
                        </a:rPr>
                        <a:t>Sets honest boundaries around how far the findings can be applied</a:t>
                      </a:r>
                    </a:p>
                  </a:txBody>
                  <a:tcPr marL="100584" marR="82296" marT="45720" marB="45720" anchor="ctr">
                    <a:solidFill>
                      <a:srgbClr val="FFFFFF"/>
                    </a:solidFill>
                  </a:tcPr>
                </a:tc>
              </a:tr>
            </a:tbl>
          </a:graphicData>
        </a:graphic>
      </p:graphicFrame>
      <p:sp>
        <p:nvSpPr>
          <p:cNvPr id="14" name="Rounded Rectangle 13"/>
          <p:cNvSpPr/>
          <p:nvPr/>
        </p:nvSpPr>
        <p:spPr>
          <a:xfrm>
            <a:off x="566928" y="5897880"/>
            <a:ext cx="11064240" cy="502920"/>
          </a:xfrm>
          <a:prstGeom prst="roundRect">
            <a:avLst>
              <a:gd name="adj" fmla="val 12000"/>
            </a:avLst>
          </a:prstGeom>
          <a:solidFill>
            <a:srgbClr val="FB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6928" y="5897880"/>
            <a:ext cx="82296" cy="502920"/>
          </a:xfrm>
          <a:prstGeom prst="round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897880"/>
            <a:ext cx="10607040" cy="502920"/>
          </a:xfrm>
          <a:prstGeom prst="rect">
            <a:avLst/>
          </a:prstGeom>
          <a:noFill/>
        </p:spPr>
        <p:txBody>
          <a:bodyPr wrap="square" anchor="ctr" lIns="0" rIns="0" tIns="0" bIns="0">
            <a:spAutoFit/>
          </a:bodyPr>
          <a:lstStyle/>
          <a:p>
            <a:pPr algn="l">
              <a:lnSpc>
                <a:spcPct val="102000"/>
              </a:lnSpc>
            </a:pPr>
            <a:r>
              <a:rPr sz="1250" b="0" i="1">
                <a:solidFill>
                  <a:srgbClr val="14252E"/>
                </a:solidFill>
                <a:latin typeface="Segoe UI"/>
              </a:rPr>
              <a:t>An assumption is something you choose to believe without checking; a limitation is something you can't change even if you wanted to.</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9C46A">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9C46A"/>
                </a:solidFill>
                <a:latin typeface="Segoe UI"/>
              </a:rPr>
              <a:t>PART 6 - ASSUMPTIONS &amp; LIMITATIONS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Common Limitation Categories</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Adapted from the deficiencies framework in Part 2</a:t>
            </a:r>
          </a:p>
        </p:txBody>
      </p:sp>
      <p:sp>
        <p:nvSpPr>
          <p:cNvPr id="8" name="Rectangle 7"/>
          <p:cNvSpPr/>
          <p:nvPr/>
        </p:nvSpPr>
        <p:spPr>
          <a:xfrm>
            <a:off x="576072" y="1572768"/>
            <a:ext cx="1554480" cy="50292"/>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759391" y="420624"/>
            <a:ext cx="1883664" cy="310896"/>
          </a:xfrm>
          <a:prstGeom prst="roundRect">
            <a:avLst>
              <a:gd name="adj" fmla="val 50000"/>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9391" y="420624"/>
            <a:ext cx="1883664" cy="310896"/>
          </a:xfrm>
          <a:prstGeom prst="rect">
            <a:avLst/>
          </a:prstGeom>
          <a:noFill/>
        </p:spPr>
        <p:txBody>
          <a:bodyPr wrap="square" anchor="ctr" lIns="0" rIns="0" tIns="0" bIns="0">
            <a:spAutoFit/>
          </a:bodyPr>
          <a:lstStyle/>
          <a:p>
            <a:pPr algn="ctr"/>
            <a:r>
              <a:rPr sz="1050" b="1" i="0">
                <a:solidFill>
                  <a:srgbClr val="FFFFFF"/>
                </a:solidFill>
                <a:latin typeface="Segoe UI"/>
              </a:rPr>
              <a:t>TEXTBOOK-BASED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46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1920240"/>
            <a:ext cx="11064240" cy="768096"/>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3232" y="2057400"/>
            <a:ext cx="493776" cy="493776"/>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2039112"/>
            <a:ext cx="493776" cy="493776"/>
          </a:xfrm>
          <a:prstGeom prst="rect">
            <a:avLst/>
          </a:prstGeom>
          <a:noFill/>
        </p:spPr>
        <p:txBody>
          <a:bodyPr wrap="square" anchor="ctr" lIns="0" rIns="0" tIns="0" bIns="0">
            <a:spAutoFit/>
          </a:bodyPr>
          <a:lstStyle/>
          <a:p>
            <a:pPr algn="ctr"/>
            <a:r>
              <a:rPr sz="1500" b="1" i="0">
                <a:solidFill>
                  <a:srgbClr val="FFFFFF"/>
                </a:solidFill>
                <a:latin typeface="Segoe UI"/>
              </a:rPr>
              <a:t>◉</a:t>
            </a:r>
          </a:p>
        </p:txBody>
      </p:sp>
      <p:sp>
        <p:nvSpPr>
          <p:cNvPr id="16" name="TextBox 15"/>
          <p:cNvSpPr txBox="1"/>
          <p:nvPr/>
        </p:nvSpPr>
        <p:spPr>
          <a:xfrm>
            <a:off x="1353312" y="2011680"/>
            <a:ext cx="10104119" cy="585215"/>
          </a:xfrm>
          <a:prstGeom prst="rect">
            <a:avLst/>
          </a:prstGeom>
          <a:noFill/>
        </p:spPr>
        <p:txBody>
          <a:bodyPr wrap="square" anchor="ctr" lIns="0" rIns="0" tIns="0" bIns="0">
            <a:spAutoFit/>
          </a:bodyPr>
          <a:lstStyle/>
          <a:p>
            <a:pPr algn="l">
              <a:lnSpc>
                <a:spcPct val="95000"/>
              </a:lnSpc>
              <a:spcAft>
                <a:spcPts val="200"/>
              </a:spcAft>
            </a:pPr>
            <a:r>
              <a:rPr sz="1500" b="1" i="0">
                <a:solidFill>
                  <a:srgbClr val="14252E"/>
                </a:solidFill>
                <a:latin typeface="Segoe UI"/>
              </a:rPr>
              <a:t>Sample / Population</a:t>
            </a:r>
          </a:p>
          <a:p>
            <a:pPr algn="l">
              <a:lnSpc>
                <a:spcPct val="98000"/>
              </a:lnSpc>
            </a:pPr>
            <a:r>
              <a:rPr sz="1200" b="0" i="0">
                <a:solidFill>
                  <a:srgbClr val="3A4B54"/>
                </a:solidFill>
                <a:latin typeface="Segoe UI"/>
              </a:rPr>
              <a:t>Is the sample small, narrow, or drawn from just one context, limiting how far results generalize?</a:t>
            </a:r>
          </a:p>
        </p:txBody>
      </p:sp>
      <p:sp>
        <p:nvSpPr>
          <p:cNvPr id="17" name="Rounded Rectangle 16"/>
          <p:cNvSpPr/>
          <p:nvPr/>
        </p:nvSpPr>
        <p:spPr>
          <a:xfrm>
            <a:off x="566928" y="2788920"/>
            <a:ext cx="11064240" cy="768096"/>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2926079"/>
            <a:ext cx="493776" cy="493776"/>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2907791"/>
            <a:ext cx="493776" cy="493776"/>
          </a:xfrm>
          <a:prstGeom prst="rect">
            <a:avLst/>
          </a:prstGeom>
          <a:noFill/>
        </p:spPr>
        <p:txBody>
          <a:bodyPr wrap="square" anchor="ctr" lIns="0" rIns="0" tIns="0" bIns="0">
            <a:spAutoFit/>
          </a:bodyPr>
          <a:lstStyle/>
          <a:p>
            <a:pPr algn="ctr"/>
            <a:r>
              <a:rPr sz="1500" b="1" i="0">
                <a:solidFill>
                  <a:srgbClr val="FFFFFF"/>
                </a:solidFill>
                <a:latin typeface="Segoe UI"/>
              </a:rPr>
              <a:t>▬</a:t>
            </a:r>
          </a:p>
        </p:txBody>
      </p:sp>
      <p:sp>
        <p:nvSpPr>
          <p:cNvPr id="20" name="TextBox 19"/>
          <p:cNvSpPr txBox="1"/>
          <p:nvPr/>
        </p:nvSpPr>
        <p:spPr>
          <a:xfrm>
            <a:off x="1353312" y="2880360"/>
            <a:ext cx="10104119" cy="585215"/>
          </a:xfrm>
          <a:prstGeom prst="rect">
            <a:avLst/>
          </a:prstGeom>
          <a:noFill/>
        </p:spPr>
        <p:txBody>
          <a:bodyPr wrap="square" anchor="ctr" lIns="0" rIns="0" tIns="0" bIns="0">
            <a:spAutoFit/>
          </a:bodyPr>
          <a:lstStyle/>
          <a:p>
            <a:pPr algn="l">
              <a:lnSpc>
                <a:spcPct val="95000"/>
              </a:lnSpc>
              <a:spcAft>
                <a:spcPts val="200"/>
              </a:spcAft>
            </a:pPr>
            <a:r>
              <a:rPr sz="1500" b="1" i="0">
                <a:solidFill>
                  <a:srgbClr val="14252E"/>
                </a:solidFill>
                <a:latin typeface="Segoe UI"/>
              </a:rPr>
              <a:t>Measurement</a:t>
            </a:r>
          </a:p>
          <a:p>
            <a:pPr algn="l">
              <a:lnSpc>
                <a:spcPct val="98000"/>
              </a:lnSpc>
            </a:pPr>
            <a:r>
              <a:rPr sz="1200" b="0" i="0">
                <a:solidFill>
                  <a:srgbClr val="3A4B54"/>
                </a:solidFill>
                <a:latin typeface="Segoe UI"/>
              </a:rPr>
              <a:t>Are the instruments or scales used to measure your variables valid and reliable?</a:t>
            </a:r>
          </a:p>
        </p:txBody>
      </p:sp>
      <p:sp>
        <p:nvSpPr>
          <p:cNvPr id="21" name="Rounded Rectangle 20"/>
          <p:cNvSpPr/>
          <p:nvPr/>
        </p:nvSpPr>
        <p:spPr>
          <a:xfrm>
            <a:off x="566928" y="3657600"/>
            <a:ext cx="11064240" cy="768096"/>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3232" y="3794760"/>
            <a:ext cx="493776" cy="493776"/>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3776472"/>
            <a:ext cx="493776" cy="493776"/>
          </a:xfrm>
          <a:prstGeom prst="rect">
            <a:avLst/>
          </a:prstGeom>
          <a:noFill/>
        </p:spPr>
        <p:txBody>
          <a:bodyPr wrap="square" anchor="ctr" lIns="0" rIns="0" tIns="0" bIns="0">
            <a:spAutoFit/>
          </a:bodyPr>
          <a:lstStyle/>
          <a:p>
            <a:pPr algn="ctr"/>
            <a:r>
              <a:rPr sz="1500" b="1" i="0">
                <a:solidFill>
                  <a:srgbClr val="FFFFFF"/>
                </a:solidFill>
                <a:latin typeface="Segoe UI"/>
              </a:rPr>
              <a:t>◈</a:t>
            </a:r>
          </a:p>
        </p:txBody>
      </p:sp>
      <p:sp>
        <p:nvSpPr>
          <p:cNvPr id="24" name="TextBox 23"/>
          <p:cNvSpPr txBox="1"/>
          <p:nvPr/>
        </p:nvSpPr>
        <p:spPr>
          <a:xfrm>
            <a:off x="1353312" y="3749039"/>
            <a:ext cx="10104119" cy="585215"/>
          </a:xfrm>
          <a:prstGeom prst="rect">
            <a:avLst/>
          </a:prstGeom>
          <a:noFill/>
        </p:spPr>
        <p:txBody>
          <a:bodyPr wrap="square" anchor="ctr" lIns="0" rIns="0" tIns="0" bIns="0">
            <a:spAutoFit/>
          </a:bodyPr>
          <a:lstStyle/>
          <a:p>
            <a:pPr algn="l">
              <a:lnSpc>
                <a:spcPct val="95000"/>
              </a:lnSpc>
              <a:spcAft>
                <a:spcPts val="200"/>
              </a:spcAft>
            </a:pPr>
            <a:r>
              <a:rPr sz="1500" b="1" i="0">
                <a:solidFill>
                  <a:srgbClr val="14252E"/>
                </a:solidFill>
                <a:latin typeface="Segoe UI"/>
              </a:rPr>
              <a:t>Theoretical Framework</a:t>
            </a:r>
          </a:p>
          <a:p>
            <a:pPr algn="l">
              <a:lnSpc>
                <a:spcPct val="98000"/>
              </a:lnSpc>
            </a:pPr>
            <a:r>
              <a:rPr sz="1200" b="0" i="0">
                <a:solidFill>
                  <a:srgbClr val="3A4B54"/>
                </a:solidFill>
                <a:latin typeface="Segoe UI"/>
              </a:rPr>
              <a:t>Does the study rely on a single theory that may not capture the full picture?</a:t>
            </a:r>
          </a:p>
        </p:txBody>
      </p:sp>
      <p:sp>
        <p:nvSpPr>
          <p:cNvPr id="25" name="Rounded Rectangle 24"/>
          <p:cNvSpPr/>
          <p:nvPr/>
        </p:nvSpPr>
        <p:spPr>
          <a:xfrm>
            <a:off x="566928" y="4526280"/>
            <a:ext cx="11064240" cy="768096"/>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13232" y="4663440"/>
            <a:ext cx="493776" cy="493776"/>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4645152"/>
            <a:ext cx="493776" cy="493776"/>
          </a:xfrm>
          <a:prstGeom prst="rect">
            <a:avLst/>
          </a:prstGeom>
          <a:noFill/>
        </p:spPr>
        <p:txBody>
          <a:bodyPr wrap="square" anchor="ctr" lIns="0" rIns="0" tIns="0" bIns="0">
            <a:spAutoFit/>
          </a:bodyPr>
          <a:lstStyle/>
          <a:p>
            <a:pPr algn="ctr"/>
            <a:r>
              <a:rPr sz="1500" b="1" i="0">
                <a:solidFill>
                  <a:srgbClr val="FFFFFF"/>
                </a:solidFill>
                <a:latin typeface="Segoe UI"/>
              </a:rPr>
              <a:t>↔</a:t>
            </a:r>
          </a:p>
        </p:txBody>
      </p:sp>
      <p:sp>
        <p:nvSpPr>
          <p:cNvPr id="28" name="TextBox 27"/>
          <p:cNvSpPr txBox="1"/>
          <p:nvPr/>
        </p:nvSpPr>
        <p:spPr>
          <a:xfrm>
            <a:off x="1353312" y="4617720"/>
            <a:ext cx="10104119" cy="585215"/>
          </a:xfrm>
          <a:prstGeom prst="rect">
            <a:avLst/>
          </a:prstGeom>
          <a:noFill/>
        </p:spPr>
        <p:txBody>
          <a:bodyPr wrap="square" anchor="ctr" lIns="0" rIns="0" tIns="0" bIns="0">
            <a:spAutoFit/>
          </a:bodyPr>
          <a:lstStyle/>
          <a:p>
            <a:pPr algn="l">
              <a:lnSpc>
                <a:spcPct val="95000"/>
              </a:lnSpc>
              <a:spcAft>
                <a:spcPts val="200"/>
              </a:spcAft>
            </a:pPr>
            <a:r>
              <a:rPr sz="1500" b="1" i="0">
                <a:solidFill>
                  <a:srgbClr val="14252E"/>
                </a:solidFill>
                <a:latin typeface="Segoe UI"/>
              </a:rPr>
              <a:t>Uncontrolled / Mediating Variables</a:t>
            </a:r>
          </a:p>
          <a:p>
            <a:pPr algn="l">
              <a:lnSpc>
                <a:spcPct val="98000"/>
              </a:lnSpc>
            </a:pPr>
            <a:r>
              <a:rPr sz="1200" b="0" i="0">
                <a:solidFill>
                  <a:srgbClr val="3A4B54"/>
                </a:solidFill>
                <a:latin typeface="Segoe UI"/>
              </a:rPr>
              <a:t>Are there variables that could influence the outcome but weren't measured or controlled for?</a:t>
            </a:r>
          </a:p>
        </p:txBody>
      </p:sp>
      <p:sp>
        <p:nvSpPr>
          <p:cNvPr id="29" name="Rounded Rectangle 28"/>
          <p:cNvSpPr/>
          <p:nvPr/>
        </p:nvSpPr>
        <p:spPr>
          <a:xfrm>
            <a:off x="566928" y="5394960"/>
            <a:ext cx="11064240" cy="768096"/>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13232" y="5532120"/>
            <a:ext cx="493776" cy="493776"/>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 y="5513832"/>
            <a:ext cx="493776" cy="493776"/>
          </a:xfrm>
          <a:prstGeom prst="rect">
            <a:avLst/>
          </a:prstGeom>
          <a:noFill/>
        </p:spPr>
        <p:txBody>
          <a:bodyPr wrap="square" anchor="ctr" lIns="0" rIns="0" tIns="0" bIns="0">
            <a:spAutoFit/>
          </a:bodyPr>
          <a:lstStyle/>
          <a:p>
            <a:pPr algn="ctr"/>
            <a:r>
              <a:rPr sz="1500" b="1" i="0">
                <a:solidFill>
                  <a:srgbClr val="FFFFFF"/>
                </a:solidFill>
                <a:latin typeface="Segoe UI"/>
              </a:rPr>
              <a:t>◎</a:t>
            </a:r>
          </a:p>
        </p:txBody>
      </p:sp>
      <p:sp>
        <p:nvSpPr>
          <p:cNvPr id="32" name="TextBox 31"/>
          <p:cNvSpPr txBox="1"/>
          <p:nvPr/>
        </p:nvSpPr>
        <p:spPr>
          <a:xfrm>
            <a:off x="1353312" y="5486400"/>
            <a:ext cx="10104119" cy="585215"/>
          </a:xfrm>
          <a:prstGeom prst="rect">
            <a:avLst/>
          </a:prstGeom>
          <a:noFill/>
        </p:spPr>
        <p:txBody>
          <a:bodyPr wrap="square" anchor="ctr" lIns="0" rIns="0" tIns="0" bIns="0">
            <a:spAutoFit/>
          </a:bodyPr>
          <a:lstStyle/>
          <a:p>
            <a:pPr algn="l">
              <a:lnSpc>
                <a:spcPct val="95000"/>
              </a:lnSpc>
              <a:spcAft>
                <a:spcPts val="200"/>
              </a:spcAft>
            </a:pPr>
            <a:r>
              <a:rPr sz="1500" b="1" i="0">
                <a:solidFill>
                  <a:srgbClr val="14252E"/>
                </a:solidFill>
                <a:latin typeface="Segoe UI"/>
              </a:rPr>
              <a:t>Generalizability / Scope</a:t>
            </a:r>
          </a:p>
          <a:p>
            <a:pPr algn="l">
              <a:lnSpc>
                <a:spcPct val="98000"/>
              </a:lnSpc>
            </a:pPr>
            <a:r>
              <a:rPr sz="1200" b="0" i="0">
                <a:solidFill>
                  <a:srgbClr val="3A4B54"/>
                </a:solidFill>
                <a:latin typeface="Segoe UI"/>
              </a:rPr>
              <a:t>How far, realistically, can the findings be applied beyond the specific group and setting studied?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9C46A">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9C46A"/>
                </a:solidFill>
                <a:latin typeface="Segoe UI"/>
              </a:rPr>
              <a:t>PART 6 - ASSUMPTIONS &amp; LIMITATIONS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Naming Your Study's Assumptions</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Coastal plastic waste study</a:t>
            </a:r>
          </a:p>
        </p:txBody>
      </p:sp>
      <p:sp>
        <p:nvSpPr>
          <p:cNvPr id="8" name="Rectangle 7"/>
          <p:cNvSpPr/>
          <p:nvPr/>
        </p:nvSpPr>
        <p:spPr>
          <a:xfrm>
            <a:off x="576072" y="1572768"/>
            <a:ext cx="1554480" cy="50292"/>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47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TextBox 12"/>
          <p:cNvSpPr txBox="1"/>
          <p:nvPr/>
        </p:nvSpPr>
        <p:spPr>
          <a:xfrm>
            <a:off x="566928" y="2148840"/>
            <a:ext cx="10972800" cy="365760"/>
          </a:xfrm>
          <a:prstGeom prst="rect">
            <a:avLst/>
          </a:prstGeom>
          <a:noFill/>
        </p:spPr>
        <p:txBody>
          <a:bodyPr wrap="square" anchor="t" lIns="0" rIns="0" tIns="0" bIns="0">
            <a:spAutoFit/>
          </a:bodyPr>
          <a:lstStyle/>
          <a:p>
            <a:pPr algn="l"/>
            <a:r>
              <a:rPr sz="1500" b="1" i="0">
                <a:solidFill>
                  <a:srgbClr val="14252E"/>
                </a:solidFill>
                <a:latin typeface="Segoe UI"/>
              </a:rPr>
              <a:t>Reasonable assumptions include:</a:t>
            </a:r>
          </a:p>
        </p:txBody>
      </p:sp>
      <p:sp>
        <p:nvSpPr>
          <p:cNvPr id="14" name="Rounded Rectangle 13"/>
          <p:cNvSpPr/>
          <p:nvPr/>
        </p:nvSpPr>
        <p:spPr>
          <a:xfrm>
            <a:off x="566928" y="2697480"/>
            <a:ext cx="11064240" cy="77724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7240" y="28803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871216"/>
            <a:ext cx="411480" cy="411480"/>
          </a:xfrm>
          <a:prstGeom prst="rect">
            <a:avLst/>
          </a:prstGeom>
          <a:noFill/>
        </p:spPr>
        <p:txBody>
          <a:bodyPr wrap="square" anchor="ctr" lIns="0" rIns="0" tIns="0" bIns="0">
            <a:spAutoFit/>
          </a:bodyPr>
          <a:lstStyle/>
          <a:p>
            <a:pPr algn="ctr"/>
            <a:r>
              <a:rPr sz="1600" b="1" i="0">
                <a:solidFill>
                  <a:srgbClr val="FFFFFF"/>
                </a:solidFill>
                <a:latin typeface="Segoe UI"/>
              </a:rPr>
              <a:t>✓</a:t>
            </a:r>
          </a:p>
        </p:txBody>
      </p:sp>
      <p:sp>
        <p:nvSpPr>
          <p:cNvPr id="17" name="TextBox 16"/>
          <p:cNvSpPr txBox="1"/>
          <p:nvPr/>
        </p:nvSpPr>
        <p:spPr>
          <a:xfrm>
            <a:off x="1371600" y="2697480"/>
            <a:ext cx="9966960" cy="777240"/>
          </a:xfrm>
          <a:prstGeom prst="rect">
            <a:avLst/>
          </a:prstGeom>
          <a:noFill/>
        </p:spPr>
        <p:txBody>
          <a:bodyPr wrap="square" anchor="ctr" lIns="0" rIns="0" tIns="0" bIns="0">
            <a:spAutoFit/>
          </a:bodyPr>
          <a:lstStyle/>
          <a:p>
            <a:pPr algn="l">
              <a:lnSpc>
                <a:spcPct val="102000"/>
              </a:lnSpc>
            </a:pPr>
            <a:r>
              <a:rPr sz="1500" b="0" i="0">
                <a:solidFill>
                  <a:srgbClr val="14252E"/>
                </a:solidFill>
                <a:latin typeface="Segoe UI"/>
              </a:rPr>
              <a:t>Survey respondents will report their waste habits honestly.</a:t>
            </a:r>
          </a:p>
        </p:txBody>
      </p:sp>
      <p:sp>
        <p:nvSpPr>
          <p:cNvPr id="18" name="Rounded Rectangle 17"/>
          <p:cNvSpPr/>
          <p:nvPr/>
        </p:nvSpPr>
        <p:spPr>
          <a:xfrm>
            <a:off x="566928" y="3611880"/>
            <a:ext cx="11064240" cy="77724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77240" y="37947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85616"/>
            <a:ext cx="411480" cy="411480"/>
          </a:xfrm>
          <a:prstGeom prst="rect">
            <a:avLst/>
          </a:prstGeom>
          <a:noFill/>
        </p:spPr>
        <p:txBody>
          <a:bodyPr wrap="square" anchor="ctr" lIns="0" rIns="0" tIns="0" bIns="0">
            <a:spAutoFit/>
          </a:bodyPr>
          <a:lstStyle/>
          <a:p>
            <a:pPr algn="ctr"/>
            <a:r>
              <a:rPr sz="1600" b="1" i="0">
                <a:solidFill>
                  <a:srgbClr val="FFFFFF"/>
                </a:solidFill>
                <a:latin typeface="Segoe UI"/>
              </a:rPr>
              <a:t>✓</a:t>
            </a:r>
          </a:p>
        </p:txBody>
      </p:sp>
      <p:sp>
        <p:nvSpPr>
          <p:cNvPr id="21" name="TextBox 20"/>
          <p:cNvSpPr txBox="1"/>
          <p:nvPr/>
        </p:nvSpPr>
        <p:spPr>
          <a:xfrm>
            <a:off x="1371600" y="3611880"/>
            <a:ext cx="9966960" cy="777240"/>
          </a:xfrm>
          <a:prstGeom prst="rect">
            <a:avLst/>
          </a:prstGeom>
          <a:noFill/>
        </p:spPr>
        <p:txBody>
          <a:bodyPr wrap="square" anchor="ctr" lIns="0" rIns="0" tIns="0" bIns="0">
            <a:spAutoFit/>
          </a:bodyPr>
          <a:lstStyle/>
          <a:p>
            <a:pPr algn="l">
              <a:lnSpc>
                <a:spcPct val="102000"/>
              </a:lnSpc>
            </a:pPr>
            <a:r>
              <a:rPr sz="1500" b="0" i="0">
                <a:solidFill>
                  <a:srgbClr val="14252E"/>
                </a:solidFill>
                <a:latin typeface="Segoe UI"/>
              </a:rPr>
              <a:t>Barangay waste-audit records reflect actual collected volumes accurately.</a:t>
            </a:r>
          </a:p>
        </p:txBody>
      </p:sp>
      <p:sp>
        <p:nvSpPr>
          <p:cNvPr id="22" name="Rounded Rectangle 21"/>
          <p:cNvSpPr/>
          <p:nvPr/>
        </p:nvSpPr>
        <p:spPr>
          <a:xfrm>
            <a:off x="566928" y="4846320"/>
            <a:ext cx="11064240" cy="914400"/>
          </a:xfrm>
          <a:prstGeom prst="roundRect">
            <a:avLst>
              <a:gd name="adj" fmla="val 8000"/>
            </a:avLst>
          </a:prstGeom>
          <a:solidFill>
            <a:srgbClr val="FBF4E4"/>
          </a:solidFill>
          <a:ln w="12700">
            <a:solidFill>
              <a:srgbClr val="F4E1B4"/>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66928" y="4846320"/>
            <a:ext cx="100584" cy="914400"/>
          </a:xfrm>
          <a:prstGeom prst="round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846320"/>
            <a:ext cx="10515600" cy="914400"/>
          </a:xfrm>
          <a:prstGeom prst="rect">
            <a:avLst/>
          </a:prstGeom>
          <a:noFill/>
        </p:spPr>
        <p:txBody>
          <a:bodyPr wrap="square" anchor="ctr" lIns="0" rIns="0" tIns="0" bIns="0">
            <a:spAutoFit/>
          </a:bodyPr>
          <a:lstStyle/>
          <a:p>
            <a:pPr algn="l"/>
            <a:r>
              <a:rPr sz="1600" b="1" i="1">
                <a:solidFill>
                  <a:srgbClr val="14252E"/>
                </a:solidFill>
                <a:latin typeface="Segoe UI"/>
              </a:rPr>
              <a:t>Ask:  “What am I treating as true without actually testing it?”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9C46A">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9C46A"/>
                </a:solidFill>
                <a:latin typeface="Segoe UI"/>
              </a:rPr>
              <a:t>PART 6 - ASSUMPTIONS &amp; LIMITATIONS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Naming Your Study's Limitations</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Mapped to Slide 46's categories</a:t>
            </a:r>
          </a:p>
        </p:txBody>
      </p:sp>
      <p:sp>
        <p:nvSpPr>
          <p:cNvPr id="8" name="Rectangle 7"/>
          <p:cNvSpPr/>
          <p:nvPr/>
        </p:nvSpPr>
        <p:spPr>
          <a:xfrm>
            <a:off x="576072" y="1572768"/>
            <a:ext cx="1554480" cy="50292"/>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48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2148840"/>
            <a:ext cx="11064240" cy="86868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2148840"/>
            <a:ext cx="2834640" cy="868680"/>
          </a:xfrm>
          <a:prstGeom prst="roundRect">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148840"/>
            <a:ext cx="2651760" cy="868680"/>
          </a:xfrm>
          <a:prstGeom prst="rect">
            <a:avLst/>
          </a:prstGeom>
          <a:noFill/>
        </p:spPr>
        <p:txBody>
          <a:bodyPr wrap="square" anchor="ctr" lIns="0" rIns="0" tIns="0" bIns="0">
            <a:spAutoFit/>
          </a:bodyPr>
          <a:lstStyle/>
          <a:p>
            <a:pPr algn="ctr">
              <a:lnSpc>
                <a:spcPct val="95000"/>
              </a:lnSpc>
            </a:pPr>
            <a:r>
              <a:rPr sz="1350" b="1" i="0">
                <a:solidFill>
                  <a:srgbClr val="FFFFFF"/>
                </a:solidFill>
                <a:latin typeface="Segoe UI"/>
              </a:rPr>
              <a:t>Sample / Population</a:t>
            </a:r>
          </a:p>
        </p:txBody>
      </p:sp>
      <p:sp>
        <p:nvSpPr>
          <p:cNvPr id="16" name="TextBox 15"/>
          <p:cNvSpPr txBox="1"/>
          <p:nvPr/>
        </p:nvSpPr>
        <p:spPr>
          <a:xfrm>
            <a:off x="3566160" y="2148840"/>
            <a:ext cx="7863840" cy="868680"/>
          </a:xfrm>
          <a:prstGeom prst="rect">
            <a:avLst/>
          </a:prstGeom>
          <a:noFill/>
        </p:spPr>
        <p:txBody>
          <a:bodyPr wrap="square" anchor="ctr" lIns="0" rIns="0" tIns="0" bIns="0">
            <a:spAutoFit/>
          </a:bodyPr>
          <a:lstStyle/>
          <a:p>
            <a:pPr algn="l">
              <a:lnSpc>
                <a:spcPct val="103000"/>
              </a:lnSpc>
            </a:pPr>
            <a:r>
              <a:rPr sz="1400" b="0" i="0">
                <a:solidFill>
                  <a:srgbClr val="14252E"/>
                </a:solidFill>
                <a:latin typeface="Segoe UI"/>
              </a:rPr>
              <a:t>The study covers only one coastal barangay, so findings may not generalize to other coastal areas.</a:t>
            </a:r>
          </a:p>
        </p:txBody>
      </p:sp>
      <p:sp>
        <p:nvSpPr>
          <p:cNvPr id="17" name="Rounded Rectangle 16"/>
          <p:cNvSpPr/>
          <p:nvPr/>
        </p:nvSpPr>
        <p:spPr>
          <a:xfrm>
            <a:off x="566928" y="3108960"/>
            <a:ext cx="11064240" cy="86868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6928" y="3108960"/>
            <a:ext cx="2834640" cy="86868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3108960"/>
            <a:ext cx="2651760" cy="868680"/>
          </a:xfrm>
          <a:prstGeom prst="rect">
            <a:avLst/>
          </a:prstGeom>
          <a:noFill/>
        </p:spPr>
        <p:txBody>
          <a:bodyPr wrap="square" anchor="ctr" lIns="0" rIns="0" tIns="0" bIns="0">
            <a:spAutoFit/>
          </a:bodyPr>
          <a:lstStyle/>
          <a:p>
            <a:pPr algn="ctr">
              <a:lnSpc>
                <a:spcPct val="95000"/>
              </a:lnSpc>
            </a:pPr>
            <a:r>
              <a:rPr sz="1350" b="1" i="0">
                <a:solidFill>
                  <a:srgbClr val="FFFFFF"/>
                </a:solidFill>
                <a:latin typeface="Segoe UI"/>
              </a:rPr>
              <a:t>Measurement</a:t>
            </a:r>
          </a:p>
        </p:txBody>
      </p:sp>
      <p:sp>
        <p:nvSpPr>
          <p:cNvPr id="20" name="TextBox 19"/>
          <p:cNvSpPr txBox="1"/>
          <p:nvPr/>
        </p:nvSpPr>
        <p:spPr>
          <a:xfrm>
            <a:off x="3566160" y="3108960"/>
            <a:ext cx="7863840" cy="868680"/>
          </a:xfrm>
          <a:prstGeom prst="rect">
            <a:avLst/>
          </a:prstGeom>
          <a:noFill/>
        </p:spPr>
        <p:txBody>
          <a:bodyPr wrap="square" anchor="ctr" lIns="0" rIns="0" tIns="0" bIns="0">
            <a:spAutoFit/>
          </a:bodyPr>
          <a:lstStyle/>
          <a:p>
            <a:pPr algn="l">
              <a:lnSpc>
                <a:spcPct val="103000"/>
              </a:lnSpc>
            </a:pPr>
            <a:r>
              <a:rPr sz="1400" b="0" i="0">
                <a:solidFill>
                  <a:srgbClr val="14252E"/>
                </a:solidFill>
                <a:latin typeface="Segoe UI"/>
              </a:rPr>
              <a:t>Self-reported segregation compliance may not perfectly reflect actual household behavior.</a:t>
            </a:r>
          </a:p>
        </p:txBody>
      </p:sp>
      <p:sp>
        <p:nvSpPr>
          <p:cNvPr id="21" name="Rounded Rectangle 20"/>
          <p:cNvSpPr/>
          <p:nvPr/>
        </p:nvSpPr>
        <p:spPr>
          <a:xfrm>
            <a:off x="566928" y="4069080"/>
            <a:ext cx="11064240" cy="86868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66928" y="4069080"/>
            <a:ext cx="2834640" cy="868680"/>
          </a:xfrm>
          <a:prstGeom prst="round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4069080"/>
            <a:ext cx="2651760" cy="868680"/>
          </a:xfrm>
          <a:prstGeom prst="rect">
            <a:avLst/>
          </a:prstGeom>
          <a:noFill/>
        </p:spPr>
        <p:txBody>
          <a:bodyPr wrap="square" anchor="ctr" lIns="0" rIns="0" tIns="0" bIns="0">
            <a:spAutoFit/>
          </a:bodyPr>
          <a:lstStyle/>
          <a:p>
            <a:pPr algn="ctr">
              <a:lnSpc>
                <a:spcPct val="95000"/>
              </a:lnSpc>
            </a:pPr>
            <a:r>
              <a:rPr sz="1350" b="1" i="0">
                <a:solidFill>
                  <a:srgbClr val="FFFFFF"/>
                </a:solidFill>
                <a:latin typeface="Segoe UI"/>
              </a:rPr>
              <a:t>Generalizability / Scope</a:t>
            </a:r>
          </a:p>
        </p:txBody>
      </p:sp>
      <p:sp>
        <p:nvSpPr>
          <p:cNvPr id="24" name="TextBox 23"/>
          <p:cNvSpPr txBox="1"/>
          <p:nvPr/>
        </p:nvSpPr>
        <p:spPr>
          <a:xfrm>
            <a:off x="3566160" y="4069080"/>
            <a:ext cx="7863840" cy="868680"/>
          </a:xfrm>
          <a:prstGeom prst="rect">
            <a:avLst/>
          </a:prstGeom>
          <a:noFill/>
        </p:spPr>
        <p:txBody>
          <a:bodyPr wrap="square" anchor="ctr" lIns="0" rIns="0" tIns="0" bIns="0">
            <a:spAutoFit/>
          </a:bodyPr>
          <a:lstStyle/>
          <a:p>
            <a:pPr algn="l">
              <a:lnSpc>
                <a:spcPct val="103000"/>
              </a:lnSpc>
            </a:pPr>
            <a:r>
              <a:rPr sz="1400" b="0" i="0">
                <a:solidFill>
                  <a:srgbClr val="14252E"/>
                </a:solidFill>
                <a:latin typeface="Segoe UI"/>
              </a:rPr>
              <a:t>Data collection within a single school semester limits observation of seasonal waste patterns.</a:t>
            </a:r>
          </a:p>
        </p:txBody>
      </p:sp>
      <p:sp>
        <p:nvSpPr>
          <p:cNvPr id="25" name="Rounded Rectangle 24"/>
          <p:cNvSpPr/>
          <p:nvPr/>
        </p:nvSpPr>
        <p:spPr>
          <a:xfrm>
            <a:off x="566928" y="5166360"/>
            <a:ext cx="11064240" cy="868680"/>
          </a:xfrm>
          <a:prstGeom prst="roundRect">
            <a:avLst>
              <a:gd name="adj" fmla="val 8000"/>
            </a:avLst>
          </a:prstGeom>
          <a:solidFill>
            <a:srgbClr val="FBF4E4"/>
          </a:solidFill>
          <a:ln w="12700">
            <a:solidFill>
              <a:srgbClr val="F4E1B4"/>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66928" y="5166360"/>
            <a:ext cx="100584" cy="868680"/>
          </a:xfrm>
          <a:prstGeom prst="round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166360"/>
            <a:ext cx="10515600" cy="868680"/>
          </a:xfrm>
          <a:prstGeom prst="rect">
            <a:avLst/>
          </a:prstGeom>
          <a:noFill/>
        </p:spPr>
        <p:txBody>
          <a:bodyPr wrap="square" anchor="ctr" lIns="0" rIns="0" tIns="0" bIns="0">
            <a:spAutoFit/>
          </a:bodyPr>
          <a:lstStyle/>
          <a:p>
            <a:pPr algn="l"/>
            <a:r>
              <a:rPr sz="1500" b="1" i="1">
                <a:solidFill>
                  <a:srgbClr val="14252E"/>
                </a:solidFill>
                <a:latin typeface="Segoe UI"/>
              </a:rPr>
              <a:t>Ask:  “Which category does this constraint fall under - and is it truly outside my control?”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9C46A">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9C46A"/>
                </a:solidFill>
                <a:latin typeface="Segoe UI"/>
              </a:rPr>
              <a:t>PART 6 - ASSUMPTIONS &amp; LIMITATIONS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The Full Assumptions &amp; Limitations Write-Up</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Annotated example</a:t>
            </a:r>
          </a:p>
        </p:txBody>
      </p:sp>
      <p:sp>
        <p:nvSpPr>
          <p:cNvPr id="8" name="Rectangle 7"/>
          <p:cNvSpPr/>
          <p:nvPr/>
        </p:nvSpPr>
        <p:spPr>
          <a:xfrm>
            <a:off x="576072" y="1572768"/>
            <a:ext cx="1554480" cy="50292"/>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49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2057400"/>
            <a:ext cx="11064240" cy="356616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2057400"/>
            <a:ext cx="100584" cy="3566160"/>
          </a:xfrm>
          <a:prstGeom prst="round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103120"/>
            <a:ext cx="548640" cy="640080"/>
          </a:xfrm>
          <a:prstGeom prst="rect">
            <a:avLst/>
          </a:prstGeom>
          <a:noFill/>
        </p:spPr>
        <p:txBody>
          <a:bodyPr wrap="square" anchor="t" lIns="0" rIns="0" tIns="0" bIns="0">
            <a:spAutoFit/>
          </a:bodyPr>
          <a:lstStyle/>
          <a:p>
            <a:pPr algn="l"/>
            <a:r>
              <a:rPr sz="4400" b="1" i="0">
                <a:solidFill>
                  <a:srgbClr val="F0D89E"/>
                </a:solidFill>
                <a:latin typeface="Segoe UI"/>
              </a:rPr>
              <a:t>“</a:t>
            </a:r>
          </a:p>
        </p:txBody>
      </p:sp>
      <p:sp>
        <p:nvSpPr>
          <p:cNvPr id="16" name="TextBox 15"/>
          <p:cNvSpPr txBox="1"/>
          <p:nvPr/>
        </p:nvSpPr>
        <p:spPr>
          <a:xfrm>
            <a:off x="950976" y="2624328"/>
            <a:ext cx="10378440" cy="2788920"/>
          </a:xfrm>
          <a:prstGeom prst="rect">
            <a:avLst/>
          </a:prstGeom>
          <a:noFill/>
        </p:spPr>
        <p:txBody>
          <a:bodyPr wrap="square" anchor="t" lIns="0" rIns="0" tIns="0" bIns="0">
            <a:spAutoFit/>
          </a:bodyPr>
          <a:lstStyle/>
          <a:p>
            <a:pPr algn="l">
              <a:lnSpc>
                <a:spcPct val="114000"/>
              </a:lnSpc>
            </a:pPr>
            <a:r>
              <a:rPr sz="1500" b="0" i="1">
                <a:solidFill>
                  <a:srgbClr val="14252E"/>
                </a:solidFill>
                <a:latin typeface="Segoe UI"/>
              </a:rPr>
              <a:t>This study assumes that household respondents will report their plastic-segregation habits honestly, and that barangay waste-audit records accurately reflect actual collected volumes. The study is limited by its focus on a single coastal barangay (sample / population), which may restrict how broadly the findings apply to other coastal communities; by its reliance on self-reported compliance data, which may not fully capture actual behavior (measurement); and by its single-semester timeframe, which limits observation of seasonal variation in waste patterns (generalizability / scope).</a:t>
            </a:r>
          </a:p>
        </p:txBody>
      </p:sp>
      <p:sp>
        <p:nvSpPr>
          <p:cNvPr id="17" name="Rounded Rectangle 16"/>
          <p:cNvSpPr/>
          <p:nvPr/>
        </p:nvSpPr>
        <p:spPr>
          <a:xfrm>
            <a:off x="566928" y="5806440"/>
            <a:ext cx="11064240" cy="566928"/>
          </a:xfrm>
          <a:prstGeom prst="roundRect">
            <a:avLst>
              <a:gd name="adj" fmla="val 12000"/>
            </a:avLst>
          </a:prstGeom>
          <a:solidFill>
            <a:srgbClr val="FB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6928" y="5806440"/>
            <a:ext cx="82296" cy="566928"/>
          </a:xfrm>
          <a:prstGeom prst="round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806440"/>
            <a:ext cx="10607040" cy="566928"/>
          </a:xfrm>
          <a:prstGeom prst="rect">
            <a:avLst/>
          </a:prstGeom>
          <a:noFill/>
        </p:spPr>
        <p:txBody>
          <a:bodyPr wrap="square" anchor="ctr" lIns="0" rIns="0" tIns="0" bIns="0">
            <a:spAutoFit/>
          </a:bodyPr>
          <a:lstStyle/>
          <a:p>
            <a:pPr algn="l">
              <a:lnSpc>
                <a:spcPct val="102000"/>
              </a:lnSpc>
            </a:pPr>
            <a:r>
              <a:rPr sz="1300" b="0" i="1">
                <a:solidFill>
                  <a:srgbClr val="14252E"/>
                </a:solidFill>
                <a:latin typeface="Segoe UI"/>
              </a:rPr>
              <a:t>Brief, specific, and explicitly categorized - naming the category in parentheses makes the writing more precise without making it longer.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806440"/>
            <a:ext cx="2377440" cy="2377440"/>
          </a:xfrm>
          <a:prstGeom prst="ellipse">
            <a:avLst/>
          </a:prstGeom>
          <a:solidFill>
            <a:srgbClr val="E9C46A">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8686800" cy="320040"/>
          </a:xfrm>
          <a:prstGeom prst="rect">
            <a:avLst/>
          </a:prstGeom>
          <a:noFill/>
        </p:spPr>
        <p:txBody>
          <a:bodyPr wrap="square" anchor="t" lIns="0" rIns="0" tIns="0" bIns="0">
            <a:spAutoFit/>
          </a:bodyPr>
          <a:lstStyle/>
          <a:p>
            <a:pPr algn="l"/>
            <a:r>
              <a:rPr sz="1250" b="1" i="0">
                <a:solidFill>
                  <a:srgbClr val="E9C46A"/>
                </a:solidFill>
                <a:latin typeface="Segoe UI"/>
              </a:rPr>
              <a:t>PART 6 - ASSUMPTIONS &amp; LIMITATIONS</a:t>
            </a:r>
          </a:p>
        </p:txBody>
      </p:sp>
      <p:sp>
        <p:nvSpPr>
          <p:cNvPr id="6" name="TextBox 5"/>
          <p:cNvSpPr txBox="1"/>
          <p:nvPr/>
        </p:nvSpPr>
        <p:spPr>
          <a:xfrm>
            <a:off x="548640" y="676656"/>
            <a:ext cx="9784080" cy="1051560"/>
          </a:xfrm>
          <a:prstGeom prst="rect">
            <a:avLst/>
          </a:prstGeom>
          <a:noFill/>
        </p:spPr>
        <p:txBody>
          <a:bodyPr wrap="square" anchor="t" lIns="0" rIns="0" tIns="0" bIns="0">
            <a:spAutoFit/>
          </a:bodyPr>
          <a:lstStyle/>
          <a:p>
            <a:pPr algn="l">
              <a:lnSpc>
                <a:spcPct val="98000"/>
              </a:lnSpc>
            </a:pPr>
            <a:r>
              <a:rPr sz="3000" b="1" i="0">
                <a:solidFill>
                  <a:srgbClr val="14252E"/>
                </a:solidFill>
                <a:latin typeface="Segoe UI"/>
              </a:rPr>
              <a:t>Practice: Assumptions and Limitations</a:t>
            </a:r>
          </a:p>
        </p:txBody>
      </p:sp>
      <p:sp>
        <p:nvSpPr>
          <p:cNvPr id="7" name="TextBox 6"/>
          <p:cNvSpPr txBox="1"/>
          <p:nvPr/>
        </p:nvSpPr>
        <p:spPr>
          <a:xfrm>
            <a:off x="566928" y="1700784"/>
            <a:ext cx="10515600" cy="457200"/>
          </a:xfrm>
          <a:prstGeom prst="rect">
            <a:avLst/>
          </a:prstGeom>
          <a:noFill/>
        </p:spPr>
        <p:txBody>
          <a:bodyPr wrap="square" anchor="t" lIns="0" rIns="0" tIns="0" bIns="0">
            <a:spAutoFit/>
          </a:bodyPr>
          <a:lstStyle/>
          <a:p>
            <a:pPr algn="l"/>
            <a:r>
              <a:rPr sz="1500" b="0" i="1">
                <a:solidFill>
                  <a:srgbClr val="3A4B54"/>
                </a:solidFill>
                <a:latin typeface="Segoe UI"/>
              </a:rPr>
              <a:t>Activity  -  school recycling scenario</a:t>
            </a:r>
          </a:p>
        </p:txBody>
      </p:sp>
      <p:sp>
        <p:nvSpPr>
          <p:cNvPr id="8" name="Rectangle 7"/>
          <p:cNvSpPr/>
          <p:nvPr/>
        </p:nvSpPr>
        <p:spPr>
          <a:xfrm>
            <a:off x="576072" y="1572768"/>
            <a:ext cx="1554480" cy="50292"/>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38767" y="420624"/>
            <a:ext cx="2304288"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767" y="420624"/>
            <a:ext cx="2304288" cy="310896"/>
          </a:xfrm>
          <a:prstGeom prst="rect">
            <a:avLst/>
          </a:prstGeom>
          <a:noFill/>
        </p:spPr>
        <p:txBody>
          <a:bodyPr wrap="square" anchor="ctr" lIns="0" rIns="0" tIns="0" bIns="0">
            <a:spAutoFit/>
          </a:bodyPr>
          <a:lstStyle/>
          <a:p>
            <a:pPr algn="ctr"/>
            <a:r>
              <a:rPr sz="1050" b="1" i="0">
                <a:solidFill>
                  <a:srgbClr val="FFFFFF"/>
                </a:solidFill>
                <a:latin typeface="Segoe UI"/>
              </a:rPr>
              <a:t>INSTRUCTOR-CREATED</a:t>
            </a:r>
          </a:p>
        </p:txBody>
      </p:sp>
      <p:sp>
        <p:nvSpPr>
          <p:cNvPr id="11" name="TextBox 10"/>
          <p:cNvSpPr txBox="1"/>
          <p:nvPr/>
        </p:nvSpPr>
        <p:spPr>
          <a:xfrm>
            <a:off x="10607040" y="6419088"/>
            <a:ext cx="1280160" cy="320040"/>
          </a:xfrm>
          <a:prstGeom prst="rect">
            <a:avLst/>
          </a:prstGeom>
          <a:noFill/>
        </p:spPr>
        <p:txBody>
          <a:bodyPr wrap="square" anchor="t" lIns="0" rIns="0" tIns="0" bIns="0">
            <a:spAutoFit/>
          </a:bodyPr>
          <a:lstStyle/>
          <a:p>
            <a:pPr algn="r"/>
            <a:r>
              <a:rPr sz="1050" b="1" i="0">
                <a:solidFill>
                  <a:srgbClr val="3A4B54"/>
                </a:solidFill>
                <a:latin typeface="Segoe UI"/>
              </a:rPr>
              <a:t>50  /  51</a:t>
            </a:r>
          </a:p>
        </p:txBody>
      </p:sp>
      <p:sp>
        <p:nvSpPr>
          <p:cNvPr id="12" name="TextBox 11"/>
          <p:cNvSpPr txBox="1"/>
          <p:nvPr/>
        </p:nvSpPr>
        <p:spPr>
          <a:xfrm>
            <a:off x="566928" y="6419088"/>
            <a:ext cx="7315200" cy="320040"/>
          </a:xfrm>
          <a:prstGeom prst="rect">
            <a:avLst/>
          </a:prstGeom>
          <a:noFill/>
        </p:spPr>
        <p:txBody>
          <a:bodyPr wrap="square" anchor="t" lIns="0" rIns="0" tIns="0" bIns="0">
            <a:spAutoFit/>
          </a:bodyPr>
          <a:lstStyle/>
          <a:p>
            <a:pPr algn="l"/>
            <a:r>
              <a:rPr sz="950" b="0" i="0">
                <a:solidFill>
                  <a:srgbClr val="3A4B54"/>
                </a:solidFill>
                <a:latin typeface="Segoe UI"/>
              </a:rPr>
              <a:t>Lecture 3  -  Review of Literature for Identifying Research Problems</a:t>
            </a:r>
          </a:p>
        </p:txBody>
      </p:sp>
      <p:sp>
        <p:nvSpPr>
          <p:cNvPr id="13" name="Rounded Rectangle 12"/>
          <p:cNvSpPr/>
          <p:nvPr/>
        </p:nvSpPr>
        <p:spPr>
          <a:xfrm>
            <a:off x="566928" y="2103120"/>
            <a:ext cx="11064240" cy="914400"/>
          </a:xfrm>
          <a:prstGeom prst="roundRect">
            <a:avLst>
              <a:gd name="adj" fmla="val 8000"/>
            </a:avLst>
          </a:prstGeom>
          <a:solidFill>
            <a:srgbClr val="FBF6E8"/>
          </a:solidFill>
          <a:ln w="12700">
            <a:solidFill>
              <a:srgbClr val="F4E1B4"/>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2103120"/>
            <a:ext cx="100584" cy="914400"/>
          </a:xfrm>
          <a:prstGeom prst="round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103120"/>
            <a:ext cx="10515600" cy="914400"/>
          </a:xfrm>
          <a:prstGeom prst="rect">
            <a:avLst/>
          </a:prstGeom>
          <a:noFill/>
        </p:spPr>
        <p:txBody>
          <a:bodyPr wrap="square" anchor="ctr" lIns="0" rIns="0" tIns="0" bIns="0">
            <a:spAutoFit/>
          </a:bodyPr>
          <a:lstStyle/>
          <a:p>
            <a:pPr algn="l">
              <a:spcAft>
                <a:spcPts val="300"/>
              </a:spcAft>
            </a:pPr>
            <a:r>
              <a:rPr sz="1250" b="1" i="0">
                <a:solidFill>
                  <a:srgbClr val="E9C46A"/>
                </a:solidFill>
                <a:latin typeface="Segoe UI"/>
              </a:rPr>
              <a:t>Scenario</a:t>
            </a:r>
          </a:p>
          <a:p>
            <a:pPr algn="l">
              <a:lnSpc>
                <a:spcPct val="103000"/>
              </a:lnSpc>
            </a:pPr>
            <a:r>
              <a:rPr sz="1500" b="0" i="0">
                <a:solidFill>
                  <a:srgbClr val="14252E"/>
                </a:solidFill>
                <a:latin typeface="Segoe UI"/>
              </a:rPr>
              <a:t>A group is evaluating whether a school's recycling program has increased student recycling behavior.</a:t>
            </a:r>
          </a:p>
        </p:txBody>
      </p:sp>
      <p:sp>
        <p:nvSpPr>
          <p:cNvPr id="16" name="Rounded Rectangle 15"/>
          <p:cNvSpPr/>
          <p:nvPr/>
        </p:nvSpPr>
        <p:spPr>
          <a:xfrm>
            <a:off x="566928" y="3246120"/>
            <a:ext cx="5440680" cy="173736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66928" y="3246120"/>
            <a:ext cx="5440680" cy="45720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3246120"/>
            <a:ext cx="5440680" cy="457200"/>
          </a:xfrm>
          <a:prstGeom prst="rect">
            <a:avLst/>
          </a:prstGeom>
          <a:noFill/>
        </p:spPr>
        <p:txBody>
          <a:bodyPr wrap="square" anchor="ctr" lIns="0" rIns="0" tIns="0" bIns="0">
            <a:spAutoFit/>
          </a:bodyPr>
          <a:lstStyle/>
          <a:p>
            <a:pPr algn="ctr"/>
            <a:r>
              <a:rPr sz="1400" b="1" i="0">
                <a:solidFill>
                  <a:srgbClr val="FFFFFF"/>
                </a:solidFill>
                <a:latin typeface="Segoe UI"/>
              </a:rPr>
              <a:t>Write TWO assumptions</a:t>
            </a:r>
          </a:p>
        </p:txBody>
      </p:sp>
      <p:sp>
        <p:nvSpPr>
          <p:cNvPr id="19" name="Rectangle 18"/>
          <p:cNvSpPr/>
          <p:nvPr/>
        </p:nvSpPr>
        <p:spPr>
          <a:xfrm>
            <a:off x="822960" y="3977639"/>
            <a:ext cx="4937760"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794760"/>
            <a:ext cx="365760" cy="320040"/>
          </a:xfrm>
          <a:prstGeom prst="rect">
            <a:avLst/>
          </a:prstGeom>
          <a:noFill/>
        </p:spPr>
        <p:txBody>
          <a:bodyPr wrap="square" anchor="t" lIns="0" rIns="0" tIns="0" bIns="0">
            <a:spAutoFit/>
          </a:bodyPr>
          <a:lstStyle/>
          <a:p>
            <a:pPr algn="l"/>
            <a:r>
              <a:rPr sz="1300" b="1" i="0">
                <a:solidFill>
                  <a:srgbClr val="2A9D8F"/>
                </a:solidFill>
                <a:latin typeface="Segoe UI"/>
              </a:rPr>
              <a:t>1.</a:t>
            </a:r>
          </a:p>
        </p:txBody>
      </p:sp>
      <p:sp>
        <p:nvSpPr>
          <p:cNvPr id="21" name="Rectangle 20"/>
          <p:cNvSpPr/>
          <p:nvPr/>
        </p:nvSpPr>
        <p:spPr>
          <a:xfrm>
            <a:off x="822960" y="4434840"/>
            <a:ext cx="4937760"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251960"/>
            <a:ext cx="365760" cy="320040"/>
          </a:xfrm>
          <a:prstGeom prst="rect">
            <a:avLst/>
          </a:prstGeom>
          <a:noFill/>
        </p:spPr>
        <p:txBody>
          <a:bodyPr wrap="square" anchor="t" lIns="0" rIns="0" tIns="0" bIns="0">
            <a:spAutoFit/>
          </a:bodyPr>
          <a:lstStyle/>
          <a:p>
            <a:pPr algn="l"/>
            <a:r>
              <a:rPr sz="1300" b="1" i="0">
                <a:solidFill>
                  <a:srgbClr val="2A9D8F"/>
                </a:solidFill>
                <a:latin typeface="Segoe UI"/>
              </a:rPr>
              <a:t>2.</a:t>
            </a:r>
          </a:p>
        </p:txBody>
      </p:sp>
      <p:sp>
        <p:nvSpPr>
          <p:cNvPr id="23" name="Rounded Rectangle 22"/>
          <p:cNvSpPr/>
          <p:nvPr/>
        </p:nvSpPr>
        <p:spPr>
          <a:xfrm>
            <a:off x="6190488" y="3246120"/>
            <a:ext cx="5440680" cy="1737360"/>
          </a:xfrm>
          <a:prstGeom prst="roundRect">
            <a:avLst>
              <a:gd name="adj" fmla="val 8000"/>
            </a:avLst>
          </a:prstGeom>
          <a:solidFill>
            <a:srgbClr val="FFFFFF"/>
          </a:solidFill>
          <a:ln w="12700">
            <a:solidFill>
              <a:srgbClr val="DDE7E9"/>
            </a:solid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90488" y="3246120"/>
            <a:ext cx="5440680" cy="457200"/>
          </a:xfrm>
          <a:prstGeom prst="round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90488" y="3246120"/>
            <a:ext cx="5440680" cy="457200"/>
          </a:xfrm>
          <a:prstGeom prst="rect">
            <a:avLst/>
          </a:prstGeom>
          <a:noFill/>
        </p:spPr>
        <p:txBody>
          <a:bodyPr wrap="square" anchor="ctr" lIns="0" rIns="0" tIns="0" bIns="0">
            <a:spAutoFit/>
          </a:bodyPr>
          <a:lstStyle/>
          <a:p>
            <a:pPr algn="ctr"/>
            <a:r>
              <a:rPr sz="1400" b="1" i="0">
                <a:solidFill>
                  <a:srgbClr val="FFFFFF"/>
                </a:solidFill>
                <a:latin typeface="Segoe UI"/>
              </a:rPr>
              <a:t>Write TWO limitations (+ category)</a:t>
            </a:r>
          </a:p>
        </p:txBody>
      </p:sp>
      <p:sp>
        <p:nvSpPr>
          <p:cNvPr id="26" name="Rectangle 25"/>
          <p:cNvSpPr/>
          <p:nvPr/>
        </p:nvSpPr>
        <p:spPr>
          <a:xfrm>
            <a:off x="6446520" y="3977639"/>
            <a:ext cx="4937760"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3794760"/>
            <a:ext cx="365760" cy="320040"/>
          </a:xfrm>
          <a:prstGeom prst="rect">
            <a:avLst/>
          </a:prstGeom>
          <a:noFill/>
        </p:spPr>
        <p:txBody>
          <a:bodyPr wrap="square" anchor="t" lIns="0" rIns="0" tIns="0" bIns="0">
            <a:spAutoFit/>
          </a:bodyPr>
          <a:lstStyle/>
          <a:p>
            <a:pPr algn="l"/>
            <a:r>
              <a:rPr sz="1300" b="1" i="0">
                <a:solidFill>
                  <a:srgbClr val="A99458"/>
                </a:solidFill>
                <a:latin typeface="Segoe UI"/>
              </a:rPr>
              <a:t>1.</a:t>
            </a:r>
          </a:p>
        </p:txBody>
      </p:sp>
      <p:sp>
        <p:nvSpPr>
          <p:cNvPr id="28" name="Rectangle 27"/>
          <p:cNvSpPr/>
          <p:nvPr/>
        </p:nvSpPr>
        <p:spPr>
          <a:xfrm>
            <a:off x="6446520" y="4434840"/>
            <a:ext cx="4937760" cy="18288"/>
          </a:xfrm>
          <a:prstGeom prst="rect">
            <a:avLst/>
          </a:prstGeom>
          <a:solidFill>
            <a:srgbClr val="DD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4251960"/>
            <a:ext cx="365760" cy="320040"/>
          </a:xfrm>
          <a:prstGeom prst="rect">
            <a:avLst/>
          </a:prstGeom>
          <a:noFill/>
        </p:spPr>
        <p:txBody>
          <a:bodyPr wrap="square" anchor="t" lIns="0" rIns="0" tIns="0" bIns="0">
            <a:spAutoFit/>
          </a:bodyPr>
          <a:lstStyle/>
          <a:p>
            <a:pPr algn="l"/>
            <a:r>
              <a:rPr sz="1300" b="1" i="0">
                <a:solidFill>
                  <a:srgbClr val="A99458"/>
                </a:solidFill>
                <a:latin typeface="Segoe UI"/>
              </a:rPr>
              <a:t>2.</a:t>
            </a:r>
          </a:p>
        </p:txBody>
      </p:sp>
      <p:sp>
        <p:nvSpPr>
          <p:cNvPr id="30" name="Rounded Rectangle 29"/>
          <p:cNvSpPr/>
          <p:nvPr/>
        </p:nvSpPr>
        <p:spPr>
          <a:xfrm>
            <a:off x="566928" y="5257800"/>
            <a:ext cx="11064240" cy="640080"/>
          </a:xfrm>
          <a:prstGeom prst="roundRect">
            <a:avLst>
              <a:gd name="adj" fmla="val 12000"/>
            </a:avLst>
          </a:prstGeom>
          <a:solidFill>
            <a:srgbClr val="FAE5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66928" y="5257800"/>
            <a:ext cx="82296" cy="64008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5257800"/>
            <a:ext cx="10607040" cy="640080"/>
          </a:xfrm>
          <a:prstGeom prst="rect">
            <a:avLst/>
          </a:prstGeom>
          <a:noFill/>
        </p:spPr>
        <p:txBody>
          <a:bodyPr wrap="square" anchor="ctr" lIns="0" rIns="0" tIns="0" bIns="0">
            <a:spAutoFit/>
          </a:bodyPr>
          <a:lstStyle/>
          <a:p>
            <a:pPr algn="l">
              <a:lnSpc>
                <a:spcPct val="102000"/>
              </a:lnSpc>
            </a:pPr>
            <a:r>
              <a:rPr sz="1350" b="0" i="1">
                <a:solidFill>
                  <a:srgbClr val="14252E"/>
                </a:solidFill>
                <a:latin typeface="Segoe UI"/>
              </a:rPr>
              <a:t>For each limitation, name which category from Slide 46 it falls under. Use the guiding questions from Slides 47-48 to check your answers.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C3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0C3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828800" y="5852160"/>
            <a:ext cx="16459200" cy="2743200"/>
          </a:xfrm>
          <a:prstGeom prst="ellipse">
            <a:avLst/>
          </a:prstGeom>
          <a:solidFill>
            <a:srgbClr val="105E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6309360"/>
            <a:ext cx="15544800" cy="2743200"/>
          </a:xfrm>
          <a:prstGeom prst="ellipse">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57200"/>
            <a:ext cx="10515600" cy="365760"/>
          </a:xfrm>
          <a:prstGeom prst="rect">
            <a:avLst/>
          </a:prstGeom>
          <a:noFill/>
        </p:spPr>
        <p:txBody>
          <a:bodyPr wrap="square" anchor="t" lIns="0" rIns="0" tIns="0" bIns="0">
            <a:spAutoFit/>
          </a:bodyPr>
          <a:lstStyle/>
          <a:p>
            <a:pPr algn="l"/>
            <a:r>
              <a:rPr sz="1300" b="1" i="0">
                <a:solidFill>
                  <a:srgbClr val="E9C46A"/>
                </a:solidFill>
                <a:latin typeface="Segoe UI"/>
              </a:rPr>
              <a:t>THE FULL JOURNEY  -  ONE PAGE</a:t>
            </a:r>
          </a:p>
        </p:txBody>
      </p:sp>
      <p:sp>
        <p:nvSpPr>
          <p:cNvPr id="8" name="TextBox 7"/>
          <p:cNvSpPr txBox="1"/>
          <p:nvPr/>
        </p:nvSpPr>
        <p:spPr>
          <a:xfrm>
            <a:off x="566928" y="777240"/>
            <a:ext cx="10515600" cy="640080"/>
          </a:xfrm>
          <a:prstGeom prst="rect">
            <a:avLst/>
          </a:prstGeom>
          <a:noFill/>
        </p:spPr>
        <p:txBody>
          <a:bodyPr wrap="square" anchor="t" lIns="0" rIns="0" tIns="0" bIns="0">
            <a:spAutoFit/>
          </a:bodyPr>
          <a:lstStyle/>
          <a:p>
            <a:pPr algn="l"/>
            <a:r>
              <a:rPr sz="2600" b="1" i="0">
                <a:solidFill>
                  <a:srgbClr val="FFFFFF"/>
                </a:solidFill>
                <a:latin typeface="Segoe UI"/>
              </a:rPr>
              <a:t>One coastal barangay. One research problem, fully built.</a:t>
            </a:r>
          </a:p>
        </p:txBody>
      </p:sp>
      <p:sp>
        <p:nvSpPr>
          <p:cNvPr id="9" name="Rectangle 8"/>
          <p:cNvSpPr/>
          <p:nvPr/>
        </p:nvSpPr>
        <p:spPr>
          <a:xfrm>
            <a:off x="576072" y="1463040"/>
            <a:ext cx="1554480" cy="50292"/>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6928" y="1737360"/>
            <a:ext cx="3535680" cy="1097280"/>
          </a:xfrm>
          <a:prstGeom prst="roundRect">
            <a:avLst>
              <a:gd name="adj" fmla="val 8000"/>
            </a:avLst>
          </a:prstGeom>
          <a:solidFill>
            <a:srgbClr val="244E59"/>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1920240"/>
            <a:ext cx="457200" cy="457200"/>
          </a:xfrm>
          <a:prstGeom prst="ellipse">
            <a:avLst/>
          </a:prstGeom>
          <a:solidFill>
            <a:srgbClr val="14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911095"/>
            <a:ext cx="457200" cy="457200"/>
          </a:xfrm>
          <a:prstGeom prst="rect">
            <a:avLst/>
          </a:prstGeom>
          <a:noFill/>
        </p:spPr>
        <p:txBody>
          <a:bodyPr wrap="square" anchor="ctr" lIns="0" rIns="0" tIns="0" bIns="0">
            <a:spAutoFit/>
          </a:bodyPr>
          <a:lstStyle/>
          <a:p>
            <a:pPr algn="ctr"/>
            <a:r>
              <a:rPr sz="1700" b="1" i="0">
                <a:solidFill>
                  <a:srgbClr val="FFFFFF"/>
                </a:solidFill>
                <a:latin typeface="Segoe UI"/>
              </a:rPr>
              <a:t>1</a:t>
            </a:r>
          </a:p>
        </p:txBody>
      </p:sp>
      <p:sp>
        <p:nvSpPr>
          <p:cNvPr id="13" name="TextBox 12"/>
          <p:cNvSpPr txBox="1"/>
          <p:nvPr/>
        </p:nvSpPr>
        <p:spPr>
          <a:xfrm>
            <a:off x="1344168" y="1865376"/>
            <a:ext cx="2621280" cy="914400"/>
          </a:xfrm>
          <a:prstGeom prst="rect">
            <a:avLst/>
          </a:prstGeom>
          <a:noFill/>
        </p:spPr>
        <p:txBody>
          <a:bodyPr wrap="square" anchor="ctr" lIns="0" rIns="0" tIns="0" bIns="0">
            <a:spAutoFit/>
          </a:bodyPr>
          <a:lstStyle/>
          <a:p>
            <a:pPr algn="l">
              <a:lnSpc>
                <a:spcPct val="95000"/>
              </a:lnSpc>
              <a:spcAft>
                <a:spcPts val="200"/>
              </a:spcAft>
            </a:pPr>
            <a:r>
              <a:rPr sz="1350" b="1" i="0">
                <a:solidFill>
                  <a:srgbClr val="FFFFFF"/>
                </a:solidFill>
                <a:latin typeface="Segoe UI"/>
              </a:rPr>
              <a:t>Evaluated sources</a:t>
            </a:r>
          </a:p>
          <a:p>
            <a:pPr algn="l">
              <a:lnSpc>
                <a:spcPct val="98000"/>
              </a:lnSpc>
            </a:pPr>
            <a:r>
              <a:rPr sz="1050" b="0" i="0">
                <a:solidFill>
                  <a:srgbClr val="B8D9DC"/>
                </a:solidFill>
                <a:latin typeface="Segoe UI"/>
              </a:rPr>
              <a:t>on coastal plastic waste using the five credibility criteria</a:t>
            </a:r>
          </a:p>
        </p:txBody>
      </p:sp>
      <p:sp>
        <p:nvSpPr>
          <p:cNvPr id="14" name="Rounded Rectangle 13"/>
          <p:cNvSpPr/>
          <p:nvPr/>
        </p:nvSpPr>
        <p:spPr>
          <a:xfrm>
            <a:off x="4331208" y="1737360"/>
            <a:ext cx="3535680" cy="1097280"/>
          </a:xfrm>
          <a:prstGeom prst="roundRect">
            <a:avLst>
              <a:gd name="adj" fmla="val 8000"/>
            </a:avLst>
          </a:prstGeom>
          <a:solidFill>
            <a:srgbClr val="244E59"/>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14088" y="1920240"/>
            <a:ext cx="457200" cy="457200"/>
          </a:xfrm>
          <a:prstGeom prst="ellipse">
            <a:avLst/>
          </a:prstGeom>
          <a:solidFill>
            <a:srgbClr val="2B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14088" y="1911095"/>
            <a:ext cx="457200" cy="457200"/>
          </a:xfrm>
          <a:prstGeom prst="rect">
            <a:avLst/>
          </a:prstGeom>
          <a:noFill/>
        </p:spPr>
        <p:txBody>
          <a:bodyPr wrap="square" anchor="ctr" lIns="0" rIns="0" tIns="0" bIns="0">
            <a:spAutoFit/>
          </a:bodyPr>
          <a:lstStyle/>
          <a:p>
            <a:pPr algn="ctr"/>
            <a:r>
              <a:rPr sz="1700" b="1" i="0">
                <a:solidFill>
                  <a:srgbClr val="FFFFFF"/>
                </a:solidFill>
                <a:latin typeface="Segoe UI"/>
              </a:rPr>
              <a:t>2</a:t>
            </a:r>
          </a:p>
        </p:txBody>
      </p:sp>
      <p:sp>
        <p:nvSpPr>
          <p:cNvPr id="17" name="TextBox 16"/>
          <p:cNvSpPr txBox="1"/>
          <p:nvPr/>
        </p:nvSpPr>
        <p:spPr>
          <a:xfrm>
            <a:off x="5108448" y="1865376"/>
            <a:ext cx="2621280" cy="914400"/>
          </a:xfrm>
          <a:prstGeom prst="rect">
            <a:avLst/>
          </a:prstGeom>
          <a:noFill/>
        </p:spPr>
        <p:txBody>
          <a:bodyPr wrap="square" anchor="ctr" lIns="0" rIns="0" tIns="0" bIns="0">
            <a:spAutoFit/>
          </a:bodyPr>
          <a:lstStyle/>
          <a:p>
            <a:pPr algn="l">
              <a:lnSpc>
                <a:spcPct val="95000"/>
              </a:lnSpc>
              <a:spcAft>
                <a:spcPts val="200"/>
              </a:spcAft>
            </a:pPr>
            <a:r>
              <a:rPr sz="1350" b="1" i="0">
                <a:solidFill>
                  <a:srgbClr val="FFFFFF"/>
                </a:solidFill>
                <a:latin typeface="Segoe UI"/>
              </a:rPr>
              <a:t>Synthesized them</a:t>
            </a:r>
          </a:p>
          <a:p>
            <a:pPr algn="l">
              <a:lnSpc>
                <a:spcPct val="98000"/>
              </a:lnSpc>
            </a:pPr>
            <a:r>
              <a:rPr sz="1050" b="0" i="0">
                <a:solidFill>
                  <a:srgbClr val="B8D9DC"/>
                </a:solidFill>
                <a:latin typeface="Segoe UI"/>
              </a:rPr>
              <a:t>into a matrix and structured a quantitative literature review</a:t>
            </a:r>
          </a:p>
        </p:txBody>
      </p:sp>
      <p:sp>
        <p:nvSpPr>
          <p:cNvPr id="18" name="Rounded Rectangle 17"/>
          <p:cNvSpPr/>
          <p:nvPr/>
        </p:nvSpPr>
        <p:spPr>
          <a:xfrm>
            <a:off x="8095488" y="1737360"/>
            <a:ext cx="3535680" cy="1097280"/>
          </a:xfrm>
          <a:prstGeom prst="roundRect">
            <a:avLst>
              <a:gd name="adj" fmla="val 8000"/>
            </a:avLst>
          </a:prstGeom>
          <a:solidFill>
            <a:srgbClr val="244E59"/>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7" y="1920240"/>
            <a:ext cx="457200" cy="45720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7" y="1911095"/>
            <a:ext cx="457200" cy="457200"/>
          </a:xfrm>
          <a:prstGeom prst="rect">
            <a:avLst/>
          </a:prstGeom>
          <a:noFill/>
        </p:spPr>
        <p:txBody>
          <a:bodyPr wrap="square" anchor="ctr" lIns="0" rIns="0" tIns="0" bIns="0">
            <a:spAutoFit/>
          </a:bodyPr>
          <a:lstStyle/>
          <a:p>
            <a:pPr algn="ctr"/>
            <a:r>
              <a:rPr sz="1700" b="1" i="0">
                <a:solidFill>
                  <a:srgbClr val="FFFFFF"/>
                </a:solidFill>
                <a:latin typeface="Segoe UI"/>
              </a:rPr>
              <a:t>3</a:t>
            </a:r>
          </a:p>
        </p:txBody>
      </p:sp>
      <p:sp>
        <p:nvSpPr>
          <p:cNvPr id="21" name="TextBox 20"/>
          <p:cNvSpPr txBox="1"/>
          <p:nvPr/>
        </p:nvSpPr>
        <p:spPr>
          <a:xfrm>
            <a:off x="8872728" y="1865376"/>
            <a:ext cx="2621280" cy="914400"/>
          </a:xfrm>
          <a:prstGeom prst="rect">
            <a:avLst/>
          </a:prstGeom>
          <a:noFill/>
        </p:spPr>
        <p:txBody>
          <a:bodyPr wrap="square" anchor="ctr" lIns="0" rIns="0" tIns="0" bIns="0">
            <a:spAutoFit/>
          </a:bodyPr>
          <a:lstStyle/>
          <a:p>
            <a:pPr algn="l">
              <a:lnSpc>
                <a:spcPct val="95000"/>
              </a:lnSpc>
              <a:spcAft>
                <a:spcPts val="200"/>
              </a:spcAft>
            </a:pPr>
            <a:r>
              <a:rPr sz="1350" b="1" i="0">
                <a:solidFill>
                  <a:srgbClr val="FFFFFF"/>
                </a:solidFill>
                <a:latin typeface="Segoe UI"/>
              </a:rPr>
              <a:t>Formulated a problem</a:t>
            </a:r>
          </a:p>
          <a:p>
            <a:pPr algn="l">
              <a:lnSpc>
                <a:spcPct val="98000"/>
              </a:lnSpc>
            </a:pPr>
            <a:r>
              <a:rPr sz="1050" b="0" i="0">
                <a:solidFill>
                  <a:srgbClr val="B8D9DC"/>
                </a:solidFill>
                <a:latin typeface="Segoe UI"/>
              </a:rPr>
              <a:t>using Gap-Orientation-Impact-Significance and root-cause analysis</a:t>
            </a:r>
          </a:p>
        </p:txBody>
      </p:sp>
      <p:sp>
        <p:nvSpPr>
          <p:cNvPr id="22" name="Rounded Rectangle 21"/>
          <p:cNvSpPr/>
          <p:nvPr/>
        </p:nvSpPr>
        <p:spPr>
          <a:xfrm>
            <a:off x="566928" y="2971800"/>
            <a:ext cx="3535680" cy="1097280"/>
          </a:xfrm>
          <a:prstGeom prst="roundRect">
            <a:avLst>
              <a:gd name="adj" fmla="val 8000"/>
            </a:avLst>
          </a:prstGeom>
          <a:solidFill>
            <a:srgbClr val="244E59"/>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9808" y="3154680"/>
            <a:ext cx="457200" cy="457200"/>
          </a:xfrm>
          <a:prstGeom prst="ellipse">
            <a:avLst/>
          </a:prstGeom>
          <a:solidFill>
            <a:srgbClr val="7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3145536"/>
            <a:ext cx="457200" cy="457200"/>
          </a:xfrm>
          <a:prstGeom prst="rect">
            <a:avLst/>
          </a:prstGeom>
          <a:noFill/>
        </p:spPr>
        <p:txBody>
          <a:bodyPr wrap="square" anchor="ctr" lIns="0" rIns="0" tIns="0" bIns="0">
            <a:spAutoFit/>
          </a:bodyPr>
          <a:lstStyle/>
          <a:p>
            <a:pPr algn="ctr"/>
            <a:r>
              <a:rPr sz="1700" b="1" i="0">
                <a:solidFill>
                  <a:srgbClr val="FFFFFF"/>
                </a:solidFill>
                <a:latin typeface="Segoe UI"/>
              </a:rPr>
              <a:t>4</a:t>
            </a:r>
          </a:p>
        </p:txBody>
      </p:sp>
      <p:sp>
        <p:nvSpPr>
          <p:cNvPr id="25" name="TextBox 24"/>
          <p:cNvSpPr txBox="1"/>
          <p:nvPr/>
        </p:nvSpPr>
        <p:spPr>
          <a:xfrm>
            <a:off x="1344168" y="3099816"/>
            <a:ext cx="2621280" cy="914400"/>
          </a:xfrm>
          <a:prstGeom prst="rect">
            <a:avLst/>
          </a:prstGeom>
          <a:noFill/>
        </p:spPr>
        <p:txBody>
          <a:bodyPr wrap="square" anchor="ctr" lIns="0" rIns="0" tIns="0" bIns="0">
            <a:spAutoFit/>
          </a:bodyPr>
          <a:lstStyle/>
          <a:p>
            <a:pPr algn="l">
              <a:lnSpc>
                <a:spcPct val="95000"/>
              </a:lnSpc>
              <a:spcAft>
                <a:spcPts val="200"/>
              </a:spcAft>
            </a:pPr>
            <a:r>
              <a:rPr sz="1350" b="1" i="0">
                <a:solidFill>
                  <a:srgbClr val="FFFFFF"/>
                </a:solidFill>
                <a:latin typeface="Segoe UI"/>
              </a:rPr>
              <a:t>Developed a question &amp; hypothesis</a:t>
            </a:r>
          </a:p>
          <a:p>
            <a:pPr algn="l">
              <a:lnSpc>
                <a:spcPct val="98000"/>
              </a:lnSpc>
            </a:pPr>
            <a:r>
              <a:rPr sz="1050" b="0" i="0">
                <a:solidFill>
                  <a:srgbClr val="B8D9DC"/>
                </a:solidFill>
                <a:latin typeface="Segoe UI"/>
              </a:rPr>
              <a:t>theory-grounded, naming predictor and outcome variables</a:t>
            </a:r>
          </a:p>
        </p:txBody>
      </p:sp>
      <p:sp>
        <p:nvSpPr>
          <p:cNvPr id="26" name="Rounded Rectangle 25"/>
          <p:cNvSpPr/>
          <p:nvPr/>
        </p:nvSpPr>
        <p:spPr>
          <a:xfrm>
            <a:off x="4331208" y="2971800"/>
            <a:ext cx="3535680" cy="1097280"/>
          </a:xfrm>
          <a:prstGeom prst="roundRect">
            <a:avLst>
              <a:gd name="adj" fmla="val 8000"/>
            </a:avLst>
          </a:prstGeom>
          <a:solidFill>
            <a:srgbClr val="244E59"/>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514088" y="3154680"/>
            <a:ext cx="457200" cy="457200"/>
          </a:xfrm>
          <a:prstGeom prst="ellipse">
            <a:avLst/>
          </a:prstGeom>
          <a:solidFill>
            <a:srgbClr val="438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14088" y="3145536"/>
            <a:ext cx="457200" cy="457200"/>
          </a:xfrm>
          <a:prstGeom prst="rect">
            <a:avLst/>
          </a:prstGeom>
          <a:noFill/>
        </p:spPr>
        <p:txBody>
          <a:bodyPr wrap="square" anchor="ctr" lIns="0" rIns="0" tIns="0" bIns="0">
            <a:spAutoFit/>
          </a:bodyPr>
          <a:lstStyle/>
          <a:p>
            <a:pPr algn="ctr"/>
            <a:r>
              <a:rPr sz="1700" b="1" i="0">
                <a:solidFill>
                  <a:srgbClr val="FFFFFF"/>
                </a:solidFill>
                <a:latin typeface="Segoe UI"/>
              </a:rPr>
              <a:t>5</a:t>
            </a:r>
          </a:p>
        </p:txBody>
      </p:sp>
      <p:sp>
        <p:nvSpPr>
          <p:cNvPr id="29" name="TextBox 28"/>
          <p:cNvSpPr txBox="1"/>
          <p:nvPr/>
        </p:nvSpPr>
        <p:spPr>
          <a:xfrm>
            <a:off x="5108448" y="3099816"/>
            <a:ext cx="2621280" cy="914400"/>
          </a:xfrm>
          <a:prstGeom prst="rect">
            <a:avLst/>
          </a:prstGeom>
          <a:noFill/>
        </p:spPr>
        <p:txBody>
          <a:bodyPr wrap="square" anchor="ctr" lIns="0" rIns="0" tIns="0" bIns="0">
            <a:spAutoFit/>
          </a:bodyPr>
          <a:lstStyle/>
          <a:p>
            <a:pPr algn="l">
              <a:lnSpc>
                <a:spcPct val="95000"/>
              </a:lnSpc>
              <a:spcAft>
                <a:spcPts val="200"/>
              </a:spcAft>
            </a:pPr>
            <a:r>
              <a:rPr sz="1350" b="1" i="0">
                <a:solidFill>
                  <a:srgbClr val="FFFFFF"/>
                </a:solidFill>
                <a:latin typeface="Segoe UI"/>
              </a:rPr>
              <a:t>Justified the problem</a:t>
            </a:r>
          </a:p>
          <a:p>
            <a:pPr algn="l">
              <a:lnSpc>
                <a:spcPct val="98000"/>
              </a:lnSpc>
            </a:pPr>
            <a:r>
              <a:rPr sz="1050" b="0" i="0">
                <a:solidFill>
                  <a:srgbClr val="B8D9DC"/>
                </a:solidFill>
                <a:latin typeface="Segoe UI"/>
              </a:rPr>
              <a:t>using a Claim-Evidence-Reasoning argument</a:t>
            </a:r>
          </a:p>
        </p:txBody>
      </p:sp>
      <p:sp>
        <p:nvSpPr>
          <p:cNvPr id="30" name="Rounded Rectangle 29"/>
          <p:cNvSpPr/>
          <p:nvPr/>
        </p:nvSpPr>
        <p:spPr>
          <a:xfrm>
            <a:off x="8095488" y="2971800"/>
            <a:ext cx="3535680" cy="1097280"/>
          </a:xfrm>
          <a:prstGeom prst="roundRect">
            <a:avLst>
              <a:gd name="adj" fmla="val 8000"/>
            </a:avLst>
          </a:prstGeom>
          <a:solidFill>
            <a:srgbClr val="244E59"/>
          </a:solidFill>
          <a:ln>
            <a:noFill/>
          </a:ln>
          <a:effectLst>
            <a:outerShdw blurRad="64008" dist="41148" dir="5400000" rotWithShape="0">
              <a:srgbClr val="1E2A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278367" y="3154680"/>
            <a:ext cx="457200" cy="45720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8367" y="3145536"/>
            <a:ext cx="457200" cy="457200"/>
          </a:xfrm>
          <a:prstGeom prst="rect">
            <a:avLst/>
          </a:prstGeom>
          <a:noFill/>
        </p:spPr>
        <p:txBody>
          <a:bodyPr wrap="square" anchor="ctr" lIns="0" rIns="0" tIns="0" bIns="0">
            <a:spAutoFit/>
          </a:bodyPr>
          <a:lstStyle/>
          <a:p>
            <a:pPr algn="ctr"/>
            <a:r>
              <a:rPr sz="1700" b="1" i="0">
                <a:solidFill>
                  <a:srgbClr val="FFFFFF"/>
                </a:solidFill>
                <a:latin typeface="Segoe UI"/>
              </a:rPr>
              <a:t>6</a:t>
            </a:r>
          </a:p>
        </p:txBody>
      </p:sp>
      <p:sp>
        <p:nvSpPr>
          <p:cNvPr id="33" name="TextBox 32"/>
          <p:cNvSpPr txBox="1"/>
          <p:nvPr/>
        </p:nvSpPr>
        <p:spPr>
          <a:xfrm>
            <a:off x="8872728" y="3099816"/>
            <a:ext cx="2621280" cy="914400"/>
          </a:xfrm>
          <a:prstGeom prst="rect">
            <a:avLst/>
          </a:prstGeom>
          <a:noFill/>
        </p:spPr>
        <p:txBody>
          <a:bodyPr wrap="square" anchor="ctr" lIns="0" rIns="0" tIns="0" bIns="0">
            <a:spAutoFit/>
          </a:bodyPr>
          <a:lstStyle/>
          <a:p>
            <a:pPr algn="l">
              <a:lnSpc>
                <a:spcPct val="95000"/>
              </a:lnSpc>
              <a:spcAft>
                <a:spcPts val="200"/>
              </a:spcAft>
            </a:pPr>
            <a:r>
              <a:rPr sz="1350" b="1" i="0">
                <a:solidFill>
                  <a:srgbClr val="FFFFFF"/>
                </a:solidFill>
                <a:latin typeface="Segoe UI"/>
              </a:rPr>
              <a:t>Named assumptions</a:t>
            </a:r>
          </a:p>
          <a:p>
            <a:pPr algn="l">
              <a:lnSpc>
                <a:spcPct val="98000"/>
              </a:lnSpc>
            </a:pPr>
            <a:r>
              <a:rPr sz="1050" b="0" i="0">
                <a:solidFill>
                  <a:srgbClr val="B8D9DC"/>
                </a:solidFill>
                <a:latin typeface="Segoe UI"/>
              </a:rPr>
              <a:t>and categorized the study's limitations</a:t>
            </a:r>
          </a:p>
        </p:txBody>
      </p:sp>
      <p:sp>
        <p:nvSpPr>
          <p:cNvPr id="34" name="Rounded Rectangle 33"/>
          <p:cNvSpPr/>
          <p:nvPr/>
        </p:nvSpPr>
        <p:spPr>
          <a:xfrm>
            <a:off x="566928" y="4297680"/>
            <a:ext cx="11064240" cy="868680"/>
          </a:xfrm>
          <a:prstGeom prst="roundRect">
            <a:avLst/>
          </a:prstGeom>
          <a:solidFill>
            <a:srgbClr val="2E56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66928" y="4297680"/>
            <a:ext cx="100584" cy="868680"/>
          </a:xfrm>
          <a:prstGeom prst="round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4297680"/>
            <a:ext cx="10515600" cy="868680"/>
          </a:xfrm>
          <a:prstGeom prst="rect">
            <a:avLst/>
          </a:prstGeom>
          <a:noFill/>
        </p:spPr>
        <p:txBody>
          <a:bodyPr wrap="square" anchor="ctr" lIns="0" rIns="0" tIns="0" bIns="0">
            <a:spAutoFit/>
          </a:bodyPr>
          <a:lstStyle/>
          <a:p>
            <a:pPr algn="l">
              <a:lnSpc>
                <a:spcPct val="103000"/>
              </a:lnSpc>
            </a:pPr>
            <a:r>
              <a:rPr sz="1350" b="0" i="1">
                <a:solidFill>
                  <a:srgbClr val="FFFFFF"/>
                </a:solidFill>
                <a:latin typeface="Segoe UI"/>
              </a:rPr>
              <a:t>...and one dengue scenario your own pair carried through narrowing, root-cause digging, a full problem statement, a hypothesis, and a CER argument - start to finish.</a:t>
            </a:r>
          </a:p>
        </p:txBody>
      </p:sp>
      <p:sp>
        <p:nvSpPr>
          <p:cNvPr id="37" name="TextBox 36"/>
          <p:cNvSpPr txBox="1"/>
          <p:nvPr/>
        </p:nvSpPr>
        <p:spPr>
          <a:xfrm>
            <a:off x="566928" y="6172200"/>
            <a:ext cx="10515600" cy="365760"/>
          </a:xfrm>
          <a:prstGeom prst="rect">
            <a:avLst/>
          </a:prstGeom>
          <a:noFill/>
        </p:spPr>
        <p:txBody>
          <a:bodyPr wrap="square" anchor="t" lIns="0" rIns="0" tIns="0" bIns="0">
            <a:spAutoFit/>
          </a:bodyPr>
          <a:lstStyle/>
          <a:p>
            <a:pPr algn="l"/>
            <a:r>
              <a:rPr sz="1100" b="0" i="1">
                <a:solidFill>
                  <a:srgbClr val="FFFFFF"/>
                </a:solidFill>
                <a:latin typeface="Segoe UI"/>
              </a:rPr>
              <a:t>Lecture 3  -  Review of Literature for Identifying Research Problems  |  Competencies 11-16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