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302" r:id="rId3"/>
    <p:sldId id="258" r:id="rId4"/>
    <p:sldId id="259" r:id="rId5"/>
    <p:sldId id="273" r:id="rId6"/>
    <p:sldId id="274" r:id="rId7"/>
    <p:sldId id="275" r:id="rId8"/>
    <p:sldId id="299" r:id="rId9"/>
    <p:sldId id="296" r:id="rId10"/>
    <p:sldId id="30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6309"/>
    <a:srgbClr val="F9770B"/>
    <a:srgbClr val="E86C06"/>
    <a:srgbClr val="1073A4"/>
    <a:srgbClr val="060BE0"/>
    <a:srgbClr val="FCC292"/>
    <a:srgbClr val="FFFFFF"/>
    <a:srgbClr val="F99039"/>
    <a:srgbClr val="B45404"/>
    <a:srgbClr val="FB9F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154" autoAdjust="0"/>
    <p:restoredTop sz="77332" autoAdjust="0"/>
  </p:normalViewPr>
  <p:slideViewPr>
    <p:cSldViewPr snapToGrid="0">
      <p:cViewPr>
        <p:scale>
          <a:sx n="83" d="100"/>
          <a:sy n="83" d="100"/>
        </p:scale>
        <p:origin x="568" y="96"/>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BDEB12-848A-48B3-80BD-990890B8E47A}" type="datetimeFigureOut">
              <a:rPr lang="en-PH" smtClean="0"/>
              <a:t>7/9/26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2ACC9D-5E71-4A03-BD88-EA7951E000A5}" type="slidenum">
              <a:rPr lang="en-PH" smtClean="0"/>
              <a:t>‹#›</a:t>
            </a:fld>
            <a:endParaRPr lang="en-PH"/>
          </a:p>
        </p:txBody>
      </p:sp>
    </p:spTree>
    <p:extLst>
      <p:ext uri="{BB962C8B-B14F-4D97-AF65-F5344CB8AC3E}">
        <p14:creationId xmlns:p14="http://schemas.microsoft.com/office/powerpoint/2010/main" val="2381578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khanacademy.org/science/hs-chemistry/x2613d8165d88df5e:stoichiometry-and-the-mole/x2613d8165d88df5e:moles-and-molar-mass/a/scientific-notation-review"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www.youtube.com/watch?v=pbPXxMsbDNA" TargetMode="External"/><Relationship Id="rId5" Type="http://schemas.openxmlformats.org/officeDocument/2006/relationships/hyperlink" Target="https://www.britannica.com/science/scientific-notation" TargetMode="External"/><Relationship Id="rId4" Type="http://schemas.openxmlformats.org/officeDocument/2006/relationships/hyperlink" Target="https://teachwithmovies.org/powers-of-ten-or-cosmic-voyage/"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1E2ACC9D-5E71-4A03-BD88-EA7951E000A5}" type="slidenum">
              <a:rPr lang="en-PH" smtClean="0"/>
              <a:t>1</a:t>
            </a:fld>
            <a:endParaRPr lang="en-PH"/>
          </a:p>
        </p:txBody>
      </p:sp>
    </p:spTree>
    <p:extLst>
      <p:ext uri="{BB962C8B-B14F-4D97-AF65-F5344CB8AC3E}">
        <p14:creationId xmlns:p14="http://schemas.microsoft.com/office/powerpoint/2010/main" val="16636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Welcome, everyone. Before we can analyze how things move, we must establish a rigorous language for measurement. In physics, if we cannot measure it, we cannot model it. We call these measurable characteristics physical quantities. Think of it this way: a smartphone screen has a physical width, a physical weight, and a physical battery capacity you can read in digits. But how "cool" or "trendy" the phone is cannot be measured by any instrument—meaning it cannot be used in a physics equation.</a:t>
            </a:r>
            <a:endParaRPr lang="en-PH" b="1" dirty="0"/>
          </a:p>
        </p:txBody>
      </p:sp>
      <p:sp>
        <p:nvSpPr>
          <p:cNvPr id="4" name="Slide Number Placeholder 3"/>
          <p:cNvSpPr>
            <a:spLocks noGrp="1"/>
          </p:cNvSpPr>
          <p:nvPr>
            <p:ph type="sldNum" sz="quarter" idx="5"/>
          </p:nvPr>
        </p:nvSpPr>
        <p:spPr/>
        <p:txBody>
          <a:bodyPr/>
          <a:lstStyle/>
          <a:p>
            <a:fld id="{1E2ACC9D-5E71-4A03-BD88-EA7951E000A5}" type="slidenum">
              <a:rPr lang="en-PH" smtClean="0"/>
              <a:t>4</a:t>
            </a:fld>
            <a:endParaRPr lang="en-PH"/>
          </a:p>
        </p:txBody>
      </p:sp>
    </p:spTree>
    <p:extLst>
      <p:ext uri="{BB962C8B-B14F-4D97-AF65-F5344CB8AC3E}">
        <p14:creationId xmlns:p14="http://schemas.microsoft.com/office/powerpoint/2010/main" val="302945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5D65A-961D-C513-0D2C-464BE2C9B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0F5294-8706-5C94-70A9-6728CBBAC3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1F3768-5DD6-765B-0B24-BE1F6997E8AE}"/>
              </a:ext>
            </a:extLst>
          </p:cNvPr>
          <p:cNvSpPr>
            <a:spLocks noGrp="1"/>
          </p:cNvSpPr>
          <p:nvPr>
            <p:ph type="body" idx="1"/>
          </p:nvPr>
        </p:nvSpPr>
        <p:spPr/>
        <p:txBody>
          <a:bodyPr/>
          <a:lstStyle/>
          <a:p>
            <a:r>
              <a:rPr lang="en-PH" dirty="0"/>
              <a:t>To ensure that a laboratory experiment conducted here yields the exact same calculated results as one conducted across the globe, the scientific community relies on the SI system. For our study of motion, we only need to worry about three absolute baselines: the meter for space, the kilogram for matter, and the second for time. To help build an intuition for these values, our textbook lists handy real-world benchmarks. A football field is around 91 meters long, an adult human has a mass around 100 kilograms, and a single normal human heartbeat takes just under one second. </a:t>
            </a:r>
          </a:p>
        </p:txBody>
      </p:sp>
      <p:sp>
        <p:nvSpPr>
          <p:cNvPr id="4" name="Slide Number Placeholder 3">
            <a:extLst>
              <a:ext uri="{FF2B5EF4-FFF2-40B4-BE49-F238E27FC236}">
                <a16:creationId xmlns:a16="http://schemas.microsoft.com/office/drawing/2014/main" id="{8F4E5E0F-5C14-2314-6EC6-0A2591163A0E}"/>
              </a:ext>
            </a:extLst>
          </p:cNvPr>
          <p:cNvSpPr>
            <a:spLocks noGrp="1"/>
          </p:cNvSpPr>
          <p:nvPr>
            <p:ph type="sldNum" sz="quarter" idx="5"/>
          </p:nvPr>
        </p:nvSpPr>
        <p:spPr/>
        <p:txBody>
          <a:bodyPr/>
          <a:lstStyle/>
          <a:p>
            <a:fld id="{1E2ACC9D-5E71-4A03-BD88-EA7951E000A5}" type="slidenum">
              <a:rPr lang="en-PH" smtClean="0"/>
              <a:t>5</a:t>
            </a:fld>
            <a:endParaRPr lang="en-PH"/>
          </a:p>
        </p:txBody>
      </p:sp>
    </p:spTree>
    <p:extLst>
      <p:ext uri="{BB962C8B-B14F-4D97-AF65-F5344CB8AC3E}">
        <p14:creationId xmlns:p14="http://schemas.microsoft.com/office/powerpoint/2010/main" val="31577590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0155C-534B-AA2B-D39B-266AC254C1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DB606C-98F1-0A90-36A0-F245133BB1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E4C587-723A-C1D4-37FD-EAD6A7F702CF}"/>
              </a:ext>
            </a:extLst>
          </p:cNvPr>
          <p:cNvSpPr>
            <a:spLocks noGrp="1"/>
          </p:cNvSpPr>
          <p:nvPr>
            <p:ph type="body" idx="1"/>
          </p:nvPr>
        </p:nvSpPr>
        <p:spPr/>
        <p:txBody>
          <a:bodyPr/>
          <a:lstStyle/>
          <a:p>
            <a:r>
              <a:rPr lang="en-PH" dirty="0"/>
              <a:t>Physics handles everything from the scale of the cosmos to subatomic particles. To manage these shifts in scale without writing endless rows of zeros, we use standard metric prefixes and scientific notation. When solving problems, treating prefixes as simple multipliers—like swapping the letter 'k' for 'times ten to the third power'—saves you from making easy arithmetic slip-ups.</a:t>
            </a:r>
          </a:p>
          <a:p>
            <a:endParaRPr lang="en-PH" dirty="0"/>
          </a:p>
          <a:p>
            <a:r>
              <a:rPr lang="en-PH" sz="1200" b="1" u="none" strike="noStrike" kern="1200" dirty="0">
                <a:solidFill>
                  <a:schemeClr val="tx1"/>
                </a:solidFill>
                <a:effectLst/>
                <a:latin typeface="+mn-lt"/>
                <a:ea typeface="+mn-ea"/>
                <a:cs typeface="+mn-cs"/>
              </a:rPr>
              <a:t>For numbers \(\</a:t>
            </a:r>
            <a:r>
              <a:rPr lang="en-PH" sz="1200" b="1" u="none" strike="noStrike" kern="1200" dirty="0" err="1">
                <a:solidFill>
                  <a:schemeClr val="tx1"/>
                </a:solidFill>
                <a:effectLst/>
                <a:latin typeface="+mn-lt"/>
                <a:ea typeface="+mn-ea"/>
                <a:cs typeface="+mn-cs"/>
              </a:rPr>
              <a:t>ge</a:t>
            </a:r>
            <a:r>
              <a:rPr lang="en-PH" sz="1200" b="1" u="none" strike="noStrike" kern="1200" dirty="0">
                <a:solidFill>
                  <a:schemeClr val="tx1"/>
                </a:solidFill>
                <a:effectLst/>
                <a:latin typeface="+mn-lt"/>
                <a:ea typeface="+mn-ea"/>
                <a:cs typeface="+mn-cs"/>
              </a:rPr>
              <a:t> 10\):</a:t>
            </a:r>
            <a:r>
              <a:rPr lang="en-PH" sz="1200" b="0" u="none" strike="noStrike" kern="1200" dirty="0">
                <a:solidFill>
                  <a:schemeClr val="tx1"/>
                </a:solidFill>
                <a:effectLst/>
                <a:latin typeface="+mn-lt"/>
                <a:ea typeface="+mn-ea"/>
                <a:cs typeface="+mn-cs"/>
              </a:rPr>
              <a:t> Move the decimal point to the </a:t>
            </a:r>
            <a:r>
              <a:rPr lang="en-PH" sz="1200" b="1" u="none" strike="noStrike" kern="1200" dirty="0">
                <a:solidFill>
                  <a:schemeClr val="tx1"/>
                </a:solidFill>
                <a:effectLst/>
                <a:latin typeface="+mn-lt"/>
                <a:ea typeface="+mn-ea"/>
                <a:cs typeface="+mn-cs"/>
              </a:rPr>
              <a:t>left</a:t>
            </a:r>
            <a:r>
              <a:rPr lang="en-PH" sz="1200" b="0" u="none" strike="noStrike" kern="1200" dirty="0">
                <a:solidFill>
                  <a:schemeClr val="tx1"/>
                </a:solidFill>
                <a:effectLst/>
                <a:latin typeface="+mn-lt"/>
                <a:ea typeface="+mn-ea"/>
                <a:cs typeface="+mn-cs"/>
              </a:rPr>
              <a:t> until the coefficient is between \(1\) and \(10\). The exponent becomes </a:t>
            </a:r>
            <a:r>
              <a:rPr lang="en-PH" sz="1200" b="1" u="none" strike="noStrike" kern="1200" dirty="0">
                <a:solidFill>
                  <a:schemeClr val="tx1"/>
                </a:solidFill>
                <a:effectLst/>
                <a:latin typeface="+mn-lt"/>
                <a:ea typeface="+mn-ea"/>
                <a:cs typeface="+mn-cs"/>
              </a:rPr>
              <a:t>positive</a:t>
            </a:r>
            <a:r>
              <a:rPr lang="en-PH" sz="1200" b="0" u="none" strike="noStrike" kern="1200" dirty="0">
                <a:solidFill>
                  <a:schemeClr val="tx1"/>
                </a:solidFill>
                <a:effectLst/>
                <a:latin typeface="+mn-lt"/>
                <a:ea typeface="+mn-ea"/>
                <a:cs typeface="+mn-cs"/>
              </a:rPr>
              <a:t> and equals the number of places the decimal </a:t>
            </a:r>
            <a:r>
              <a:rPr lang="en-PH" sz="1200" b="0" u="none" strike="noStrike" kern="1200" dirty="0" err="1">
                <a:solidFill>
                  <a:schemeClr val="tx1"/>
                </a:solidFill>
                <a:effectLst/>
                <a:latin typeface="+mn-lt"/>
                <a:ea typeface="+mn-ea"/>
                <a:cs typeface="+mn-cs"/>
              </a:rPr>
              <a:t>moved.</a:t>
            </a:r>
            <a:r>
              <a:rPr lang="en-PH" sz="1200" b="0" i="1" u="none" strike="noStrike" kern="1200" dirty="0" err="1">
                <a:solidFill>
                  <a:schemeClr val="tx1"/>
                </a:solidFill>
                <a:effectLst/>
                <a:latin typeface="+mn-lt"/>
                <a:ea typeface="+mn-ea"/>
                <a:cs typeface="+mn-cs"/>
              </a:rPr>
              <a:t>Example</a:t>
            </a:r>
            <a:r>
              <a:rPr lang="en-PH" sz="1200" b="0" i="1" u="none" strike="noStrike" kern="1200" dirty="0">
                <a:solidFill>
                  <a:schemeClr val="tx1"/>
                </a:solidFill>
                <a:effectLst/>
                <a:latin typeface="+mn-lt"/>
                <a:ea typeface="+mn-ea"/>
                <a:cs typeface="+mn-cs"/>
              </a:rPr>
              <a:t>:</a:t>
            </a:r>
            <a:r>
              <a:rPr lang="en-PH" sz="1200" b="0" u="none" strike="noStrike" kern="1200" dirty="0">
                <a:solidFill>
                  <a:schemeClr val="tx1"/>
                </a:solidFill>
                <a:effectLst/>
                <a:latin typeface="+mn-lt"/>
                <a:ea typeface="+mn-ea"/>
                <a:cs typeface="+mn-cs"/>
              </a:rPr>
              <a:t> \(12,300\) becomes \(1.23 \times 10^4\) [</a:t>
            </a:r>
            <a:r>
              <a:rPr lang="en-PH" sz="1200" b="0" u="none" strike="noStrike" kern="1200" dirty="0">
                <a:solidFill>
                  <a:schemeClr val="tx1"/>
                </a:solidFill>
                <a:effectLst/>
                <a:latin typeface="+mn-lt"/>
                <a:ea typeface="+mn-ea"/>
                <a:cs typeface="+mn-cs"/>
                <a:hlinkClick r:id="rId3"/>
              </a:rPr>
              <a:t>1</a:t>
            </a:r>
            <a:r>
              <a:rPr lang="en-PH" sz="1200" b="0" u="none" strike="noStrike" kern="1200" dirty="0">
                <a:solidFill>
                  <a:schemeClr val="tx1"/>
                </a:solidFill>
                <a:effectLst/>
                <a:latin typeface="+mn-lt"/>
                <a:ea typeface="+mn-ea"/>
                <a:cs typeface="+mn-cs"/>
              </a:rPr>
              <a:t>, </a:t>
            </a:r>
            <a:r>
              <a:rPr lang="en-PH" sz="1200" b="0" u="none" strike="noStrike" kern="1200" dirty="0">
                <a:solidFill>
                  <a:schemeClr val="tx1"/>
                </a:solidFill>
                <a:effectLst/>
                <a:latin typeface="+mn-lt"/>
                <a:ea typeface="+mn-ea"/>
                <a:cs typeface="+mn-cs"/>
                <a:hlinkClick r:id="rId4"/>
              </a:rPr>
              <a:t>2</a:t>
            </a:r>
            <a:r>
              <a:rPr lang="en-PH" sz="1200" b="0" u="none" strike="noStrike" kern="1200" dirty="0">
                <a:solidFill>
                  <a:schemeClr val="tx1"/>
                </a:solidFill>
                <a:effectLst/>
                <a:latin typeface="+mn-lt"/>
                <a:ea typeface="+mn-ea"/>
                <a:cs typeface="+mn-cs"/>
              </a:rPr>
              <a:t>]</a:t>
            </a:r>
          </a:p>
          <a:p>
            <a:r>
              <a:rPr lang="en-PH" sz="1200" b="1" u="none" strike="noStrike" kern="1200" dirty="0">
                <a:solidFill>
                  <a:schemeClr val="tx1"/>
                </a:solidFill>
                <a:effectLst/>
                <a:latin typeface="+mn-lt"/>
                <a:ea typeface="+mn-ea"/>
                <a:cs typeface="+mn-cs"/>
              </a:rPr>
              <a:t>For numbers \(&lt;1\):</a:t>
            </a:r>
            <a:r>
              <a:rPr lang="en-PH" sz="1200" b="0" u="none" strike="noStrike" kern="1200" dirty="0">
                <a:solidFill>
                  <a:schemeClr val="tx1"/>
                </a:solidFill>
                <a:effectLst/>
                <a:latin typeface="+mn-lt"/>
                <a:ea typeface="+mn-ea"/>
                <a:cs typeface="+mn-cs"/>
              </a:rPr>
              <a:t> Move the decimal point to the </a:t>
            </a:r>
            <a:r>
              <a:rPr lang="en-PH" sz="1200" b="1" u="none" strike="noStrike" kern="1200" dirty="0">
                <a:solidFill>
                  <a:schemeClr val="tx1"/>
                </a:solidFill>
                <a:effectLst/>
                <a:latin typeface="+mn-lt"/>
                <a:ea typeface="+mn-ea"/>
                <a:cs typeface="+mn-cs"/>
              </a:rPr>
              <a:t>right</a:t>
            </a:r>
            <a:r>
              <a:rPr lang="en-PH" sz="1200" b="0" u="none" strike="noStrike" kern="1200" dirty="0">
                <a:solidFill>
                  <a:schemeClr val="tx1"/>
                </a:solidFill>
                <a:effectLst/>
                <a:latin typeface="+mn-lt"/>
                <a:ea typeface="+mn-ea"/>
                <a:cs typeface="+mn-cs"/>
              </a:rPr>
              <a:t> until the coefficient is between \(1\) and \(10\). The exponent becomes </a:t>
            </a:r>
            <a:r>
              <a:rPr lang="en-PH" sz="1200" b="1" u="none" strike="noStrike" kern="1200" dirty="0">
                <a:solidFill>
                  <a:schemeClr val="tx1"/>
                </a:solidFill>
                <a:effectLst/>
                <a:latin typeface="+mn-lt"/>
                <a:ea typeface="+mn-ea"/>
                <a:cs typeface="+mn-cs"/>
              </a:rPr>
              <a:t>negative</a:t>
            </a:r>
            <a:r>
              <a:rPr lang="en-PH" sz="1200" b="0" u="none" strike="noStrike" kern="1200" dirty="0">
                <a:solidFill>
                  <a:schemeClr val="tx1"/>
                </a:solidFill>
                <a:effectLst/>
                <a:latin typeface="+mn-lt"/>
                <a:ea typeface="+mn-ea"/>
                <a:cs typeface="+mn-cs"/>
              </a:rPr>
              <a:t> and equals the number of places the decimal </a:t>
            </a:r>
            <a:r>
              <a:rPr lang="en-PH" sz="1200" b="0" u="none" strike="noStrike" kern="1200" dirty="0" err="1">
                <a:solidFill>
                  <a:schemeClr val="tx1"/>
                </a:solidFill>
                <a:effectLst/>
                <a:latin typeface="+mn-lt"/>
                <a:ea typeface="+mn-ea"/>
                <a:cs typeface="+mn-cs"/>
              </a:rPr>
              <a:t>moved.</a:t>
            </a:r>
            <a:r>
              <a:rPr lang="en-PH" sz="1200" b="0" i="1" u="none" strike="noStrike" kern="1200" dirty="0" err="1">
                <a:solidFill>
                  <a:schemeClr val="tx1"/>
                </a:solidFill>
                <a:effectLst/>
                <a:latin typeface="+mn-lt"/>
                <a:ea typeface="+mn-ea"/>
                <a:cs typeface="+mn-cs"/>
              </a:rPr>
              <a:t>Example</a:t>
            </a:r>
            <a:r>
              <a:rPr lang="en-PH" sz="1200" b="0" i="1" u="none" strike="noStrike" kern="1200" dirty="0">
                <a:solidFill>
                  <a:schemeClr val="tx1"/>
                </a:solidFill>
                <a:effectLst/>
                <a:latin typeface="+mn-lt"/>
                <a:ea typeface="+mn-ea"/>
                <a:cs typeface="+mn-cs"/>
              </a:rPr>
              <a:t>:</a:t>
            </a:r>
            <a:r>
              <a:rPr lang="en-PH" sz="1200" b="0" u="none" strike="noStrike" kern="1200" dirty="0">
                <a:solidFill>
                  <a:schemeClr val="tx1"/>
                </a:solidFill>
                <a:effectLst/>
                <a:latin typeface="+mn-lt"/>
                <a:ea typeface="+mn-ea"/>
                <a:cs typeface="+mn-cs"/>
              </a:rPr>
              <a:t> \(0.0045\) becomes \(4.5 \times 10^{-3}\) [</a:t>
            </a:r>
            <a:r>
              <a:rPr lang="en-PH" sz="1200" b="0" u="none" strike="noStrike" kern="1200" dirty="0">
                <a:solidFill>
                  <a:schemeClr val="tx1"/>
                </a:solidFill>
                <a:effectLst/>
                <a:latin typeface="+mn-lt"/>
                <a:ea typeface="+mn-ea"/>
                <a:cs typeface="+mn-cs"/>
                <a:hlinkClick r:id="rId5"/>
              </a:rPr>
              <a:t>1</a:t>
            </a:r>
            <a:r>
              <a:rPr lang="en-PH" sz="1200" b="0" u="none" strike="noStrike" kern="1200" dirty="0">
                <a:solidFill>
                  <a:schemeClr val="tx1"/>
                </a:solidFill>
                <a:effectLst/>
                <a:latin typeface="+mn-lt"/>
                <a:ea typeface="+mn-ea"/>
                <a:cs typeface="+mn-cs"/>
              </a:rPr>
              <a:t>, </a:t>
            </a:r>
            <a:r>
              <a:rPr lang="en-PH" sz="1200" b="0" u="none" strike="noStrike" kern="1200" dirty="0">
                <a:solidFill>
                  <a:schemeClr val="tx1"/>
                </a:solidFill>
                <a:effectLst/>
                <a:latin typeface="+mn-lt"/>
                <a:ea typeface="+mn-ea"/>
                <a:cs typeface="+mn-cs"/>
                <a:hlinkClick r:id="rId6"/>
              </a:rPr>
              <a:t>2</a:t>
            </a:r>
            <a:r>
              <a:rPr lang="en-PH" sz="1200" b="0" u="none" strike="noStrike" kern="1200" dirty="0">
                <a:solidFill>
                  <a:schemeClr val="tx1"/>
                </a:solidFill>
                <a:effectLst/>
                <a:latin typeface="+mn-lt"/>
                <a:ea typeface="+mn-ea"/>
                <a:cs typeface="+mn-cs"/>
              </a:rPr>
              <a:t>]</a:t>
            </a:r>
          </a:p>
          <a:p>
            <a:endParaRPr lang="en-PH" dirty="0"/>
          </a:p>
        </p:txBody>
      </p:sp>
      <p:sp>
        <p:nvSpPr>
          <p:cNvPr id="4" name="Slide Number Placeholder 3">
            <a:extLst>
              <a:ext uri="{FF2B5EF4-FFF2-40B4-BE49-F238E27FC236}">
                <a16:creationId xmlns:a16="http://schemas.microsoft.com/office/drawing/2014/main" id="{CEAEDA02-C973-810F-F569-8E972FBAC24D}"/>
              </a:ext>
            </a:extLst>
          </p:cNvPr>
          <p:cNvSpPr>
            <a:spLocks noGrp="1"/>
          </p:cNvSpPr>
          <p:nvPr>
            <p:ph type="sldNum" sz="quarter" idx="5"/>
          </p:nvPr>
        </p:nvSpPr>
        <p:spPr/>
        <p:txBody>
          <a:bodyPr/>
          <a:lstStyle/>
          <a:p>
            <a:fld id="{1E2ACC9D-5E71-4A03-BD88-EA7951E000A5}" type="slidenum">
              <a:rPr lang="en-PH" smtClean="0"/>
              <a:t>6</a:t>
            </a:fld>
            <a:endParaRPr lang="en-PH"/>
          </a:p>
        </p:txBody>
      </p:sp>
    </p:spTree>
    <p:extLst>
      <p:ext uri="{BB962C8B-B14F-4D97-AF65-F5344CB8AC3E}">
        <p14:creationId xmlns:p14="http://schemas.microsoft.com/office/powerpoint/2010/main" val="3450497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437F3-ED82-ABBC-B2E2-E6F0F241F9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1B7DA9-57C3-E7DF-40E3-4F37942384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FFE822-5F71-1C38-FCAA-7DAB85D5A768}"/>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8030316F-F86D-8DB9-18CF-D9C4583821F7}"/>
              </a:ext>
            </a:extLst>
          </p:cNvPr>
          <p:cNvSpPr>
            <a:spLocks noGrp="1"/>
          </p:cNvSpPr>
          <p:nvPr>
            <p:ph type="sldNum" sz="quarter" idx="5"/>
          </p:nvPr>
        </p:nvSpPr>
        <p:spPr/>
        <p:txBody>
          <a:bodyPr/>
          <a:lstStyle/>
          <a:p>
            <a:fld id="{1E2ACC9D-5E71-4A03-BD88-EA7951E000A5}" type="slidenum">
              <a:rPr lang="en-PH" smtClean="0"/>
              <a:t>7</a:t>
            </a:fld>
            <a:endParaRPr lang="en-PH"/>
          </a:p>
        </p:txBody>
      </p:sp>
    </p:spTree>
    <p:extLst>
      <p:ext uri="{BB962C8B-B14F-4D97-AF65-F5344CB8AC3E}">
        <p14:creationId xmlns:p14="http://schemas.microsoft.com/office/powerpoint/2010/main" val="1787354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D2701-255B-D39E-6234-3E45B7854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B661E2-7248-80CB-CEE9-F529D3480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4AA821-1E90-6545-D7D1-395F4B6C9986}"/>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F77811FB-6DAA-B1C0-50D9-9E33FEE8BDC0}"/>
              </a:ext>
            </a:extLst>
          </p:cNvPr>
          <p:cNvSpPr>
            <a:spLocks noGrp="1"/>
          </p:cNvSpPr>
          <p:nvPr>
            <p:ph type="sldNum" sz="quarter" idx="5"/>
          </p:nvPr>
        </p:nvSpPr>
        <p:spPr/>
        <p:txBody>
          <a:bodyPr/>
          <a:lstStyle/>
          <a:p>
            <a:fld id="{1E2ACC9D-5E71-4A03-BD88-EA7951E000A5}" type="slidenum">
              <a:rPr lang="en-PH" smtClean="0"/>
              <a:t>8</a:t>
            </a:fld>
            <a:endParaRPr lang="en-PH"/>
          </a:p>
        </p:txBody>
      </p:sp>
    </p:spTree>
    <p:extLst>
      <p:ext uri="{BB962C8B-B14F-4D97-AF65-F5344CB8AC3E}">
        <p14:creationId xmlns:p14="http://schemas.microsoft.com/office/powerpoint/2010/main" val="42538742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9D0D6-3E3E-BD9C-2DFE-9A8D517D3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AC745D-7A11-93C4-9FFA-8A1E17F530B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0A8DCF5-3627-9966-23FC-8C64DC3EB958}"/>
                  </a:ext>
                </a:extLst>
              </p:cNvPr>
              <p:cNvSpPr>
                <a:spLocks noGrp="1"/>
              </p:cNvSpPr>
              <p:nvPr>
                <p:ph type="body" idx="1"/>
              </p:nvPr>
            </p:nvSpPr>
            <p:spPr/>
            <p:txBody>
              <a:bodyPr/>
              <a:lstStyle/>
              <a:p>
                <a:r>
                  <a:rPr lang="en-PH" b="0" dirty="0"/>
                  <a:t>85 mi/h,</a:t>
                </a:r>
              </a:p>
              <a:p>
                <a:r>
                  <a:rPr lang="en-PH" sz="1200" b="0" i="0" kern="1200" dirty="0">
                    <a:solidFill>
                      <a:schemeClr val="tx1"/>
                    </a:solidFill>
                    <a:effectLst/>
                    <a:latin typeface="+mn-lt"/>
                    <a:ea typeface="+mn-ea"/>
                    <a:cs typeface="+mn-cs"/>
                  </a:rPr>
                  <a:t>The driver is indeed exceeding the speed limit and should slow down</a:t>
                </a:r>
                <a:r>
                  <a:rPr lang="en-PH" dirty="0"/>
                  <a:t> </a:t>
                </a:r>
                <a:br>
                  <a:rPr lang="en-PH" dirty="0"/>
                </a:br>
                <a:endParaRPr lang="en-PH" b="0" dirty="0"/>
              </a:p>
            </p:txBody>
          </p:sp>
        </mc:Choice>
        <mc:Fallback xmlns="">
          <p:sp>
            <p:nvSpPr>
              <p:cNvPr id="3" name="Notes Placeholder 2">
                <a:extLst>
                  <a:ext uri="{FF2B5EF4-FFF2-40B4-BE49-F238E27FC236}">
                    <a16:creationId xmlns:a16="http://schemas.microsoft.com/office/drawing/2014/main" id="{40A8DCF5-3627-9966-23FC-8C64DC3EB958}"/>
                  </a:ext>
                </a:extLst>
              </p:cNvPr>
              <p:cNvSpPr>
                <a:spLocks noGrp="1"/>
              </p:cNvSpPr>
              <p:nvPr>
                <p:ph type="body" idx="1"/>
              </p:nvPr>
            </p:nvSpPr>
            <p:spPr/>
            <p:txBody>
              <a:bodyPr/>
              <a:lstStyle/>
              <a:p>
                <a:r>
                  <a:rPr lang="en-PH" dirty="0"/>
                  <a:t>REVIEW </a:t>
                </a:r>
                <a:r>
                  <a:rPr lang="en-PH" b="1" dirty="0"/>
                  <a:t>SCIENTIFIC NOTATION</a:t>
                </a:r>
              </a:p>
              <a:p>
                <a:r>
                  <a:rPr lang="en-PH" b="0" i="0">
                    <a:latin typeface="Cambria Math" panose="02040503050406030204" pitchFamily="18" charset="0"/>
                  </a:rPr>
                  <a:t>𝑎×10^𝑛</a:t>
                </a:r>
                <a:endParaRPr lang="en-PH" b="0" dirty="0"/>
              </a:p>
              <a:p>
                <a:r>
                  <a:rPr lang="en-PH" b="0" dirty="0"/>
                  <a:t>Coefficient: any number from 1 to 10, but not including 10</a:t>
                </a:r>
              </a:p>
              <a:p>
                <a:endParaRPr lang="en-PH" b="0" dirty="0"/>
              </a:p>
              <a:p>
                <a:pPr marL="228600" indent="-228600">
                  <a:buAutoNum type="arabicPeriod"/>
                </a:pPr>
                <a:r>
                  <a:rPr lang="en-PH" b="0" i="0">
                    <a:latin typeface="Cambria Math" panose="02040503050406030204" pitchFamily="18" charset="0"/>
                  </a:rPr>
                  <a:t>3.5×10^3</a:t>
                </a:r>
                <a:endParaRPr lang="en-PH" b="0" dirty="0"/>
              </a:p>
              <a:p>
                <a:pPr marL="228600" indent="-228600">
                  <a:buAutoNum type="arabicPeriod"/>
                </a:pPr>
                <a:r>
                  <a:rPr lang="en-PH" b="0" i="0">
                    <a:latin typeface="Cambria Math" panose="02040503050406030204" pitchFamily="18" charset="0"/>
                  </a:rPr>
                  <a:t>820×10^(−6)  𝑚=8.20×10^(−4)  𝑚</a:t>
                </a:r>
                <a:endParaRPr lang="en-PH" b="0" dirty="0"/>
              </a:p>
              <a:p>
                <a:pPr marL="228600" indent="-228600">
                  <a:buAutoNum type="arabicPeriod"/>
                </a:pPr>
                <a:r>
                  <a:rPr lang="en-PH" b="0" i="0">
                    <a:latin typeface="Cambria Math" panose="02040503050406030204" pitchFamily="18" charset="0"/>
                  </a:rPr>
                  <a:t>15×10^(−3)=1.5×10^(−2)  𝑚</a:t>
                </a:r>
                <a:endParaRPr lang="en-PH" b="0" dirty="0"/>
              </a:p>
              <a:p>
                <a:pPr marL="228600" indent="-228600">
                  <a:buAutoNum type="arabicPeriod"/>
                </a:pPr>
                <a:r>
                  <a:rPr lang="en-PH" b="0" i="0">
                    <a:latin typeface="Cambria Math" panose="02040503050406030204" pitchFamily="18" charset="0"/>
                  </a:rPr>
                  <a:t>750×10^6  𝑊=7.5×10^8  𝑊</a:t>
                </a:r>
                <a:endParaRPr lang="en-PH" b="0" dirty="0"/>
              </a:p>
              <a:p>
                <a:pPr marL="228600" indent="-228600">
                  <a:buAutoNum type="arabicPeriod"/>
                </a:pPr>
                <a:r>
                  <a:rPr lang="en-PH" b="0" i="0">
                    <a:latin typeface="Cambria Math" panose="02040503050406030204" pitchFamily="18" charset="0"/>
                  </a:rPr>
                  <a:t>633×10^(−9)=6.33×10^(−7)  𝑚</a:t>
                </a:r>
                <a:endParaRPr lang="en-PH" b="0" dirty="0"/>
              </a:p>
            </p:txBody>
          </p:sp>
        </mc:Fallback>
      </mc:AlternateContent>
      <p:sp>
        <p:nvSpPr>
          <p:cNvPr id="4" name="Slide Number Placeholder 3">
            <a:extLst>
              <a:ext uri="{FF2B5EF4-FFF2-40B4-BE49-F238E27FC236}">
                <a16:creationId xmlns:a16="http://schemas.microsoft.com/office/drawing/2014/main" id="{CAB1B2E0-8E55-5F5F-CA99-3EF8222FBB51}"/>
              </a:ext>
            </a:extLst>
          </p:cNvPr>
          <p:cNvSpPr>
            <a:spLocks noGrp="1"/>
          </p:cNvSpPr>
          <p:nvPr>
            <p:ph type="sldNum" sz="quarter" idx="5"/>
          </p:nvPr>
        </p:nvSpPr>
        <p:spPr/>
        <p:txBody>
          <a:bodyPr/>
          <a:lstStyle/>
          <a:p>
            <a:fld id="{1E2ACC9D-5E71-4A03-BD88-EA7951E000A5}" type="slidenum">
              <a:rPr lang="en-PH" smtClean="0"/>
              <a:t>9</a:t>
            </a:fld>
            <a:endParaRPr lang="en-PH"/>
          </a:p>
        </p:txBody>
      </p:sp>
    </p:spTree>
    <p:extLst>
      <p:ext uri="{BB962C8B-B14F-4D97-AF65-F5344CB8AC3E}">
        <p14:creationId xmlns:p14="http://schemas.microsoft.com/office/powerpoint/2010/main" val="2552030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36BFD-E53F-8737-5CBA-1573AAB367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DD4AB0-3194-353C-4230-C13965788E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DD97D2-E73E-B616-3517-A52152725405}"/>
              </a:ext>
            </a:extLst>
          </p:cNvPr>
          <p:cNvSpPr>
            <a:spLocks noGrp="1"/>
          </p:cNvSpPr>
          <p:nvPr>
            <p:ph type="body" idx="1"/>
          </p:nvPr>
        </p:nvSpPr>
        <p:spPr/>
        <p:txBody>
          <a:bodyPr/>
          <a:lstStyle/>
          <a:p>
            <a:r>
              <a:rPr lang="en-PH" b="0" dirty="0"/>
              <a:t>85 mi/h,</a:t>
            </a:r>
          </a:p>
          <a:p>
            <a:r>
              <a:rPr lang="en-PH" sz="1200" b="0" i="0" kern="1200" dirty="0">
                <a:solidFill>
                  <a:schemeClr val="tx1"/>
                </a:solidFill>
                <a:effectLst/>
                <a:latin typeface="+mn-lt"/>
                <a:ea typeface="+mn-ea"/>
                <a:cs typeface="+mn-cs"/>
              </a:rPr>
              <a:t>The driver is indeed exceeding the speed limit and should slow down</a:t>
            </a:r>
            <a:r>
              <a:rPr lang="en-PH" dirty="0"/>
              <a:t> </a:t>
            </a:r>
            <a:br>
              <a:rPr lang="en-PH" dirty="0"/>
            </a:br>
            <a:endParaRPr lang="en-PH" b="0" dirty="0"/>
          </a:p>
        </p:txBody>
      </p:sp>
      <p:sp>
        <p:nvSpPr>
          <p:cNvPr id="4" name="Slide Number Placeholder 3">
            <a:extLst>
              <a:ext uri="{FF2B5EF4-FFF2-40B4-BE49-F238E27FC236}">
                <a16:creationId xmlns:a16="http://schemas.microsoft.com/office/drawing/2014/main" id="{A7BEF93B-87BC-C8DA-A941-CA7BDCF501F2}"/>
              </a:ext>
            </a:extLst>
          </p:cNvPr>
          <p:cNvSpPr>
            <a:spLocks noGrp="1"/>
          </p:cNvSpPr>
          <p:nvPr>
            <p:ph type="sldNum" sz="quarter" idx="5"/>
          </p:nvPr>
        </p:nvSpPr>
        <p:spPr/>
        <p:txBody>
          <a:bodyPr/>
          <a:lstStyle/>
          <a:p>
            <a:fld id="{1E2ACC9D-5E71-4A03-BD88-EA7951E000A5}" type="slidenum">
              <a:rPr lang="en-PH" smtClean="0"/>
              <a:t>10</a:t>
            </a:fld>
            <a:endParaRPr lang="en-PH"/>
          </a:p>
        </p:txBody>
      </p:sp>
    </p:spTree>
    <p:extLst>
      <p:ext uri="{BB962C8B-B14F-4D97-AF65-F5344CB8AC3E}">
        <p14:creationId xmlns:p14="http://schemas.microsoft.com/office/powerpoint/2010/main" val="274399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DD231-5A5D-10BC-483A-2614533DEF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C0318630-5072-8629-6852-A4F52E6D4D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7DE76C94-BCA0-B018-EDF3-E85E3E67FCB7}"/>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5" name="Footer Placeholder 4">
            <a:extLst>
              <a:ext uri="{FF2B5EF4-FFF2-40B4-BE49-F238E27FC236}">
                <a16:creationId xmlns:a16="http://schemas.microsoft.com/office/drawing/2014/main" id="{1AFF62E8-9A41-FEB8-C329-FF41A50E5E37}"/>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ACABDF1E-365E-886C-7DF4-7E1B9C8DC82F}"/>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3650630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52770-1A08-648D-6EF5-09385FC45944}"/>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40D7220B-8CA0-0576-134A-A8C07A73A4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AD64F12F-2C3E-E604-73E8-585689751A1A}"/>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5" name="Footer Placeholder 4">
            <a:extLst>
              <a:ext uri="{FF2B5EF4-FFF2-40B4-BE49-F238E27FC236}">
                <a16:creationId xmlns:a16="http://schemas.microsoft.com/office/drawing/2014/main" id="{220D934F-207A-B2F2-6538-E486D66FCF8A}"/>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A0FE4680-7691-42E2-5B89-F4D02F8E17BC}"/>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4047622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4CFEA-0352-7CE4-A351-67A6D461B1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6FE4DEF7-10DF-B43C-25FE-7C71BFC3A8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E49F60-9E61-5B2A-541F-4E0F373B3E4C}"/>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5" name="Footer Placeholder 4">
            <a:extLst>
              <a:ext uri="{FF2B5EF4-FFF2-40B4-BE49-F238E27FC236}">
                <a16:creationId xmlns:a16="http://schemas.microsoft.com/office/drawing/2014/main" id="{0DF84D38-CD7C-FFA9-103F-3A8D79FF6F7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D4ADB32C-B200-9F1E-9852-BD30E4046DC1}"/>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441656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F4E14-E3CB-69D2-1621-C670B98F4F31}"/>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75A32CC1-6C1B-0899-CBC4-A6A5C70025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A75F1129-37DE-B114-A06E-80A2FC3724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9B1347B8-B4B3-CE4F-B570-A72824D9664F}"/>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6" name="Footer Placeholder 5">
            <a:extLst>
              <a:ext uri="{FF2B5EF4-FFF2-40B4-BE49-F238E27FC236}">
                <a16:creationId xmlns:a16="http://schemas.microsoft.com/office/drawing/2014/main" id="{95ED9CA1-EAB6-6A40-CBF0-0B4A1F806093}"/>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E17E39E5-8878-31FD-23B3-3895C0FE2DDB}"/>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1168017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944E0-C8FC-1A22-0D89-EB5227930D3D}"/>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51D87131-03C7-DF6A-11E5-515BC599ED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D05215-207E-28C0-51FC-32E38EEB68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90DB04A7-E602-43F7-9382-5106F512E1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6F942C-0D51-B146-0B3E-44F9333966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CC6E83BA-434D-9524-D5B2-3FE72F57F00C}"/>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8" name="Footer Placeholder 7">
            <a:extLst>
              <a:ext uri="{FF2B5EF4-FFF2-40B4-BE49-F238E27FC236}">
                <a16:creationId xmlns:a16="http://schemas.microsoft.com/office/drawing/2014/main" id="{B5942D20-B619-864B-8166-83B44876DB89}"/>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F2BD6B27-68B5-1712-1876-2B9004351C86}"/>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3403322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5A230-E23D-72CA-73DE-EA803A1C867D}"/>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C0687827-3B58-7B11-8B7A-473110A9FF16}"/>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4" name="Footer Placeholder 3">
            <a:extLst>
              <a:ext uri="{FF2B5EF4-FFF2-40B4-BE49-F238E27FC236}">
                <a16:creationId xmlns:a16="http://schemas.microsoft.com/office/drawing/2014/main" id="{22CF7CB5-5F2C-2F8D-6C74-1DCFD1797B39}"/>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613E43F0-FD37-67ED-B7BE-A65F928BDB5A}"/>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4043575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D215F6-0E66-108C-217C-F5B06CBB3DAF}"/>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3" name="Footer Placeholder 2">
            <a:extLst>
              <a:ext uri="{FF2B5EF4-FFF2-40B4-BE49-F238E27FC236}">
                <a16:creationId xmlns:a16="http://schemas.microsoft.com/office/drawing/2014/main" id="{4CA83FD0-F709-4DE7-0253-1246F3C9334C}"/>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2A58CF07-6C82-F6BA-4C02-CAC8561DEF41}"/>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3409714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6D32D-81C2-1109-8F73-7C8739F613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23C0A27F-F5E8-328F-D961-35979707E9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ABD5426E-8C64-5E3B-0A03-C8A903DD32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D3E812-8945-5EB1-FBF3-5FCFA31975E0}"/>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6" name="Footer Placeholder 5">
            <a:extLst>
              <a:ext uri="{FF2B5EF4-FFF2-40B4-BE49-F238E27FC236}">
                <a16:creationId xmlns:a16="http://schemas.microsoft.com/office/drawing/2014/main" id="{AFC2D321-A5A6-6B69-3C04-FA42A9C1A80F}"/>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D6BE3AAE-D96B-6B32-0164-7F0F1AAC4C68}"/>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674330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6251B-BE78-9867-0E70-EDBC73EA82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77CE01A9-4142-5F08-A230-6B22B080A2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0D8577C9-D160-947C-8131-712AFB12E8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C19ED7-1726-3E20-A98A-ED32A66088A1}"/>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6" name="Footer Placeholder 5">
            <a:extLst>
              <a:ext uri="{FF2B5EF4-FFF2-40B4-BE49-F238E27FC236}">
                <a16:creationId xmlns:a16="http://schemas.microsoft.com/office/drawing/2014/main" id="{4B87D4A1-C7AC-7DE2-43A3-2410E52C076B}"/>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7C39CE8E-578E-A541-6B18-9D76C2AB09C5}"/>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2177756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F3669-32EC-AD50-8AD0-DCFFF233F852}"/>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0E585D1E-6A4D-E1B6-C9F7-B06C2A686F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42DF9567-3F43-39CF-0011-3E53499CA614}"/>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5" name="Footer Placeholder 4">
            <a:extLst>
              <a:ext uri="{FF2B5EF4-FFF2-40B4-BE49-F238E27FC236}">
                <a16:creationId xmlns:a16="http://schemas.microsoft.com/office/drawing/2014/main" id="{EC88FD2A-EBFA-0478-A61E-97B15FCDCCB6}"/>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A06FEE10-1583-3157-20E5-072915CF6F3F}"/>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1213102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85DA39-3C47-9485-BC7D-718D55E04CA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0C33C301-36FF-5992-CAB2-2563DB025C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5C9E48DB-1B29-2A56-D294-FA8AD679BE6D}"/>
              </a:ext>
            </a:extLst>
          </p:cNvPr>
          <p:cNvSpPr>
            <a:spLocks noGrp="1"/>
          </p:cNvSpPr>
          <p:nvPr>
            <p:ph type="dt" sz="half" idx="10"/>
          </p:nvPr>
        </p:nvSpPr>
        <p:spPr/>
        <p:txBody>
          <a:bodyPr/>
          <a:lstStyle/>
          <a:p>
            <a:fld id="{2B19DAD0-98E5-4506-B350-F72DCA2C145A}" type="datetimeFigureOut">
              <a:rPr lang="en-PH" smtClean="0"/>
              <a:t>7/9/26</a:t>
            </a:fld>
            <a:endParaRPr lang="en-PH"/>
          </a:p>
        </p:txBody>
      </p:sp>
      <p:sp>
        <p:nvSpPr>
          <p:cNvPr id="5" name="Footer Placeholder 4">
            <a:extLst>
              <a:ext uri="{FF2B5EF4-FFF2-40B4-BE49-F238E27FC236}">
                <a16:creationId xmlns:a16="http://schemas.microsoft.com/office/drawing/2014/main" id="{68D26F9D-314C-0FB5-CAF2-C48E257CD4F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47A85A95-3FE6-BDF8-7D7A-FE69FE923E7C}"/>
              </a:ext>
            </a:extLst>
          </p:cNvPr>
          <p:cNvSpPr>
            <a:spLocks noGrp="1"/>
          </p:cNvSpPr>
          <p:nvPr>
            <p:ph type="sldNum" sz="quarter" idx="12"/>
          </p:nvPr>
        </p:nvSpPr>
        <p:spPr/>
        <p:txBody>
          <a:bodyPr/>
          <a:lstStyle/>
          <a:p>
            <a:fld id="{EA52C195-8D30-4849-85E8-BFB6DB84648F}" type="slidenum">
              <a:rPr lang="en-PH" smtClean="0"/>
              <a:t>‹#›</a:t>
            </a:fld>
            <a:endParaRPr lang="en-PH"/>
          </a:p>
        </p:txBody>
      </p:sp>
    </p:spTree>
    <p:extLst>
      <p:ext uri="{BB962C8B-B14F-4D97-AF65-F5344CB8AC3E}">
        <p14:creationId xmlns:p14="http://schemas.microsoft.com/office/powerpoint/2010/main" val="3407066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0CEF22-FD99-7CD9-5DC5-B074276636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500DD933-472F-D748-0ABB-3378F11950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8C8C1A73-229A-F9EE-78F0-19CB95C7FC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19DAD0-98E5-4506-B350-F72DCA2C145A}" type="datetimeFigureOut">
              <a:rPr lang="en-PH" smtClean="0"/>
              <a:t>7/9/26</a:t>
            </a:fld>
            <a:endParaRPr lang="en-PH"/>
          </a:p>
        </p:txBody>
      </p:sp>
      <p:sp>
        <p:nvSpPr>
          <p:cNvPr id="5" name="Footer Placeholder 4">
            <a:extLst>
              <a:ext uri="{FF2B5EF4-FFF2-40B4-BE49-F238E27FC236}">
                <a16:creationId xmlns:a16="http://schemas.microsoft.com/office/drawing/2014/main" id="{AFC89B7F-E88B-0B60-0A94-294D48462F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H"/>
          </a:p>
        </p:txBody>
      </p:sp>
      <p:sp>
        <p:nvSpPr>
          <p:cNvPr id="6" name="Slide Number Placeholder 5">
            <a:extLst>
              <a:ext uri="{FF2B5EF4-FFF2-40B4-BE49-F238E27FC236}">
                <a16:creationId xmlns:a16="http://schemas.microsoft.com/office/drawing/2014/main" id="{20D6747C-E541-FD74-27F5-5D985089AE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52C195-8D30-4849-85E8-BFB6DB84648F}" type="slidenum">
              <a:rPr lang="en-PH" smtClean="0"/>
              <a:t>‹#›</a:t>
            </a:fld>
            <a:endParaRPr lang="en-PH"/>
          </a:p>
        </p:txBody>
      </p:sp>
    </p:spTree>
    <p:extLst>
      <p:ext uri="{BB962C8B-B14F-4D97-AF65-F5344CB8AC3E}">
        <p14:creationId xmlns:p14="http://schemas.microsoft.com/office/powerpoint/2010/main" val="18650354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BE629-9C22-3CEA-CCDE-633355DC193E}"/>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F7DD5996-59F8-EEBC-DC92-6EEC6E74E0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3" name="TextBox 2">
            <a:extLst>
              <a:ext uri="{FF2B5EF4-FFF2-40B4-BE49-F238E27FC236}">
                <a16:creationId xmlns:a16="http://schemas.microsoft.com/office/drawing/2014/main" id="{01F2C709-A240-87E9-6DED-CEA5B4C6A37B}"/>
              </a:ext>
            </a:extLst>
          </p:cNvPr>
          <p:cNvSpPr txBox="1"/>
          <p:nvPr/>
        </p:nvSpPr>
        <p:spPr>
          <a:xfrm>
            <a:off x="1676661" y="2233684"/>
            <a:ext cx="4610018" cy="461665"/>
          </a:xfrm>
          <a:prstGeom prst="rect">
            <a:avLst/>
          </a:prstGeom>
          <a:noFill/>
        </p:spPr>
        <p:txBody>
          <a:bodyPr wrap="square" rtlCol="0">
            <a:spAutoFit/>
          </a:bodyPr>
          <a:lstStyle/>
          <a:p>
            <a:r>
              <a:rPr lang="en-PH" sz="2400" b="1" i="1" dirty="0">
                <a:solidFill>
                  <a:srgbClr val="F9770B"/>
                </a:solidFill>
                <a:latin typeface="TT Hoves" panose="02000503030000020004" pitchFamily="50" charset="0"/>
              </a:rPr>
              <a:t>Physics 1</a:t>
            </a:r>
          </a:p>
        </p:txBody>
      </p:sp>
      <p:sp>
        <p:nvSpPr>
          <p:cNvPr id="14" name="TextBox 13">
            <a:extLst>
              <a:ext uri="{FF2B5EF4-FFF2-40B4-BE49-F238E27FC236}">
                <a16:creationId xmlns:a16="http://schemas.microsoft.com/office/drawing/2014/main" id="{47947670-37E1-5FDB-E9F5-6A0C11E4F2B3}"/>
              </a:ext>
            </a:extLst>
          </p:cNvPr>
          <p:cNvSpPr txBox="1"/>
          <p:nvPr/>
        </p:nvSpPr>
        <p:spPr>
          <a:xfrm>
            <a:off x="4801055" y="4266824"/>
            <a:ext cx="6766063" cy="400110"/>
          </a:xfrm>
          <a:prstGeom prst="rect">
            <a:avLst/>
          </a:prstGeom>
          <a:noFill/>
        </p:spPr>
        <p:txBody>
          <a:bodyPr wrap="square" rtlCol="0">
            <a:spAutoFit/>
          </a:bodyPr>
          <a:lstStyle/>
          <a:p>
            <a:r>
              <a:rPr lang="en-PH" sz="2000" i="1" dirty="0">
                <a:solidFill>
                  <a:schemeClr val="bg2">
                    <a:lumMod val="50000"/>
                  </a:schemeClr>
                </a:solidFill>
                <a:latin typeface="TT Hoves" panose="02000503030000020004" pitchFamily="50" charset="0"/>
              </a:rPr>
              <a:t>Prepared by </a:t>
            </a:r>
            <a:r>
              <a:rPr lang="en-PH" sz="2000" b="1" i="1" dirty="0">
                <a:solidFill>
                  <a:srgbClr val="F9770B"/>
                </a:solidFill>
                <a:latin typeface="TT Hoves" panose="02000503030000020004" pitchFamily="50" charset="0"/>
              </a:rPr>
              <a:t>Engr. Philip Jayson L. Lestojas</a:t>
            </a:r>
            <a:endParaRPr lang="en-PH" sz="2000" i="1" dirty="0">
              <a:solidFill>
                <a:srgbClr val="F9770B"/>
              </a:solidFill>
              <a:latin typeface="TT Hoves" panose="02000503030000020004" pitchFamily="50" charset="0"/>
            </a:endParaRPr>
          </a:p>
        </p:txBody>
      </p:sp>
    </p:spTree>
    <p:extLst>
      <p:ext uri="{BB962C8B-B14F-4D97-AF65-F5344CB8AC3E}">
        <p14:creationId xmlns:p14="http://schemas.microsoft.com/office/powerpoint/2010/main" val="2000679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6A392-8AE9-4B2A-B356-88267FE69389}"/>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ED4A2E74-629D-CD92-F111-E7B9DF93AEB6}"/>
              </a:ext>
            </a:extLst>
          </p:cNvPr>
          <p:cNvSpPr txBox="1"/>
          <p:nvPr/>
        </p:nvSpPr>
        <p:spPr>
          <a:xfrm>
            <a:off x="699400" y="619760"/>
            <a:ext cx="9489440" cy="830997"/>
          </a:xfrm>
          <a:prstGeom prst="rect">
            <a:avLst/>
          </a:prstGeom>
          <a:noFill/>
        </p:spPr>
        <p:txBody>
          <a:bodyPr wrap="square" rtlCol="0">
            <a:spAutoFit/>
          </a:bodyPr>
          <a:lstStyle/>
          <a:p>
            <a:r>
              <a:rPr lang="en-PH" sz="4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Learning Competency</a:t>
            </a:r>
          </a:p>
        </p:txBody>
      </p:sp>
      <p:sp>
        <p:nvSpPr>
          <p:cNvPr id="4" name="TextBox 3">
            <a:extLst>
              <a:ext uri="{FF2B5EF4-FFF2-40B4-BE49-F238E27FC236}">
                <a16:creationId xmlns:a16="http://schemas.microsoft.com/office/drawing/2014/main" id="{EE76EB98-CF61-2512-3894-F1B8BDFD3E26}"/>
              </a:ext>
            </a:extLst>
          </p:cNvPr>
          <p:cNvSpPr txBox="1"/>
          <p:nvPr/>
        </p:nvSpPr>
        <p:spPr>
          <a:xfrm>
            <a:off x="749504" y="1674674"/>
            <a:ext cx="5814134" cy="1754326"/>
          </a:xfrm>
          <a:prstGeom prst="rect">
            <a:avLst/>
          </a:prstGeom>
          <a:noFill/>
        </p:spPr>
        <p:txBody>
          <a:bodyPr wrap="square">
            <a:spAutoFit/>
          </a:bodyPr>
          <a:lstStyle/>
          <a:p>
            <a:r>
              <a:rPr lang="en-PH" sz="3600">
                <a:latin typeface="TT Hoves" panose="02000503030000020004" pitchFamily="50" charset="0"/>
              </a:rPr>
              <a:t>Define the fundamental quantities and the basis of its SI units.</a:t>
            </a:r>
            <a:endParaRPr lang="en-PH" sz="3600" dirty="0">
              <a:latin typeface="TT Hoves" panose="02000503030000020004" pitchFamily="50" charset="0"/>
            </a:endParaRPr>
          </a:p>
        </p:txBody>
      </p:sp>
      <p:pic>
        <p:nvPicPr>
          <p:cNvPr id="6" name="Picture 5">
            <a:extLst>
              <a:ext uri="{FF2B5EF4-FFF2-40B4-BE49-F238E27FC236}">
                <a16:creationId xmlns:a16="http://schemas.microsoft.com/office/drawing/2014/main" id="{B7ECF8C2-D6B2-B225-82D5-289D6D5D0B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9140" y="450936"/>
            <a:ext cx="3979403" cy="562446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Freeform: Shape 7">
            <a:extLst>
              <a:ext uri="{FF2B5EF4-FFF2-40B4-BE49-F238E27FC236}">
                <a16:creationId xmlns:a16="http://schemas.microsoft.com/office/drawing/2014/main" id="{79F1A5C0-5265-F8B7-569D-EABC841C6A7D}"/>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745A5F5D-569B-62A7-6B90-01589F321BE3}"/>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B4521DC9-AAA3-AB63-B4F3-D8D71EB66BF0}"/>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7" name="Freeform: Shape 11">
            <a:extLst>
              <a:ext uri="{FF2B5EF4-FFF2-40B4-BE49-F238E27FC236}">
                <a16:creationId xmlns:a16="http://schemas.microsoft.com/office/drawing/2014/main" id="{616E3609-DBCE-8316-696E-11BFE0DEE919}"/>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Tree>
    <p:extLst>
      <p:ext uri="{BB962C8B-B14F-4D97-AF65-F5344CB8AC3E}">
        <p14:creationId xmlns:p14="http://schemas.microsoft.com/office/powerpoint/2010/main" val="2376303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360C0-5EE5-4A32-53D0-A50D109174CC}"/>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55399DF9-DEE0-3816-4A38-8C65ACF67B85}"/>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EBB82D48-72C8-DF15-6833-DF3D5EE87871}"/>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B3DCD2F5-2BE6-E0D0-5410-0B6BBF9C11AE}"/>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454783B4-EDAD-14C3-1BE3-5A43E20F1978}"/>
              </a:ext>
            </a:extLst>
          </p:cNvPr>
          <p:cNvSpPr txBox="1"/>
          <p:nvPr/>
        </p:nvSpPr>
        <p:spPr>
          <a:xfrm>
            <a:off x="699400" y="619760"/>
            <a:ext cx="9489440" cy="830997"/>
          </a:xfrm>
          <a:prstGeom prst="rect">
            <a:avLst/>
          </a:prstGeom>
          <a:noFill/>
        </p:spPr>
        <p:txBody>
          <a:bodyPr wrap="square" rtlCol="0">
            <a:spAutoFit/>
          </a:bodyPr>
          <a:lstStyle/>
          <a:p>
            <a:r>
              <a:rPr lang="en-PH" sz="4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Learning Objectives</a:t>
            </a:r>
          </a:p>
        </p:txBody>
      </p:sp>
      <p:sp>
        <p:nvSpPr>
          <p:cNvPr id="12" name="Freeform: Shape 11">
            <a:extLst>
              <a:ext uri="{FF2B5EF4-FFF2-40B4-BE49-F238E27FC236}">
                <a16:creationId xmlns:a16="http://schemas.microsoft.com/office/drawing/2014/main" id="{0596DFCA-6F48-0303-7E9A-89ED16F68BBE}"/>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7" name="TextBox 6">
            <a:extLst>
              <a:ext uri="{FF2B5EF4-FFF2-40B4-BE49-F238E27FC236}">
                <a16:creationId xmlns:a16="http://schemas.microsoft.com/office/drawing/2014/main" id="{D1B7530D-CC35-EA95-3062-3CA78047AEED}"/>
              </a:ext>
            </a:extLst>
          </p:cNvPr>
          <p:cNvSpPr txBox="1"/>
          <p:nvPr/>
        </p:nvSpPr>
        <p:spPr>
          <a:xfrm>
            <a:off x="1628384" y="1775520"/>
            <a:ext cx="10401056" cy="954107"/>
          </a:xfrm>
          <a:prstGeom prst="rect">
            <a:avLst/>
          </a:prstGeom>
          <a:noFill/>
        </p:spPr>
        <p:txBody>
          <a:bodyPr wrap="square" rtlCol="0">
            <a:spAutoFit/>
          </a:bodyPr>
          <a:lstStyle/>
          <a:p>
            <a:r>
              <a:rPr lang="en-PH" sz="2800" dirty="0">
                <a:latin typeface="TT Hoves" panose="02000503030000020004" pitchFamily="50" charset="0"/>
              </a:rPr>
              <a:t>Distinguish physical quantities from non-physical properties and identify the primary SI base units used in mechanics.</a:t>
            </a:r>
          </a:p>
        </p:txBody>
      </p:sp>
      <p:sp>
        <p:nvSpPr>
          <p:cNvPr id="14" name="TextBox 13">
            <a:extLst>
              <a:ext uri="{FF2B5EF4-FFF2-40B4-BE49-F238E27FC236}">
                <a16:creationId xmlns:a16="http://schemas.microsoft.com/office/drawing/2014/main" id="{68D300FA-8D3A-2AFD-492F-712B7478C157}"/>
              </a:ext>
            </a:extLst>
          </p:cNvPr>
          <p:cNvSpPr txBox="1"/>
          <p:nvPr/>
        </p:nvSpPr>
        <p:spPr>
          <a:xfrm>
            <a:off x="749504" y="1645859"/>
            <a:ext cx="9489440" cy="1200329"/>
          </a:xfrm>
          <a:prstGeom prst="rect">
            <a:avLst/>
          </a:prstGeom>
          <a:noFill/>
        </p:spPr>
        <p:txBody>
          <a:bodyPr wrap="square" rtlCol="0">
            <a:spAutoFit/>
          </a:bodyPr>
          <a:lstStyle/>
          <a:p>
            <a:r>
              <a:rPr lang="en-PH" sz="7200" dirty="0">
                <a:gradFill flip="none" rotWithShape="1">
                  <a:gsLst>
                    <a:gs pos="0">
                      <a:schemeClr val="bg1">
                        <a:lumMod val="50000"/>
                      </a:schemeClr>
                    </a:gs>
                    <a:gs pos="50000">
                      <a:schemeClr val="bg1">
                        <a:lumMod val="75000"/>
                      </a:schemeClr>
                    </a:gs>
                    <a:gs pos="100000">
                      <a:schemeClr val="bg1"/>
                    </a:gs>
                  </a:gsLst>
                  <a:path path="circle">
                    <a:fillToRect r="100000" b="100000"/>
                  </a:path>
                  <a:tileRect l="-100000" t="-100000"/>
                </a:gradFill>
                <a:latin typeface="TT Hoves ExtraBold" panose="02000903040000020004" pitchFamily="50" charset="0"/>
              </a:rPr>
              <a:t>1</a:t>
            </a:r>
          </a:p>
        </p:txBody>
      </p:sp>
      <p:sp>
        <p:nvSpPr>
          <p:cNvPr id="16" name="TextBox 15">
            <a:extLst>
              <a:ext uri="{FF2B5EF4-FFF2-40B4-BE49-F238E27FC236}">
                <a16:creationId xmlns:a16="http://schemas.microsoft.com/office/drawing/2014/main" id="{0AF6C98B-E2E9-CABE-07AC-9030E345B431}"/>
              </a:ext>
            </a:extLst>
          </p:cNvPr>
          <p:cNvSpPr txBox="1"/>
          <p:nvPr/>
        </p:nvSpPr>
        <p:spPr>
          <a:xfrm>
            <a:off x="699400" y="2843320"/>
            <a:ext cx="9489440" cy="1200329"/>
          </a:xfrm>
          <a:prstGeom prst="rect">
            <a:avLst/>
          </a:prstGeom>
          <a:noFill/>
        </p:spPr>
        <p:txBody>
          <a:bodyPr wrap="square" rtlCol="0">
            <a:spAutoFit/>
          </a:bodyPr>
          <a:lstStyle/>
          <a:p>
            <a:r>
              <a:rPr lang="en-PH" sz="7200" dirty="0">
                <a:gradFill flip="none" rotWithShape="1">
                  <a:gsLst>
                    <a:gs pos="0">
                      <a:schemeClr val="bg1">
                        <a:lumMod val="50000"/>
                      </a:schemeClr>
                    </a:gs>
                    <a:gs pos="50000">
                      <a:schemeClr val="bg1">
                        <a:lumMod val="75000"/>
                      </a:schemeClr>
                    </a:gs>
                    <a:gs pos="100000">
                      <a:schemeClr val="bg1"/>
                    </a:gs>
                  </a:gsLst>
                  <a:path path="circle">
                    <a:fillToRect r="100000" b="100000"/>
                  </a:path>
                  <a:tileRect l="-100000" t="-100000"/>
                </a:gradFill>
                <a:latin typeface="TT Hoves ExtraBold" panose="02000903040000020004" pitchFamily="50" charset="0"/>
              </a:rPr>
              <a:t>2</a:t>
            </a:r>
          </a:p>
        </p:txBody>
      </p:sp>
      <p:sp>
        <p:nvSpPr>
          <p:cNvPr id="18" name="TextBox 17">
            <a:extLst>
              <a:ext uri="{FF2B5EF4-FFF2-40B4-BE49-F238E27FC236}">
                <a16:creationId xmlns:a16="http://schemas.microsoft.com/office/drawing/2014/main" id="{1A11D946-1525-798C-16FA-A07EFC332EA4}"/>
              </a:ext>
            </a:extLst>
          </p:cNvPr>
          <p:cNvSpPr txBox="1"/>
          <p:nvPr/>
        </p:nvSpPr>
        <p:spPr>
          <a:xfrm>
            <a:off x="1628384" y="2951946"/>
            <a:ext cx="10033348" cy="954107"/>
          </a:xfrm>
          <a:prstGeom prst="rect">
            <a:avLst/>
          </a:prstGeom>
          <a:noFill/>
        </p:spPr>
        <p:txBody>
          <a:bodyPr wrap="square" rtlCol="0">
            <a:spAutoFit/>
          </a:bodyPr>
          <a:lstStyle/>
          <a:p>
            <a:r>
              <a:rPr lang="en-PH" sz="2800" dirty="0">
                <a:latin typeface="TT Hoves" panose="02000503030000020004" pitchFamily="50" charset="0"/>
              </a:rPr>
              <a:t>Express physical quantities across varying scales using metric prefixes and scientific notation.</a:t>
            </a:r>
          </a:p>
        </p:txBody>
      </p:sp>
      <p:sp>
        <p:nvSpPr>
          <p:cNvPr id="20" name="TextBox 19">
            <a:extLst>
              <a:ext uri="{FF2B5EF4-FFF2-40B4-BE49-F238E27FC236}">
                <a16:creationId xmlns:a16="http://schemas.microsoft.com/office/drawing/2014/main" id="{6A3D922A-D9D4-D5D6-42A2-2964E6622012}"/>
              </a:ext>
            </a:extLst>
          </p:cNvPr>
          <p:cNvSpPr txBox="1"/>
          <p:nvPr/>
        </p:nvSpPr>
        <p:spPr>
          <a:xfrm>
            <a:off x="699400" y="4011812"/>
            <a:ext cx="9489440" cy="1200329"/>
          </a:xfrm>
          <a:prstGeom prst="rect">
            <a:avLst/>
          </a:prstGeom>
          <a:noFill/>
        </p:spPr>
        <p:txBody>
          <a:bodyPr wrap="square" rtlCol="0">
            <a:spAutoFit/>
          </a:bodyPr>
          <a:lstStyle/>
          <a:p>
            <a:r>
              <a:rPr lang="en-PH" sz="7200" dirty="0">
                <a:gradFill flip="none" rotWithShape="1">
                  <a:gsLst>
                    <a:gs pos="0">
                      <a:schemeClr val="bg1">
                        <a:lumMod val="50000"/>
                      </a:schemeClr>
                    </a:gs>
                    <a:gs pos="50000">
                      <a:schemeClr val="bg1">
                        <a:lumMod val="75000"/>
                      </a:schemeClr>
                    </a:gs>
                    <a:gs pos="100000">
                      <a:schemeClr val="bg1"/>
                    </a:gs>
                  </a:gsLst>
                  <a:path path="circle">
                    <a:fillToRect r="100000" b="100000"/>
                  </a:path>
                  <a:tileRect l="-100000" t="-100000"/>
                </a:gradFill>
                <a:latin typeface="TT Hoves ExtraBold" panose="02000903040000020004" pitchFamily="50" charset="0"/>
              </a:rPr>
              <a:t>3</a:t>
            </a:r>
          </a:p>
        </p:txBody>
      </p:sp>
      <p:sp>
        <p:nvSpPr>
          <p:cNvPr id="22" name="TextBox 21">
            <a:extLst>
              <a:ext uri="{FF2B5EF4-FFF2-40B4-BE49-F238E27FC236}">
                <a16:creationId xmlns:a16="http://schemas.microsoft.com/office/drawing/2014/main" id="{557AE4C2-7F1F-10C0-A246-F4C3C209616C}"/>
              </a:ext>
            </a:extLst>
          </p:cNvPr>
          <p:cNvSpPr txBox="1"/>
          <p:nvPr/>
        </p:nvSpPr>
        <p:spPr>
          <a:xfrm>
            <a:off x="1628384" y="4128883"/>
            <a:ext cx="10033348" cy="954107"/>
          </a:xfrm>
          <a:prstGeom prst="rect">
            <a:avLst/>
          </a:prstGeom>
          <a:noFill/>
        </p:spPr>
        <p:txBody>
          <a:bodyPr wrap="square" rtlCol="0">
            <a:spAutoFit/>
          </a:bodyPr>
          <a:lstStyle/>
          <a:p>
            <a:r>
              <a:rPr lang="en-PH" sz="2800" dirty="0">
                <a:latin typeface="TT Hoves" panose="02000503030000020004" pitchFamily="50" charset="0"/>
              </a:rPr>
              <a:t>Convert units between metric and non-metric systems to solve real-world dimensional problems.</a:t>
            </a:r>
          </a:p>
        </p:txBody>
      </p:sp>
    </p:spTree>
    <p:extLst>
      <p:ext uri="{BB962C8B-B14F-4D97-AF65-F5344CB8AC3E}">
        <p14:creationId xmlns:p14="http://schemas.microsoft.com/office/powerpoint/2010/main" val="369278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55095-7D36-732A-93EC-5DE0226C2153}"/>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BFAAE774-CE67-E980-705E-F50F1536B7D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F23AA9A-131A-CBCA-DB91-4E5A1BDC2CDD}"/>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180E0620-D5E0-CAB6-3EB4-0C15FF7A84FF}"/>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83B05C67-5FE1-F078-4A77-DB55AEEB2B7B}"/>
              </a:ext>
            </a:extLst>
          </p:cNvPr>
          <p:cNvSpPr txBox="1"/>
          <p:nvPr/>
        </p:nvSpPr>
        <p:spPr>
          <a:xfrm>
            <a:off x="699400" y="619760"/>
            <a:ext cx="11441800" cy="830997"/>
          </a:xfrm>
          <a:prstGeom prst="rect">
            <a:avLst/>
          </a:prstGeom>
          <a:noFill/>
        </p:spPr>
        <p:txBody>
          <a:bodyPr wrap="square" rtlCol="0">
            <a:spAutoFit/>
          </a:bodyPr>
          <a:lstStyle/>
          <a:p>
            <a:r>
              <a:rPr lang="en-PH" sz="4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Physical Quantities</a:t>
            </a:r>
          </a:p>
        </p:txBody>
      </p:sp>
      <p:sp>
        <p:nvSpPr>
          <p:cNvPr id="12" name="Freeform: Shape 11">
            <a:extLst>
              <a:ext uri="{FF2B5EF4-FFF2-40B4-BE49-F238E27FC236}">
                <a16:creationId xmlns:a16="http://schemas.microsoft.com/office/drawing/2014/main" id="{B7874CC9-B480-212E-C8B2-A3C9F75CA115}"/>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9" name="TextBox 8">
            <a:extLst>
              <a:ext uri="{FF2B5EF4-FFF2-40B4-BE49-F238E27FC236}">
                <a16:creationId xmlns:a16="http://schemas.microsoft.com/office/drawing/2014/main" id="{73C00714-0F36-6BC8-C038-4D7F36CEB239}"/>
              </a:ext>
            </a:extLst>
          </p:cNvPr>
          <p:cNvSpPr txBox="1"/>
          <p:nvPr/>
        </p:nvSpPr>
        <p:spPr>
          <a:xfrm>
            <a:off x="699398" y="1537117"/>
            <a:ext cx="10669642" cy="3970318"/>
          </a:xfrm>
          <a:prstGeom prst="rect">
            <a:avLst/>
          </a:prstGeom>
          <a:noFill/>
        </p:spPr>
        <p:txBody>
          <a:bodyPr wrap="square" rtlCol="0">
            <a:spAutoFit/>
          </a:bodyPr>
          <a:lstStyle/>
          <a:p>
            <a:r>
              <a:rPr lang="en-PH" sz="2800" dirty="0">
                <a:latin typeface="TT Hoves" panose="02000503030000020004" pitchFamily="50" charset="0"/>
              </a:rPr>
              <a:t>Physics relies entirely on objective, measurable properties of our universe.</a:t>
            </a:r>
          </a:p>
          <a:p>
            <a:pPr marL="457200" indent="-457200">
              <a:buFont typeface="Arial" panose="020B0604020202020204" pitchFamily="34" charset="0"/>
              <a:buChar char="•"/>
            </a:pPr>
            <a:r>
              <a:rPr lang="en-PH" sz="2800" b="1" dirty="0">
                <a:latin typeface="TT Hoves" panose="02000503030000020004" pitchFamily="50" charset="0"/>
              </a:rPr>
              <a:t>Physical Quantities</a:t>
            </a:r>
            <a:r>
              <a:rPr lang="en-PH" sz="2800" dirty="0">
                <a:latin typeface="TT Hoves" panose="02000503030000020004" pitchFamily="50" charset="0"/>
              </a:rPr>
              <a:t> are any quantifiable properties of an object or phenomenon that can be measured with an instrument or calculated.</a:t>
            </a:r>
          </a:p>
          <a:p>
            <a:pPr marL="457200" indent="-457200">
              <a:buFont typeface="Arial" panose="020B0604020202020204" pitchFamily="34" charset="0"/>
              <a:buChar char="•"/>
            </a:pPr>
            <a:r>
              <a:rPr lang="en-PH" sz="2800" dirty="0">
                <a:latin typeface="TT Hoves" panose="02000503030000020004" pitchFamily="50" charset="0"/>
              </a:rPr>
              <a:t>Non-physical properties, such as emotional states or subjective beauty, fall entirely outside the domain of empirical physics because they cannot be assigned a standardized numerical value.</a:t>
            </a:r>
          </a:p>
        </p:txBody>
      </p:sp>
    </p:spTree>
    <p:extLst>
      <p:ext uri="{BB962C8B-B14F-4D97-AF65-F5344CB8AC3E}">
        <p14:creationId xmlns:p14="http://schemas.microsoft.com/office/powerpoint/2010/main" val="3824154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E1ECB-4C2D-C032-050E-D7AE08D18EFD}"/>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1CE4860D-023F-E906-B048-28661628AC5B}"/>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16056DAF-C66F-FE65-F86B-AE475CF8BB6E}"/>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E9589210-8F4D-5A13-5B23-F2EE60D422DD}"/>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FF3B93C3-41F8-4035-CB05-4C38508E888B}"/>
              </a:ext>
            </a:extLst>
          </p:cNvPr>
          <p:cNvSpPr txBox="1"/>
          <p:nvPr/>
        </p:nvSpPr>
        <p:spPr>
          <a:xfrm>
            <a:off x="699400" y="619760"/>
            <a:ext cx="11441800" cy="830997"/>
          </a:xfrm>
          <a:prstGeom prst="rect">
            <a:avLst/>
          </a:prstGeom>
          <a:noFill/>
        </p:spPr>
        <p:txBody>
          <a:bodyPr wrap="square" rtlCol="0">
            <a:spAutoFit/>
          </a:bodyPr>
          <a:lstStyle/>
          <a:p>
            <a:r>
              <a:rPr lang="en-PH" sz="4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SI Base Units</a:t>
            </a:r>
          </a:p>
        </p:txBody>
      </p:sp>
      <p:sp>
        <p:nvSpPr>
          <p:cNvPr id="12" name="Freeform: Shape 11">
            <a:extLst>
              <a:ext uri="{FF2B5EF4-FFF2-40B4-BE49-F238E27FC236}">
                <a16:creationId xmlns:a16="http://schemas.microsoft.com/office/drawing/2014/main" id="{8BFE8293-7D75-EEBF-C2C0-A8040DC500A6}"/>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B896015-5CDA-27BF-1A53-6FCD269C0969}"/>
                  </a:ext>
                </a:extLst>
              </p:cNvPr>
              <p:cNvSpPr txBox="1"/>
              <p:nvPr/>
            </p:nvSpPr>
            <p:spPr>
              <a:xfrm>
                <a:off x="699398" y="1537117"/>
                <a:ext cx="10669642" cy="2677656"/>
              </a:xfrm>
              <a:prstGeom prst="rect">
                <a:avLst/>
              </a:prstGeom>
              <a:noFill/>
            </p:spPr>
            <p:txBody>
              <a:bodyPr wrap="square" rtlCol="0">
                <a:spAutoFit/>
              </a:bodyPr>
              <a:lstStyle/>
              <a:p>
                <a:r>
                  <a:rPr lang="en-PH" sz="2800" dirty="0">
                    <a:latin typeface="TT Hoves" panose="02000503030000020004" pitchFamily="50" charset="0"/>
                  </a:rPr>
                  <a:t>Mechanics is completely built upon three primary base units from the International System of Units (SI).</a:t>
                </a:r>
              </a:p>
              <a:p>
                <a:endParaRPr lang="en-PH" sz="2800" dirty="0">
                  <a:latin typeface="TT Hoves" panose="02000503030000020004" pitchFamily="50" charset="0"/>
                </a:endParaRPr>
              </a:p>
              <a:p>
                <a:pPr marL="457200" indent="-457200">
                  <a:buFont typeface="Arial" panose="020B0604020202020204" pitchFamily="34" charset="0"/>
                  <a:buChar char="•"/>
                </a:pPr>
                <a:r>
                  <a:rPr lang="en-PH" sz="2800" b="1" dirty="0">
                    <a:latin typeface="TT Hoves" panose="02000503030000020004" pitchFamily="50" charset="0"/>
                  </a:rPr>
                  <a:t>Length (</a:t>
                </a:r>
                <a14:m>
                  <m:oMath xmlns:m="http://schemas.openxmlformats.org/officeDocument/2006/math">
                    <m:r>
                      <a:rPr lang="en-PH" sz="2800" i="1">
                        <a:latin typeface="Cambria Math" panose="02040503050406030204" pitchFamily="18" charset="0"/>
                      </a:rPr>
                      <m:t>𝐿</m:t>
                    </m:r>
                  </m:oMath>
                </a14:m>
                <a:r>
                  <a:rPr lang="en-PH" sz="2800" b="1" dirty="0">
                    <a:latin typeface="TT Hoves" panose="02000503030000020004" pitchFamily="50" charset="0"/>
                  </a:rPr>
                  <a:t>):</a:t>
                </a:r>
                <a:r>
                  <a:rPr lang="en-PH" sz="2800" dirty="0">
                    <a:latin typeface="TT Hoves" panose="02000503030000020004" pitchFamily="50" charset="0"/>
                  </a:rPr>
                  <a:t> Measured in </a:t>
                </a:r>
                <a:r>
                  <a:rPr lang="en-PH" sz="2800" b="1" dirty="0">
                    <a:latin typeface="TT Hoves" panose="02000503030000020004" pitchFamily="50" charset="0"/>
                  </a:rPr>
                  <a:t>meters (</a:t>
                </a:r>
                <a14:m>
                  <m:oMath xmlns:m="http://schemas.openxmlformats.org/officeDocument/2006/math">
                    <m:r>
                      <m:rPr>
                        <m:nor/>
                      </m:rPr>
                      <a:rPr lang="en-PH" sz="2800" i="0">
                        <a:latin typeface="TT Hoves" panose="02000503030000020004" pitchFamily="50" charset="0"/>
                      </a:rPr>
                      <m:t>m</m:t>
                    </m:r>
                  </m:oMath>
                </a14:m>
                <a:r>
                  <a:rPr lang="en-PH" sz="2800" b="1" dirty="0">
                    <a:latin typeface="TT Hoves" panose="02000503030000020004" pitchFamily="50" charset="0"/>
                  </a:rPr>
                  <a:t>)</a:t>
                </a:r>
                <a:endParaRPr lang="en-PH" sz="2800" dirty="0">
                  <a:latin typeface="TT Hoves" panose="02000503030000020004" pitchFamily="50" charset="0"/>
                </a:endParaRPr>
              </a:p>
              <a:p>
                <a:pPr marL="457200" indent="-457200">
                  <a:buFont typeface="Arial" panose="020B0604020202020204" pitchFamily="34" charset="0"/>
                  <a:buChar char="•"/>
                </a:pPr>
                <a:r>
                  <a:rPr lang="en-PH" sz="2800" b="1" dirty="0">
                    <a:latin typeface="TT Hoves" panose="02000503030000020004" pitchFamily="50" charset="0"/>
                  </a:rPr>
                  <a:t>Mass (</a:t>
                </a:r>
                <a14:m>
                  <m:oMath xmlns:m="http://schemas.openxmlformats.org/officeDocument/2006/math">
                    <m:r>
                      <a:rPr lang="en-PH" sz="2800" i="1">
                        <a:latin typeface="Cambria Math" panose="02040503050406030204" pitchFamily="18" charset="0"/>
                      </a:rPr>
                      <m:t>𝑀</m:t>
                    </m:r>
                  </m:oMath>
                </a14:m>
                <a:r>
                  <a:rPr lang="en-PH" sz="2800" b="1" dirty="0">
                    <a:latin typeface="TT Hoves" panose="02000503030000020004" pitchFamily="50" charset="0"/>
                  </a:rPr>
                  <a:t>):</a:t>
                </a:r>
                <a:r>
                  <a:rPr lang="en-PH" sz="2800" dirty="0">
                    <a:latin typeface="TT Hoves" panose="02000503030000020004" pitchFamily="50" charset="0"/>
                  </a:rPr>
                  <a:t> Measured in </a:t>
                </a:r>
                <a:r>
                  <a:rPr lang="en-PH" sz="2800" b="1" dirty="0">
                    <a:latin typeface="TT Hoves" panose="02000503030000020004" pitchFamily="50" charset="0"/>
                  </a:rPr>
                  <a:t>kilograms (</a:t>
                </a:r>
                <a14:m>
                  <m:oMath xmlns:m="http://schemas.openxmlformats.org/officeDocument/2006/math">
                    <m:r>
                      <m:rPr>
                        <m:nor/>
                      </m:rPr>
                      <a:rPr lang="en-PH" sz="2800" i="0">
                        <a:latin typeface="TT Hoves" panose="02000503030000020004" pitchFamily="50" charset="0"/>
                      </a:rPr>
                      <m:t>kg</m:t>
                    </m:r>
                  </m:oMath>
                </a14:m>
                <a:r>
                  <a:rPr lang="en-PH" sz="2800" b="1" dirty="0">
                    <a:latin typeface="TT Hoves" panose="02000503030000020004" pitchFamily="50" charset="0"/>
                  </a:rPr>
                  <a:t>)</a:t>
                </a:r>
                <a:endParaRPr lang="en-PH" sz="2800" dirty="0">
                  <a:latin typeface="TT Hoves" panose="02000503030000020004" pitchFamily="50" charset="0"/>
                </a:endParaRPr>
              </a:p>
              <a:p>
                <a:pPr marL="457200" indent="-457200">
                  <a:buFont typeface="Arial" panose="020B0604020202020204" pitchFamily="34" charset="0"/>
                  <a:buChar char="•"/>
                </a:pPr>
                <a:r>
                  <a:rPr lang="en-PH" sz="2800" b="1" dirty="0">
                    <a:latin typeface="TT Hoves" panose="02000503030000020004" pitchFamily="50" charset="0"/>
                  </a:rPr>
                  <a:t>Time (</a:t>
                </a:r>
                <a14:m>
                  <m:oMath xmlns:m="http://schemas.openxmlformats.org/officeDocument/2006/math">
                    <m:r>
                      <a:rPr lang="en-PH" sz="2800" i="1">
                        <a:latin typeface="Cambria Math" panose="02040503050406030204" pitchFamily="18" charset="0"/>
                      </a:rPr>
                      <m:t>𝑇</m:t>
                    </m:r>
                  </m:oMath>
                </a14:m>
                <a:r>
                  <a:rPr lang="en-PH" sz="2800" b="1" dirty="0">
                    <a:latin typeface="TT Hoves" panose="02000503030000020004" pitchFamily="50" charset="0"/>
                  </a:rPr>
                  <a:t>):</a:t>
                </a:r>
                <a:r>
                  <a:rPr lang="en-PH" sz="2800" dirty="0">
                    <a:latin typeface="TT Hoves" panose="02000503030000020004" pitchFamily="50" charset="0"/>
                  </a:rPr>
                  <a:t> Measured in </a:t>
                </a:r>
                <a:r>
                  <a:rPr lang="en-PH" sz="2800" b="1" dirty="0">
                    <a:latin typeface="TT Hoves" panose="02000503030000020004" pitchFamily="50" charset="0"/>
                  </a:rPr>
                  <a:t>seconds (</a:t>
                </a:r>
                <a14:m>
                  <m:oMath xmlns:m="http://schemas.openxmlformats.org/officeDocument/2006/math">
                    <m:r>
                      <m:rPr>
                        <m:nor/>
                      </m:rPr>
                      <a:rPr lang="en-PH" sz="2800" i="0">
                        <a:latin typeface="TT Hoves" panose="02000503030000020004" pitchFamily="50" charset="0"/>
                      </a:rPr>
                      <m:t>s</m:t>
                    </m:r>
                  </m:oMath>
                </a14:m>
                <a:r>
                  <a:rPr lang="en-PH" sz="2800" b="1" dirty="0">
                    <a:latin typeface="TT Hoves" panose="02000503030000020004" pitchFamily="50" charset="0"/>
                  </a:rPr>
                  <a:t>)</a:t>
                </a:r>
              </a:p>
            </p:txBody>
          </p:sp>
        </mc:Choice>
        <mc:Fallback xmlns="">
          <p:sp>
            <p:nvSpPr>
              <p:cNvPr id="9" name="TextBox 8">
                <a:extLst>
                  <a:ext uri="{FF2B5EF4-FFF2-40B4-BE49-F238E27FC236}">
                    <a16:creationId xmlns:a16="http://schemas.microsoft.com/office/drawing/2014/main" id="{BB896015-5CDA-27BF-1A53-6FCD269C0969}"/>
                  </a:ext>
                </a:extLst>
              </p:cNvPr>
              <p:cNvSpPr txBox="1">
                <a:spLocks noRot="1" noChangeAspect="1" noMove="1" noResize="1" noEditPoints="1" noAdjustHandles="1" noChangeArrowheads="1" noChangeShapeType="1" noTextEdit="1"/>
              </p:cNvSpPr>
              <p:nvPr/>
            </p:nvSpPr>
            <p:spPr>
              <a:xfrm>
                <a:off x="699398" y="1537117"/>
                <a:ext cx="10669642" cy="2677656"/>
              </a:xfrm>
              <a:prstGeom prst="rect">
                <a:avLst/>
              </a:prstGeom>
              <a:blipFill>
                <a:blip r:embed="rId3"/>
                <a:stretch>
                  <a:fillRect l="-1200" t="-2278" b="-5467"/>
                </a:stretch>
              </a:blipFill>
            </p:spPr>
            <p:txBody>
              <a:bodyPr/>
              <a:lstStyle/>
              <a:p>
                <a:r>
                  <a:rPr lang="en-PH">
                    <a:noFill/>
                  </a:rPr>
                  <a:t> </a:t>
                </a:r>
              </a:p>
            </p:txBody>
          </p:sp>
        </mc:Fallback>
      </mc:AlternateContent>
    </p:spTree>
    <p:extLst>
      <p:ext uri="{BB962C8B-B14F-4D97-AF65-F5344CB8AC3E}">
        <p14:creationId xmlns:p14="http://schemas.microsoft.com/office/powerpoint/2010/main" val="989536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92675-FCCC-4766-D4F3-EB98E4AE3506}"/>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37EBECD2-6A48-6967-F94E-3D570FD118F2}"/>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53CE191D-5AFE-DB22-36D2-4FB32C370E18}"/>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343CF871-22EC-61D9-18D7-EA956A6C2E25}"/>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94E61BA9-763D-9EF4-7BEA-FC347B147069}"/>
              </a:ext>
            </a:extLst>
          </p:cNvPr>
          <p:cNvSpPr txBox="1"/>
          <p:nvPr/>
        </p:nvSpPr>
        <p:spPr>
          <a:xfrm>
            <a:off x="699400" y="619760"/>
            <a:ext cx="11441800" cy="830997"/>
          </a:xfrm>
          <a:prstGeom prst="rect">
            <a:avLst/>
          </a:prstGeom>
          <a:noFill/>
        </p:spPr>
        <p:txBody>
          <a:bodyPr wrap="square" rtlCol="0">
            <a:spAutoFit/>
          </a:bodyPr>
          <a:lstStyle/>
          <a:p>
            <a:r>
              <a:rPr lang="en-PH" sz="4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Metric Prefixes</a:t>
            </a:r>
          </a:p>
        </p:txBody>
      </p:sp>
      <p:sp>
        <p:nvSpPr>
          <p:cNvPr id="12" name="Freeform: Shape 11">
            <a:extLst>
              <a:ext uri="{FF2B5EF4-FFF2-40B4-BE49-F238E27FC236}">
                <a16:creationId xmlns:a16="http://schemas.microsoft.com/office/drawing/2014/main" id="{FAC4B74D-7C5E-7607-14F6-AA92844F821F}"/>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BC443784-9533-B794-7702-EA259839652F}"/>
                  </a:ext>
                </a:extLst>
              </p:cNvPr>
              <p:cNvSpPr txBox="1"/>
              <p:nvPr/>
            </p:nvSpPr>
            <p:spPr>
              <a:xfrm>
                <a:off x="699397" y="1537117"/>
                <a:ext cx="11075507" cy="1815882"/>
              </a:xfrm>
              <a:prstGeom prst="rect">
                <a:avLst/>
              </a:prstGeom>
              <a:noFill/>
            </p:spPr>
            <p:txBody>
              <a:bodyPr wrap="square" rtlCol="0">
                <a:spAutoFit/>
              </a:bodyPr>
              <a:lstStyle/>
              <a:p>
                <a:pPr marL="285750" indent="-285750">
                  <a:buFont typeface="Arial" panose="020B0604020202020204" pitchFamily="34" charset="0"/>
                  <a:buChar char="•"/>
                </a:pPr>
                <a:r>
                  <a:rPr lang="en-PH" sz="2800" dirty="0">
                    <a:latin typeface="TT Hoves" panose="02000503030000020004" pitchFamily="50" charset="0"/>
                  </a:rPr>
                  <a:t>Quantities tracking extreme scales are expressed uniformly using </a:t>
                </a:r>
                <a:r>
                  <a:rPr lang="en-PH" sz="2800" b="1" dirty="0">
                    <a:latin typeface="TT Hoves" panose="02000503030000020004" pitchFamily="50" charset="0"/>
                  </a:rPr>
                  <a:t>Scientific Notation</a:t>
                </a:r>
                <a:r>
                  <a:rPr lang="en-PH" sz="2800" dirty="0">
                    <a:latin typeface="TT Hoves" panose="02000503030000020004" pitchFamily="50" charset="0"/>
                  </a:rPr>
                  <a:t> (</a:t>
                </a:r>
                <a14:m>
                  <m:oMath xmlns:m="http://schemas.openxmlformats.org/officeDocument/2006/math">
                    <m:r>
                      <a:rPr lang="en-PH" sz="2800" i="1">
                        <a:latin typeface="Cambria Math" panose="02040503050406030204" pitchFamily="18" charset="0"/>
                      </a:rPr>
                      <m:t>𝑀</m:t>
                    </m:r>
                    <m:r>
                      <a:rPr lang="en-PH" sz="2800">
                        <a:latin typeface="Cambria Math" panose="02040503050406030204" pitchFamily="18" charset="0"/>
                      </a:rPr>
                      <m:t>×</m:t>
                    </m:r>
                    <m:sSup>
                      <m:sSupPr>
                        <m:ctrlPr>
                          <a:rPr lang="en-PH" sz="2800" i="1">
                            <a:latin typeface="Cambria Math" panose="02040503050406030204" pitchFamily="18" charset="0"/>
                          </a:rPr>
                        </m:ctrlPr>
                      </m:sSupPr>
                      <m:e>
                        <m:r>
                          <a:rPr lang="en-PH" sz="2800">
                            <a:latin typeface="Cambria Math" panose="02040503050406030204" pitchFamily="18" charset="0"/>
                          </a:rPr>
                          <m:t>10</m:t>
                        </m:r>
                      </m:e>
                      <m:sup>
                        <m:r>
                          <a:rPr lang="en-PH" sz="2800" i="1">
                            <a:latin typeface="Cambria Math" panose="02040503050406030204" pitchFamily="18" charset="0"/>
                          </a:rPr>
                          <m:t>𝑛</m:t>
                        </m:r>
                      </m:sup>
                    </m:sSup>
                  </m:oMath>
                </a14:m>
                <a:r>
                  <a:rPr lang="en-PH" sz="2800" dirty="0">
                    <a:latin typeface="TT Hoves" panose="02000503030000020004" pitchFamily="50" charset="0"/>
                  </a:rPr>
                  <a:t>).</a:t>
                </a:r>
              </a:p>
              <a:p>
                <a:endParaRPr lang="en-PH" sz="2800" dirty="0">
                  <a:latin typeface="TT Hoves" panose="02000503030000020004" pitchFamily="50" charset="0"/>
                </a:endParaRPr>
              </a:p>
              <a:p>
                <a:pPr marL="285750" indent="-285750">
                  <a:buFont typeface="Arial" panose="020B0604020202020204" pitchFamily="34" charset="0"/>
                  <a:buChar char="•"/>
                </a:pPr>
                <a:r>
                  <a:rPr lang="en-PH" sz="2800" i="1" dirty="0">
                    <a:latin typeface="TT Hoves" panose="02000503030000020004" pitchFamily="50" charset="0"/>
                  </a:rPr>
                  <a:t>Example:</a:t>
                </a:r>
                <a:r>
                  <a:rPr lang="en-PH" sz="2800" dirty="0">
                    <a:latin typeface="TT Hoves" panose="02000503030000020004" pitchFamily="50" charset="0"/>
                  </a:rPr>
                  <a:t> </a:t>
                </a:r>
                <a14:m>
                  <m:oMath xmlns:m="http://schemas.openxmlformats.org/officeDocument/2006/math">
                    <m:r>
                      <a:rPr lang="en-PH" sz="2800">
                        <a:latin typeface="Cambria Math" panose="02040503050406030204" pitchFamily="18" charset="0"/>
                      </a:rPr>
                      <m:t>45.2</m:t>
                    </m:r>
                    <m:r>
                      <m:rPr>
                        <m:nor/>
                      </m:rPr>
                      <a:rPr lang="en-PH" sz="2800" i="0">
                        <a:latin typeface="TT Hoves" panose="02000503030000020004" pitchFamily="50" charset="0"/>
                      </a:rPr>
                      <m:t> </m:t>
                    </m:r>
                    <m:r>
                      <m:rPr>
                        <m:nor/>
                      </m:rPr>
                      <a:rPr lang="en-PH" sz="2800" i="0">
                        <a:latin typeface="TT Hoves" panose="02000503030000020004" pitchFamily="50" charset="0"/>
                      </a:rPr>
                      <m:t>km</m:t>
                    </m:r>
                    <m:r>
                      <a:rPr lang="en-PH" sz="2800">
                        <a:latin typeface="Cambria Math" panose="02040503050406030204" pitchFamily="18" charset="0"/>
                      </a:rPr>
                      <m:t>=45.2×</m:t>
                    </m:r>
                    <m:sSup>
                      <m:sSupPr>
                        <m:ctrlPr>
                          <a:rPr lang="en-PH" sz="2800" i="1">
                            <a:latin typeface="Cambria Math" panose="02040503050406030204" pitchFamily="18" charset="0"/>
                          </a:rPr>
                        </m:ctrlPr>
                      </m:sSupPr>
                      <m:e>
                        <m:r>
                          <a:rPr lang="en-PH" sz="2800">
                            <a:latin typeface="Cambria Math" panose="02040503050406030204" pitchFamily="18" charset="0"/>
                          </a:rPr>
                          <m:t>10</m:t>
                        </m:r>
                      </m:e>
                      <m:sup>
                        <m:r>
                          <a:rPr lang="en-PH" sz="2800">
                            <a:latin typeface="Cambria Math" panose="02040503050406030204" pitchFamily="18" charset="0"/>
                          </a:rPr>
                          <m:t>3</m:t>
                        </m:r>
                      </m:sup>
                    </m:sSup>
                    <m:r>
                      <m:rPr>
                        <m:nor/>
                      </m:rPr>
                      <a:rPr lang="en-PH" sz="2800" i="0">
                        <a:latin typeface="TT Hoves" panose="02000503030000020004" pitchFamily="50" charset="0"/>
                      </a:rPr>
                      <m:t> </m:t>
                    </m:r>
                    <m:r>
                      <m:rPr>
                        <m:nor/>
                      </m:rPr>
                      <a:rPr lang="en-PH" sz="2800" i="0">
                        <a:latin typeface="TT Hoves" panose="02000503030000020004" pitchFamily="50" charset="0"/>
                      </a:rPr>
                      <m:t>m</m:t>
                    </m:r>
                  </m:oMath>
                </a14:m>
                <a:endParaRPr lang="en-PH" sz="2800" dirty="0">
                  <a:latin typeface="TT Hoves" panose="02000503030000020004" pitchFamily="50" charset="0"/>
                </a:endParaRPr>
              </a:p>
            </p:txBody>
          </p:sp>
        </mc:Choice>
        <mc:Fallback>
          <p:sp>
            <p:nvSpPr>
              <p:cNvPr id="9" name="TextBox 8">
                <a:extLst>
                  <a:ext uri="{FF2B5EF4-FFF2-40B4-BE49-F238E27FC236}">
                    <a16:creationId xmlns:a16="http://schemas.microsoft.com/office/drawing/2014/main" id="{BC443784-9533-B794-7702-EA259839652F}"/>
                  </a:ext>
                </a:extLst>
              </p:cNvPr>
              <p:cNvSpPr txBox="1">
                <a:spLocks noRot="1" noChangeAspect="1" noMove="1" noResize="1" noEditPoints="1" noAdjustHandles="1" noChangeArrowheads="1" noChangeShapeType="1" noTextEdit="1"/>
              </p:cNvSpPr>
              <p:nvPr/>
            </p:nvSpPr>
            <p:spPr>
              <a:xfrm>
                <a:off x="699397" y="1537117"/>
                <a:ext cx="11075507" cy="1815882"/>
              </a:xfrm>
              <a:prstGeom prst="rect">
                <a:avLst/>
              </a:prstGeom>
              <a:blipFill>
                <a:blip r:embed="rId3"/>
                <a:stretch>
                  <a:fillRect l="-1031" t="-3472" b="-8333"/>
                </a:stretch>
              </a:blipFill>
            </p:spPr>
            <p:txBody>
              <a:bodyPr/>
              <a:lstStyle/>
              <a:p>
                <a:r>
                  <a:rPr lang="en-US">
                    <a:noFill/>
                  </a:rPr>
                  <a:t> </a:t>
                </a:r>
              </a:p>
            </p:txBody>
          </p:sp>
        </mc:Fallback>
      </mc:AlternateContent>
    </p:spTree>
    <p:extLst>
      <p:ext uri="{BB962C8B-B14F-4D97-AF65-F5344CB8AC3E}">
        <p14:creationId xmlns:p14="http://schemas.microsoft.com/office/powerpoint/2010/main" val="858315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8ED30-2D27-49AB-1912-7D5D546F8EC3}"/>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D8FC1392-3749-C12F-FBF1-5AC06293E2E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9AA5AF2D-176D-00F9-03DC-0F6317948E17}"/>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8A105788-B85D-D5FF-A202-23EEB2D49EC7}"/>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B0D06600-1FD4-B6C9-BC91-EAC9D312B286}"/>
              </a:ext>
            </a:extLst>
          </p:cNvPr>
          <p:cNvSpPr txBox="1"/>
          <p:nvPr/>
        </p:nvSpPr>
        <p:spPr>
          <a:xfrm>
            <a:off x="699400" y="619760"/>
            <a:ext cx="11441800" cy="830997"/>
          </a:xfrm>
          <a:prstGeom prst="rect">
            <a:avLst/>
          </a:prstGeom>
          <a:noFill/>
        </p:spPr>
        <p:txBody>
          <a:bodyPr wrap="square" rtlCol="0">
            <a:spAutoFit/>
          </a:bodyPr>
          <a:lstStyle/>
          <a:p>
            <a:r>
              <a:rPr lang="en-PH" sz="4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Metric Prefixes</a:t>
            </a:r>
          </a:p>
        </p:txBody>
      </p:sp>
      <p:sp>
        <p:nvSpPr>
          <p:cNvPr id="12" name="Freeform: Shape 11">
            <a:extLst>
              <a:ext uri="{FF2B5EF4-FFF2-40B4-BE49-F238E27FC236}">
                <a16:creationId xmlns:a16="http://schemas.microsoft.com/office/drawing/2014/main" id="{FB707D16-3867-13DB-F3D6-E4B1B878841E}"/>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pic>
        <p:nvPicPr>
          <p:cNvPr id="4" name="Picture 3">
            <a:extLst>
              <a:ext uri="{FF2B5EF4-FFF2-40B4-BE49-F238E27FC236}">
                <a16:creationId xmlns:a16="http://schemas.microsoft.com/office/drawing/2014/main" id="{241A534F-F29E-ACBB-7552-3C351B50D7EA}"/>
              </a:ext>
            </a:extLst>
          </p:cNvPr>
          <p:cNvPicPr>
            <a:picLocks noChangeAspect="1"/>
          </p:cNvPicPr>
          <p:nvPr/>
        </p:nvPicPr>
        <p:blipFill>
          <a:blip r:embed="rId3"/>
          <a:srcRect t="12689"/>
          <a:stretch>
            <a:fillRect/>
          </a:stretch>
        </p:blipFill>
        <p:spPr>
          <a:xfrm>
            <a:off x="699400" y="1497545"/>
            <a:ext cx="10754894" cy="3764265"/>
          </a:xfrm>
          <a:prstGeom prst="rect">
            <a:avLst/>
          </a:prstGeom>
        </p:spPr>
      </p:pic>
    </p:spTree>
    <p:extLst>
      <p:ext uri="{BB962C8B-B14F-4D97-AF65-F5344CB8AC3E}">
        <p14:creationId xmlns:p14="http://schemas.microsoft.com/office/powerpoint/2010/main" val="909286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89C32-F1B2-3B86-FD4C-37D2FB524151}"/>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83F8DCC5-0184-36AD-95E7-B16C4AB7DEF2}"/>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A0BAEFD9-D3B3-3910-0A35-D44E0588E827}"/>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EAFFE586-9DA1-4F42-A37F-08437AA2BFB2}"/>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94662012-79EF-2540-462B-CBD5960F06F0}"/>
              </a:ext>
            </a:extLst>
          </p:cNvPr>
          <p:cNvSpPr txBox="1"/>
          <p:nvPr/>
        </p:nvSpPr>
        <p:spPr>
          <a:xfrm>
            <a:off x="699400" y="619760"/>
            <a:ext cx="11441800" cy="830997"/>
          </a:xfrm>
          <a:prstGeom prst="rect">
            <a:avLst/>
          </a:prstGeom>
          <a:noFill/>
        </p:spPr>
        <p:txBody>
          <a:bodyPr wrap="square" rtlCol="0">
            <a:spAutoFit/>
          </a:bodyPr>
          <a:lstStyle/>
          <a:p>
            <a:r>
              <a:rPr lang="en-PH" sz="4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Conversion of Units</a:t>
            </a:r>
          </a:p>
        </p:txBody>
      </p:sp>
      <p:sp>
        <p:nvSpPr>
          <p:cNvPr id="12" name="Freeform: Shape 11">
            <a:extLst>
              <a:ext uri="{FF2B5EF4-FFF2-40B4-BE49-F238E27FC236}">
                <a16:creationId xmlns:a16="http://schemas.microsoft.com/office/drawing/2014/main" id="{8934A560-4C75-093F-A3FF-9E3871FF3A98}"/>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pic>
        <p:nvPicPr>
          <p:cNvPr id="9" name="Picture 8">
            <a:extLst>
              <a:ext uri="{FF2B5EF4-FFF2-40B4-BE49-F238E27FC236}">
                <a16:creationId xmlns:a16="http://schemas.microsoft.com/office/drawing/2014/main" id="{4F13883E-EC11-0FF3-D089-234D9D3CE5DD}"/>
              </a:ext>
            </a:extLst>
          </p:cNvPr>
          <p:cNvPicPr>
            <a:picLocks noChangeAspect="1"/>
          </p:cNvPicPr>
          <p:nvPr/>
        </p:nvPicPr>
        <p:blipFill>
          <a:blip r:embed="rId3">
            <a:extLst>
              <a:ext uri="{28A0092B-C50C-407E-A947-70E740481C1C}">
                <a14:useLocalDpi xmlns:a14="http://schemas.microsoft.com/office/drawing/2010/main" val="0"/>
              </a:ext>
            </a:extLst>
          </a:blip>
          <a:srcRect t="11689" b="22009"/>
          <a:stretch>
            <a:fillRect/>
          </a:stretch>
        </p:blipFill>
        <p:spPr>
          <a:xfrm>
            <a:off x="82899" y="1578558"/>
            <a:ext cx="12026201" cy="4487498"/>
          </a:xfrm>
          <a:prstGeom prst="rect">
            <a:avLst/>
          </a:prstGeom>
        </p:spPr>
      </p:pic>
      <p:sp>
        <p:nvSpPr>
          <p:cNvPr id="4" name="TextBox 3">
            <a:extLst>
              <a:ext uri="{FF2B5EF4-FFF2-40B4-BE49-F238E27FC236}">
                <a16:creationId xmlns:a16="http://schemas.microsoft.com/office/drawing/2014/main" id="{60432954-4DE5-E1D9-B004-9DDB2D4C5947}"/>
              </a:ext>
            </a:extLst>
          </p:cNvPr>
          <p:cNvSpPr txBox="1"/>
          <p:nvPr/>
        </p:nvSpPr>
        <p:spPr>
          <a:xfrm>
            <a:off x="10060042" y="5674618"/>
            <a:ext cx="948318" cy="307777"/>
          </a:xfrm>
          <a:prstGeom prst="rect">
            <a:avLst/>
          </a:prstGeom>
          <a:solidFill>
            <a:schemeClr val="bg1"/>
          </a:solidFill>
        </p:spPr>
        <p:txBody>
          <a:bodyPr wrap="square" rtlCol="0">
            <a:spAutoFit/>
          </a:bodyPr>
          <a:lstStyle/>
          <a:p>
            <a:r>
              <a:rPr lang="en-PH" sz="1400" b="1" dirty="0">
                <a:solidFill>
                  <a:srgbClr val="F56309"/>
                </a:solidFill>
              </a:rPr>
              <a:t>1,609</a:t>
            </a:r>
            <a:r>
              <a:rPr lang="en-PH" sz="1400" dirty="0"/>
              <a:t> m</a:t>
            </a:r>
          </a:p>
        </p:txBody>
      </p:sp>
    </p:spTree>
    <p:extLst>
      <p:ext uri="{BB962C8B-B14F-4D97-AF65-F5344CB8AC3E}">
        <p14:creationId xmlns:p14="http://schemas.microsoft.com/office/powerpoint/2010/main" val="38013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AEB50-E371-A067-1374-A4927726D91F}"/>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A5088DE6-8927-351D-513E-7BC8DC178B3D}"/>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78469989-2F7B-AA23-BE7E-97251D211682}"/>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F5F4C292-724E-F483-182E-C3669803C0EE}"/>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1B0E7226-B551-9936-0A26-A4E4E2759FAB}"/>
              </a:ext>
            </a:extLst>
          </p:cNvPr>
          <p:cNvSpPr txBox="1"/>
          <p:nvPr/>
        </p:nvSpPr>
        <p:spPr>
          <a:xfrm>
            <a:off x="699400" y="619760"/>
            <a:ext cx="11441800" cy="830997"/>
          </a:xfrm>
          <a:prstGeom prst="rect">
            <a:avLst/>
          </a:prstGeom>
          <a:noFill/>
        </p:spPr>
        <p:txBody>
          <a:bodyPr wrap="square" rtlCol="0">
            <a:spAutoFit/>
          </a:bodyPr>
          <a:lstStyle/>
          <a:p>
            <a:r>
              <a:rPr lang="en-PH" sz="4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Guided Example 1</a:t>
            </a:r>
          </a:p>
        </p:txBody>
      </p:sp>
      <p:sp>
        <p:nvSpPr>
          <p:cNvPr id="12" name="Freeform: Shape 11">
            <a:extLst>
              <a:ext uri="{FF2B5EF4-FFF2-40B4-BE49-F238E27FC236}">
                <a16:creationId xmlns:a16="http://schemas.microsoft.com/office/drawing/2014/main" id="{6F451486-4358-6231-6351-74E0813714DB}"/>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6" name="TextBox 5">
            <a:extLst>
              <a:ext uri="{FF2B5EF4-FFF2-40B4-BE49-F238E27FC236}">
                <a16:creationId xmlns:a16="http://schemas.microsoft.com/office/drawing/2014/main" id="{AD1AACE1-F016-3E0D-C374-56AA17FC8FC8}"/>
              </a:ext>
            </a:extLst>
          </p:cNvPr>
          <p:cNvSpPr txBox="1"/>
          <p:nvPr/>
        </p:nvSpPr>
        <p:spPr>
          <a:xfrm>
            <a:off x="699400" y="1450757"/>
            <a:ext cx="10594242" cy="954107"/>
          </a:xfrm>
          <a:prstGeom prst="rect">
            <a:avLst/>
          </a:prstGeom>
          <a:noFill/>
        </p:spPr>
        <p:txBody>
          <a:bodyPr wrap="square">
            <a:spAutoFit/>
          </a:bodyPr>
          <a:lstStyle/>
          <a:p>
            <a:pPr algn="just"/>
            <a:r>
              <a:rPr lang="en-PH" sz="2800" dirty="0">
                <a:latin typeface="TT Hoves" panose="02000503030000020004" pitchFamily="50" charset="0"/>
              </a:rPr>
              <a:t>On an interstate highway, a car is traveling at a speed of 38.0 m/s. Is the driver exceeding the speed limit of 75.0 mi/h?</a:t>
            </a:r>
          </a:p>
        </p:txBody>
      </p:sp>
      <p:sp>
        <p:nvSpPr>
          <p:cNvPr id="9" name="TextBox 8">
            <a:extLst>
              <a:ext uri="{FF2B5EF4-FFF2-40B4-BE49-F238E27FC236}">
                <a16:creationId xmlns:a16="http://schemas.microsoft.com/office/drawing/2014/main" id="{B97C6619-1A61-A6CA-6E16-6C1E56756F87}"/>
              </a:ext>
            </a:extLst>
          </p:cNvPr>
          <p:cNvSpPr txBox="1"/>
          <p:nvPr/>
        </p:nvSpPr>
        <p:spPr>
          <a:xfrm>
            <a:off x="699400" y="5591909"/>
            <a:ext cx="10594242" cy="646331"/>
          </a:xfrm>
          <a:prstGeom prst="rect">
            <a:avLst/>
          </a:prstGeom>
          <a:noFill/>
        </p:spPr>
        <p:txBody>
          <a:bodyPr wrap="square">
            <a:spAutoFit/>
          </a:bodyPr>
          <a:lstStyle/>
          <a:p>
            <a:r>
              <a:rPr lang="en-PH" dirty="0">
                <a:latin typeface="TT Hoves" panose="02000503030000020004" pitchFamily="50" charset="0"/>
              </a:rPr>
              <a:t>Reference: </a:t>
            </a:r>
            <a:r>
              <a:rPr lang="en-PH" dirty="0" err="1">
                <a:latin typeface="TT Hoves" panose="02000503030000020004" pitchFamily="50" charset="0"/>
              </a:rPr>
              <a:t>Serway</a:t>
            </a:r>
            <a:r>
              <a:rPr lang="en-PH" dirty="0">
                <a:latin typeface="TT Hoves" panose="02000503030000020004" pitchFamily="50" charset="0"/>
              </a:rPr>
              <a:t>, R. A., &amp; Jewett, J. W. (2019). Physics for scientists and engineers with modern physics (10th ed.). Cengage Learning.</a:t>
            </a:r>
          </a:p>
        </p:txBody>
      </p:sp>
    </p:spTree>
    <p:extLst>
      <p:ext uri="{BB962C8B-B14F-4D97-AF65-F5344CB8AC3E}">
        <p14:creationId xmlns:p14="http://schemas.microsoft.com/office/powerpoint/2010/main" val="3195470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1F50B-7AFC-C945-3C32-850E068CFC27}"/>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D2984605-0A15-D5EC-8032-CA57EBD3A7BE}"/>
              </a:ext>
            </a:extLst>
          </p:cNvPr>
          <p:cNvSpPr/>
          <p:nvPr/>
        </p:nvSpPr>
        <p:spPr>
          <a:xfrm>
            <a:off x="-5080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 name="TextBox 2">
            <a:extLst>
              <a:ext uri="{FF2B5EF4-FFF2-40B4-BE49-F238E27FC236}">
                <a16:creationId xmlns:a16="http://schemas.microsoft.com/office/drawing/2014/main" id="{86719B2B-6600-1D10-1567-F1152AADEA8E}"/>
              </a:ext>
            </a:extLst>
          </p:cNvPr>
          <p:cNvSpPr txBox="1"/>
          <p:nvPr/>
        </p:nvSpPr>
        <p:spPr>
          <a:xfrm>
            <a:off x="6882584" y="6512560"/>
            <a:ext cx="4610018" cy="276999"/>
          </a:xfrm>
          <a:prstGeom prst="rect">
            <a:avLst/>
          </a:prstGeom>
          <a:noFill/>
        </p:spPr>
        <p:txBody>
          <a:bodyPr wrap="square" rtlCol="0">
            <a:spAutoFit/>
          </a:bodyPr>
          <a:lstStyle/>
          <a:p>
            <a:pPr algn="r"/>
            <a:r>
              <a:rPr lang="en-PH" sz="1200" dirty="0">
                <a:solidFill>
                  <a:schemeClr val="bg1"/>
                </a:solidFill>
                <a:latin typeface="TT Hoves" panose="02000503030000020004" pitchFamily="50" charset="0"/>
              </a:rPr>
              <a:t>Prepared by </a:t>
            </a:r>
            <a:r>
              <a:rPr lang="en-PH" sz="1200" b="1" dirty="0">
                <a:solidFill>
                  <a:schemeClr val="bg1"/>
                </a:solidFill>
                <a:latin typeface="TT Hoves" panose="02000503030000020004" pitchFamily="50" charset="0"/>
              </a:rPr>
              <a:t>Engr. Philip Jayson L. Lestojas</a:t>
            </a:r>
          </a:p>
        </p:txBody>
      </p:sp>
      <p:sp>
        <p:nvSpPr>
          <p:cNvPr id="5" name="TextBox 4">
            <a:extLst>
              <a:ext uri="{FF2B5EF4-FFF2-40B4-BE49-F238E27FC236}">
                <a16:creationId xmlns:a16="http://schemas.microsoft.com/office/drawing/2014/main" id="{69631C54-2794-0677-C9A3-0729FA01974A}"/>
              </a:ext>
            </a:extLst>
          </p:cNvPr>
          <p:cNvSpPr txBox="1"/>
          <p:nvPr/>
        </p:nvSpPr>
        <p:spPr>
          <a:xfrm>
            <a:off x="699400" y="6512560"/>
            <a:ext cx="4610018" cy="276999"/>
          </a:xfrm>
          <a:prstGeom prst="rect">
            <a:avLst/>
          </a:prstGeom>
          <a:noFill/>
        </p:spPr>
        <p:txBody>
          <a:bodyPr wrap="square" rtlCol="0">
            <a:spAutoFit/>
          </a:bodyPr>
          <a:lstStyle/>
          <a:p>
            <a:r>
              <a:rPr lang="en-PH" sz="1200" b="1" dirty="0">
                <a:solidFill>
                  <a:schemeClr val="bg1"/>
                </a:solidFill>
                <a:latin typeface="TT Hoves" panose="02000503030000020004" pitchFamily="50" charset="0"/>
              </a:rPr>
              <a:t>Physics 1</a:t>
            </a:r>
          </a:p>
        </p:txBody>
      </p:sp>
      <p:sp>
        <p:nvSpPr>
          <p:cNvPr id="10" name="TextBox 9">
            <a:extLst>
              <a:ext uri="{FF2B5EF4-FFF2-40B4-BE49-F238E27FC236}">
                <a16:creationId xmlns:a16="http://schemas.microsoft.com/office/drawing/2014/main" id="{1F66DCD5-7064-92D4-A117-5997EA3FB6A0}"/>
              </a:ext>
            </a:extLst>
          </p:cNvPr>
          <p:cNvSpPr txBox="1"/>
          <p:nvPr/>
        </p:nvSpPr>
        <p:spPr>
          <a:xfrm>
            <a:off x="699400" y="619760"/>
            <a:ext cx="11441800" cy="830997"/>
          </a:xfrm>
          <a:prstGeom prst="rect">
            <a:avLst/>
          </a:prstGeom>
          <a:noFill/>
        </p:spPr>
        <p:txBody>
          <a:bodyPr wrap="square" rtlCol="0">
            <a:spAutoFit/>
          </a:bodyPr>
          <a:lstStyle/>
          <a:p>
            <a:r>
              <a:rPr lang="en-PH" sz="4800" dirty="0">
                <a:gradFill flip="none" rotWithShape="1">
                  <a:gsLst>
                    <a:gs pos="0">
                      <a:srgbClr val="B45404"/>
                    </a:gs>
                    <a:gs pos="50000">
                      <a:srgbClr val="E86C06"/>
                    </a:gs>
                    <a:gs pos="100000">
                      <a:srgbClr val="F9770B"/>
                    </a:gs>
                  </a:gsLst>
                  <a:path path="circle">
                    <a:fillToRect l="50000" t="50000" r="50000" b="50000"/>
                  </a:path>
                  <a:tileRect/>
                </a:gradFill>
                <a:latin typeface="TT Hoves ExtraBold" panose="02000903040000020004" pitchFamily="50" charset="0"/>
              </a:rPr>
              <a:t>Guided Example 2</a:t>
            </a:r>
          </a:p>
        </p:txBody>
      </p:sp>
      <p:sp>
        <p:nvSpPr>
          <p:cNvPr id="12" name="Freeform: Shape 11">
            <a:extLst>
              <a:ext uri="{FF2B5EF4-FFF2-40B4-BE49-F238E27FC236}">
                <a16:creationId xmlns:a16="http://schemas.microsoft.com/office/drawing/2014/main" id="{A5ACDAD8-9888-864D-B18B-171C476EBBBF}"/>
              </a:ext>
            </a:extLst>
          </p:cNvPr>
          <p:cNvSpPr/>
          <p:nvPr/>
        </p:nvSpPr>
        <p:spPr>
          <a:xfrm>
            <a:off x="12029440" y="6441440"/>
            <a:ext cx="12192000" cy="416560"/>
          </a:xfrm>
          <a:custGeom>
            <a:avLst/>
            <a:gdLst>
              <a:gd name="csX0" fmla="*/ 0 w 12192000"/>
              <a:gd name="csY0" fmla="*/ 0 h 416560"/>
              <a:gd name="csX1" fmla="*/ 1790144 w 12192000"/>
              <a:gd name="csY1" fmla="*/ 0 h 416560"/>
              <a:gd name="csX2" fmla="*/ 2028904 w 12192000"/>
              <a:gd name="csY2" fmla="*/ 238760 h 416560"/>
              <a:gd name="csX3" fmla="*/ 7939692 w 12192000"/>
              <a:gd name="csY3" fmla="*/ 238760 h 416560"/>
              <a:gd name="csX4" fmla="*/ 8178452 w 12192000"/>
              <a:gd name="csY4" fmla="*/ 0 h 416560"/>
              <a:gd name="csX5" fmla="*/ 12192000 w 12192000"/>
              <a:gd name="csY5" fmla="*/ 0 h 416560"/>
              <a:gd name="csX6" fmla="*/ 12192000 w 12192000"/>
              <a:gd name="csY6" fmla="*/ 416560 h 416560"/>
              <a:gd name="csX7" fmla="*/ 0 w 12192000"/>
              <a:gd name="csY7" fmla="*/ 416560 h 416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16560">
                <a:moveTo>
                  <a:pt x="0" y="0"/>
                </a:moveTo>
                <a:lnTo>
                  <a:pt x="1790144" y="0"/>
                </a:lnTo>
                <a:lnTo>
                  <a:pt x="2028904" y="238760"/>
                </a:lnTo>
                <a:lnTo>
                  <a:pt x="7939692" y="238760"/>
                </a:lnTo>
                <a:lnTo>
                  <a:pt x="8178452" y="0"/>
                </a:lnTo>
                <a:lnTo>
                  <a:pt x="12192000" y="0"/>
                </a:lnTo>
                <a:lnTo>
                  <a:pt x="12192000" y="416560"/>
                </a:lnTo>
                <a:lnTo>
                  <a:pt x="0" y="416560"/>
                </a:lnTo>
                <a:close/>
              </a:path>
            </a:pathLst>
          </a:custGeom>
          <a:solidFill>
            <a:srgbClr val="F977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4283642-97D9-7F0A-29D7-8CDAA9E2B4CC}"/>
                  </a:ext>
                </a:extLst>
              </p:cNvPr>
              <p:cNvSpPr txBox="1"/>
              <p:nvPr/>
            </p:nvSpPr>
            <p:spPr>
              <a:xfrm>
                <a:off x="699400" y="1450757"/>
                <a:ext cx="10594242" cy="2246769"/>
              </a:xfrm>
              <a:prstGeom prst="rect">
                <a:avLst/>
              </a:prstGeom>
              <a:noFill/>
            </p:spPr>
            <p:txBody>
              <a:bodyPr wrap="square">
                <a:spAutoFit/>
              </a:bodyPr>
              <a:lstStyle/>
              <a:p>
                <a:pPr algn="just"/>
                <a:r>
                  <a:rPr lang="en-PH" sz="2800" dirty="0">
                    <a:latin typeface="TT Hoves" panose="02000503030000020004" pitchFamily="50" charset="0"/>
                  </a:rPr>
                  <a:t>Convert to basic SI units:</a:t>
                </a:r>
              </a:p>
              <a:p>
                <a:pPr marL="514350" indent="-514350" algn="just">
                  <a:buAutoNum type="alphaLcPeriod"/>
                </a:pPr>
                <a:r>
                  <a:rPr lang="en-PH" sz="2800" dirty="0">
                    <a:latin typeface="TT Hoves" panose="02000503030000020004" pitchFamily="50" charset="0"/>
                  </a:rPr>
                  <a:t>66 ft/s</a:t>
                </a:r>
              </a:p>
              <a:p>
                <a:pPr marL="514350" indent="-514350" algn="just">
                  <a:buAutoNum type="alphaLcPeriod"/>
                </a:pPr>
                <a:r>
                  <a:rPr lang="en-PH" sz="2800" dirty="0">
                    <a:latin typeface="TT Hoves" panose="02000503030000020004" pitchFamily="50" charset="0"/>
                  </a:rPr>
                  <a:t>60 mph</a:t>
                </a:r>
              </a:p>
              <a:p>
                <a:pPr marL="514350" indent="-514350" algn="just">
                  <a:buAutoNum type="alphaLcPeriod"/>
                </a:pPr>
                <a:r>
                  <a:rPr lang="en-PH" sz="2800" dirty="0">
                    <a:latin typeface="TT Hoves" panose="02000503030000020004" pitchFamily="50" charset="0"/>
                  </a:rPr>
                  <a:t>14 </a:t>
                </a:r>
                <a14:m>
                  <m:oMath xmlns:m="http://schemas.openxmlformats.org/officeDocument/2006/math">
                    <m:r>
                      <a:rPr lang="en-PH" sz="2800" b="0" i="1" smtClean="0">
                        <a:latin typeface="Cambria Math" panose="02040503050406030204" pitchFamily="18" charset="0"/>
                      </a:rPr>
                      <m:t>𝑖</m:t>
                    </m:r>
                    <m:sSup>
                      <m:sSupPr>
                        <m:ctrlPr>
                          <a:rPr lang="en-PH" sz="2800" b="0" i="1" smtClean="0">
                            <a:latin typeface="Cambria Math" panose="02040503050406030204" pitchFamily="18" charset="0"/>
                          </a:rPr>
                        </m:ctrlPr>
                      </m:sSupPr>
                      <m:e>
                        <m:r>
                          <a:rPr lang="en-PH" sz="2800" b="0" i="1" smtClean="0">
                            <a:latin typeface="Cambria Math" panose="02040503050406030204" pitchFamily="18" charset="0"/>
                          </a:rPr>
                          <m:t>𝑛</m:t>
                        </m:r>
                      </m:e>
                      <m:sup>
                        <m:r>
                          <a:rPr lang="en-PH" sz="2800" b="0" i="1" smtClean="0">
                            <a:latin typeface="Cambria Math" panose="02040503050406030204" pitchFamily="18" charset="0"/>
                          </a:rPr>
                          <m:t>2</m:t>
                        </m:r>
                      </m:sup>
                    </m:sSup>
                  </m:oMath>
                </a14:m>
                <a:endParaRPr lang="en-PH" sz="2800" dirty="0">
                  <a:latin typeface="TT Hoves" panose="02000503030000020004" pitchFamily="50" charset="0"/>
                </a:endParaRPr>
              </a:p>
              <a:p>
                <a:pPr marL="514350" indent="-514350" algn="just">
                  <a:buAutoNum type="alphaLcPeriod"/>
                </a:pPr>
                <a:endParaRPr lang="en-PH" sz="2800" dirty="0">
                  <a:latin typeface="TT Hoves" panose="02000503030000020004" pitchFamily="50" charset="0"/>
                </a:endParaRPr>
              </a:p>
            </p:txBody>
          </p:sp>
        </mc:Choice>
        <mc:Fallback xmlns="">
          <p:sp>
            <p:nvSpPr>
              <p:cNvPr id="6" name="TextBox 5">
                <a:extLst>
                  <a:ext uri="{FF2B5EF4-FFF2-40B4-BE49-F238E27FC236}">
                    <a16:creationId xmlns:a16="http://schemas.microsoft.com/office/drawing/2014/main" id="{D4283642-97D9-7F0A-29D7-8CDAA9E2B4CC}"/>
                  </a:ext>
                </a:extLst>
              </p:cNvPr>
              <p:cNvSpPr txBox="1">
                <a:spLocks noRot="1" noChangeAspect="1" noMove="1" noResize="1" noEditPoints="1" noAdjustHandles="1" noChangeArrowheads="1" noChangeShapeType="1" noTextEdit="1"/>
              </p:cNvSpPr>
              <p:nvPr/>
            </p:nvSpPr>
            <p:spPr>
              <a:xfrm>
                <a:off x="699400" y="1450757"/>
                <a:ext cx="10594242" cy="2246769"/>
              </a:xfrm>
              <a:prstGeom prst="rect">
                <a:avLst/>
              </a:prstGeom>
              <a:blipFill>
                <a:blip r:embed="rId3"/>
                <a:stretch>
                  <a:fillRect l="-1208" t="-2981"/>
                </a:stretch>
              </a:blipFill>
            </p:spPr>
            <p:txBody>
              <a:bodyPr/>
              <a:lstStyle/>
              <a:p>
                <a:r>
                  <a:rPr lang="en-PH">
                    <a:noFill/>
                  </a:rPr>
                  <a:t> </a:t>
                </a:r>
              </a:p>
            </p:txBody>
          </p:sp>
        </mc:Fallback>
      </mc:AlternateContent>
      <p:sp>
        <p:nvSpPr>
          <p:cNvPr id="9" name="TextBox 8">
            <a:extLst>
              <a:ext uri="{FF2B5EF4-FFF2-40B4-BE49-F238E27FC236}">
                <a16:creationId xmlns:a16="http://schemas.microsoft.com/office/drawing/2014/main" id="{604554FD-64F1-B96E-024D-5544267694EC}"/>
              </a:ext>
            </a:extLst>
          </p:cNvPr>
          <p:cNvSpPr txBox="1"/>
          <p:nvPr/>
        </p:nvSpPr>
        <p:spPr>
          <a:xfrm>
            <a:off x="699400" y="5591909"/>
            <a:ext cx="10594242" cy="646331"/>
          </a:xfrm>
          <a:prstGeom prst="rect">
            <a:avLst/>
          </a:prstGeom>
          <a:noFill/>
        </p:spPr>
        <p:txBody>
          <a:bodyPr wrap="square">
            <a:spAutoFit/>
          </a:bodyPr>
          <a:lstStyle/>
          <a:p>
            <a:r>
              <a:rPr lang="en-PH" dirty="0">
                <a:latin typeface="TT Hoves" panose="02000503030000020004" pitchFamily="50" charset="0"/>
              </a:rPr>
              <a:t>Reference: Knight, R. D. (2022). </a:t>
            </a:r>
            <a:r>
              <a:rPr lang="en-PH" i="1" dirty="0">
                <a:latin typeface="TT Hoves" panose="02000503030000020004" pitchFamily="50" charset="0"/>
              </a:rPr>
              <a:t>Physics for scientists and engineers: A strategic approach with modern physics</a:t>
            </a:r>
            <a:r>
              <a:rPr lang="en-PH" dirty="0">
                <a:latin typeface="TT Hoves" panose="02000503030000020004" pitchFamily="50" charset="0"/>
              </a:rPr>
              <a:t> (5th ed.). Pearson. </a:t>
            </a:r>
          </a:p>
        </p:txBody>
      </p:sp>
    </p:spTree>
    <p:extLst>
      <p:ext uri="{BB962C8B-B14F-4D97-AF65-F5344CB8AC3E}">
        <p14:creationId xmlns:p14="http://schemas.microsoft.com/office/powerpoint/2010/main" val="14105504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759</TotalTime>
  <Words>868</Words>
  <Application>Microsoft Macintosh PowerPoint</Application>
  <PresentationFormat>Widescreen</PresentationFormat>
  <Paragraphs>73</Paragraphs>
  <Slides>10</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Display</vt:lpstr>
      <vt:lpstr>Arial</vt:lpstr>
      <vt:lpstr>Cambria Math</vt:lpstr>
      <vt:lpstr>TT Hoves</vt:lpstr>
      <vt:lpstr>TT Hoves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Philip Jayson Lestojas</dc:creator>
  <cp:lastModifiedBy>Philip Jayson Lestojas</cp:lastModifiedBy>
  <cp:revision>26</cp:revision>
  <dcterms:created xsi:type="dcterms:W3CDTF">2026-06-30T07:32:24Z</dcterms:created>
  <dcterms:modified xsi:type="dcterms:W3CDTF">2026-07-09T04:54:57Z</dcterms:modified>
</cp:coreProperties>
</file>